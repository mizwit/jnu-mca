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-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647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931920"/>
            <a:ext cx="5120640" cy="51206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120640"/>
            <a:ext cx="2377440" cy="23774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365760"/>
            <a:ext cx="731520" cy="7315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914400"/>
            <a:ext cx="329184" cy="329184"/>
          </a:xfrm>
          <a:prstGeom prst="ellipse">
            <a:avLst/>
          </a:prstGeom>
          <a:solidFill>
            <a:srgbClr val="F2A007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1463040"/>
            <a:ext cx="201168" cy="201168"/>
          </a:xfrm>
          <a:prstGeom prst="ellipse">
            <a:avLst/>
          </a:prstGeom>
          <a:solidFill>
            <a:srgbClr val="F2A007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3108960"/>
            <a:ext cx="256032" cy="256032"/>
          </a:xfrm>
          <a:prstGeom prst="ellipse">
            <a:avLst/>
          </a:prstGeom>
          <a:solidFill>
            <a:srgbClr val="F2A007">
              <a:alpha val="7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52928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Bubble Sort</a:t>
            </a:r>
            <a:endParaRPr lang="en-US" sz="640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864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17904" y="48920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17904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17904" y="54864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12848" y="48920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128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212848" y="54864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07792" y="48920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07792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907792" y="54864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02736" y="48920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02736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602736" y="54864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[ 5, 1, 4, 2, 8 ]  →  our running example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Bubble Sort?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is a comparison-based sorting algorithm that repeatedly steps through a list, </a:t>
            </a: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each pair of adjacent elements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swaps them if they are in the wrong order.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60222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values “bubble up” toward the end of the array with every pass — like air bubbles rising to the surface of water. That behavior gives the algorithm its name.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two adjacent elements.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5140" y="1737360"/>
            <a:ext cx="0" cy="640080"/>
          </a:xfrm>
          <a:prstGeom prst="line">
            <a:avLst/>
          </a:prstGeom>
          <a:noFill/>
          <a:ln w="19050">
            <a:solidFill>
              <a:srgbClr val="C9D6E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583680" y="2377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left &gt; right, exchange them.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35140" y="2880360"/>
            <a:ext cx="0" cy="640080"/>
          </a:xfrm>
          <a:prstGeom prst="line">
            <a:avLst/>
          </a:prstGeom>
          <a:noFill/>
          <a:ln w="19050">
            <a:solidFill>
              <a:srgbClr val="C9D6E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5836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794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across the array, pass after pass.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35140" y="4023360"/>
            <a:ext cx="0" cy="640080"/>
          </a:xfrm>
          <a:prstGeom prst="line">
            <a:avLst/>
          </a:prstGeom>
          <a:noFill/>
          <a:ln w="19050">
            <a:solidFill>
              <a:srgbClr val="C9D6E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583680" y="466344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4937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once a full pass makes no swaps.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Algorithm, Step by Step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3898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unsorted array of n elements.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1671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pair of adjacent elements from left to right.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443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left element is greater than the right, swap them.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7216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end of the array — the largest value has “bubbled” to its final position.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4988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pass over the remaining unsorted portion (n‑1 total passes).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2760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a complete pass makes zero swaps — the array is sorted.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137160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F2F7FA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86600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NESTED-LOOP STRUCTURE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196596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0664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0 to n‒2   (outer: passes)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52360" y="260604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8096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= 0 to n−i−2   (inner: compare)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26680" y="342900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2A00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36992" y="3657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arr[j] &gt; arr[j+1]: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2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swap(arr[j], arr[j+1])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Sort This Array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trace every comparison and swap needed to sort this 5-element array in ascending order.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08960" y="219456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227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219456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15968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3227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22976" y="219456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2297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522976" y="3227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9984" y="219456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9984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729984" y="3227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36992" y="219456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36992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3227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 elements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393192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83464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 = 4 passes (worst case)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39319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3504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order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2F7FA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each comparison:  </a:t>
            </a: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arr[j] &gt; arr[j+1], swap them.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walk through Pass 1 and Pass 2 in full, then see why Passes 3–4 need no swaps.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PASS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Adjacent Pairs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1417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01168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9696" y="1417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9696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201168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16352" y="1417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16352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16352" y="201168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93008" y="1417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93008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493008" y="201168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9664" y="1417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9664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69664" y="201168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152704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1527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&gt; 1  →  swap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6304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30632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39696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3969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139696" y="30632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16352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1635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2816352" y="30632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93008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9300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493008" y="30632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69664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69664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169664" y="30632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9440" y="257860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49440" y="2578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&gt; 4  →  swap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3657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520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6304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1463040" y="4114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39696" y="3520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39696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2139696" y="4114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816352" y="3520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816352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2816352" y="4114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93008" y="3520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493008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3493008" y="4114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69664" y="3520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169664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4169664" y="4114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49440" y="363016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949440" y="3630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&gt; 2  →  swap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4709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463040" y="4572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46304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1463040" y="51663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139696" y="4572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139696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2139696" y="51663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816352" y="4572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816352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2816352" y="51663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493008" y="4572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493008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3493008" y="51663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169664" y="4572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169664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76" name="Text 74"/>
          <p:cNvSpPr txBox="1"/>
          <p:nvPr/>
        </p:nvSpPr>
        <p:spPr>
          <a:xfrm>
            <a:off x="4169664" y="51663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949440" y="468172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D5E3EC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949440" y="4681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&lt; 8  →  no swap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2E9E6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Pass 1  →  [ 1, 4, 2, 5, 8 ]   —   largest value (8) is now fixed in its final position.</a:t>
            </a:r>
            <a:endParaRPr lang="en-US" sz="1350" dirty="0"/>
          </a:p>
        </p:txBody>
      </p:sp>
      <p:sp>
        <p:nvSpPr>
          <p:cNvPr id="81" name="Text 7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PASS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Sweep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1226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03704" y="146304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03704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03704" y="211226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44368" y="146304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4368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11226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85032" y="146304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85032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85032" y="211226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25696" y="146304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2E9E6D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25696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25696" y="211226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1591056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D5E3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15910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&lt; 4  →  no swap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6517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63040" y="2651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330098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03704" y="26517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03704" y="2651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203704" y="330098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44368" y="26517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44368" y="2651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2944368" y="330098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85032" y="26517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85032" y="2651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685032" y="330098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25696" y="26517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2E9E6D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25696" y="2651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425696" y="330098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9440" y="2779776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49440" y="2779776"/>
            <a:ext cx="283464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&gt; 2  →  swap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3977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84048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63040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463040" y="448970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03704" y="384048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203704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2203704" y="448970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44368" y="384048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944368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2944368" y="448970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85032" y="384048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2A007"/>
          </a:solidFill>
          <a:ln w="19050">
            <a:solidFill>
              <a:srgbClr val="F2A00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685032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3685032" y="448970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25696" y="384048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2E9E6D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425696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4425696" y="448970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49440" y="3968496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D5E3EC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949440" y="39684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&lt; 5  →  no swap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544068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31520" y="54406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End of Pass 2  →  [ 1, 2, 4, 5, 8 ]   —   the last two positions are now locked in.</a:t>
            </a:r>
            <a:endParaRPr lang="en-US" sz="135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array already looks sorted — but classic bubble sort doesn’t know that yet. It will still run Passes 3 and 4.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PASSES 3 &amp; 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Swaps Left to Make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37360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3774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14016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14016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14016" y="23774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90672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90672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090672" y="23774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67328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9E6D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6732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67328" y="23774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43984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9E6D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4398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43984" y="23774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87452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D5E3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35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comparison: no swap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737360" y="30632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3736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36576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14016" y="30632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1401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414016" y="36576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90672" y="30632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9E6D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90672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090672" y="36576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67328" y="30632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9E6D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67328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767328" y="36576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43984" y="30632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9E6D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43984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443984" y="36576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15468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D5E3E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0350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comparison: no swap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39776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2F7FA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39776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optimized version would detect “no swaps” and stop early after Pass 2 — see the optimization slide later.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8640" y="4754880"/>
            <a:ext cx="11064240" cy="1463040"/>
          </a:xfrm>
          <a:prstGeom prst="roundRect">
            <a:avLst>
              <a:gd name="adj" fmla="val 6250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296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SORTED ARRAY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5257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296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5925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591056" y="5257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591056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1591056" y="5925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359152" y="5257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359152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2359152" y="5925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127248" y="5257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27248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3127248" y="5925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95344" y="5257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895344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3895344" y="5925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77240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comparisons: 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7772400" y="5532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swaps: 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Bubble Sort in C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406640" cy="4983480"/>
          </a:xfrm>
          <a:prstGeom prst="roundRect">
            <a:avLst>
              <a:gd name="adj" fmla="val 1468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536192"/>
            <a:ext cx="6949440" cy="465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
void bubbleSort(int arr[], int n) {
    int i, j, temp;
    for (i = 0; i &lt; n - 1; i++) {          // pass
        for (j = 0; j &lt; n - i - 1; j++) {  // compare
</a:t>
            </a:r>
            <a:r>
              <a:rPr lang="en-US" sz="13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(arr[j] &gt; arr[j + 1]) {
</a:t>
            </a:r>
            <a:r>
              <a:rPr lang="en-US" sz="13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temp = arr[j];
                arr[j] = arr[j + 1];
                arr[j + 1] = temp;
</a:t>
            </a:r>
            <a:r>
              <a:rPr lang="en-US" sz="13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
</a:t>
            </a:r>
            <a:r>
              <a:rPr lang="en-US" sz="13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
    }
}
int main() {
    int arr[] = {5, 1, 4, 2, 8};
    int n = sizeof(arr) / sizeof(arr[0]);
    bubbleSort(arr, n);
    printf("Sorted array: ");
    for (i = 0; i &lt; n; i++)
        printf("%d ", arr[i]);
    return 0;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536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loops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18562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= passes. Inner loop = adjacent comparisons within the unsorted range.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3017520"/>
            <a:ext cx="3429000" cy="1417320"/>
          </a:xfrm>
          <a:prstGeom prst="roundRect">
            <a:avLst>
              <a:gd name="adj" fmla="val 5161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3136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temp variable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412480" y="34564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temp holds a value during swap so it isn’t overwritten.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4617720"/>
            <a:ext cx="3429000" cy="1417320"/>
          </a:xfrm>
          <a:prstGeom prst="roundRect">
            <a:avLst>
              <a:gd name="adj" fmla="val 5161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4736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− i − 1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50566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inner loop each pass — the sorted tail is skipped.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Part Does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0B2E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463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n-1; i++)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rot="5400000">
            <a:off x="5742432" y="1719072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46304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 full pass for every element except the last — n−1 passes total.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0B2E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14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(j = 0; j &lt; n-i-1; j++)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742432" y="2770632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25146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through the still-unsorted front portion; shrinks by 1 each pass.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0B2E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566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(arr[j] &gt; arr[j+1])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742432" y="3822192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35661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that decides whether two neighbors are out of order.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0B2E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arr[j]; arr[j]=arr[j+1]; arr[j+1]=temp;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5400000">
            <a:off x="5742432" y="4873752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461772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3-line swap using a temporary variable.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lens:  </a:t>
            </a: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loop guarantees progress (one more element fixed per pass); the inner loop’s shrinking bound is what keeps the total work from repeating comparisons on an already-sorted tail.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ANALYSIS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Space Complexity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600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20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Array already sorted (with early-exit optimization)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1600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920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order of elements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600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1920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Array sorted in reverse order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26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120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happens in-place, using only one extra variable (temp) regardless of array size.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41148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COMPARISONS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526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n(n−1) / 2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120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regardless of data order — this is why unoptimized bubble sort is always O(n²) comparisons.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With an Early Exit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single boolean flag lets bubble sort recognize when the array is already sorted — turning the best case from O(n²) into O(n).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6949440" cy="4343400"/>
          </a:xfrm>
          <a:prstGeom prst="roundRect">
            <a:avLst>
              <a:gd name="adj" fmla="val 1684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176272"/>
            <a:ext cx="64922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bubbleSortOptimized(int arr[], int n) {
    for (int i = 0; i &lt; n - 1; i++) {
</a:t>
            </a: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swapped = 0;
</a:t>
            </a:r>
            <a:r>
              <a:rPr lang="en-US" sz="14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    for (int j = 0; j &lt; n - i - 1; j++) {
            if (arr[j] &gt; arr[j + 1]) {
                int temp = arr[j];
                arr[j] = arr[j + 1];
                arr[j + 1] = temp;
</a:t>
            </a: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swapped = 1;
</a:t>
            </a:r>
            <a:r>
              <a:rPr lang="en-US" sz="14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
        }
</a:t>
            </a: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(swapped == 0) break;  // already sorted
</a:t>
            </a:r>
            <a:r>
              <a:rPr lang="en-US" sz="14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2011680"/>
            <a:ext cx="3886200" cy="4343400"/>
          </a:xfrm>
          <a:prstGeom prst="roundRect">
            <a:avLst>
              <a:gd name="adj" fmla="val 235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87640" y="2601422"/>
            <a:ext cx="3855720" cy="36347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lvl="1">
              <a:lnSpc>
                <a:spcPct val="125000"/>
              </a:lnSpc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swapped starts false each pass.
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only becomes true if two elements were actually out of order.
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a whole pass finds nothing to swap, the array must already be sorted — so we break early.
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 our example, this stops after Pass 2 instead of running all 4 passes.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548640"/>
            <a:ext cx="2926080" cy="292608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394960"/>
            <a:ext cx="3474720" cy="347472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828800" cy="1828800"/>
          </a:xfrm>
          <a:prstGeom prst="ellipse">
            <a:avLst/>
          </a:prstGeom>
          <a:solidFill>
            <a:srgbClr val="065A82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Bubble Sort Fits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2F7FA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WHEN…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274320" cy="2743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299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core sorting concepts — comparisons, swaps, invariants.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274320" cy="2743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8072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tiny or nearly sorted already.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74320" cy="2743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844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simplicity matters more than raw speed.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434840"/>
            <a:ext cx="274320" cy="2743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3616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extremely constrained (needs O(1) extra space).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2041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WHEN…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2103120"/>
            <a:ext cx="274320" cy="27432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02996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Sorting large datasets — O(n²) becomes very slow, very fast.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92240" y="3063240"/>
            <a:ext cx="274320" cy="27432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9900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Performance-critical production code.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4023360"/>
            <a:ext cx="274320" cy="27432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9502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Better options exist: Merge Sort, Quick Sort O(n log n), or Insertion Sort for small/near-sorted data.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4023360" cy="402336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4389120" cy="43891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solidFill>
            <a:srgbClr val="0B2E4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5819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Simple mental model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920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Compare neighbors, swap if out of order, repeat until nothing changes.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90088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8163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154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[5,1,4,2,8] sorts to [1,2,4,5,8] in 2 productive passes (4 total without optimization).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507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Complexity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389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O(n²) time in average/worst case, O(1) extra space — O(n) best case with an early-exit flag.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458968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2852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Higher-order insight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623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nested-loop shrinking bound and the swap-flag both encode the same idea: don’t repeat work you’ve already proven is unnecessary.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 |  Algorithm Deep Dive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1733</Words>
  <Application>Microsoft Office PowerPoint</Application>
  <PresentationFormat>Widescreen</PresentationFormat>
  <Paragraphs>306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scss</cp:lastModifiedBy>
  <cp:revision>9</cp:revision>
  <dcterms:created xsi:type="dcterms:W3CDTF">2026-09-07T06:00:50Z</dcterms:created>
  <dcterms:modified xsi:type="dcterms:W3CDTF">2026-09-07T08:13:05Z</dcterms:modified>
</cp:coreProperties>
</file>