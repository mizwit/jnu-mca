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E6E6"/>
    <a:srgbClr val="E3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68" y="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196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Merge Sort as a divide-and-conquer algorithm, contrasting with Quick Sort if that lecture came first: Merge Sort's split point is always the midpoint (chosen by us), not data-dependent, which is why its recurrence -- and complexity -- never changes across best, average, and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brief if students have seen this intro slide already in a prior lecture. Key contrast to draw: Merge Sort does no work while dividing and all the work while combining -- the opposite of Quick Sort's partition-first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misconception: students often think merging is the hard part. Stress that merging two SORTED lists is simple and linear-time -- that's the key insight that makes the whole algorithm efficient. Ask: 'Where does all the actual sorting work happen -- during divide or during merge?' (Answer: entirely during merge; divide does no comparisons at all.)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misconception: students sometimes think merge sort 'sorts while dividing.' Clarify that NO comparisons happen during divide -- all sorting work happens during merge. Contrast with Quick Sort's invariant (partition boundary), which does its comparisons BEFORE recursing rather than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each level: the array size halves each time (8-&gt;4-&gt;2-&gt;1), which is why recursion depth is log2(n). Contrast this SYMMETRIC, perfectly balanced tree with Quick Sort's often-asymmetric call tree -- this predictability is exactly why Merge Sort's complexity never changes across best/average/worst case. Ask: 'What would the depth be for n=1000?' (~10 levels.)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merge level: every subarray is a single element, so exactly one comparison per merge, never any leftover to copy. Ask: 'If n=8, how many merges happen at this level?' (Answer: n/2 = 4, matching the four calls shown here.)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5 exhausts the LEFT array first; Call 6 exhausts the RIGHT array first -- both cases must be handled in code. Ask: 'Why does each merge take at most 3 comparisons, not 4, despite 4 total elements?' (Answer: once one side is exhausted, the rest copies with zero comparisons -- the maximum is p+q-1.)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MERGE(A, low, mid, high) in full: pointers i and j scan the sorted halves, k builds the output. Emphasize that once L or R is exhausted, the ENTIRE remainder of the other side is copied with zero further comparisons, since it is already sorted. Ask: 'Why is 7 the maximum, and why did we only need 6?' (The max p+q-1 is only reached if exhaustion happens on the very last comparison; here L exhausted one step early.)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bridges the concrete example to the abstract complexity result. There are log2(8)=3 merge levels, and each does O(n)=8 total work -- so a loose estimate is 3x8=24; the tighter combinatorial bound of 17 refines this, and our actual count of 16 sits just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this pseudocode back to the traced example: low=0, mid=3, high=7 for the final MERGE call. Common misconception: forgetting the base case (if low &lt; high), leading to infinite recursion. Ask: 'What are low, mid, high for the very first call on our 8-element array?' (low=0, high=7, mid=3.)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merge() allocates temporary arrays L and R each call -- this is exactly the O(n) auxiliary space cost. Mention that mergeSort(A, low, high) is called initially with low=0, high=n-1, matching the pseudocode's arguments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same trace already shown conceptually, now tied to the exact C variable names (i, j, k, n1, n2). Point out that the FIRST while-loop in the code handles all the comparisons, and the two follow-up while-loops (only one of which ever does anything per call) handle the leftover copy -- both are necessary because either L or R could be the one left with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mathematical contrast with Quick Sort: Quick Sort's recurrence CHANGES shape depending on pivot placement (data-dependent), while Merge Sort's recurrence NEVER changes (index-dependent only). Ask: 'Could an adversary construct an input that makes Merge Sort slow?' (Answer: no -- this is Merge Sort's key guarantee over Quick Sort.)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complexity is where Merge Sort loses to Quick Sort. Make sure students can state both trade-offs symmetrically: Merge Sort = guaranteed O(n log n) time, costs O(n) space; Quick Sort = O(n) worst-case time, but O(log n) average space and in-place.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contrast with Quick Sort's instability, which students should already have seen. Ask: 'Which single line of the MERGE pseudocode is responsible for stability?' (Answer: the tie-breaking rule L[i] &lt;= R[j], which favors the left array on ties.)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'If memory is extremely constrained, which algorithm would you choose over Merge Sort?' (An O(1)-space algorithm like Insertion Sort, or Quick Sort for its O(log n) average space, accepting the worst-case risk.) Also: 'When would you deliberately pick Merge Sort over Quick Sort?' (When a guaranteed worst-case bound or stability matters more than raw average speed or memory.)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central trade-off: Merge Sort gives up in-place operation in exchange for a guaranteed worst-case bound and stability. This is why it's the standard choice for external sorting and for sorting linked lists, where its weaknesses matter less and its strengths matter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key points, then present the reference. If this follows the Quick Sort lecture, invite direct comparison: both are divide-and-conquer, both typically O(n log n), but they diverge on where the work happens (after vs. before recursion), auxiliary space, and worst-case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USING 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Sorting Algorithm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Θ(n)     →     O(n log n)  in every case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08176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08176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9339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78608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7860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63824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382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34256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34256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19472" y="4160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947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408176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408176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993392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93392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78608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78608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163824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63824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040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490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334256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34256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19472" y="4937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3880" y="47548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Sorting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930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the elements of a data structure into a defined order. It underlies efficient searching, and is a benchmark for comparing algorithm design strategies.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3965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Merge Sort fits: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46304" cy="14630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077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algorithm, like Quick Sort.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46304" cy="14630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564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Quick Sort, its work happens AFTER recursing (in the merge), not before.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46304" cy="14630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050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choice when a guaranteed worst-case bound matters.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502998" y="13476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SORTING TECHNIQUES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359152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3591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2889504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2889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419856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3419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950208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3950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" y="4882896"/>
            <a:ext cx="10735056" cy="1609344"/>
          </a:xfrm>
          <a:prstGeom prst="roundRect">
            <a:avLst>
              <a:gd name="adj" fmla="val 5263"/>
            </a:avLst>
          </a:prstGeom>
          <a:solidFill>
            <a:srgbClr val="B6E6E6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99878" y="50717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A QUICK PREVIEW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95082" y="5212080"/>
            <a:ext cx="10206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array in half, recursively sorts each half, then merges the two sorted halves back into one sorted array.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354425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Merge Sort?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3400" y="1243584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5626" y="144847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recursively splits an array into halves until each piece has one element, then merges pairs of sorted pieces back together, in order, until the whole array is sorted.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1210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already-sorted lists is a simple linear-time operation. Merge Sort exploits this: break the problem down until sorting is trivial, then merge upward.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516865" y="449316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DIVIDE, THEN COMBINE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03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7764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7764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26280" y="4983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77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halves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69848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984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91056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591056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12264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12264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33472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33472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54680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54680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75888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75888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97096" y="57424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97096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2362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back into one sorted array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73906" y="1243584"/>
            <a:ext cx="5284694" cy="5212080"/>
          </a:xfrm>
          <a:prstGeom prst="roundRect">
            <a:avLst>
              <a:gd name="adj" fmla="val 2000"/>
            </a:avLst>
          </a:prstGeom>
          <a:solidFill>
            <a:srgbClr val="E3EEFF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83680" y="1520285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583680" y="2048256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858000" y="1920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Stable: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Equal elements retain their original relative order.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583680" y="2798064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858000" y="267004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 In-Place: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 version needs O(n) auxiliary space to merge.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583680" y="3547872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58000" y="341985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Comparison-Based: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Sorts purely by comparing pairs of elements.</a:t>
            </a: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6583680" y="4297680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847282" y="432511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in best, average, AND worst case — the split point never depends on the data.</a:t>
            </a: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583680" y="5047488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858000" y="5027009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Recursive: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Naturally expressed as a divide-and-merge process.</a:t>
            </a:r>
            <a:endParaRPr lang="en-US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Divide, Conquer, Combine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417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array into two halves, splitting at the middle index.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391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apply the same division to each half.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609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dividing until each subarray contains a single element (trivially sorted).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8269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 compare the front elements of two sorted subarrays, copy the smaller into the output.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9044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comparisons until one subarray is exhausted, then copy the remainder directly.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merging pairs of sorted subarrays, level by level, until one sorted array remains.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1"/>
            <a:ext cx="11064240" cy="1318927"/>
          </a:xfrm>
          <a:prstGeom prst="roundRect">
            <a:avLst>
              <a:gd name="adj" fmla="val 10526"/>
            </a:avLst>
          </a:prstGeom>
          <a:solidFill>
            <a:srgbClr val="B6E6E6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30952"/>
            <a:ext cx="10835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invariant: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MERGE(A, low, mid, high) is called, A[low..mid] and A[mid+1..high] are ALREADY individually sorted — guaranteed by the recursive calls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ran first. That's why a single left-to-right scan with two pointers is enough; no backtracking is ever needed.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Trace: [38, 12, 27, 43, 9, 31, 18, 25]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8136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27632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67128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671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67128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06624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0662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06624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85616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856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785616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25112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2511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325112" y="18013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19659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 = 8   —   number of division levels = log₂(8) = 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286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TREE  —  every level halves the array; no comparisons happen here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2633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(n=8)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803904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0390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42816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42816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81728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8172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206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20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59552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5955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98464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9846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37376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37376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76288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7628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(n/2=4)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657600" y="3291840"/>
            <a:ext cx="179222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03320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70332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42232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14223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81144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81144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020056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2005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14416" y="3291840"/>
            <a:ext cx="1792224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0136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6013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099048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09904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537960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379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976872" y="33375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7687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4005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(n/4=2)</a:t>
            </a: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3456432" y="397764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02152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50215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941064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94106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535424" y="397764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81144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581144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020056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02005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614416" y="397764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60136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660136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6099048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609904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693408" y="3977640"/>
            <a:ext cx="9144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39128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73912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1780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1780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89" name="Text 87"/>
          <p:cNvSpPr txBox="1"/>
          <p:nvPr/>
        </p:nvSpPr>
        <p:spPr>
          <a:xfrm>
            <a:off x="548640" y="46908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(n/8=1, base)</a:t>
            </a:r>
            <a:endParaRPr lang="en-US" dirty="0"/>
          </a:p>
        </p:txBody>
      </p:sp>
      <p:sp>
        <p:nvSpPr>
          <p:cNvPr id="90" name="Shape 88"/>
          <p:cNvSpPr/>
          <p:nvPr/>
        </p:nvSpPr>
        <p:spPr>
          <a:xfrm>
            <a:off x="305409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9981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09981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369417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3989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73989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433425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37997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37997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497433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2005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02005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61441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66013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66013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25449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0021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30021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89457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94029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694029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7534656" y="46634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8037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2225">
            <a:solidFill>
              <a:srgbClr val="3730A3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580376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50" dirty="0"/>
          </a:p>
        </p:txBody>
      </p:sp>
      <p:sp>
        <p:nvSpPr>
          <p:cNvPr id="114" name="Text 112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MERGE CALLS 1–4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Singletons into Pairs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merges of size 1 + 1 → 2.  Each needs exactly 1 comparison (worst case for sizes 1,1 is 1+1−1 = 1).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92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92024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1865376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8653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38 vs 12  →  12 is smaller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9536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97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25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920240" y="2715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02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60320" y="2715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2798064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57600" y="27980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27 vs 43  →  27 is smaller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95360" y="2715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9536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89720" y="2715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97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758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92024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202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6032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6032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0" y="3730752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57600" y="3730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9 vs 31  →  9 is smaller</a:t>
            </a:r>
            <a:endParaRPr lang="en-US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59536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8972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8972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6908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</a:t>
            </a: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920240" y="45811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92024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560320" y="45811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6032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0" y="4663440"/>
            <a:ext cx="429768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5760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18 vs 25  →  18 is smaller</a:t>
            </a:r>
            <a:endParaRPr lang="en-US" dirty="0"/>
          </a:p>
        </p:txBody>
      </p:sp>
      <p:sp>
        <p:nvSpPr>
          <p:cNvPr id="50" name="Text 48"/>
          <p:cNvSpPr txBox="1"/>
          <p:nvPr/>
        </p:nvSpPr>
        <p:spPr>
          <a:xfrm>
            <a:off x="80924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595360" y="45811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9536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189720" y="45811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8972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48640" y="5559552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B6E6E6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77240" y="5559552"/>
            <a:ext cx="10607040" cy="502920"/>
          </a:xfrm>
          <a:prstGeom prst="rect">
            <a:avLst/>
          </a:prstGeom>
          <a:solidFill>
            <a:srgbClr val="B6E6E6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Comparisons for calls 1–4:  1 + 1 + 1 + 1 = 4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MERGE CALLS 5–6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Pairs into Quads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merges of size 2 + 2 → 4.  Worst-case comparisons per merge ≤ 2+2−1 = 3.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5:  [12,38]  +  [27,43]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2416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93976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9397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78892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12 vs 27  →  take 12  (L advances)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15468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38 vs 27  →  take 27  (R advances)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52044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38 vs 43  →  take 38  (L exhausted)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8620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remaining R:  43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3068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417320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1732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11096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11096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04872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0487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98648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9864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6:  [9,31]  +  [18,25]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355080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8856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488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06640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066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00416" y="205740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0041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2478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278892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355080" y="278892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9 vs 18  →  take 9  (L advances)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5080" y="315468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55080" y="315468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31 vs 18  →  take 18  (R advances)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5080" y="352044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5080" y="352044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31 vs 25  →  take 25  (R exhausted)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5080" y="3886200"/>
            <a:ext cx="5120640" cy="310896"/>
          </a:xfrm>
          <a:prstGeom prst="roundRect">
            <a:avLst>
              <a:gd name="adj" fmla="val 58824"/>
            </a:avLst>
          </a:prstGeom>
          <a:solidFill>
            <a:srgbClr val="EEF0F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55080" y="3886200"/>
            <a:ext cx="5120640" cy="31089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remaining L:  31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6355080" y="43068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223760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22376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717536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717536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211312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11312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705088" y="427024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05088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B6E6E6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Comparisons for calls 5–6:  3 + 3 = 6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MERGE CALL 7 (FINAL)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388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Two-Pointer Merge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1821" y="1142423"/>
            <a:ext cx="11740179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 L = [12, 27, 38, 43]   (index i)         Right  R = [9, 18, 25, 31]   (index j)         Output index k</a:t>
            </a:r>
            <a:endParaRPr lang="en-US" b="1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i=0,j=0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691640"/>
            <a:ext cx="63093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 &lt; 12  →  take R[0]=9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1671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i=0,j=1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360" y="2167128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37360" y="2167128"/>
            <a:ext cx="630936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 &lt; 18  →  take L[0]=12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7360" y="2642616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37360" y="2642616"/>
            <a:ext cx="63093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 &lt; 27  →  take R[1]=18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1181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37360" y="3118104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737360" y="3118104"/>
            <a:ext cx="63093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25 &lt; 27  →  take R[2]=25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59359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5935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37360" y="3593592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737360" y="3593592"/>
            <a:ext cx="6309360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27 &lt; 31  →  take L[1]=27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069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i=2,j=3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360" y="4069080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737360" y="4069080"/>
            <a:ext cx="630936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31 &lt; 38  →  take R[3]=31  (R exhausted)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exhausted after this — copy remaining elements of L (38, 43) directly, with no further comparisons.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DCFCE9"/>
          </a:solidFill>
          <a:ln w="12700">
            <a:solidFill>
              <a:srgbClr val="6FCF9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303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MERGED ARRAY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2344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344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916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916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488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1488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060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060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632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632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5204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204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5522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776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471761" y="5413248"/>
            <a:ext cx="5049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Comparisons: 6   (≤ 4+4−1 = 7)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CALLS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Comparison-Count 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Level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Calls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Merged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/ Call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Total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920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1–4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+ 1 → 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(≤ 1+1−1)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5–6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+ 2 → 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423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(≤ 2+2−1)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423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+ 4 → 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(≤ 4+4−1)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4290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DCFCE9"/>
          </a:solidFill>
          <a:ln w="12700">
            <a:solidFill>
              <a:srgbClr val="6FCF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+ 6 + 6 = 16 comparisons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9120" y="4341018"/>
            <a:ext cx="11064240" cy="1703165"/>
          </a:xfrm>
          <a:prstGeom prst="roundRect">
            <a:avLst>
              <a:gd name="adj" fmla="val 645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2480" y="443474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RELATES TO O(n log n)</a:t>
            </a:r>
            <a:endParaRPr lang="en-US" dirty="0"/>
          </a:p>
        </p:txBody>
      </p:sp>
      <p:sp>
        <p:nvSpPr>
          <p:cNvPr id="35" name="Text 33"/>
          <p:cNvSpPr txBox="1"/>
          <p:nvPr/>
        </p:nvSpPr>
        <p:spPr>
          <a:xfrm>
            <a:off x="792480" y="4802791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Theoretical worst-case bound:   </a:t>
            </a: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n⌈log₂n⌉ − 2^⌈log₂n⌉ + 1  =  8(3) − 8 + 1  =  17</a:t>
            </a:r>
            <a:endParaRPr lang="en-US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36108"/>
            <a:ext cx="10835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actual count:   </a:t>
            </a:r>
            <a:r>
              <a:rPr lang="en-US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comparisons  ≤  17 (the worst-case bound)</a:t>
            </a:r>
            <a:r>
              <a:rPr lang="en-US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— consistent with Θ(n log n) growth.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3636"/>
            </a:avLst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61945"/>
            <a:ext cx="5029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MERGE-SORT(A, low, high)
</a:t>
            </a: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low &lt; high
      mid = ⌊(low + high) / 2⌋
      MERGE-SORT(A, low, mid)
      MERGE-SORT(A, mid+1, high)
      MERGE(A, low, mid, high)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3200400"/>
          </a:xfrm>
          <a:prstGeom prst="roundRect">
            <a:avLst>
              <a:gd name="adj" fmla="val 2286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380744"/>
            <a:ext cx="534924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MERGE(A, low, mid, high)
</a:t>
            </a:r>
            <a:r>
              <a:rPr lang="en-US" sz="1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n1 = mid - low + 1;  n2 = high - mid
  copy A[low..mid]    →  L[1..n1]
  copy A[mid+1..high] →  R[1..n2]
  i=1; j=1; k=low
  while i ≤ n1 and j ≤ n2
      if L[i] ≤ R[j]:  A[k]=L[i]; i++
      else:            A[k]=R[j]; j++
      k++
  copy any remaining L or R elements into 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486400" cy="2834640"/>
          </a:xfrm>
          <a:prstGeom prst="roundRect">
            <a:avLst>
              <a:gd name="adj" fmla="val 322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(MERGE-SORT)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low &lt; high  — 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 case guard — a subarray of size ≤ 1 needs no sorting.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36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 — 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midpoint index that splits [low, high] into two halves.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202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recursive calls  — 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Conquer step — sort each half independently.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69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MERGE(...)  — 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 step — merge the two now-sorted halves.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754880"/>
            <a:ext cx="5440680" cy="1691640"/>
          </a:xfrm>
          <a:prstGeom prst="roundRect">
            <a:avLst>
              <a:gd name="adj" fmla="val 5405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 (MERGE)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19379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step, L and R are already individually sorted. This is exactly why only ONE pass with two pointers is needed — no backtracking is ever required.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8361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Merge Sort in 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949881"/>
            <a:ext cx="5897880" cy="5597223"/>
          </a:xfrm>
          <a:prstGeom prst="roundRect">
            <a:avLst>
              <a:gd name="adj" fmla="val 1818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826" y="1198960"/>
            <a:ext cx="5638800" cy="3820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merge(int A[], int low, int mid, int high)
{
    int n1 = mid - low + 1;
    int n2 = high - mid;
    int L[n1], R[n2];
    for (int x = 0; x &lt; n1; x++) L[x] = A[low + x];
    for (int x = 0; x &lt; n2; x++) R[x] = A[mid + 1 + x];
    int i = 0, j = 0, k = low;
    while (i &lt; n1 &amp;&amp; j &lt; n2)
    {
        if (L[i] &lt;= R[j]) A[k++] = L[i++];
        else             A[k++] = R[j++];
    }
    while (i &lt; n1) A[k++] = L[i++];
    while (j &lt; n2) A[k++] = R[j++];
}</a:t>
            </a:r>
            <a:endParaRPr lang="en-US" sz="1600" b="1" dirty="0"/>
          </a:p>
        </p:txBody>
      </p:sp>
      <p:sp>
        <p:nvSpPr>
          <p:cNvPr id="8" name="Shape 6"/>
          <p:cNvSpPr/>
          <p:nvPr/>
        </p:nvSpPr>
        <p:spPr>
          <a:xfrm>
            <a:off x="6705600" y="949881"/>
            <a:ext cx="5050266" cy="5556592"/>
          </a:xfrm>
          <a:prstGeom prst="roundRect">
            <a:avLst>
              <a:gd name="adj" fmla="val 194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13133" y="106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MERGESORT + main()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13133" y="1448039"/>
            <a:ext cx="5050267" cy="450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mergeSort(int A[], int low, int high)
{
    if (low &lt; high)
    {
        int mid = (low + high) / 2;
        mergeSort(A, low, mid);
        mergeSort(A, mid + 1, high);
        merge(A, low, mid, high);
    }
}
int main()
{
    int A[] = {38,12,27,43,9,31,18,25};
    int n = sizeof(A) / sizeof(A[0]);
    mergeSort(A, 0, n - 1);
    for (int i = 0; i &lt; n; i++)
        printf("%d ", A[i]);
    return 0;
}</a:t>
            </a:r>
            <a:endParaRPr lang="en-US" sz="1600" b="1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CODE TO EXAMPLE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merge(A, 0, 3, 7)  —  the Final Call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[12,27,38,43]  (n1=4)     R = [9,18,25,31]  (n2=4)     i=0, j=0, k=low=0</a:t>
            </a:r>
            <a:endParaRPr lang="en-US" b="1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288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i=0,j=0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37360" y="1828800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37360" y="1828800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&lt; 12  →  A[0]=R[0]=9; j++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042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i=0,j=1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360" y="2304288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37360" y="2304288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&lt; 18  →  A[1]=L[0]=12; i++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77977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797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7360" y="2779776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37360" y="2779776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&lt; 27  →  A[2]=R[1]=18; j++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25526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37360" y="3255264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737360" y="3255264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&lt; 27  →  A[3]=R[2]=25; j++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73075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7307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i=1,j=3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737360" y="3730752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737360" y="3730752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&lt; 31  →  A[4]=L[1]=27; i++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EEF0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42062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i=2,j=3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737360" y="4206240"/>
            <a:ext cx="63093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737360" y="4206240"/>
            <a:ext cx="630936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&lt; 38  →  A[5]=R[3]=31; j++  (j=n2, loop ends)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773168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7731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while-loop:  while (i &lt; n1) A[k++] = L[i++];  —  copies the two remaining L elements (38, 43) directly.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252728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252728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28216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2821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03704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203704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79192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79192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154680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5468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30168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0168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05656" y="5440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05656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06184" y="55092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now fully sorted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 — The Recurrence Relation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 RELATION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105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 =  2 T(n/2)  +  Θ(n)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23660" y="14904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2T(n/2)  —  cost of recursively sorting two halves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Θ(n)  —  cost of merging the two sorted halves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T(1) = Θ(1)  —  base case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06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by the Master Theorem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5F6FE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2724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T(n) = a·T(n/b) + f(n),  the Master Theorem compares  f(n)  with  n</a:t>
            </a:r>
            <a:r>
              <a:rPr lang="en-US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 a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
Here:  a = 2, b = 2, f(n) = Θ(n)   ⇒   n</a:t>
            </a:r>
            <a:r>
              <a:rPr lang="en-US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log_2 2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n¹  =  n
</a:t>
            </a: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f(n) = Θ(n</a:t>
            </a:r>
            <a:r>
              <a:rPr lang="en-US" b="1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 a</a:t>
            </a: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 this is  </a:t>
            </a: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the Master Theorem  ⇒   T(n) = Θ(n</a:t>
            </a:r>
            <a:r>
              <a:rPr lang="en-US" b="1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log_b a</a:t>
            </a:r>
            <a:r>
              <a:rPr lang="en-US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log n)  =  </a:t>
            </a: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ALL THREE CASES ARE THE SAME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Unlike Quick Sort, the split point in Merge Sort is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midpoint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chosen by the algorithm, never by the data. So the recurrence T(n)=2T(n/2)+Θ(n) holds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how the input is ordered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already sorted, reverse sorted, or random all give the exact same recursion tree shape, and therefore the same Θ(n log n) result in best, average, AND worst case.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5681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Even if already sorted, all comparisons and merges still occur — the split never changes.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95681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input — same recursive structure applies regardless.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64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95681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432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Reverse-sorted input — still the exact same recursion tree.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merge() call allocates temporary arrays L and R. Across the whole algorithm, at most O(n) auxiliary space is in use at any one time, plus O(log n) for the call stack.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8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vs QUICK SORT SPACE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26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needs no auxiliary array (only O(log n) average stack space), which is why it's often preferred when memory is tight — Merge Sort trades that away for a guaranteed worst-case bound.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205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Merge Sort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" y="1349836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0580" y="1561039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77240" y="2039112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3042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Equal elements retain their original relative order — guaranteed by the tie-break rule.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090672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In-Place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1945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 version needs O(n) extra space for merging.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4142232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4074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in best, average, AND worst case — no pathological inputs exist.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193792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360969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Naturally expressed via divide-and-conquer recursion.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1325880"/>
            <a:ext cx="5349240" cy="4572000"/>
          </a:xfrm>
          <a:prstGeom prst="roundRect">
            <a:avLst>
              <a:gd name="adj" fmla="val 2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5100" y="150472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MERGE SORT IS STABLE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938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Take two equal-valued elements, tagged to track their original order: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23774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68896" y="23774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6889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45552" y="23774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2225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4555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9992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run: [3a, 1b]      Right run: [3c]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2689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MERGE decision rule is L[i] ≤ R[j]  (not strictly &lt;). On a tie between 3a (left run) and 3c (right run), this rule always takes the LEFT element first — preserving input order.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315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Result: 1b, 3a, 3c  —  3a still appears before 3c, exactly as in the input.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46817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68896" y="46817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68896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45552" y="46817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 w="22225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45552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 vs Other Sorting Algorithms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0" y="1508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9659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19659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19659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9659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19659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19659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496312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4963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249631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249631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49631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24963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4963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026664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2666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302666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302666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02666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0266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302666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557016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DCFCE9"/>
          </a:solidFill>
          <a:ln w="12700">
            <a:solidFill>
              <a:srgbClr val="6FCF9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3557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35570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709160" y="35570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35570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355701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555480" y="355701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08736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08736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017520" y="40873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709160" y="40873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40873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092440" y="40873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555480" y="40873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 avg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4937760"/>
            <a:ext cx="11064240" cy="1463040"/>
          </a:xfrm>
          <a:prstGeom prst="roundRect">
            <a:avLst>
              <a:gd name="adj" fmla="val 625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" y="5223415"/>
            <a:ext cx="10927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 Merge Sort is the only algorithm here with </a:t>
            </a: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O(n log n) performance in all three cases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Quick Sort can degrade to O(n²).
•  Merge Sort trades </a:t>
            </a: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O(n) extra space</a:t>
            </a:r>
            <a:r>
              <a:rPr lang="en-US" sz="17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for that predictability; Quick Sort gets similar average speed without the memory cost.</a:t>
            </a:r>
            <a:endParaRPr lang="en-US" sz="17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37744" cy="23774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933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worst-case performance.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37744" cy="23774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33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safe when tie order must be preserved.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237744" cy="23774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2735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and predictable for very large datasets.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237744" cy="23774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9136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linked lists (no random access needed).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77240" y="4617720"/>
            <a:ext cx="237744" cy="237744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617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5537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external sorting (data larger than RAM).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20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627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2103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78765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Requires O(n) additional memory.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492240" y="297180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42760" y="2736725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 overhead beyond just the merge cost.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492240" y="384048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42760" y="3703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Usually slower than optimized in-place algorithms on small arrays.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492240" y="470916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92240" y="4709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45902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 in-place — a real constraint in memory-limited settings.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972800" y="-100584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300000">
            <a:off x="-1097280" y="5760720"/>
            <a:ext cx="2377440" cy="2377440"/>
          </a:xfrm>
          <a:prstGeom prst="triangle">
            <a:avLst/>
          </a:prstGeom>
          <a:solidFill>
            <a:srgbClr val="3730A3">
              <a:alpha val="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1732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divides the array in half, sorts each half, then merges the two sorted halves back together in linear time.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87168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0428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implementation: 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recursive calls in mergeSort(), plus a merge() function that copies into temporary arrays L and R and scans them with two pointers.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74136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19125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in best, average, AND worst case — the split point never depends on the data, so the recurrence never changes.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078224"/>
            <a:ext cx="11064240" cy="749808"/>
          </a:xfrm>
          <a:prstGeom prst="roundRect">
            <a:avLst>
              <a:gd name="adj" fmla="val 12195"/>
            </a:avLst>
          </a:prstGeom>
          <a:solidFill>
            <a:srgbClr val="EEF0FD"/>
          </a:solidFill>
          <a:ln w="12700">
            <a:solidFill>
              <a:srgbClr val="D8DC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61104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07822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useful:  </a:t>
            </a:r>
            <a:r>
              <a:rPr lang="en-US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and external sorting, linked lists, and any situation where a guaranteed worst-case bound or stability matters.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5056632"/>
            <a:ext cx="11064240" cy="1051560"/>
          </a:xfrm>
          <a:prstGeom prst="roundRect">
            <a:avLst>
              <a:gd name="adj" fmla="val 8696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Tanenbaum, A. S., Langsam, Y., &amp; Augenstein, M. J. Data Structures Using C. Pearson / Prentice-Hall.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 |  Data Structures Using C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4458</Words>
  <Application>Microsoft Macintosh PowerPoint</Application>
  <PresentationFormat>Widescreen</PresentationFormat>
  <Paragraphs>490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Anjali Tripathi</cp:lastModifiedBy>
  <cp:revision>5</cp:revision>
  <dcterms:created xsi:type="dcterms:W3CDTF">2026-09-21T08:24:21Z</dcterms:created>
  <dcterms:modified xsi:type="dcterms:W3CDTF">2026-09-21T09:19:13Z</dcterms:modified>
</cp:coreProperties>
</file>