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95" d="100"/>
          <a:sy n="95" d="100"/>
        </p:scale>
        <p:origin x="184"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53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Heap Sort as a comparison-based algorithm built on a data structure (the binary heap) rather than a divide-and-conquer split. Unlike Merge Sort or Quick Sort, it needs no recursion and no auxiliary array -- it sorts entirely in-place using the array itself as an implicit tree.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Heap Sort as combining the best of both worlds students have just seen: Quick Sort's in-place property and Merge Sort's guaranteed worst case. Ask: 'What data structure powers this algorithm that the others didn't use?' (The binary heap, implemented implicitly within the array itself.)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array-as-tree mapping is the single most important idea to land before anything else makes sense. Have students verify: for index 2 (value 9), children are at 2*2+1=5 (value 8) and 2*2+2=6 (value 3) -- both smaller, so the max-heap property holds there. Ask: 'What is the parent of index 5?' (floor((5-1)/2) =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'bottom-up': Build-Max-Heap processes non-leaf nodes starting from the LAST one (index n/2 - 1) up to the root (index 0) -- the reverse of what students might expect. Ask: 'Why start from the last non-leaf node rather than index 0?' (Answer: because heapify assumes children are already valid heaps -- leaves are trivially valid, so working bottom-up guarantees that assumption holds every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red node: index 2 (value 3) has children 8 and 9, both larger -- this subtree needs fixing before the whole array can be a valid heap. This is exactly the kind of violation Build-Max-Heap systematically eliminates, working from the bottom of the tree upward.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i=0 call is the most work: it cascades down two levels (index0 -&gt; index1 -&gt; index3) because the small value 4 needs to sink through multiple violations. Ask: 'Why does index 3 need no swap in this final cascade?' (Its only child, index 7 = 2, is smaller than the incoming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pattern: each extraction removes exactly one element from the front of the 'live heap' and appends it to the growing sorted suffix at the back. This is the mirror image of Insertion Sort's growing sorted prefix -- Heap Sort grows its sorted region from the END of the array instead of the beginning.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needs zero comparisons because a heap of size 1 has no children to compare against -- it's already 'sorted' by definition. Have students verify the final tally by adding the per-step numbers from this slide and the previous one to the build-phase total from two slides ago.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complexity slide's key surprise: naive reasoning says O(n log n) for build-heap, but the tight analysis gives O(n). Our worked example is a small illustration -- 10 comparisons for build vs. a loose estimate of 8*3=24 -- consistent with the O(n) result being much better than the loose O(n log n) bound.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this back to the trace: the build-phase loop runs i=3,2,1,0 exactly as shown two slides ago; the extract-phase loop runs end=7,6,...,1, matching the seven extraction steps. Ask: 'What does MAX-HEAPIFY(A, 0, end) do differently from MAX-HEAPIFY(A, i, n) in the build phase?' (Nothing structurally -- only the heap size argument shrinks over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maxHeapify's recursion depth is bounded by the tree height, O(log n) -- much shallower than mergeSort's or quickSort's recursion in the worst case. Point out the heapSort structure mirrors the pseudocode exactly: build loop first, extract loop second, both calling the same maxHeapify function with different heap-size arguments.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trace shows recursion cascading two levels deep -- exactly the i=0 call flagged as the most work-intensive on the build-phase trace slide. Point out the indentation (the arrows) mirroring the recursive call depth: each 'no swap' at the bottom is what allows the recursion to terminate.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Heap Sort's signature 'surprising math' moment, parallel to Quick Sort's telescoping sum and Merge Sort's Master Theorem application. The Build-Max-Heap O(n) result often surprises students who expect O(n log n) from n/2 calls at O(log n) each. Ask: 'Does the O(n) build phase change the algorithm's overall complexity?' (No -- the O(n log n) extract phase dominates either way.)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Heap Sort's headline pitch: it matches Merge Sort's worst-case guarantee while beating Quick Sort's average-case space usage. Ask: 'Given this, why isn't Heap Sort always preferred?' (Answer: in practice it has poor cache locality -- jumping between parent and child indices scattered across memory -- so Quick Sort is often faster despite the theoretical risk.)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three-way callback: Merge Sort is stable, Quick Sort and Heap Sort are not. Ask: 'Of the four algorithms covered this term, which combination of properties would you want for sorting employee records where ties (same department) should keep their original order?' (Merge Sort -- the only stable O(n log n) option among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now shows all five algorithms students have studied this term. Ask: 'If you needed BOTH a worst-case guarantee AND minimal memory, which would you pick, and why not the others?' (Heap Sort -- Merge Sort fails the space test, Quick Sort fails the guarantee test.)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central trade-off: Heap Sort offers the best worst-case-time-and-space combination on paper, but real-world cache behavior often makes Quick Sort faster in practice for typical inputs. This is exactly why 'introsort' (used in many standard libraries) starts with Quick Sort and falls back to Heap Sort only when recursion depth signals a worst-case pattern -- getting Quick Sort's typical speed with Heap Sort's safety net.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key points, then present the reference. If this closes out a comparative unit, invite a full recap across all five algorithms: which are stable, which are in-place, and which have guaranteed vs. data-dependent worst cases.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822960" y="1417320"/>
            <a:ext cx="9144000" cy="365760"/>
          </a:xfrm>
          <a:prstGeom prst="rect">
            <a:avLst/>
          </a:prstGeom>
          <a:noFill/>
          <a:ln/>
        </p:spPr>
        <p:txBody>
          <a:bodyPr wrap="square" lIns="0" tIns="0" rIns="0" bIns="0" rtlCol="0" anchor="ctr"/>
          <a:lstStyle/>
          <a:p>
            <a:pPr marL="0" indent="0">
              <a:buNone/>
            </a:pPr>
            <a:r>
              <a:rPr lang="en-US" sz="1400" b="1" kern="0" spc="300" dirty="0">
                <a:solidFill>
                  <a:srgbClr val="D97706"/>
                </a:solidFill>
                <a:latin typeface="Calibri" pitchFamily="34" charset="0"/>
                <a:ea typeface="Calibri" pitchFamily="34" charset="-122"/>
                <a:cs typeface="Calibri" pitchFamily="34" charset="-120"/>
              </a:rPr>
              <a:t>DATA STRUCTURES USING C</a:t>
            </a:r>
            <a:endParaRPr lang="en-US" sz="1400" dirty="0"/>
          </a:p>
        </p:txBody>
      </p:sp>
      <p:sp>
        <p:nvSpPr>
          <p:cNvPr id="5" name="Text 3"/>
          <p:cNvSpPr txBox="1"/>
          <p:nvPr/>
        </p:nvSpPr>
        <p:spPr>
          <a:xfrm>
            <a:off x="777240" y="1783080"/>
            <a:ext cx="10058400" cy="1005840"/>
          </a:xfrm>
          <a:prstGeom prst="rect">
            <a:avLst/>
          </a:prstGeom>
          <a:noFill/>
          <a:ln/>
        </p:spPr>
        <p:txBody>
          <a:bodyPr wrap="square" lIns="0" tIns="0" rIns="0" bIns="0" rtlCol="0" anchor="ctr"/>
          <a:lstStyle/>
          <a:p>
            <a:pPr marL="0" indent="0">
              <a:buNone/>
            </a:pPr>
            <a:r>
              <a:rPr lang="en-US" sz="5800" b="1" dirty="0">
                <a:latin typeface="Cambria" pitchFamily="34" charset="0"/>
                <a:ea typeface="Cambria" pitchFamily="34" charset="-122"/>
                <a:cs typeface="Cambria" pitchFamily="34" charset="-120"/>
              </a:rPr>
              <a:t>Heap Sort</a:t>
            </a:r>
            <a:endParaRPr lang="en-US" sz="5800" dirty="0"/>
          </a:p>
        </p:txBody>
      </p:sp>
      <p:sp>
        <p:nvSpPr>
          <p:cNvPr id="6" name="Text 4"/>
          <p:cNvSpPr txBox="1"/>
          <p:nvPr/>
        </p:nvSpPr>
        <p:spPr>
          <a:xfrm>
            <a:off x="822960" y="2834640"/>
            <a:ext cx="10058400" cy="457200"/>
          </a:xfrm>
          <a:prstGeom prst="rect">
            <a:avLst/>
          </a:prstGeom>
          <a:noFill/>
          <a:ln/>
        </p:spPr>
        <p:txBody>
          <a:bodyPr wrap="square" lIns="0" tIns="0" rIns="0" bIns="0" rtlCol="0" anchor="ctr"/>
          <a:lstStyle/>
          <a:p>
            <a:pPr marL="0" indent="0">
              <a:buNone/>
            </a:pPr>
            <a:r>
              <a:rPr lang="en-US" sz="1600" i="1" dirty="0">
                <a:latin typeface="Calibri" pitchFamily="34" charset="0"/>
                <a:ea typeface="Calibri" pitchFamily="34" charset="-122"/>
                <a:cs typeface="Calibri" pitchFamily="34" charset="-120"/>
              </a:rPr>
              <a:t>A Comparison-Based, In-Place Sorting Algorithm Using a Binary Heap</a:t>
            </a:r>
            <a:endParaRPr lang="en-US" sz="1600" dirty="0"/>
          </a:p>
        </p:txBody>
      </p:sp>
      <p:sp>
        <p:nvSpPr>
          <p:cNvPr id="7" name="Text 5"/>
          <p:cNvSpPr txBox="1"/>
          <p:nvPr/>
        </p:nvSpPr>
        <p:spPr>
          <a:xfrm>
            <a:off x="822960" y="3429000"/>
            <a:ext cx="10332720" cy="457200"/>
          </a:xfrm>
          <a:prstGeom prst="rect">
            <a:avLst/>
          </a:prstGeom>
          <a:noFill/>
          <a:ln/>
        </p:spPr>
        <p:txBody>
          <a:bodyPr wrap="square" lIns="0" tIns="0" rIns="0" bIns="0" rtlCol="0" anchor="ctr"/>
          <a:lstStyle/>
          <a:p>
            <a:pPr marL="0" indent="0">
              <a:buNone/>
            </a:pPr>
            <a:r>
              <a:rPr lang="en-US" sz="1400" b="1" dirty="0">
                <a:latin typeface="Courier New" pitchFamily="34" charset="0"/>
                <a:ea typeface="Courier New" pitchFamily="34" charset="-122"/>
                <a:cs typeface="Courier New" pitchFamily="34" charset="-120"/>
              </a:rPr>
              <a:t>Build-Heap: O(n)     Extract × (n−1): O(n log n)     →     O(n log n)  in every case</a:t>
            </a:r>
            <a:endParaRPr lang="en-US" sz="1400" dirty="0"/>
          </a:p>
        </p:txBody>
      </p:sp>
      <p:sp>
        <p:nvSpPr>
          <p:cNvPr id="8" name="Shape 6"/>
          <p:cNvSpPr/>
          <p:nvPr/>
        </p:nvSpPr>
        <p:spPr>
          <a:xfrm>
            <a:off x="822960" y="4160520"/>
            <a:ext cx="502920" cy="502920"/>
          </a:xfrm>
          <a:prstGeom prst="roundRect">
            <a:avLst>
              <a:gd name="adj" fmla="val 14545"/>
            </a:avLst>
          </a:prstGeom>
          <a:solidFill>
            <a:srgbClr val="FFFFFF"/>
          </a:solidFill>
          <a:ln w="22225">
            <a:solidFill>
              <a:srgbClr val="3FA672"/>
            </a:solidFill>
            <a:prstDash val="solid"/>
          </a:ln>
        </p:spPr>
      </p:sp>
      <p:sp>
        <p:nvSpPr>
          <p:cNvPr id="9" name="Text 7"/>
          <p:cNvSpPr txBox="1"/>
          <p:nvPr/>
        </p:nvSpPr>
        <p:spPr>
          <a:xfrm>
            <a:off x="822960"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4</a:t>
            </a:r>
            <a:endParaRPr lang="en-US" sz="1400" dirty="0"/>
          </a:p>
        </p:txBody>
      </p:sp>
      <p:sp>
        <p:nvSpPr>
          <p:cNvPr id="10" name="Shape 8"/>
          <p:cNvSpPr/>
          <p:nvPr/>
        </p:nvSpPr>
        <p:spPr>
          <a:xfrm>
            <a:off x="1408176" y="4160520"/>
            <a:ext cx="502920" cy="502920"/>
          </a:xfrm>
          <a:prstGeom prst="roundRect">
            <a:avLst>
              <a:gd name="adj" fmla="val 14545"/>
            </a:avLst>
          </a:prstGeom>
          <a:solidFill>
            <a:srgbClr val="FFFFFF"/>
          </a:solidFill>
          <a:ln w="22225">
            <a:solidFill>
              <a:srgbClr val="3FA672"/>
            </a:solidFill>
            <a:prstDash val="solid"/>
          </a:ln>
        </p:spPr>
      </p:sp>
      <p:sp>
        <p:nvSpPr>
          <p:cNvPr id="11" name="Text 9"/>
          <p:cNvSpPr txBox="1"/>
          <p:nvPr/>
        </p:nvSpPr>
        <p:spPr>
          <a:xfrm>
            <a:off x="1408176"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10</a:t>
            </a:r>
            <a:endParaRPr lang="en-US" sz="1400" dirty="0"/>
          </a:p>
        </p:txBody>
      </p:sp>
      <p:sp>
        <p:nvSpPr>
          <p:cNvPr id="12" name="Shape 10"/>
          <p:cNvSpPr/>
          <p:nvPr/>
        </p:nvSpPr>
        <p:spPr>
          <a:xfrm>
            <a:off x="1993392" y="4160520"/>
            <a:ext cx="502920" cy="502920"/>
          </a:xfrm>
          <a:prstGeom prst="roundRect">
            <a:avLst>
              <a:gd name="adj" fmla="val 14545"/>
            </a:avLst>
          </a:prstGeom>
          <a:solidFill>
            <a:srgbClr val="FFFFFF"/>
          </a:solidFill>
          <a:ln w="22225">
            <a:solidFill>
              <a:srgbClr val="3FA672"/>
            </a:solidFill>
            <a:prstDash val="solid"/>
          </a:ln>
        </p:spPr>
      </p:sp>
      <p:sp>
        <p:nvSpPr>
          <p:cNvPr id="13" name="Text 11"/>
          <p:cNvSpPr txBox="1"/>
          <p:nvPr/>
        </p:nvSpPr>
        <p:spPr>
          <a:xfrm>
            <a:off x="1993392"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a:t>
            </a:r>
            <a:endParaRPr lang="en-US" sz="1400" dirty="0"/>
          </a:p>
        </p:txBody>
      </p:sp>
      <p:sp>
        <p:nvSpPr>
          <p:cNvPr id="14" name="Shape 12"/>
          <p:cNvSpPr/>
          <p:nvPr/>
        </p:nvSpPr>
        <p:spPr>
          <a:xfrm>
            <a:off x="2578608" y="4160520"/>
            <a:ext cx="502920" cy="502920"/>
          </a:xfrm>
          <a:prstGeom prst="roundRect">
            <a:avLst>
              <a:gd name="adj" fmla="val 14545"/>
            </a:avLst>
          </a:prstGeom>
          <a:solidFill>
            <a:srgbClr val="FFFFFF"/>
          </a:solidFill>
          <a:ln w="22225">
            <a:solidFill>
              <a:srgbClr val="3FA672"/>
            </a:solidFill>
            <a:prstDash val="solid"/>
          </a:ln>
        </p:spPr>
      </p:sp>
      <p:sp>
        <p:nvSpPr>
          <p:cNvPr id="15" name="Text 13"/>
          <p:cNvSpPr txBox="1"/>
          <p:nvPr/>
        </p:nvSpPr>
        <p:spPr>
          <a:xfrm>
            <a:off x="2578608"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16" name="Shape 14"/>
          <p:cNvSpPr/>
          <p:nvPr/>
        </p:nvSpPr>
        <p:spPr>
          <a:xfrm>
            <a:off x="3163824" y="4160520"/>
            <a:ext cx="502920" cy="502920"/>
          </a:xfrm>
          <a:prstGeom prst="roundRect">
            <a:avLst>
              <a:gd name="adj" fmla="val 14545"/>
            </a:avLst>
          </a:prstGeom>
          <a:solidFill>
            <a:srgbClr val="FFFFFF"/>
          </a:solidFill>
          <a:ln w="22225">
            <a:solidFill>
              <a:srgbClr val="3FA672"/>
            </a:solidFill>
            <a:prstDash val="solid"/>
          </a:ln>
        </p:spPr>
      </p:sp>
      <p:sp>
        <p:nvSpPr>
          <p:cNvPr id="17" name="Text 15"/>
          <p:cNvSpPr txBox="1"/>
          <p:nvPr/>
        </p:nvSpPr>
        <p:spPr>
          <a:xfrm>
            <a:off x="3163824"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a:t>
            </a:r>
            <a:endParaRPr lang="en-US" sz="1400" dirty="0"/>
          </a:p>
        </p:txBody>
      </p:sp>
      <p:sp>
        <p:nvSpPr>
          <p:cNvPr id="18" name="Shape 16"/>
          <p:cNvSpPr/>
          <p:nvPr/>
        </p:nvSpPr>
        <p:spPr>
          <a:xfrm>
            <a:off x="3749040" y="4160520"/>
            <a:ext cx="502920" cy="502920"/>
          </a:xfrm>
          <a:prstGeom prst="roundRect">
            <a:avLst>
              <a:gd name="adj" fmla="val 14545"/>
            </a:avLst>
          </a:prstGeom>
          <a:solidFill>
            <a:srgbClr val="FFFFFF"/>
          </a:solidFill>
          <a:ln w="22225">
            <a:solidFill>
              <a:srgbClr val="3FA672"/>
            </a:solidFill>
            <a:prstDash val="solid"/>
          </a:ln>
        </p:spPr>
      </p:sp>
      <p:sp>
        <p:nvSpPr>
          <p:cNvPr id="19" name="Text 17"/>
          <p:cNvSpPr txBox="1"/>
          <p:nvPr/>
        </p:nvSpPr>
        <p:spPr>
          <a:xfrm>
            <a:off x="3749040"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8</a:t>
            </a:r>
            <a:endParaRPr lang="en-US" sz="1400" dirty="0"/>
          </a:p>
        </p:txBody>
      </p:sp>
      <p:sp>
        <p:nvSpPr>
          <p:cNvPr id="20" name="Shape 18"/>
          <p:cNvSpPr/>
          <p:nvPr/>
        </p:nvSpPr>
        <p:spPr>
          <a:xfrm>
            <a:off x="4334256" y="4160520"/>
            <a:ext cx="502920" cy="502920"/>
          </a:xfrm>
          <a:prstGeom prst="roundRect">
            <a:avLst>
              <a:gd name="adj" fmla="val 14545"/>
            </a:avLst>
          </a:prstGeom>
          <a:solidFill>
            <a:srgbClr val="FFFFFF"/>
          </a:solidFill>
          <a:ln w="22225">
            <a:solidFill>
              <a:srgbClr val="3FA672"/>
            </a:solidFill>
            <a:prstDash val="solid"/>
          </a:ln>
        </p:spPr>
      </p:sp>
      <p:sp>
        <p:nvSpPr>
          <p:cNvPr id="21" name="Text 19"/>
          <p:cNvSpPr txBox="1"/>
          <p:nvPr/>
        </p:nvSpPr>
        <p:spPr>
          <a:xfrm>
            <a:off x="4334256"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9</a:t>
            </a:r>
            <a:endParaRPr lang="en-US" sz="1400" dirty="0"/>
          </a:p>
        </p:txBody>
      </p:sp>
      <p:sp>
        <p:nvSpPr>
          <p:cNvPr id="22" name="Shape 20"/>
          <p:cNvSpPr/>
          <p:nvPr/>
        </p:nvSpPr>
        <p:spPr>
          <a:xfrm>
            <a:off x="4919472" y="4160520"/>
            <a:ext cx="502920" cy="502920"/>
          </a:xfrm>
          <a:prstGeom prst="roundRect">
            <a:avLst>
              <a:gd name="adj" fmla="val 14545"/>
            </a:avLst>
          </a:prstGeom>
          <a:solidFill>
            <a:srgbClr val="FFFFFF"/>
          </a:solidFill>
          <a:ln w="22225">
            <a:solidFill>
              <a:srgbClr val="3FA672"/>
            </a:solidFill>
            <a:prstDash val="solid"/>
          </a:ln>
        </p:spPr>
      </p:sp>
      <p:sp>
        <p:nvSpPr>
          <p:cNvPr id="23" name="Text 21"/>
          <p:cNvSpPr txBox="1"/>
          <p:nvPr/>
        </p:nvSpPr>
        <p:spPr>
          <a:xfrm>
            <a:off x="4919472" y="4160520"/>
            <a:ext cx="502920" cy="502920"/>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a:t>
            </a:r>
            <a:endParaRPr lang="en-US" sz="1400" dirty="0"/>
          </a:p>
        </p:txBody>
      </p:sp>
      <p:sp>
        <p:nvSpPr>
          <p:cNvPr id="24" name="Shape 22"/>
          <p:cNvSpPr/>
          <p:nvPr/>
        </p:nvSpPr>
        <p:spPr>
          <a:xfrm>
            <a:off x="822960" y="4937760"/>
            <a:ext cx="502920" cy="502920"/>
          </a:xfrm>
          <a:prstGeom prst="roundRect">
            <a:avLst>
              <a:gd name="adj" fmla="val 14545"/>
            </a:avLst>
          </a:prstGeom>
          <a:solidFill>
            <a:srgbClr val="1F6F4A"/>
          </a:solidFill>
          <a:ln w="22225">
            <a:solidFill>
              <a:srgbClr val="1F6F4A"/>
            </a:solidFill>
            <a:prstDash val="solid"/>
          </a:ln>
        </p:spPr>
      </p:sp>
      <p:sp>
        <p:nvSpPr>
          <p:cNvPr id="25" name="Text 23"/>
          <p:cNvSpPr txBox="1"/>
          <p:nvPr/>
        </p:nvSpPr>
        <p:spPr>
          <a:xfrm>
            <a:off x="822960"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6" name="Shape 24"/>
          <p:cNvSpPr/>
          <p:nvPr/>
        </p:nvSpPr>
        <p:spPr>
          <a:xfrm>
            <a:off x="1408176" y="4937760"/>
            <a:ext cx="502920" cy="502920"/>
          </a:xfrm>
          <a:prstGeom prst="roundRect">
            <a:avLst>
              <a:gd name="adj" fmla="val 14545"/>
            </a:avLst>
          </a:prstGeom>
          <a:solidFill>
            <a:srgbClr val="1F6F4A"/>
          </a:solidFill>
          <a:ln w="22225">
            <a:solidFill>
              <a:srgbClr val="1F6F4A"/>
            </a:solidFill>
            <a:prstDash val="solid"/>
          </a:ln>
        </p:spPr>
      </p:sp>
      <p:sp>
        <p:nvSpPr>
          <p:cNvPr id="27" name="Text 25"/>
          <p:cNvSpPr txBox="1"/>
          <p:nvPr/>
        </p:nvSpPr>
        <p:spPr>
          <a:xfrm>
            <a:off x="1408176"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8" name="Shape 26"/>
          <p:cNvSpPr/>
          <p:nvPr/>
        </p:nvSpPr>
        <p:spPr>
          <a:xfrm>
            <a:off x="1993392" y="4937760"/>
            <a:ext cx="502920" cy="502920"/>
          </a:xfrm>
          <a:prstGeom prst="roundRect">
            <a:avLst>
              <a:gd name="adj" fmla="val 14545"/>
            </a:avLst>
          </a:prstGeom>
          <a:solidFill>
            <a:srgbClr val="1F6F4A"/>
          </a:solidFill>
          <a:ln w="22225">
            <a:solidFill>
              <a:srgbClr val="1F6F4A"/>
            </a:solidFill>
            <a:prstDash val="solid"/>
          </a:ln>
        </p:spPr>
      </p:sp>
      <p:sp>
        <p:nvSpPr>
          <p:cNvPr id="29" name="Text 27"/>
          <p:cNvSpPr txBox="1"/>
          <p:nvPr/>
        </p:nvSpPr>
        <p:spPr>
          <a:xfrm>
            <a:off x="1993392"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30" name="Shape 28"/>
          <p:cNvSpPr/>
          <p:nvPr/>
        </p:nvSpPr>
        <p:spPr>
          <a:xfrm>
            <a:off x="2578608" y="4937760"/>
            <a:ext cx="502920" cy="502920"/>
          </a:xfrm>
          <a:prstGeom prst="roundRect">
            <a:avLst>
              <a:gd name="adj" fmla="val 14545"/>
            </a:avLst>
          </a:prstGeom>
          <a:solidFill>
            <a:srgbClr val="1F6F4A"/>
          </a:solidFill>
          <a:ln w="22225">
            <a:solidFill>
              <a:srgbClr val="1F6F4A"/>
            </a:solidFill>
            <a:prstDash val="solid"/>
          </a:ln>
        </p:spPr>
      </p:sp>
      <p:sp>
        <p:nvSpPr>
          <p:cNvPr id="31" name="Text 29"/>
          <p:cNvSpPr txBox="1"/>
          <p:nvPr/>
        </p:nvSpPr>
        <p:spPr>
          <a:xfrm>
            <a:off x="2578608"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32" name="Shape 30"/>
          <p:cNvSpPr/>
          <p:nvPr/>
        </p:nvSpPr>
        <p:spPr>
          <a:xfrm>
            <a:off x="3163824" y="4937760"/>
            <a:ext cx="502920" cy="502920"/>
          </a:xfrm>
          <a:prstGeom prst="roundRect">
            <a:avLst>
              <a:gd name="adj" fmla="val 14545"/>
            </a:avLst>
          </a:prstGeom>
          <a:solidFill>
            <a:srgbClr val="1F6F4A"/>
          </a:solidFill>
          <a:ln w="22225">
            <a:solidFill>
              <a:srgbClr val="1F6F4A"/>
            </a:solidFill>
            <a:prstDash val="solid"/>
          </a:ln>
        </p:spPr>
      </p:sp>
      <p:sp>
        <p:nvSpPr>
          <p:cNvPr id="33" name="Text 31"/>
          <p:cNvSpPr txBox="1"/>
          <p:nvPr/>
        </p:nvSpPr>
        <p:spPr>
          <a:xfrm>
            <a:off x="3163824"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34" name="Shape 32"/>
          <p:cNvSpPr/>
          <p:nvPr/>
        </p:nvSpPr>
        <p:spPr>
          <a:xfrm>
            <a:off x="3749040" y="4937760"/>
            <a:ext cx="502920" cy="502920"/>
          </a:xfrm>
          <a:prstGeom prst="roundRect">
            <a:avLst>
              <a:gd name="adj" fmla="val 14545"/>
            </a:avLst>
          </a:prstGeom>
          <a:solidFill>
            <a:srgbClr val="1F6F4A"/>
          </a:solidFill>
          <a:ln w="22225">
            <a:solidFill>
              <a:srgbClr val="1F6F4A"/>
            </a:solidFill>
            <a:prstDash val="solid"/>
          </a:ln>
        </p:spPr>
      </p:sp>
      <p:sp>
        <p:nvSpPr>
          <p:cNvPr id="35" name="Text 33"/>
          <p:cNvSpPr txBox="1"/>
          <p:nvPr/>
        </p:nvSpPr>
        <p:spPr>
          <a:xfrm>
            <a:off x="3749040"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8</a:t>
            </a:r>
            <a:endParaRPr lang="en-US" sz="1400" dirty="0"/>
          </a:p>
        </p:txBody>
      </p:sp>
      <p:sp>
        <p:nvSpPr>
          <p:cNvPr id="36" name="Shape 34"/>
          <p:cNvSpPr/>
          <p:nvPr/>
        </p:nvSpPr>
        <p:spPr>
          <a:xfrm>
            <a:off x="4334256" y="4937760"/>
            <a:ext cx="502920" cy="502920"/>
          </a:xfrm>
          <a:prstGeom prst="roundRect">
            <a:avLst>
              <a:gd name="adj" fmla="val 14545"/>
            </a:avLst>
          </a:prstGeom>
          <a:solidFill>
            <a:srgbClr val="1F6F4A"/>
          </a:solidFill>
          <a:ln w="22225">
            <a:solidFill>
              <a:srgbClr val="1F6F4A"/>
            </a:solidFill>
            <a:prstDash val="solid"/>
          </a:ln>
        </p:spPr>
      </p:sp>
      <p:sp>
        <p:nvSpPr>
          <p:cNvPr id="37" name="Text 35"/>
          <p:cNvSpPr txBox="1"/>
          <p:nvPr/>
        </p:nvSpPr>
        <p:spPr>
          <a:xfrm>
            <a:off x="4334256"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9</a:t>
            </a:r>
            <a:endParaRPr lang="en-US" sz="1400" dirty="0"/>
          </a:p>
        </p:txBody>
      </p:sp>
      <p:sp>
        <p:nvSpPr>
          <p:cNvPr id="38" name="Shape 36"/>
          <p:cNvSpPr/>
          <p:nvPr/>
        </p:nvSpPr>
        <p:spPr>
          <a:xfrm>
            <a:off x="4919472" y="4937760"/>
            <a:ext cx="502920" cy="502920"/>
          </a:xfrm>
          <a:prstGeom prst="roundRect">
            <a:avLst>
              <a:gd name="adj" fmla="val 14545"/>
            </a:avLst>
          </a:prstGeom>
          <a:solidFill>
            <a:srgbClr val="1F6F4A"/>
          </a:solidFill>
          <a:ln w="22225">
            <a:solidFill>
              <a:srgbClr val="1F6F4A"/>
            </a:solidFill>
            <a:prstDash val="solid"/>
          </a:ln>
        </p:spPr>
      </p:sp>
      <p:sp>
        <p:nvSpPr>
          <p:cNvPr id="39" name="Text 37"/>
          <p:cNvSpPr txBox="1"/>
          <p:nvPr/>
        </p:nvSpPr>
        <p:spPr>
          <a:xfrm>
            <a:off x="4919472" y="4937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10</a:t>
            </a:r>
            <a:endParaRPr lang="en-US" sz="1400" dirty="0"/>
          </a:p>
        </p:txBody>
      </p:sp>
      <p:sp>
        <p:nvSpPr>
          <p:cNvPr id="42" name="Text 40"/>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A8D9C2"/>
                </a:solidFill>
                <a:latin typeface="Calibri" pitchFamily="34" charset="0"/>
                <a:ea typeface="Calibri" pitchFamily="34" charset="-122"/>
                <a:cs typeface="Calibri" pitchFamily="34" charset="-120"/>
              </a:rPr>
              <a:t>Heap Sort  |  Data Structures Using C</a:t>
            </a:r>
            <a:endParaRPr lang="en-US" sz="900" dirty="0"/>
          </a:p>
        </p:txBody>
      </p:sp>
      <p:sp>
        <p:nvSpPr>
          <p:cNvPr id="43" name="Text 41"/>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A8D9C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5" name="Text 3"/>
          <p:cNvSpPr txBox="1"/>
          <p:nvPr/>
        </p:nvSpPr>
        <p:spPr>
          <a:xfrm>
            <a:off x="563880" y="354425"/>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Introduction to Sorting</a:t>
            </a:r>
            <a:endParaRPr lang="en-US" sz="3000" dirty="0"/>
          </a:p>
        </p:txBody>
      </p:sp>
      <p:sp>
        <p:nvSpPr>
          <p:cNvPr id="6" name="Text 4"/>
          <p:cNvSpPr txBox="1"/>
          <p:nvPr/>
        </p:nvSpPr>
        <p:spPr>
          <a:xfrm>
            <a:off x="518160" y="1097280"/>
            <a:ext cx="5577840" cy="1005840"/>
          </a:xfrm>
          <a:prstGeom prst="rect">
            <a:avLst/>
          </a:prstGeom>
          <a:noFill/>
          <a:ln/>
        </p:spPr>
        <p:txBody>
          <a:bodyPr wrap="square" lIns="0" tIns="0" rIns="0" bIns="0" rtlCol="0" anchor="ctr"/>
          <a:lstStyle/>
          <a:p>
            <a:pPr marL="0" indent="0">
              <a:lnSpc>
                <a:spcPct val="130000"/>
              </a:lnSpc>
              <a:buNone/>
            </a:pPr>
            <a:r>
              <a:rPr lang="en-US" b="1" dirty="0">
                <a:solidFill>
                  <a:srgbClr val="14281E"/>
                </a:solidFill>
                <a:latin typeface="Calibri" pitchFamily="34" charset="0"/>
                <a:ea typeface="Calibri" pitchFamily="34" charset="-122"/>
                <a:cs typeface="Calibri" pitchFamily="34" charset="-120"/>
              </a:rPr>
              <a:t>Sorting </a:t>
            </a:r>
            <a:r>
              <a:rPr lang="en-US" dirty="0">
                <a:solidFill>
                  <a:srgbClr val="1B2233"/>
                </a:solidFill>
                <a:latin typeface="Calibri" pitchFamily="34" charset="0"/>
                <a:ea typeface="Calibri" pitchFamily="34" charset="-122"/>
                <a:cs typeface="Calibri" pitchFamily="34" charset="-120"/>
              </a:rPr>
              <a:t>arranges the elements of a data structure into a defined order. It underlies efficient searching, and is a benchmark for comparing algorithm design strategies.</a:t>
            </a:r>
            <a:endParaRPr lang="en-US" dirty="0"/>
          </a:p>
        </p:txBody>
      </p:sp>
      <p:sp>
        <p:nvSpPr>
          <p:cNvPr id="7" name="Text 5"/>
          <p:cNvSpPr txBox="1"/>
          <p:nvPr/>
        </p:nvSpPr>
        <p:spPr>
          <a:xfrm>
            <a:off x="518160" y="2379881"/>
            <a:ext cx="5486400" cy="320040"/>
          </a:xfrm>
          <a:prstGeom prst="rect">
            <a:avLst/>
          </a:prstGeom>
          <a:noFill/>
          <a:ln/>
        </p:spPr>
        <p:txBody>
          <a:bodyPr wrap="square" lIns="0" tIns="0" rIns="0" bIns="0" rtlCol="0" anchor="ctr"/>
          <a:lstStyle/>
          <a:p>
            <a:pPr marL="0" indent="0">
              <a:buNone/>
            </a:pPr>
            <a:r>
              <a:rPr lang="en-US" b="1" dirty="0">
                <a:solidFill>
                  <a:srgbClr val="14281E"/>
                </a:solidFill>
                <a:latin typeface="Cambria" pitchFamily="34" charset="0"/>
                <a:ea typeface="Cambria" pitchFamily="34" charset="-122"/>
                <a:cs typeface="Cambria" pitchFamily="34" charset="-120"/>
              </a:rPr>
              <a:t>Where Heap Sort fits:</a:t>
            </a:r>
            <a:endParaRPr lang="en-US" dirty="0"/>
          </a:p>
        </p:txBody>
      </p:sp>
      <p:sp>
        <p:nvSpPr>
          <p:cNvPr id="8" name="Shape 6"/>
          <p:cNvSpPr/>
          <p:nvPr/>
        </p:nvSpPr>
        <p:spPr>
          <a:xfrm>
            <a:off x="548640" y="3017520"/>
            <a:ext cx="146304" cy="146304"/>
          </a:xfrm>
          <a:prstGeom prst="ellipse">
            <a:avLst/>
          </a:prstGeom>
          <a:solidFill>
            <a:srgbClr val="1F6F4A"/>
          </a:solidFill>
          <a:ln/>
        </p:spPr>
      </p:sp>
      <p:sp>
        <p:nvSpPr>
          <p:cNvPr id="9" name="Text 7"/>
          <p:cNvSpPr txBox="1"/>
          <p:nvPr/>
        </p:nvSpPr>
        <p:spPr>
          <a:xfrm>
            <a:off x="822960" y="2907792"/>
            <a:ext cx="5394960" cy="502920"/>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Built on the binary heap data structure, not on divide-and-conquer.</a:t>
            </a:r>
            <a:endParaRPr lang="en-US" sz="1600" dirty="0"/>
          </a:p>
        </p:txBody>
      </p:sp>
      <p:sp>
        <p:nvSpPr>
          <p:cNvPr id="10" name="Shape 8"/>
          <p:cNvSpPr/>
          <p:nvPr/>
        </p:nvSpPr>
        <p:spPr>
          <a:xfrm>
            <a:off x="548640" y="3566160"/>
            <a:ext cx="146304" cy="146304"/>
          </a:xfrm>
          <a:prstGeom prst="ellipse">
            <a:avLst/>
          </a:prstGeom>
          <a:solidFill>
            <a:srgbClr val="1F6F4A"/>
          </a:solidFill>
          <a:ln/>
        </p:spPr>
      </p:sp>
      <p:sp>
        <p:nvSpPr>
          <p:cNvPr id="11" name="Text 9"/>
          <p:cNvSpPr txBox="1"/>
          <p:nvPr/>
        </p:nvSpPr>
        <p:spPr>
          <a:xfrm>
            <a:off x="822960" y="3456432"/>
            <a:ext cx="5394960" cy="502920"/>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In-place like Quick Sort, but with Merge Sort's guaranteed O(n log n) worst case.</a:t>
            </a:r>
            <a:endParaRPr lang="en-US" sz="1600" dirty="0"/>
          </a:p>
        </p:txBody>
      </p:sp>
      <p:sp>
        <p:nvSpPr>
          <p:cNvPr id="12" name="Shape 10"/>
          <p:cNvSpPr/>
          <p:nvPr/>
        </p:nvSpPr>
        <p:spPr>
          <a:xfrm>
            <a:off x="548640" y="4114800"/>
            <a:ext cx="146304" cy="146304"/>
          </a:xfrm>
          <a:prstGeom prst="ellipse">
            <a:avLst/>
          </a:prstGeom>
          <a:solidFill>
            <a:srgbClr val="1F6F4A"/>
          </a:solidFill>
          <a:ln/>
        </p:spPr>
      </p:sp>
      <p:sp>
        <p:nvSpPr>
          <p:cNvPr id="13" name="Text 11"/>
          <p:cNvSpPr txBox="1"/>
          <p:nvPr/>
        </p:nvSpPr>
        <p:spPr>
          <a:xfrm>
            <a:off x="822960" y="4005072"/>
            <a:ext cx="5394960" cy="502920"/>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No recursion required in practice — heapify is naturally iterative.</a:t>
            </a:r>
            <a:endParaRPr lang="en-US" sz="1600" dirty="0"/>
          </a:p>
        </p:txBody>
      </p:sp>
      <p:sp>
        <p:nvSpPr>
          <p:cNvPr id="14" name="Text 12"/>
          <p:cNvSpPr txBox="1"/>
          <p:nvPr/>
        </p:nvSpPr>
        <p:spPr>
          <a:xfrm>
            <a:off x="7406640" y="1448228"/>
            <a:ext cx="4754880" cy="274320"/>
          </a:xfrm>
          <a:prstGeom prst="rect">
            <a:avLst/>
          </a:prstGeom>
          <a:noFill/>
          <a:ln/>
        </p:spPr>
        <p:txBody>
          <a:bodyPr wrap="square" lIns="0" tIns="0" rIns="0" bIns="0" rtlCol="0" anchor="ctr"/>
          <a:lstStyle/>
          <a:p>
            <a:pPr marL="0" indent="0">
              <a:buNone/>
            </a:pPr>
            <a:r>
              <a:rPr lang="en-US" sz="1400" b="1" kern="0" spc="150" dirty="0">
                <a:solidFill>
                  <a:srgbClr val="3FA672"/>
                </a:solidFill>
                <a:latin typeface="Calibri" pitchFamily="34" charset="0"/>
                <a:ea typeface="Calibri" pitchFamily="34" charset="-122"/>
                <a:cs typeface="Calibri" pitchFamily="34" charset="-120"/>
              </a:rPr>
              <a:t>COMMON SORTING TECHNIQUES</a:t>
            </a:r>
            <a:endParaRPr lang="en-US" sz="1400" dirty="0"/>
          </a:p>
        </p:txBody>
      </p:sp>
      <p:sp>
        <p:nvSpPr>
          <p:cNvPr id="15" name="Shape 13"/>
          <p:cNvSpPr/>
          <p:nvPr/>
        </p:nvSpPr>
        <p:spPr>
          <a:xfrm>
            <a:off x="6492240" y="1828800"/>
            <a:ext cx="4480560" cy="365760"/>
          </a:xfrm>
          <a:prstGeom prst="roundRect">
            <a:avLst>
              <a:gd name="adj" fmla="val 50000"/>
            </a:avLst>
          </a:prstGeom>
          <a:solidFill>
            <a:srgbClr val="E8F5EE"/>
          </a:solidFill>
          <a:ln/>
        </p:spPr>
      </p:sp>
      <p:sp>
        <p:nvSpPr>
          <p:cNvPr id="16" name="Text 14"/>
          <p:cNvSpPr txBox="1"/>
          <p:nvPr/>
        </p:nvSpPr>
        <p:spPr>
          <a:xfrm>
            <a:off x="6492240" y="1828800"/>
            <a:ext cx="4480560" cy="365760"/>
          </a:xfrm>
          <a:prstGeom prst="rect">
            <a:avLst/>
          </a:prstGeom>
          <a:noFill/>
          <a:ln/>
        </p:spPr>
        <p:txBody>
          <a:bodyPr wrap="square" lIns="0" tIns="0" rIns="0" bIns="0" rtlCol="0" anchor="ctr"/>
          <a:lstStyle/>
          <a:p>
            <a:pPr marL="0" indent="0" algn="ctr">
              <a:buNone/>
            </a:pPr>
            <a:r>
              <a:rPr lang="en-US" sz="1300" b="1" dirty="0">
                <a:solidFill>
                  <a:srgbClr val="14281E"/>
                </a:solidFill>
                <a:latin typeface="Calibri" pitchFamily="34" charset="0"/>
                <a:ea typeface="Calibri" pitchFamily="34" charset="-122"/>
                <a:cs typeface="Calibri" pitchFamily="34" charset="-120"/>
              </a:rPr>
              <a:t>Bubble Sort</a:t>
            </a:r>
            <a:endParaRPr lang="en-US" sz="1300" dirty="0"/>
          </a:p>
        </p:txBody>
      </p:sp>
      <p:sp>
        <p:nvSpPr>
          <p:cNvPr id="17" name="Shape 15"/>
          <p:cNvSpPr/>
          <p:nvPr/>
        </p:nvSpPr>
        <p:spPr>
          <a:xfrm>
            <a:off x="6492240" y="2359152"/>
            <a:ext cx="4480560" cy="365760"/>
          </a:xfrm>
          <a:prstGeom prst="roundRect">
            <a:avLst>
              <a:gd name="adj" fmla="val 50000"/>
            </a:avLst>
          </a:prstGeom>
          <a:solidFill>
            <a:srgbClr val="E8F5EE"/>
          </a:solidFill>
          <a:ln/>
        </p:spPr>
      </p:sp>
      <p:sp>
        <p:nvSpPr>
          <p:cNvPr id="18" name="Text 16"/>
          <p:cNvSpPr txBox="1"/>
          <p:nvPr/>
        </p:nvSpPr>
        <p:spPr>
          <a:xfrm>
            <a:off x="6492240" y="2359152"/>
            <a:ext cx="4480560" cy="365760"/>
          </a:xfrm>
          <a:prstGeom prst="rect">
            <a:avLst/>
          </a:prstGeom>
          <a:noFill/>
          <a:ln/>
        </p:spPr>
        <p:txBody>
          <a:bodyPr wrap="square" lIns="0" tIns="0" rIns="0" bIns="0" rtlCol="0" anchor="ctr"/>
          <a:lstStyle/>
          <a:p>
            <a:pPr marL="0" indent="0" algn="ctr">
              <a:buNone/>
            </a:pPr>
            <a:r>
              <a:rPr lang="en-US" sz="1300" b="1" dirty="0">
                <a:solidFill>
                  <a:srgbClr val="14281E"/>
                </a:solidFill>
                <a:latin typeface="Calibri" pitchFamily="34" charset="0"/>
                <a:ea typeface="Calibri" pitchFamily="34" charset="-122"/>
                <a:cs typeface="Calibri" pitchFamily="34" charset="-120"/>
              </a:rPr>
              <a:t>Insertion Sort</a:t>
            </a:r>
            <a:endParaRPr lang="en-US" sz="1300" dirty="0"/>
          </a:p>
        </p:txBody>
      </p:sp>
      <p:sp>
        <p:nvSpPr>
          <p:cNvPr id="19" name="Shape 17"/>
          <p:cNvSpPr/>
          <p:nvPr/>
        </p:nvSpPr>
        <p:spPr>
          <a:xfrm>
            <a:off x="6492240" y="2889504"/>
            <a:ext cx="4480560" cy="365760"/>
          </a:xfrm>
          <a:prstGeom prst="roundRect">
            <a:avLst>
              <a:gd name="adj" fmla="val 50000"/>
            </a:avLst>
          </a:prstGeom>
          <a:solidFill>
            <a:srgbClr val="E8F5EE"/>
          </a:solidFill>
          <a:ln/>
        </p:spPr>
      </p:sp>
      <p:sp>
        <p:nvSpPr>
          <p:cNvPr id="20" name="Text 18"/>
          <p:cNvSpPr txBox="1"/>
          <p:nvPr/>
        </p:nvSpPr>
        <p:spPr>
          <a:xfrm>
            <a:off x="6492240" y="2889504"/>
            <a:ext cx="4480560" cy="365760"/>
          </a:xfrm>
          <a:prstGeom prst="rect">
            <a:avLst/>
          </a:prstGeom>
          <a:noFill/>
          <a:ln/>
        </p:spPr>
        <p:txBody>
          <a:bodyPr wrap="square" lIns="0" tIns="0" rIns="0" bIns="0" rtlCol="0" anchor="ctr"/>
          <a:lstStyle/>
          <a:p>
            <a:pPr marL="0" indent="0" algn="ctr">
              <a:buNone/>
            </a:pPr>
            <a:r>
              <a:rPr lang="en-US" sz="1300" b="1" dirty="0">
                <a:solidFill>
                  <a:srgbClr val="14281E"/>
                </a:solidFill>
                <a:latin typeface="Calibri" pitchFamily="34" charset="0"/>
                <a:ea typeface="Calibri" pitchFamily="34" charset="-122"/>
                <a:cs typeface="Calibri" pitchFamily="34" charset="-120"/>
              </a:rPr>
              <a:t>Merge Sort</a:t>
            </a:r>
            <a:endParaRPr lang="en-US" sz="1300" dirty="0"/>
          </a:p>
        </p:txBody>
      </p:sp>
      <p:sp>
        <p:nvSpPr>
          <p:cNvPr id="21" name="Shape 19"/>
          <p:cNvSpPr/>
          <p:nvPr/>
        </p:nvSpPr>
        <p:spPr>
          <a:xfrm>
            <a:off x="6492240" y="3419856"/>
            <a:ext cx="4480560" cy="365760"/>
          </a:xfrm>
          <a:prstGeom prst="roundRect">
            <a:avLst>
              <a:gd name="adj" fmla="val 50000"/>
            </a:avLst>
          </a:prstGeom>
          <a:solidFill>
            <a:srgbClr val="E8F5EE"/>
          </a:solidFill>
          <a:ln/>
        </p:spPr>
      </p:sp>
      <p:sp>
        <p:nvSpPr>
          <p:cNvPr id="22" name="Text 20"/>
          <p:cNvSpPr txBox="1"/>
          <p:nvPr/>
        </p:nvSpPr>
        <p:spPr>
          <a:xfrm>
            <a:off x="6492240" y="3419856"/>
            <a:ext cx="4480560" cy="365760"/>
          </a:xfrm>
          <a:prstGeom prst="rect">
            <a:avLst/>
          </a:prstGeom>
          <a:noFill/>
          <a:ln/>
        </p:spPr>
        <p:txBody>
          <a:bodyPr wrap="square" lIns="0" tIns="0" rIns="0" bIns="0" rtlCol="0" anchor="ctr"/>
          <a:lstStyle/>
          <a:p>
            <a:pPr marL="0" indent="0" algn="ctr">
              <a:buNone/>
            </a:pPr>
            <a:r>
              <a:rPr lang="en-US" sz="1300" b="1" dirty="0">
                <a:solidFill>
                  <a:srgbClr val="14281E"/>
                </a:solidFill>
                <a:latin typeface="Calibri" pitchFamily="34" charset="0"/>
                <a:ea typeface="Calibri" pitchFamily="34" charset="-122"/>
                <a:cs typeface="Calibri" pitchFamily="34" charset="-120"/>
              </a:rPr>
              <a:t>Quick Sort</a:t>
            </a:r>
            <a:endParaRPr lang="en-US" sz="1300" dirty="0"/>
          </a:p>
        </p:txBody>
      </p:sp>
      <p:sp>
        <p:nvSpPr>
          <p:cNvPr id="23" name="Shape 21"/>
          <p:cNvSpPr/>
          <p:nvPr/>
        </p:nvSpPr>
        <p:spPr>
          <a:xfrm>
            <a:off x="6492240" y="3950208"/>
            <a:ext cx="4480560" cy="365760"/>
          </a:xfrm>
          <a:prstGeom prst="roundRect">
            <a:avLst>
              <a:gd name="adj" fmla="val 50000"/>
            </a:avLst>
          </a:prstGeom>
          <a:solidFill>
            <a:srgbClr val="1F6F4A"/>
          </a:solidFill>
          <a:ln/>
        </p:spPr>
      </p:sp>
      <p:sp>
        <p:nvSpPr>
          <p:cNvPr id="24" name="Text 22"/>
          <p:cNvSpPr txBox="1"/>
          <p:nvPr/>
        </p:nvSpPr>
        <p:spPr>
          <a:xfrm>
            <a:off x="6492240" y="3950208"/>
            <a:ext cx="44805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Heap Sort</a:t>
            </a:r>
            <a:endParaRPr lang="en-US" sz="1300" dirty="0"/>
          </a:p>
        </p:txBody>
      </p:sp>
      <p:sp>
        <p:nvSpPr>
          <p:cNvPr id="25" name="Shape 23"/>
          <p:cNvSpPr/>
          <p:nvPr/>
        </p:nvSpPr>
        <p:spPr>
          <a:xfrm>
            <a:off x="365760" y="4821079"/>
            <a:ext cx="11204448" cy="1316736"/>
          </a:xfrm>
          <a:prstGeom prst="roundRect">
            <a:avLst>
              <a:gd name="adj" fmla="val 5263"/>
            </a:avLst>
          </a:prstGeom>
          <a:solidFill>
            <a:schemeClr val="bg1"/>
          </a:solidFill>
          <a:ln w="12700">
            <a:solidFill>
              <a:srgbClr val="14281E"/>
            </a:solidFill>
            <a:prstDash val="solid"/>
          </a:ln>
        </p:spPr>
      </p:sp>
      <p:sp>
        <p:nvSpPr>
          <p:cNvPr id="26" name="Text 24"/>
          <p:cNvSpPr txBox="1"/>
          <p:nvPr/>
        </p:nvSpPr>
        <p:spPr>
          <a:xfrm>
            <a:off x="621792" y="4937760"/>
            <a:ext cx="4480560" cy="274320"/>
          </a:xfrm>
          <a:prstGeom prst="rect">
            <a:avLst/>
          </a:prstGeom>
          <a:noFill/>
          <a:ln/>
        </p:spPr>
        <p:txBody>
          <a:bodyPr wrap="square" lIns="0" tIns="0" rIns="0" bIns="0" rtlCol="0" anchor="ctr"/>
          <a:lstStyle/>
          <a:p>
            <a:pPr marL="0" indent="0">
              <a:buNone/>
            </a:pPr>
            <a:r>
              <a:rPr lang="en-US" sz="2000" b="1" kern="0" spc="100" dirty="0">
                <a:solidFill>
                  <a:srgbClr val="D97706"/>
                </a:solidFill>
                <a:latin typeface="Calibri" pitchFamily="34" charset="0"/>
                <a:ea typeface="Calibri" pitchFamily="34" charset="-122"/>
                <a:cs typeface="Calibri" pitchFamily="34" charset="-120"/>
              </a:rPr>
              <a:t>HEAP SORT — A QUICK PREVIEW</a:t>
            </a:r>
            <a:endParaRPr lang="en-US" sz="2000" dirty="0"/>
          </a:p>
        </p:txBody>
      </p:sp>
      <p:sp>
        <p:nvSpPr>
          <p:cNvPr id="27" name="Text 25"/>
          <p:cNvSpPr txBox="1"/>
          <p:nvPr/>
        </p:nvSpPr>
        <p:spPr>
          <a:xfrm>
            <a:off x="603504" y="5056632"/>
            <a:ext cx="10369296" cy="1188720"/>
          </a:xfrm>
          <a:prstGeom prst="rect">
            <a:avLst/>
          </a:prstGeom>
          <a:noFill/>
          <a:ln/>
        </p:spPr>
        <p:txBody>
          <a:bodyPr wrap="square" lIns="0" tIns="0" rIns="0" bIns="0" rtlCol="0" anchor="ctr"/>
          <a:lstStyle/>
          <a:p>
            <a:pPr marL="0" indent="0">
              <a:lnSpc>
                <a:spcPct val="130000"/>
              </a:lnSpc>
              <a:buNone/>
            </a:pPr>
            <a:r>
              <a:rPr lang="en-US" dirty="0">
                <a:latin typeface="Calibri" pitchFamily="34" charset="0"/>
                <a:ea typeface="Calibri" pitchFamily="34" charset="-122"/>
                <a:cs typeface="Calibri" pitchFamily="34" charset="-120"/>
              </a:rPr>
              <a:t>Builds a max-heap from the array, then repeatedly swaps the maximum to the end and shrinks the heap — sorting from the back forward.</a:t>
            </a:r>
            <a:endParaRPr lang="en-US" dirty="0"/>
          </a:p>
        </p:txBody>
      </p:sp>
      <p:sp>
        <p:nvSpPr>
          <p:cNvPr id="28" name="Text 2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29" name="Text 2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What Is Heap Sort?</a:t>
            </a:r>
            <a:endParaRPr lang="en-US" sz="3000" dirty="0"/>
          </a:p>
        </p:txBody>
      </p:sp>
      <p:sp>
        <p:nvSpPr>
          <p:cNvPr id="6" name="Shape 4"/>
          <p:cNvSpPr/>
          <p:nvPr/>
        </p:nvSpPr>
        <p:spPr>
          <a:xfrm>
            <a:off x="548640" y="1463040"/>
            <a:ext cx="5486400" cy="1554480"/>
          </a:xfrm>
          <a:prstGeom prst="roundRect">
            <a:avLst>
              <a:gd name="adj" fmla="val 5882"/>
            </a:avLst>
          </a:prstGeom>
          <a:solidFill>
            <a:srgbClr val="E8F5EE"/>
          </a:solidFill>
          <a:ln w="12700">
            <a:solidFill>
              <a:srgbClr val="BFE3D0"/>
            </a:solidFill>
            <a:prstDash val="solid"/>
          </a:ln>
        </p:spPr>
      </p:sp>
      <p:sp>
        <p:nvSpPr>
          <p:cNvPr id="8" name="Text 6"/>
          <p:cNvSpPr txBox="1"/>
          <p:nvPr/>
        </p:nvSpPr>
        <p:spPr>
          <a:xfrm>
            <a:off x="764620" y="1705356"/>
            <a:ext cx="5029200" cy="1051560"/>
          </a:xfrm>
          <a:prstGeom prst="rect">
            <a:avLst/>
          </a:prstGeom>
          <a:noFill/>
          <a:ln/>
        </p:spPr>
        <p:txBody>
          <a:bodyPr wrap="square" lIns="0" tIns="0" rIns="0" bIns="0" rtlCol="0" anchor="ctr"/>
          <a:lstStyle/>
          <a:p>
            <a:pPr marL="0" indent="0">
              <a:lnSpc>
                <a:spcPct val="125000"/>
              </a:lnSpc>
              <a:buNone/>
            </a:pPr>
            <a:r>
              <a:rPr lang="en-US" dirty="0">
                <a:solidFill>
                  <a:srgbClr val="1B2233"/>
                </a:solidFill>
                <a:latin typeface="Calibri" pitchFamily="34" charset="0"/>
                <a:ea typeface="Calibri" pitchFamily="34" charset="-122"/>
                <a:cs typeface="Calibri" pitchFamily="34" charset="-120"/>
              </a:rPr>
              <a:t>Heap Sort first rearranges the array into a max-heap — where every parent is ≥ its children — then repeatedly moves the largest element to its final position at the end.</a:t>
            </a:r>
            <a:endParaRPr lang="en-US" dirty="0"/>
          </a:p>
        </p:txBody>
      </p:sp>
      <p:sp>
        <p:nvSpPr>
          <p:cNvPr id="9" name="Text 7"/>
          <p:cNvSpPr txBox="1"/>
          <p:nvPr/>
        </p:nvSpPr>
        <p:spPr>
          <a:xfrm>
            <a:off x="548640" y="3200400"/>
            <a:ext cx="5486400" cy="320040"/>
          </a:xfrm>
          <a:prstGeom prst="rect">
            <a:avLst/>
          </a:prstGeom>
          <a:noFill/>
          <a:ln/>
        </p:spPr>
        <p:txBody>
          <a:bodyPr wrap="square" lIns="0" tIns="0" rIns="0" bIns="0" rtlCol="0" anchor="ctr"/>
          <a:lstStyle/>
          <a:p>
            <a:pPr marL="0" indent="0">
              <a:buNone/>
            </a:pPr>
            <a:r>
              <a:rPr lang="en-US" b="1" dirty="0">
                <a:solidFill>
                  <a:srgbClr val="14281E"/>
                </a:solidFill>
                <a:latin typeface="Cambria" pitchFamily="34" charset="0"/>
                <a:ea typeface="Cambria" pitchFamily="34" charset="-122"/>
                <a:cs typeface="Cambria" pitchFamily="34" charset="-120"/>
              </a:rPr>
              <a:t>The key insight</a:t>
            </a:r>
            <a:endParaRPr lang="en-US" dirty="0"/>
          </a:p>
        </p:txBody>
      </p:sp>
      <p:sp>
        <p:nvSpPr>
          <p:cNvPr id="10" name="Text 8"/>
          <p:cNvSpPr txBox="1"/>
          <p:nvPr/>
        </p:nvSpPr>
        <p:spPr>
          <a:xfrm>
            <a:off x="548640" y="3520440"/>
            <a:ext cx="5486400" cy="914400"/>
          </a:xfrm>
          <a:prstGeom prst="rect">
            <a:avLst/>
          </a:prstGeom>
          <a:noFill/>
          <a:ln/>
        </p:spPr>
        <p:txBody>
          <a:bodyPr wrap="square" lIns="0" tIns="0" rIns="0" bIns="0" rtlCol="0" anchor="ctr"/>
          <a:lstStyle/>
          <a:p>
            <a:pPr marL="0" indent="0">
              <a:lnSpc>
                <a:spcPct val="130000"/>
              </a:lnSpc>
              <a:buNone/>
            </a:pPr>
            <a:r>
              <a:rPr lang="en-US" sz="1600" dirty="0">
                <a:solidFill>
                  <a:srgbClr val="5B6584"/>
                </a:solidFill>
                <a:latin typeface="Calibri" pitchFamily="34" charset="0"/>
                <a:ea typeface="Calibri" pitchFamily="34" charset="-122"/>
                <a:cs typeface="Calibri" pitchFamily="34" charset="-120"/>
              </a:rPr>
              <a:t>A binary heap stored in a plain array needs no pointers: for index i, its children live at 2i+1 and 2i+2. The tree structure is implicit — free, in the array itself.</a:t>
            </a:r>
            <a:endParaRPr lang="en-US" sz="1600" dirty="0"/>
          </a:p>
        </p:txBody>
      </p:sp>
      <p:sp>
        <p:nvSpPr>
          <p:cNvPr id="11" name="Text 9"/>
          <p:cNvSpPr txBox="1"/>
          <p:nvPr/>
        </p:nvSpPr>
        <p:spPr>
          <a:xfrm>
            <a:off x="548640" y="4572000"/>
            <a:ext cx="7315200" cy="274320"/>
          </a:xfrm>
          <a:prstGeom prst="rect">
            <a:avLst/>
          </a:prstGeom>
          <a:noFill/>
          <a:ln/>
        </p:spPr>
        <p:txBody>
          <a:bodyPr wrap="square" lIns="0" tIns="0" rIns="0" bIns="0" rtlCol="0" anchor="ctr"/>
          <a:lstStyle/>
          <a:p>
            <a:pPr marL="0" indent="0">
              <a:buNone/>
            </a:pPr>
            <a:r>
              <a:rPr lang="en-US" sz="1600" b="1" kern="0" spc="100" dirty="0">
                <a:solidFill>
                  <a:srgbClr val="3FA672"/>
                </a:solidFill>
                <a:latin typeface="Calibri" pitchFamily="34" charset="0"/>
                <a:ea typeface="Calibri" pitchFamily="34" charset="-122"/>
                <a:cs typeface="Calibri" pitchFamily="34" charset="-120"/>
              </a:rPr>
              <a:t>ARRAY  ↔  IMPLICIT BINARY TREE</a:t>
            </a:r>
            <a:endParaRPr lang="en-US" sz="1600" dirty="0"/>
          </a:p>
        </p:txBody>
      </p:sp>
      <p:sp>
        <p:nvSpPr>
          <p:cNvPr id="12" name="Shape 10"/>
          <p:cNvSpPr/>
          <p:nvPr/>
        </p:nvSpPr>
        <p:spPr>
          <a:xfrm>
            <a:off x="548640" y="4937760"/>
            <a:ext cx="475488" cy="475488"/>
          </a:xfrm>
          <a:prstGeom prst="roundRect">
            <a:avLst>
              <a:gd name="adj" fmla="val 15385"/>
            </a:avLst>
          </a:prstGeom>
          <a:solidFill>
            <a:srgbClr val="FFFFFF"/>
          </a:solidFill>
          <a:ln w="22225">
            <a:solidFill>
              <a:srgbClr val="1F6F4A"/>
            </a:solidFill>
            <a:prstDash val="solid"/>
          </a:ln>
        </p:spPr>
      </p:sp>
      <p:sp>
        <p:nvSpPr>
          <p:cNvPr id="13" name="Text 11"/>
          <p:cNvSpPr txBox="1"/>
          <p:nvPr/>
        </p:nvSpPr>
        <p:spPr>
          <a:xfrm>
            <a:off x="54864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10</a:t>
            </a:r>
            <a:endParaRPr lang="en-US" sz="1300" dirty="0"/>
          </a:p>
        </p:txBody>
      </p:sp>
      <p:sp>
        <p:nvSpPr>
          <p:cNvPr id="14" name="Text 12"/>
          <p:cNvSpPr txBox="1"/>
          <p:nvPr/>
        </p:nvSpPr>
        <p:spPr>
          <a:xfrm>
            <a:off x="54864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15" name="Shape 13"/>
          <p:cNvSpPr/>
          <p:nvPr/>
        </p:nvSpPr>
        <p:spPr>
          <a:xfrm>
            <a:off x="1097280" y="4937760"/>
            <a:ext cx="475488" cy="475488"/>
          </a:xfrm>
          <a:prstGeom prst="roundRect">
            <a:avLst>
              <a:gd name="adj" fmla="val 15385"/>
            </a:avLst>
          </a:prstGeom>
          <a:solidFill>
            <a:srgbClr val="FFFFFF"/>
          </a:solidFill>
          <a:ln w="22225">
            <a:solidFill>
              <a:srgbClr val="1F6F4A"/>
            </a:solidFill>
            <a:prstDash val="solid"/>
          </a:ln>
        </p:spPr>
      </p:sp>
      <p:sp>
        <p:nvSpPr>
          <p:cNvPr id="16" name="Text 14"/>
          <p:cNvSpPr txBox="1"/>
          <p:nvPr/>
        </p:nvSpPr>
        <p:spPr>
          <a:xfrm>
            <a:off x="109728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7" name="Text 15"/>
          <p:cNvSpPr txBox="1"/>
          <p:nvPr/>
        </p:nvSpPr>
        <p:spPr>
          <a:xfrm>
            <a:off x="109728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8" name="Shape 16"/>
          <p:cNvSpPr/>
          <p:nvPr/>
        </p:nvSpPr>
        <p:spPr>
          <a:xfrm>
            <a:off x="1645920" y="4937760"/>
            <a:ext cx="475488" cy="475488"/>
          </a:xfrm>
          <a:prstGeom prst="roundRect">
            <a:avLst>
              <a:gd name="adj" fmla="val 15385"/>
            </a:avLst>
          </a:prstGeom>
          <a:solidFill>
            <a:srgbClr val="FFFFFF"/>
          </a:solidFill>
          <a:ln w="22225">
            <a:solidFill>
              <a:srgbClr val="1F6F4A"/>
            </a:solidFill>
            <a:prstDash val="solid"/>
          </a:ln>
        </p:spPr>
      </p:sp>
      <p:sp>
        <p:nvSpPr>
          <p:cNvPr id="19" name="Text 17"/>
          <p:cNvSpPr txBox="1"/>
          <p:nvPr/>
        </p:nvSpPr>
        <p:spPr>
          <a:xfrm>
            <a:off x="164592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a:t>
            </a:r>
            <a:endParaRPr lang="en-US" sz="1300" dirty="0"/>
          </a:p>
        </p:txBody>
      </p:sp>
      <p:sp>
        <p:nvSpPr>
          <p:cNvPr id="20" name="Text 18"/>
          <p:cNvSpPr txBox="1"/>
          <p:nvPr/>
        </p:nvSpPr>
        <p:spPr>
          <a:xfrm>
            <a:off x="164592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21" name="Shape 19"/>
          <p:cNvSpPr/>
          <p:nvPr/>
        </p:nvSpPr>
        <p:spPr>
          <a:xfrm>
            <a:off x="2194560" y="4937760"/>
            <a:ext cx="475488" cy="475488"/>
          </a:xfrm>
          <a:prstGeom prst="roundRect">
            <a:avLst>
              <a:gd name="adj" fmla="val 15385"/>
            </a:avLst>
          </a:prstGeom>
          <a:solidFill>
            <a:srgbClr val="FFFFFF"/>
          </a:solidFill>
          <a:ln w="22225">
            <a:solidFill>
              <a:srgbClr val="1F6F4A"/>
            </a:solidFill>
            <a:prstDash val="solid"/>
          </a:ln>
        </p:spPr>
      </p:sp>
      <p:sp>
        <p:nvSpPr>
          <p:cNvPr id="22" name="Text 20"/>
          <p:cNvSpPr txBox="1"/>
          <p:nvPr/>
        </p:nvSpPr>
        <p:spPr>
          <a:xfrm>
            <a:off x="219456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23" name="Text 21"/>
          <p:cNvSpPr txBox="1"/>
          <p:nvPr/>
        </p:nvSpPr>
        <p:spPr>
          <a:xfrm>
            <a:off x="219456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24" name="Shape 22"/>
          <p:cNvSpPr/>
          <p:nvPr/>
        </p:nvSpPr>
        <p:spPr>
          <a:xfrm>
            <a:off x="2743200" y="4937760"/>
            <a:ext cx="475488" cy="475488"/>
          </a:xfrm>
          <a:prstGeom prst="roundRect">
            <a:avLst>
              <a:gd name="adj" fmla="val 15385"/>
            </a:avLst>
          </a:prstGeom>
          <a:solidFill>
            <a:srgbClr val="FFFFFF"/>
          </a:solidFill>
          <a:ln w="22225">
            <a:solidFill>
              <a:srgbClr val="1F6F4A"/>
            </a:solidFill>
            <a:prstDash val="solid"/>
          </a:ln>
        </p:spPr>
      </p:sp>
      <p:sp>
        <p:nvSpPr>
          <p:cNvPr id="25" name="Text 23"/>
          <p:cNvSpPr txBox="1"/>
          <p:nvPr/>
        </p:nvSpPr>
        <p:spPr>
          <a:xfrm>
            <a:off x="274320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26" name="Text 24"/>
          <p:cNvSpPr txBox="1"/>
          <p:nvPr/>
        </p:nvSpPr>
        <p:spPr>
          <a:xfrm>
            <a:off x="274320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7" name="Shape 25"/>
          <p:cNvSpPr/>
          <p:nvPr/>
        </p:nvSpPr>
        <p:spPr>
          <a:xfrm>
            <a:off x="3291840" y="4937760"/>
            <a:ext cx="475488" cy="475488"/>
          </a:xfrm>
          <a:prstGeom prst="roundRect">
            <a:avLst>
              <a:gd name="adj" fmla="val 15385"/>
            </a:avLst>
          </a:prstGeom>
          <a:solidFill>
            <a:srgbClr val="FFFFFF"/>
          </a:solidFill>
          <a:ln w="22225">
            <a:solidFill>
              <a:srgbClr val="1F6F4A"/>
            </a:solidFill>
            <a:prstDash val="solid"/>
          </a:ln>
        </p:spPr>
      </p:sp>
      <p:sp>
        <p:nvSpPr>
          <p:cNvPr id="28" name="Text 26"/>
          <p:cNvSpPr txBox="1"/>
          <p:nvPr/>
        </p:nvSpPr>
        <p:spPr>
          <a:xfrm>
            <a:off x="329184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8</a:t>
            </a:r>
            <a:endParaRPr lang="en-US" sz="1300" dirty="0"/>
          </a:p>
        </p:txBody>
      </p:sp>
      <p:sp>
        <p:nvSpPr>
          <p:cNvPr id="29" name="Text 27"/>
          <p:cNvSpPr txBox="1"/>
          <p:nvPr/>
        </p:nvSpPr>
        <p:spPr>
          <a:xfrm>
            <a:off x="329184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30" name="Shape 28"/>
          <p:cNvSpPr/>
          <p:nvPr/>
        </p:nvSpPr>
        <p:spPr>
          <a:xfrm>
            <a:off x="3840480" y="4937760"/>
            <a:ext cx="475488" cy="475488"/>
          </a:xfrm>
          <a:prstGeom prst="roundRect">
            <a:avLst>
              <a:gd name="adj" fmla="val 15385"/>
            </a:avLst>
          </a:prstGeom>
          <a:solidFill>
            <a:srgbClr val="FFFFFF"/>
          </a:solidFill>
          <a:ln w="22225">
            <a:solidFill>
              <a:srgbClr val="1F6F4A"/>
            </a:solidFill>
            <a:prstDash val="solid"/>
          </a:ln>
        </p:spPr>
      </p:sp>
      <p:sp>
        <p:nvSpPr>
          <p:cNvPr id="31" name="Text 29"/>
          <p:cNvSpPr txBox="1"/>
          <p:nvPr/>
        </p:nvSpPr>
        <p:spPr>
          <a:xfrm>
            <a:off x="384048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32" name="Text 30"/>
          <p:cNvSpPr txBox="1"/>
          <p:nvPr/>
        </p:nvSpPr>
        <p:spPr>
          <a:xfrm>
            <a:off x="384048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33" name="Shape 31"/>
          <p:cNvSpPr/>
          <p:nvPr/>
        </p:nvSpPr>
        <p:spPr>
          <a:xfrm>
            <a:off x="4389120" y="4937760"/>
            <a:ext cx="475488" cy="475488"/>
          </a:xfrm>
          <a:prstGeom prst="roundRect">
            <a:avLst>
              <a:gd name="adj" fmla="val 15385"/>
            </a:avLst>
          </a:prstGeom>
          <a:solidFill>
            <a:srgbClr val="FFFFFF"/>
          </a:solidFill>
          <a:ln w="22225">
            <a:solidFill>
              <a:srgbClr val="1F6F4A"/>
            </a:solidFill>
            <a:prstDash val="solid"/>
          </a:ln>
        </p:spPr>
      </p:sp>
      <p:sp>
        <p:nvSpPr>
          <p:cNvPr id="34" name="Text 32"/>
          <p:cNvSpPr txBox="1"/>
          <p:nvPr/>
        </p:nvSpPr>
        <p:spPr>
          <a:xfrm>
            <a:off x="4389120" y="4937760"/>
            <a:ext cx="475488" cy="475488"/>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35" name="Text 33"/>
          <p:cNvSpPr txBox="1"/>
          <p:nvPr/>
        </p:nvSpPr>
        <p:spPr>
          <a:xfrm>
            <a:off x="4389120" y="5431536"/>
            <a:ext cx="475488"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36" name="Text 34"/>
          <p:cNvSpPr txBox="1"/>
          <p:nvPr/>
        </p:nvSpPr>
        <p:spPr>
          <a:xfrm>
            <a:off x="548640" y="5623560"/>
            <a:ext cx="73152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parent(i) = ⌊(i−1)/2⌋        left(i) = 2i+1        right(i) = 2i+2</a:t>
            </a:r>
            <a:endParaRPr lang="en-US" sz="1100" b="1" dirty="0"/>
          </a:p>
        </p:txBody>
      </p:sp>
      <p:sp>
        <p:nvSpPr>
          <p:cNvPr id="37" name="Shape 35"/>
          <p:cNvSpPr/>
          <p:nvPr/>
        </p:nvSpPr>
        <p:spPr>
          <a:xfrm>
            <a:off x="6355080" y="1463040"/>
            <a:ext cx="5257800" cy="4572000"/>
          </a:xfrm>
          <a:prstGeom prst="roundRect">
            <a:avLst>
              <a:gd name="adj" fmla="val 2000"/>
            </a:avLst>
          </a:prstGeom>
          <a:solidFill>
            <a:schemeClr val="bg1"/>
          </a:solidFill>
          <a:ln w="12700">
            <a:solidFill>
              <a:srgbClr val="14281E"/>
            </a:solidFill>
            <a:prstDash val="solid"/>
          </a:ln>
        </p:spPr>
      </p:sp>
      <p:sp>
        <p:nvSpPr>
          <p:cNvPr id="38" name="Text 36"/>
          <p:cNvSpPr txBox="1"/>
          <p:nvPr/>
        </p:nvSpPr>
        <p:spPr>
          <a:xfrm>
            <a:off x="6583680" y="1627632"/>
            <a:ext cx="4754880" cy="274320"/>
          </a:xfrm>
          <a:prstGeom prst="rect">
            <a:avLst/>
          </a:prstGeom>
          <a:noFill/>
          <a:ln/>
        </p:spPr>
        <p:txBody>
          <a:bodyPr wrap="square" lIns="0" tIns="0" rIns="0" bIns="0" rtlCol="0" anchor="ctr"/>
          <a:lstStyle/>
          <a:p>
            <a:pPr marL="0" indent="0">
              <a:buNone/>
            </a:pPr>
            <a:r>
              <a:rPr lang="en-US" b="1" kern="0" spc="150" dirty="0">
                <a:solidFill>
                  <a:srgbClr val="D97706"/>
                </a:solidFill>
                <a:latin typeface="Calibri" pitchFamily="34" charset="0"/>
                <a:ea typeface="Calibri" pitchFamily="34" charset="-122"/>
                <a:cs typeface="Calibri" pitchFamily="34" charset="-120"/>
              </a:rPr>
              <a:t>KEY CHARACTERISTICS</a:t>
            </a:r>
            <a:endParaRPr lang="en-US" dirty="0"/>
          </a:p>
        </p:txBody>
      </p:sp>
      <p:sp>
        <p:nvSpPr>
          <p:cNvPr id="39" name="Shape 37"/>
          <p:cNvSpPr/>
          <p:nvPr/>
        </p:nvSpPr>
        <p:spPr>
          <a:xfrm>
            <a:off x="6583680" y="2048256"/>
            <a:ext cx="146304" cy="146304"/>
          </a:xfrm>
          <a:prstGeom prst="ellipse">
            <a:avLst/>
          </a:prstGeom>
          <a:solidFill>
            <a:srgbClr val="3FA672"/>
          </a:solidFill>
          <a:ln/>
        </p:spPr>
      </p:sp>
      <p:sp>
        <p:nvSpPr>
          <p:cNvPr id="40" name="Text 38"/>
          <p:cNvSpPr txBox="1"/>
          <p:nvPr/>
        </p:nvSpPr>
        <p:spPr>
          <a:xfrm>
            <a:off x="6858000" y="1920240"/>
            <a:ext cx="4617720" cy="685800"/>
          </a:xfrm>
          <a:prstGeom prst="rect">
            <a:avLst/>
          </a:prstGeom>
          <a:noFill/>
          <a:ln/>
        </p:spPr>
        <p:txBody>
          <a:bodyPr wrap="square" lIns="0" tIns="0" rIns="0" bIns="0" rtlCol="0" anchor="ctr"/>
          <a:lstStyle/>
          <a:p>
            <a:pPr marL="0" indent="0">
              <a:lnSpc>
                <a:spcPct val="125000"/>
              </a:lnSpc>
              <a:buNone/>
            </a:pPr>
            <a:r>
              <a:rPr lang="en-US" sz="1600" b="1" dirty="0">
                <a:latin typeface="Calibri" pitchFamily="34" charset="0"/>
                <a:ea typeface="Calibri" pitchFamily="34" charset="-122"/>
                <a:cs typeface="Calibri" pitchFamily="34" charset="-120"/>
              </a:rPr>
              <a:t>In-Place:  </a:t>
            </a:r>
            <a:r>
              <a:rPr lang="en-US" sz="1600" dirty="0">
                <a:latin typeface="Calibri" pitchFamily="34" charset="0"/>
                <a:ea typeface="Calibri" pitchFamily="34" charset="-122"/>
                <a:cs typeface="Calibri" pitchFamily="34" charset="-120"/>
              </a:rPr>
              <a:t>Sorts within the array — O(1) extra space, no auxiliary array or buffer.</a:t>
            </a:r>
            <a:endParaRPr lang="en-US" sz="1600" dirty="0"/>
          </a:p>
        </p:txBody>
      </p:sp>
      <p:sp>
        <p:nvSpPr>
          <p:cNvPr id="41" name="Shape 39"/>
          <p:cNvSpPr/>
          <p:nvPr/>
        </p:nvSpPr>
        <p:spPr>
          <a:xfrm>
            <a:off x="6583680" y="2798064"/>
            <a:ext cx="146304" cy="146304"/>
          </a:xfrm>
          <a:prstGeom prst="ellipse">
            <a:avLst/>
          </a:prstGeom>
          <a:solidFill>
            <a:srgbClr val="3FA672"/>
          </a:solidFill>
          <a:ln/>
        </p:spPr>
      </p:sp>
      <p:sp>
        <p:nvSpPr>
          <p:cNvPr id="42" name="Text 40"/>
          <p:cNvSpPr txBox="1"/>
          <p:nvPr/>
        </p:nvSpPr>
        <p:spPr>
          <a:xfrm>
            <a:off x="6858000" y="2670048"/>
            <a:ext cx="4617720" cy="685800"/>
          </a:xfrm>
          <a:prstGeom prst="rect">
            <a:avLst/>
          </a:prstGeom>
          <a:noFill/>
          <a:ln/>
        </p:spPr>
        <p:txBody>
          <a:bodyPr wrap="square" lIns="0" tIns="0" rIns="0" bIns="0" rtlCol="0" anchor="ctr"/>
          <a:lstStyle/>
          <a:p>
            <a:pPr marL="0" indent="0">
              <a:lnSpc>
                <a:spcPct val="125000"/>
              </a:lnSpc>
              <a:buNone/>
            </a:pPr>
            <a:r>
              <a:rPr lang="en-US" sz="1600" b="1" dirty="0">
                <a:latin typeface="Calibri" pitchFamily="34" charset="0"/>
                <a:ea typeface="Calibri" pitchFamily="34" charset="-122"/>
                <a:cs typeface="Calibri" pitchFamily="34" charset="-120"/>
              </a:rPr>
              <a:t>Not Stable:  </a:t>
            </a:r>
            <a:r>
              <a:rPr lang="en-US" sz="1600" dirty="0">
                <a:latin typeface="Calibri" pitchFamily="34" charset="0"/>
                <a:ea typeface="Calibri" pitchFamily="34" charset="-122"/>
                <a:cs typeface="Calibri" pitchFamily="34" charset="-120"/>
              </a:rPr>
              <a:t>Heapify swaps can reorder equal elements.</a:t>
            </a:r>
            <a:endParaRPr lang="en-US" sz="1600" dirty="0"/>
          </a:p>
        </p:txBody>
      </p:sp>
      <p:sp>
        <p:nvSpPr>
          <p:cNvPr id="43" name="Shape 41"/>
          <p:cNvSpPr/>
          <p:nvPr/>
        </p:nvSpPr>
        <p:spPr>
          <a:xfrm>
            <a:off x="6583680" y="3547872"/>
            <a:ext cx="146304" cy="146304"/>
          </a:xfrm>
          <a:prstGeom prst="ellipse">
            <a:avLst/>
          </a:prstGeom>
          <a:solidFill>
            <a:srgbClr val="3FA672"/>
          </a:solidFill>
          <a:ln/>
        </p:spPr>
      </p:sp>
      <p:sp>
        <p:nvSpPr>
          <p:cNvPr id="44" name="Text 42"/>
          <p:cNvSpPr txBox="1"/>
          <p:nvPr/>
        </p:nvSpPr>
        <p:spPr>
          <a:xfrm>
            <a:off x="6858000" y="3419856"/>
            <a:ext cx="4617720" cy="685800"/>
          </a:xfrm>
          <a:prstGeom prst="rect">
            <a:avLst/>
          </a:prstGeom>
          <a:noFill/>
          <a:ln/>
        </p:spPr>
        <p:txBody>
          <a:bodyPr wrap="square" lIns="0" tIns="0" rIns="0" bIns="0" rtlCol="0" anchor="ctr"/>
          <a:lstStyle/>
          <a:p>
            <a:pPr marL="0" indent="0">
              <a:lnSpc>
                <a:spcPct val="125000"/>
              </a:lnSpc>
              <a:buNone/>
            </a:pPr>
            <a:r>
              <a:rPr lang="en-US" sz="1600" b="1" dirty="0">
                <a:latin typeface="Calibri" pitchFamily="34" charset="0"/>
                <a:ea typeface="Calibri" pitchFamily="34" charset="-122"/>
                <a:cs typeface="Calibri" pitchFamily="34" charset="-120"/>
              </a:rPr>
              <a:t>Comparison-Based:  </a:t>
            </a:r>
            <a:r>
              <a:rPr lang="en-US" sz="1600" dirty="0">
                <a:latin typeface="Calibri" pitchFamily="34" charset="0"/>
                <a:ea typeface="Calibri" pitchFamily="34" charset="-122"/>
                <a:cs typeface="Calibri" pitchFamily="34" charset="-120"/>
              </a:rPr>
              <a:t>Every decision compares a node to its children.</a:t>
            </a:r>
            <a:endParaRPr lang="en-US" sz="1600" dirty="0"/>
          </a:p>
        </p:txBody>
      </p:sp>
      <p:sp>
        <p:nvSpPr>
          <p:cNvPr id="45" name="Shape 43"/>
          <p:cNvSpPr/>
          <p:nvPr/>
        </p:nvSpPr>
        <p:spPr>
          <a:xfrm>
            <a:off x="6583680" y="4297680"/>
            <a:ext cx="146304" cy="146304"/>
          </a:xfrm>
          <a:prstGeom prst="ellipse">
            <a:avLst/>
          </a:prstGeom>
          <a:solidFill>
            <a:srgbClr val="3FA672"/>
          </a:solidFill>
          <a:ln/>
        </p:spPr>
      </p:sp>
      <p:sp>
        <p:nvSpPr>
          <p:cNvPr id="46" name="Text 44"/>
          <p:cNvSpPr txBox="1"/>
          <p:nvPr/>
        </p:nvSpPr>
        <p:spPr>
          <a:xfrm>
            <a:off x="6858000" y="4169664"/>
            <a:ext cx="4617720" cy="685800"/>
          </a:xfrm>
          <a:prstGeom prst="rect">
            <a:avLst/>
          </a:prstGeom>
          <a:noFill/>
          <a:ln/>
        </p:spPr>
        <p:txBody>
          <a:bodyPr wrap="square" lIns="0" tIns="0" rIns="0" bIns="0" rtlCol="0" anchor="ctr"/>
          <a:lstStyle/>
          <a:p>
            <a:pPr marL="0" indent="0">
              <a:lnSpc>
                <a:spcPct val="125000"/>
              </a:lnSpc>
              <a:buNone/>
            </a:pPr>
            <a:r>
              <a:rPr lang="en-US" sz="1600" b="1" dirty="0">
                <a:latin typeface="Calibri" pitchFamily="34" charset="0"/>
                <a:ea typeface="Calibri" pitchFamily="34" charset="-122"/>
                <a:cs typeface="Calibri" pitchFamily="34" charset="-120"/>
              </a:rPr>
              <a:t>Predictable:  </a:t>
            </a:r>
            <a:r>
              <a:rPr lang="en-US" sz="1600" dirty="0">
                <a:latin typeface="Calibri" pitchFamily="34" charset="0"/>
                <a:ea typeface="Calibri" pitchFamily="34" charset="-122"/>
                <a:cs typeface="Calibri" pitchFamily="34" charset="-120"/>
              </a:rPr>
              <a:t>O(n log n) in best, average, AND worst case — the heap's shape never depends on data order.</a:t>
            </a:r>
            <a:endParaRPr lang="en-US" sz="1600" dirty="0"/>
          </a:p>
        </p:txBody>
      </p:sp>
      <p:sp>
        <p:nvSpPr>
          <p:cNvPr id="47" name="Shape 45"/>
          <p:cNvSpPr/>
          <p:nvPr/>
        </p:nvSpPr>
        <p:spPr>
          <a:xfrm>
            <a:off x="6583680" y="5047488"/>
            <a:ext cx="146304" cy="146304"/>
          </a:xfrm>
          <a:prstGeom prst="ellipse">
            <a:avLst/>
          </a:prstGeom>
          <a:solidFill>
            <a:srgbClr val="3FA672"/>
          </a:solidFill>
          <a:ln/>
        </p:spPr>
      </p:sp>
      <p:sp>
        <p:nvSpPr>
          <p:cNvPr id="48" name="Text 46"/>
          <p:cNvSpPr txBox="1"/>
          <p:nvPr/>
        </p:nvSpPr>
        <p:spPr>
          <a:xfrm>
            <a:off x="6858000" y="4919472"/>
            <a:ext cx="4617720" cy="685800"/>
          </a:xfrm>
          <a:prstGeom prst="rect">
            <a:avLst/>
          </a:prstGeom>
          <a:noFill/>
          <a:ln/>
        </p:spPr>
        <p:txBody>
          <a:bodyPr wrap="square" lIns="0" tIns="0" rIns="0" bIns="0" rtlCol="0" anchor="ctr"/>
          <a:lstStyle/>
          <a:p>
            <a:pPr marL="0" indent="0">
              <a:lnSpc>
                <a:spcPct val="125000"/>
              </a:lnSpc>
              <a:buNone/>
            </a:pPr>
            <a:r>
              <a:rPr lang="en-US" sz="1600" b="1" dirty="0">
                <a:latin typeface="Calibri" pitchFamily="34" charset="0"/>
                <a:ea typeface="Calibri" pitchFamily="34" charset="-122"/>
                <a:cs typeface="Calibri" pitchFamily="34" charset="-120"/>
              </a:rPr>
              <a:t>No Recursion Needed:  </a:t>
            </a:r>
            <a:r>
              <a:rPr lang="en-US" sz="1600" dirty="0">
                <a:latin typeface="Calibri" pitchFamily="34" charset="0"/>
                <a:ea typeface="Calibri" pitchFamily="34" charset="-122"/>
                <a:cs typeface="Calibri" pitchFamily="34" charset="-120"/>
              </a:rPr>
              <a:t>Heapify is naturally written as an iterative loop.</a:t>
            </a:r>
            <a:endParaRPr lang="en-US" sz="1600" dirty="0"/>
          </a:p>
        </p:txBody>
      </p:sp>
      <p:sp>
        <p:nvSpPr>
          <p:cNvPr id="49" name="Text 4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50" name="Text 4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THE LOGIC</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MAX-HEAPIFY and the Two-Phase Algorithm</a:t>
            </a:r>
            <a:endParaRPr lang="en-US" sz="3000" dirty="0"/>
          </a:p>
        </p:txBody>
      </p:sp>
      <p:sp>
        <p:nvSpPr>
          <p:cNvPr id="6" name="Shape 4"/>
          <p:cNvSpPr/>
          <p:nvPr/>
        </p:nvSpPr>
        <p:spPr>
          <a:xfrm>
            <a:off x="548640" y="1463040"/>
            <a:ext cx="365760" cy="365760"/>
          </a:xfrm>
          <a:prstGeom prst="ellipse">
            <a:avLst/>
          </a:prstGeom>
          <a:solidFill>
            <a:srgbClr val="1F6F4A"/>
          </a:solidFill>
          <a:ln/>
        </p:spPr>
      </p:sp>
      <p:sp>
        <p:nvSpPr>
          <p:cNvPr id="7" name="Text 5"/>
          <p:cNvSpPr txBox="1"/>
          <p:nvPr/>
        </p:nvSpPr>
        <p:spPr>
          <a:xfrm>
            <a:off x="548640" y="1463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51560" y="1417320"/>
            <a:ext cx="1051560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MAX-HEAPIFY(A, i, n): assume the subtrees rooted at i's children are already valid max-heaps.</a:t>
            </a:r>
            <a:endParaRPr lang="en-US" dirty="0"/>
          </a:p>
        </p:txBody>
      </p:sp>
      <p:sp>
        <p:nvSpPr>
          <p:cNvPr id="9" name="Shape 7"/>
          <p:cNvSpPr/>
          <p:nvPr/>
        </p:nvSpPr>
        <p:spPr>
          <a:xfrm>
            <a:off x="548640" y="2176272"/>
            <a:ext cx="365760" cy="365760"/>
          </a:xfrm>
          <a:prstGeom prst="ellipse">
            <a:avLst/>
          </a:prstGeom>
          <a:solidFill>
            <a:srgbClr val="1F6F4A"/>
          </a:solidFill>
          <a:ln/>
        </p:spPr>
      </p:sp>
      <p:sp>
        <p:nvSpPr>
          <p:cNvPr id="10" name="Text 8"/>
          <p:cNvSpPr txBox="1"/>
          <p:nvPr/>
        </p:nvSpPr>
        <p:spPr>
          <a:xfrm>
            <a:off x="548640" y="2176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51560" y="2130552"/>
            <a:ext cx="1051560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Compare A[i] with its left and right children; find which of the three is largest.</a:t>
            </a:r>
            <a:endParaRPr lang="en-US" dirty="0"/>
          </a:p>
        </p:txBody>
      </p:sp>
      <p:sp>
        <p:nvSpPr>
          <p:cNvPr id="12" name="Shape 10"/>
          <p:cNvSpPr/>
          <p:nvPr/>
        </p:nvSpPr>
        <p:spPr>
          <a:xfrm>
            <a:off x="548640" y="2889504"/>
            <a:ext cx="365760" cy="365760"/>
          </a:xfrm>
          <a:prstGeom prst="ellipse">
            <a:avLst/>
          </a:prstGeom>
          <a:solidFill>
            <a:srgbClr val="1F6F4A"/>
          </a:solidFill>
          <a:ln/>
        </p:spPr>
      </p:sp>
      <p:sp>
        <p:nvSpPr>
          <p:cNvPr id="13" name="Text 11"/>
          <p:cNvSpPr txBox="1"/>
          <p:nvPr/>
        </p:nvSpPr>
        <p:spPr>
          <a:xfrm>
            <a:off x="548640" y="28895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51560" y="2843784"/>
            <a:ext cx="1051560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If a child is larger, swap it with A[i], then recursively (or iteratively) heapify at the child's index.</a:t>
            </a:r>
            <a:endParaRPr lang="en-US" dirty="0"/>
          </a:p>
        </p:txBody>
      </p:sp>
      <p:sp>
        <p:nvSpPr>
          <p:cNvPr id="15" name="Shape 13"/>
          <p:cNvSpPr/>
          <p:nvPr/>
        </p:nvSpPr>
        <p:spPr>
          <a:xfrm>
            <a:off x="548640" y="3602736"/>
            <a:ext cx="365760" cy="365760"/>
          </a:xfrm>
          <a:prstGeom prst="ellipse">
            <a:avLst/>
          </a:prstGeom>
          <a:solidFill>
            <a:srgbClr val="D97706"/>
          </a:solidFill>
          <a:ln/>
        </p:spPr>
      </p:sp>
      <p:sp>
        <p:nvSpPr>
          <p:cNvPr id="16" name="Text 14"/>
          <p:cNvSpPr txBox="1"/>
          <p:nvPr/>
        </p:nvSpPr>
        <p:spPr>
          <a:xfrm>
            <a:off x="548640" y="36027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51560" y="3557016"/>
            <a:ext cx="1051560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Phase 1 — Build-Max-Heap: call MAX-HEAPIFY on every non-leaf node, from the last one up to the root.</a:t>
            </a:r>
            <a:endParaRPr lang="en-US" dirty="0"/>
          </a:p>
        </p:txBody>
      </p:sp>
      <p:sp>
        <p:nvSpPr>
          <p:cNvPr id="18" name="Shape 16"/>
          <p:cNvSpPr/>
          <p:nvPr/>
        </p:nvSpPr>
        <p:spPr>
          <a:xfrm>
            <a:off x="548640" y="4315968"/>
            <a:ext cx="365760" cy="365760"/>
          </a:xfrm>
          <a:prstGeom prst="ellipse">
            <a:avLst/>
          </a:prstGeom>
          <a:solidFill>
            <a:srgbClr val="D97706"/>
          </a:solidFill>
          <a:ln/>
        </p:spPr>
      </p:sp>
      <p:sp>
        <p:nvSpPr>
          <p:cNvPr id="19" name="Text 17"/>
          <p:cNvSpPr txBox="1"/>
          <p:nvPr/>
        </p:nvSpPr>
        <p:spPr>
          <a:xfrm>
            <a:off x="548640" y="4315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051560" y="4270248"/>
            <a:ext cx="10515600" cy="54864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Phase 2 — Extract: repeatedly swap the root (maximum) with the last element, shrink the heap by one, and heapify the new root.</a:t>
            </a:r>
            <a:endParaRPr lang="en-US" dirty="0"/>
          </a:p>
        </p:txBody>
      </p:sp>
      <p:sp>
        <p:nvSpPr>
          <p:cNvPr id="21" name="Shape 19"/>
          <p:cNvSpPr/>
          <p:nvPr/>
        </p:nvSpPr>
        <p:spPr>
          <a:xfrm>
            <a:off x="548640" y="5120639"/>
            <a:ext cx="11064240" cy="1017175"/>
          </a:xfrm>
          <a:prstGeom prst="roundRect">
            <a:avLst>
              <a:gd name="adj" fmla="val 10000"/>
            </a:avLst>
          </a:prstGeom>
          <a:solidFill>
            <a:schemeClr val="bg2"/>
          </a:solidFill>
          <a:ln w="12700">
            <a:solidFill>
              <a:srgbClr val="14281E"/>
            </a:solidFill>
            <a:prstDash val="solid"/>
          </a:ln>
        </p:spPr>
      </p:sp>
      <p:sp>
        <p:nvSpPr>
          <p:cNvPr id="22" name="Text 20"/>
          <p:cNvSpPr txBox="1"/>
          <p:nvPr/>
        </p:nvSpPr>
        <p:spPr>
          <a:xfrm>
            <a:off x="777240" y="5120640"/>
            <a:ext cx="10607040" cy="914400"/>
          </a:xfrm>
          <a:prstGeom prst="rect">
            <a:avLst/>
          </a:prstGeom>
          <a:noFill/>
          <a:ln/>
        </p:spPr>
        <p:txBody>
          <a:bodyPr wrap="square" lIns="0" tIns="0" rIns="0" bIns="0" rtlCol="0" anchor="ctr"/>
          <a:lstStyle/>
          <a:p>
            <a:pPr marL="0" indent="0">
              <a:lnSpc>
                <a:spcPct val="130000"/>
              </a:lnSpc>
              <a:buNone/>
            </a:pPr>
            <a:r>
              <a:rPr lang="en-US" sz="1600" b="1" dirty="0">
                <a:latin typeface="Calibri" pitchFamily="34" charset="0"/>
                <a:ea typeface="Calibri" pitchFamily="34" charset="-122"/>
                <a:cs typeface="Calibri" pitchFamily="34" charset="-120"/>
              </a:rPr>
              <a:t>The invariant:  </a:t>
            </a:r>
            <a:r>
              <a:rPr lang="en-US" sz="1600" dirty="0">
                <a:latin typeface="Calibri" pitchFamily="34" charset="0"/>
                <a:ea typeface="Calibri" pitchFamily="34" charset="-122"/>
                <a:cs typeface="Calibri" pitchFamily="34" charset="-120"/>
              </a:rPr>
              <a:t>MAX-HEAPIFY(A, i, n) only works correctly because its children's subtrees are ALREADY valid heaps before it's called — built bottom-up in Phase 1, and preserved by construction in Phase 2. This is why a single downward pass per call is enough; there is never any need to look upward.</a:t>
            </a:r>
            <a:endParaRPr lang="en-US" sz="1600" dirty="0"/>
          </a:p>
        </p:txBody>
      </p:sp>
      <p:sp>
        <p:nvSpPr>
          <p:cNvPr id="23" name="Text 21"/>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24" name="Text 22"/>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WORKED EXAMPLE</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Full Trace: [4, 10, 3, 5, 1, 8, 9, 2]</a:t>
            </a:r>
            <a:endParaRPr lang="en-US" sz="3000" dirty="0"/>
          </a:p>
        </p:txBody>
      </p:sp>
      <p:sp>
        <p:nvSpPr>
          <p:cNvPr id="6" name="Shape 4"/>
          <p:cNvSpPr/>
          <p:nvPr/>
        </p:nvSpPr>
        <p:spPr>
          <a:xfrm>
            <a:off x="548640" y="1371600"/>
            <a:ext cx="457200" cy="457200"/>
          </a:xfrm>
          <a:prstGeom prst="roundRect">
            <a:avLst>
              <a:gd name="adj" fmla="val 16000"/>
            </a:avLst>
          </a:prstGeom>
          <a:solidFill>
            <a:srgbClr val="FFFFFF"/>
          </a:solidFill>
          <a:ln w="22225">
            <a:solidFill>
              <a:srgbClr val="1F6F4A"/>
            </a:solidFill>
            <a:prstDash val="solid"/>
          </a:ln>
        </p:spPr>
      </p:sp>
      <p:sp>
        <p:nvSpPr>
          <p:cNvPr id="7" name="Text 5"/>
          <p:cNvSpPr txBox="1"/>
          <p:nvPr/>
        </p:nvSpPr>
        <p:spPr>
          <a:xfrm>
            <a:off x="548640"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8" name="Text 6"/>
          <p:cNvSpPr txBox="1"/>
          <p:nvPr/>
        </p:nvSpPr>
        <p:spPr>
          <a:xfrm>
            <a:off x="548640"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9" name="Shape 7"/>
          <p:cNvSpPr/>
          <p:nvPr/>
        </p:nvSpPr>
        <p:spPr>
          <a:xfrm>
            <a:off x="1088136" y="1371600"/>
            <a:ext cx="457200" cy="457200"/>
          </a:xfrm>
          <a:prstGeom prst="roundRect">
            <a:avLst>
              <a:gd name="adj" fmla="val 16000"/>
            </a:avLst>
          </a:prstGeom>
          <a:solidFill>
            <a:srgbClr val="FFFFFF"/>
          </a:solidFill>
          <a:ln w="22225">
            <a:solidFill>
              <a:srgbClr val="1F6F4A"/>
            </a:solidFill>
            <a:prstDash val="solid"/>
          </a:ln>
        </p:spPr>
      </p:sp>
      <p:sp>
        <p:nvSpPr>
          <p:cNvPr id="10" name="Text 8"/>
          <p:cNvSpPr txBox="1"/>
          <p:nvPr/>
        </p:nvSpPr>
        <p:spPr>
          <a:xfrm>
            <a:off x="1088136"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10</a:t>
            </a:r>
            <a:endParaRPr lang="en-US" sz="1300" dirty="0"/>
          </a:p>
        </p:txBody>
      </p:sp>
      <p:sp>
        <p:nvSpPr>
          <p:cNvPr id="11" name="Text 9"/>
          <p:cNvSpPr txBox="1"/>
          <p:nvPr/>
        </p:nvSpPr>
        <p:spPr>
          <a:xfrm>
            <a:off x="1088136"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2" name="Shape 10"/>
          <p:cNvSpPr/>
          <p:nvPr/>
        </p:nvSpPr>
        <p:spPr>
          <a:xfrm>
            <a:off x="1627632" y="1371600"/>
            <a:ext cx="457200" cy="457200"/>
          </a:xfrm>
          <a:prstGeom prst="roundRect">
            <a:avLst>
              <a:gd name="adj" fmla="val 16000"/>
            </a:avLst>
          </a:prstGeom>
          <a:solidFill>
            <a:srgbClr val="FFFFFF"/>
          </a:solidFill>
          <a:ln w="22225">
            <a:solidFill>
              <a:srgbClr val="1F6F4A"/>
            </a:solidFill>
            <a:prstDash val="solid"/>
          </a:ln>
        </p:spPr>
      </p:sp>
      <p:sp>
        <p:nvSpPr>
          <p:cNvPr id="13" name="Text 11"/>
          <p:cNvSpPr txBox="1"/>
          <p:nvPr/>
        </p:nvSpPr>
        <p:spPr>
          <a:xfrm>
            <a:off x="1627632"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a:t>
            </a:r>
            <a:endParaRPr lang="en-US" sz="1300" dirty="0"/>
          </a:p>
        </p:txBody>
      </p:sp>
      <p:sp>
        <p:nvSpPr>
          <p:cNvPr id="14" name="Text 12"/>
          <p:cNvSpPr txBox="1"/>
          <p:nvPr/>
        </p:nvSpPr>
        <p:spPr>
          <a:xfrm>
            <a:off x="1627632"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15" name="Shape 13"/>
          <p:cNvSpPr/>
          <p:nvPr/>
        </p:nvSpPr>
        <p:spPr>
          <a:xfrm>
            <a:off x="2167128" y="1371600"/>
            <a:ext cx="457200" cy="457200"/>
          </a:xfrm>
          <a:prstGeom prst="roundRect">
            <a:avLst>
              <a:gd name="adj" fmla="val 16000"/>
            </a:avLst>
          </a:prstGeom>
          <a:solidFill>
            <a:srgbClr val="FFFFFF"/>
          </a:solidFill>
          <a:ln w="22225">
            <a:solidFill>
              <a:srgbClr val="1F6F4A"/>
            </a:solidFill>
            <a:prstDash val="solid"/>
          </a:ln>
        </p:spPr>
      </p:sp>
      <p:sp>
        <p:nvSpPr>
          <p:cNvPr id="16" name="Text 14"/>
          <p:cNvSpPr txBox="1"/>
          <p:nvPr/>
        </p:nvSpPr>
        <p:spPr>
          <a:xfrm>
            <a:off x="2167128"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7" name="Text 15"/>
          <p:cNvSpPr txBox="1"/>
          <p:nvPr/>
        </p:nvSpPr>
        <p:spPr>
          <a:xfrm>
            <a:off x="2167128"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18" name="Shape 16"/>
          <p:cNvSpPr/>
          <p:nvPr/>
        </p:nvSpPr>
        <p:spPr>
          <a:xfrm>
            <a:off x="2706624" y="1371600"/>
            <a:ext cx="457200" cy="457200"/>
          </a:xfrm>
          <a:prstGeom prst="roundRect">
            <a:avLst>
              <a:gd name="adj" fmla="val 16000"/>
            </a:avLst>
          </a:prstGeom>
          <a:solidFill>
            <a:srgbClr val="FFFFFF"/>
          </a:solidFill>
          <a:ln w="22225">
            <a:solidFill>
              <a:srgbClr val="1F6F4A"/>
            </a:solidFill>
            <a:prstDash val="solid"/>
          </a:ln>
        </p:spPr>
      </p:sp>
      <p:sp>
        <p:nvSpPr>
          <p:cNvPr id="19" name="Text 17"/>
          <p:cNvSpPr txBox="1"/>
          <p:nvPr/>
        </p:nvSpPr>
        <p:spPr>
          <a:xfrm>
            <a:off x="2706624"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20" name="Text 18"/>
          <p:cNvSpPr txBox="1"/>
          <p:nvPr/>
        </p:nvSpPr>
        <p:spPr>
          <a:xfrm>
            <a:off x="2706624"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1" name="Shape 19"/>
          <p:cNvSpPr/>
          <p:nvPr/>
        </p:nvSpPr>
        <p:spPr>
          <a:xfrm>
            <a:off x="3246120" y="1371600"/>
            <a:ext cx="457200" cy="457200"/>
          </a:xfrm>
          <a:prstGeom prst="roundRect">
            <a:avLst>
              <a:gd name="adj" fmla="val 16000"/>
            </a:avLst>
          </a:prstGeom>
          <a:solidFill>
            <a:srgbClr val="FFFFFF"/>
          </a:solidFill>
          <a:ln w="22225">
            <a:solidFill>
              <a:srgbClr val="1F6F4A"/>
            </a:solidFill>
            <a:prstDash val="solid"/>
          </a:ln>
        </p:spPr>
      </p:sp>
      <p:sp>
        <p:nvSpPr>
          <p:cNvPr id="22" name="Text 20"/>
          <p:cNvSpPr txBox="1"/>
          <p:nvPr/>
        </p:nvSpPr>
        <p:spPr>
          <a:xfrm>
            <a:off x="3246120"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8</a:t>
            </a:r>
            <a:endParaRPr lang="en-US" sz="1300" dirty="0"/>
          </a:p>
        </p:txBody>
      </p:sp>
      <p:sp>
        <p:nvSpPr>
          <p:cNvPr id="23" name="Text 21"/>
          <p:cNvSpPr txBox="1"/>
          <p:nvPr/>
        </p:nvSpPr>
        <p:spPr>
          <a:xfrm>
            <a:off x="3246120"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24" name="Shape 22"/>
          <p:cNvSpPr/>
          <p:nvPr/>
        </p:nvSpPr>
        <p:spPr>
          <a:xfrm>
            <a:off x="3785616" y="1371600"/>
            <a:ext cx="457200" cy="457200"/>
          </a:xfrm>
          <a:prstGeom prst="roundRect">
            <a:avLst>
              <a:gd name="adj" fmla="val 16000"/>
            </a:avLst>
          </a:prstGeom>
          <a:solidFill>
            <a:srgbClr val="FFFFFF"/>
          </a:solidFill>
          <a:ln w="22225">
            <a:solidFill>
              <a:srgbClr val="1F6F4A"/>
            </a:solidFill>
            <a:prstDash val="solid"/>
          </a:ln>
        </p:spPr>
      </p:sp>
      <p:sp>
        <p:nvSpPr>
          <p:cNvPr id="25" name="Text 23"/>
          <p:cNvSpPr txBox="1"/>
          <p:nvPr/>
        </p:nvSpPr>
        <p:spPr>
          <a:xfrm>
            <a:off x="3785616"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a:t>
            </a:r>
            <a:endParaRPr lang="en-US" sz="1300" dirty="0"/>
          </a:p>
        </p:txBody>
      </p:sp>
      <p:sp>
        <p:nvSpPr>
          <p:cNvPr id="26" name="Text 24"/>
          <p:cNvSpPr txBox="1"/>
          <p:nvPr/>
        </p:nvSpPr>
        <p:spPr>
          <a:xfrm>
            <a:off x="3785616"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27" name="Shape 25"/>
          <p:cNvSpPr/>
          <p:nvPr/>
        </p:nvSpPr>
        <p:spPr>
          <a:xfrm>
            <a:off x="4325112" y="1371600"/>
            <a:ext cx="457200" cy="457200"/>
          </a:xfrm>
          <a:prstGeom prst="roundRect">
            <a:avLst>
              <a:gd name="adj" fmla="val 16000"/>
            </a:avLst>
          </a:prstGeom>
          <a:solidFill>
            <a:srgbClr val="FFFFFF"/>
          </a:solidFill>
          <a:ln w="22225">
            <a:solidFill>
              <a:srgbClr val="1F6F4A"/>
            </a:solidFill>
            <a:prstDash val="solid"/>
          </a:ln>
        </p:spPr>
      </p:sp>
      <p:sp>
        <p:nvSpPr>
          <p:cNvPr id="28" name="Text 26"/>
          <p:cNvSpPr txBox="1"/>
          <p:nvPr/>
        </p:nvSpPr>
        <p:spPr>
          <a:xfrm>
            <a:off x="4325112" y="13716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29" name="Text 27"/>
          <p:cNvSpPr txBox="1"/>
          <p:nvPr/>
        </p:nvSpPr>
        <p:spPr>
          <a:xfrm>
            <a:off x="4325112" y="18470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30" name="Text 28"/>
          <p:cNvSpPr txBox="1"/>
          <p:nvPr/>
        </p:nvSpPr>
        <p:spPr>
          <a:xfrm>
            <a:off x="548640" y="2011680"/>
            <a:ext cx="11064240" cy="274320"/>
          </a:xfrm>
          <a:prstGeom prst="rect">
            <a:avLst/>
          </a:prstGeom>
          <a:noFill/>
          <a:ln/>
        </p:spPr>
        <p:txBody>
          <a:bodyPr wrap="square" lIns="0" tIns="0" rIns="0" bIns="0" rtlCol="0" anchor="ctr"/>
          <a:lstStyle/>
          <a:p>
            <a:pPr marL="0" indent="0">
              <a:buNone/>
            </a:pPr>
            <a:r>
              <a:rPr lang="en-US" sz="1600" b="1" i="1" dirty="0">
                <a:latin typeface="Calibri" pitchFamily="34" charset="0"/>
                <a:ea typeface="Calibri" pitchFamily="34" charset="-122"/>
                <a:cs typeface="Calibri" pitchFamily="34" charset="-120"/>
              </a:rPr>
              <a:t>n = 8   —   as a tree, this is not yet a max-heap: e.g. index 2 (value 3) has children 8 and 9, both larger.</a:t>
            </a:r>
            <a:endParaRPr lang="en-US" sz="1600" b="1" dirty="0"/>
          </a:p>
        </p:txBody>
      </p:sp>
      <p:sp>
        <p:nvSpPr>
          <p:cNvPr id="31" name="Text 29"/>
          <p:cNvSpPr txBox="1"/>
          <p:nvPr/>
        </p:nvSpPr>
        <p:spPr>
          <a:xfrm>
            <a:off x="548640" y="2377440"/>
            <a:ext cx="9144000" cy="256032"/>
          </a:xfrm>
          <a:prstGeom prst="rect">
            <a:avLst/>
          </a:prstGeom>
          <a:noFill/>
          <a:ln/>
        </p:spPr>
        <p:txBody>
          <a:bodyPr wrap="square" lIns="0" tIns="0" rIns="0" bIns="0" rtlCol="0" anchor="ctr"/>
          <a:lstStyle/>
          <a:p>
            <a:pPr marL="0" indent="0">
              <a:buNone/>
            </a:pPr>
            <a:r>
              <a:rPr lang="en-US" sz="1600" b="1" kern="0" spc="100" dirty="0">
                <a:solidFill>
                  <a:srgbClr val="3FA672"/>
                </a:solidFill>
                <a:latin typeface="Calibri" pitchFamily="34" charset="0"/>
                <a:ea typeface="Calibri" pitchFamily="34" charset="-122"/>
                <a:cs typeface="Calibri" pitchFamily="34" charset="-120"/>
              </a:rPr>
              <a:t>AS A BINARY TREE  —  BEFORE BUILD-MAX-HEAP</a:t>
            </a:r>
            <a:endParaRPr lang="en-US" sz="1600" dirty="0"/>
          </a:p>
        </p:txBody>
      </p:sp>
      <p:sp>
        <p:nvSpPr>
          <p:cNvPr id="32" name="Shape 30"/>
          <p:cNvSpPr/>
          <p:nvPr/>
        </p:nvSpPr>
        <p:spPr>
          <a:xfrm>
            <a:off x="6080760" y="3136392"/>
            <a:ext cx="0" cy="155448"/>
          </a:xfrm>
          <a:prstGeom prst="line">
            <a:avLst/>
          </a:prstGeom>
          <a:noFill/>
          <a:ln w="12700">
            <a:solidFill>
              <a:srgbClr val="5B6584"/>
            </a:solidFill>
            <a:prstDash val="solid"/>
          </a:ln>
        </p:spPr>
      </p:sp>
      <p:sp>
        <p:nvSpPr>
          <p:cNvPr id="33" name="Shape 31"/>
          <p:cNvSpPr/>
          <p:nvPr/>
        </p:nvSpPr>
        <p:spPr>
          <a:xfrm>
            <a:off x="3657600" y="3291840"/>
            <a:ext cx="2423160" cy="0"/>
          </a:xfrm>
          <a:prstGeom prst="line">
            <a:avLst/>
          </a:prstGeom>
          <a:noFill/>
          <a:ln w="12700">
            <a:solidFill>
              <a:srgbClr val="5B6584"/>
            </a:solidFill>
            <a:prstDash val="solid"/>
          </a:ln>
        </p:spPr>
      </p:sp>
      <p:sp>
        <p:nvSpPr>
          <p:cNvPr id="34" name="Shape 32"/>
          <p:cNvSpPr/>
          <p:nvPr/>
        </p:nvSpPr>
        <p:spPr>
          <a:xfrm>
            <a:off x="3657600" y="3291840"/>
            <a:ext cx="0" cy="155448"/>
          </a:xfrm>
          <a:prstGeom prst="line">
            <a:avLst/>
          </a:prstGeom>
          <a:noFill/>
          <a:ln w="12700">
            <a:solidFill>
              <a:srgbClr val="5B6584"/>
            </a:solidFill>
            <a:prstDash val="solid"/>
          </a:ln>
        </p:spPr>
      </p:sp>
      <p:sp>
        <p:nvSpPr>
          <p:cNvPr id="35" name="Shape 33"/>
          <p:cNvSpPr/>
          <p:nvPr/>
        </p:nvSpPr>
        <p:spPr>
          <a:xfrm>
            <a:off x="6080760" y="3136392"/>
            <a:ext cx="0" cy="155448"/>
          </a:xfrm>
          <a:prstGeom prst="line">
            <a:avLst/>
          </a:prstGeom>
          <a:noFill/>
          <a:ln w="12700">
            <a:solidFill>
              <a:srgbClr val="5B6584"/>
            </a:solidFill>
            <a:prstDash val="solid"/>
          </a:ln>
        </p:spPr>
      </p:sp>
      <p:sp>
        <p:nvSpPr>
          <p:cNvPr id="36" name="Shape 34"/>
          <p:cNvSpPr/>
          <p:nvPr/>
        </p:nvSpPr>
        <p:spPr>
          <a:xfrm>
            <a:off x="6080760" y="3291840"/>
            <a:ext cx="2423160" cy="0"/>
          </a:xfrm>
          <a:prstGeom prst="line">
            <a:avLst/>
          </a:prstGeom>
          <a:noFill/>
          <a:ln w="12700">
            <a:solidFill>
              <a:srgbClr val="5B6584"/>
            </a:solidFill>
            <a:prstDash val="solid"/>
          </a:ln>
        </p:spPr>
      </p:sp>
      <p:sp>
        <p:nvSpPr>
          <p:cNvPr id="37" name="Shape 35"/>
          <p:cNvSpPr/>
          <p:nvPr/>
        </p:nvSpPr>
        <p:spPr>
          <a:xfrm>
            <a:off x="8503920" y="3291840"/>
            <a:ext cx="0" cy="155448"/>
          </a:xfrm>
          <a:prstGeom prst="line">
            <a:avLst/>
          </a:prstGeom>
          <a:noFill/>
          <a:ln w="12700">
            <a:solidFill>
              <a:srgbClr val="5B6584"/>
            </a:solidFill>
            <a:prstDash val="solid"/>
          </a:ln>
        </p:spPr>
      </p:sp>
      <p:sp>
        <p:nvSpPr>
          <p:cNvPr id="38" name="Shape 36"/>
          <p:cNvSpPr/>
          <p:nvPr/>
        </p:nvSpPr>
        <p:spPr>
          <a:xfrm>
            <a:off x="3657600" y="3959352"/>
            <a:ext cx="0" cy="155448"/>
          </a:xfrm>
          <a:prstGeom prst="line">
            <a:avLst/>
          </a:prstGeom>
          <a:noFill/>
          <a:ln w="12700">
            <a:solidFill>
              <a:srgbClr val="5B6584"/>
            </a:solidFill>
            <a:prstDash val="solid"/>
          </a:ln>
        </p:spPr>
      </p:sp>
      <p:sp>
        <p:nvSpPr>
          <p:cNvPr id="39" name="Shape 37"/>
          <p:cNvSpPr/>
          <p:nvPr/>
        </p:nvSpPr>
        <p:spPr>
          <a:xfrm>
            <a:off x="2377440" y="4114800"/>
            <a:ext cx="1280160" cy="0"/>
          </a:xfrm>
          <a:prstGeom prst="line">
            <a:avLst/>
          </a:prstGeom>
          <a:noFill/>
          <a:ln w="12700">
            <a:solidFill>
              <a:srgbClr val="5B6584"/>
            </a:solidFill>
            <a:prstDash val="solid"/>
          </a:ln>
        </p:spPr>
      </p:sp>
      <p:sp>
        <p:nvSpPr>
          <p:cNvPr id="40" name="Shape 38"/>
          <p:cNvSpPr/>
          <p:nvPr/>
        </p:nvSpPr>
        <p:spPr>
          <a:xfrm>
            <a:off x="2377440" y="4114800"/>
            <a:ext cx="0" cy="155448"/>
          </a:xfrm>
          <a:prstGeom prst="line">
            <a:avLst/>
          </a:prstGeom>
          <a:noFill/>
          <a:ln w="12700">
            <a:solidFill>
              <a:srgbClr val="5B6584"/>
            </a:solidFill>
            <a:prstDash val="solid"/>
          </a:ln>
        </p:spPr>
      </p:sp>
      <p:sp>
        <p:nvSpPr>
          <p:cNvPr id="41" name="Shape 39"/>
          <p:cNvSpPr/>
          <p:nvPr/>
        </p:nvSpPr>
        <p:spPr>
          <a:xfrm>
            <a:off x="3657600" y="3959352"/>
            <a:ext cx="0" cy="155448"/>
          </a:xfrm>
          <a:prstGeom prst="line">
            <a:avLst/>
          </a:prstGeom>
          <a:noFill/>
          <a:ln w="12700">
            <a:solidFill>
              <a:srgbClr val="5B6584"/>
            </a:solidFill>
            <a:prstDash val="solid"/>
          </a:ln>
        </p:spPr>
      </p:sp>
      <p:sp>
        <p:nvSpPr>
          <p:cNvPr id="42" name="Shape 40"/>
          <p:cNvSpPr/>
          <p:nvPr/>
        </p:nvSpPr>
        <p:spPr>
          <a:xfrm>
            <a:off x="3657600" y="4114800"/>
            <a:ext cx="1280160" cy="0"/>
          </a:xfrm>
          <a:prstGeom prst="line">
            <a:avLst/>
          </a:prstGeom>
          <a:noFill/>
          <a:ln w="12700">
            <a:solidFill>
              <a:srgbClr val="5B6584"/>
            </a:solidFill>
            <a:prstDash val="solid"/>
          </a:ln>
        </p:spPr>
      </p:sp>
      <p:sp>
        <p:nvSpPr>
          <p:cNvPr id="43" name="Shape 41"/>
          <p:cNvSpPr/>
          <p:nvPr/>
        </p:nvSpPr>
        <p:spPr>
          <a:xfrm>
            <a:off x="4937760" y="4114800"/>
            <a:ext cx="0" cy="155448"/>
          </a:xfrm>
          <a:prstGeom prst="line">
            <a:avLst/>
          </a:prstGeom>
          <a:noFill/>
          <a:ln w="12700">
            <a:solidFill>
              <a:srgbClr val="5B6584"/>
            </a:solidFill>
            <a:prstDash val="solid"/>
          </a:ln>
        </p:spPr>
      </p:sp>
      <p:sp>
        <p:nvSpPr>
          <p:cNvPr id="44" name="Shape 42"/>
          <p:cNvSpPr/>
          <p:nvPr/>
        </p:nvSpPr>
        <p:spPr>
          <a:xfrm>
            <a:off x="8503920" y="3959352"/>
            <a:ext cx="0" cy="155448"/>
          </a:xfrm>
          <a:prstGeom prst="line">
            <a:avLst/>
          </a:prstGeom>
          <a:noFill/>
          <a:ln w="12700">
            <a:solidFill>
              <a:srgbClr val="5B6584"/>
            </a:solidFill>
            <a:prstDash val="solid"/>
          </a:ln>
        </p:spPr>
      </p:sp>
      <p:sp>
        <p:nvSpPr>
          <p:cNvPr id="45" name="Shape 43"/>
          <p:cNvSpPr/>
          <p:nvPr/>
        </p:nvSpPr>
        <p:spPr>
          <a:xfrm>
            <a:off x="7315200" y="4114800"/>
            <a:ext cx="1188720" cy="0"/>
          </a:xfrm>
          <a:prstGeom prst="line">
            <a:avLst/>
          </a:prstGeom>
          <a:noFill/>
          <a:ln w="12700">
            <a:solidFill>
              <a:srgbClr val="5B6584"/>
            </a:solidFill>
            <a:prstDash val="solid"/>
          </a:ln>
        </p:spPr>
      </p:sp>
      <p:sp>
        <p:nvSpPr>
          <p:cNvPr id="46" name="Shape 44"/>
          <p:cNvSpPr/>
          <p:nvPr/>
        </p:nvSpPr>
        <p:spPr>
          <a:xfrm>
            <a:off x="7315200" y="4114800"/>
            <a:ext cx="0" cy="155448"/>
          </a:xfrm>
          <a:prstGeom prst="line">
            <a:avLst/>
          </a:prstGeom>
          <a:noFill/>
          <a:ln w="12700">
            <a:solidFill>
              <a:srgbClr val="5B6584"/>
            </a:solidFill>
            <a:prstDash val="solid"/>
          </a:ln>
        </p:spPr>
      </p:sp>
      <p:sp>
        <p:nvSpPr>
          <p:cNvPr id="47" name="Shape 45"/>
          <p:cNvSpPr/>
          <p:nvPr/>
        </p:nvSpPr>
        <p:spPr>
          <a:xfrm>
            <a:off x="8503920" y="3959352"/>
            <a:ext cx="0" cy="155448"/>
          </a:xfrm>
          <a:prstGeom prst="line">
            <a:avLst/>
          </a:prstGeom>
          <a:noFill/>
          <a:ln w="12700">
            <a:solidFill>
              <a:srgbClr val="5B6584"/>
            </a:solidFill>
            <a:prstDash val="solid"/>
          </a:ln>
        </p:spPr>
      </p:sp>
      <p:sp>
        <p:nvSpPr>
          <p:cNvPr id="48" name="Shape 46"/>
          <p:cNvSpPr/>
          <p:nvPr/>
        </p:nvSpPr>
        <p:spPr>
          <a:xfrm>
            <a:off x="8503920" y="4114800"/>
            <a:ext cx="1188720" cy="0"/>
          </a:xfrm>
          <a:prstGeom prst="line">
            <a:avLst/>
          </a:prstGeom>
          <a:noFill/>
          <a:ln w="12700">
            <a:solidFill>
              <a:srgbClr val="5B6584"/>
            </a:solidFill>
            <a:prstDash val="solid"/>
          </a:ln>
        </p:spPr>
      </p:sp>
      <p:sp>
        <p:nvSpPr>
          <p:cNvPr id="49" name="Shape 47"/>
          <p:cNvSpPr/>
          <p:nvPr/>
        </p:nvSpPr>
        <p:spPr>
          <a:xfrm>
            <a:off x="9692640" y="4114800"/>
            <a:ext cx="0" cy="155448"/>
          </a:xfrm>
          <a:prstGeom prst="line">
            <a:avLst/>
          </a:prstGeom>
          <a:noFill/>
          <a:ln w="12700">
            <a:solidFill>
              <a:srgbClr val="5B6584"/>
            </a:solidFill>
            <a:prstDash val="solid"/>
          </a:ln>
        </p:spPr>
      </p:sp>
      <p:sp>
        <p:nvSpPr>
          <p:cNvPr id="50" name="Shape 48"/>
          <p:cNvSpPr/>
          <p:nvPr/>
        </p:nvSpPr>
        <p:spPr>
          <a:xfrm>
            <a:off x="2377440" y="4782312"/>
            <a:ext cx="0" cy="155448"/>
          </a:xfrm>
          <a:prstGeom prst="line">
            <a:avLst/>
          </a:prstGeom>
          <a:noFill/>
          <a:ln w="12700">
            <a:solidFill>
              <a:srgbClr val="5B6584"/>
            </a:solidFill>
            <a:prstDash val="solid"/>
          </a:ln>
        </p:spPr>
      </p:sp>
      <p:sp>
        <p:nvSpPr>
          <p:cNvPr id="51" name="Shape 49"/>
          <p:cNvSpPr/>
          <p:nvPr/>
        </p:nvSpPr>
        <p:spPr>
          <a:xfrm>
            <a:off x="2377440" y="4937760"/>
            <a:ext cx="0" cy="0"/>
          </a:xfrm>
          <a:prstGeom prst="line">
            <a:avLst/>
          </a:prstGeom>
          <a:noFill/>
          <a:ln w="12700">
            <a:solidFill>
              <a:srgbClr val="5B6584"/>
            </a:solidFill>
            <a:prstDash val="solid"/>
          </a:ln>
        </p:spPr>
      </p:sp>
      <p:sp>
        <p:nvSpPr>
          <p:cNvPr id="52" name="Shape 50"/>
          <p:cNvSpPr/>
          <p:nvPr/>
        </p:nvSpPr>
        <p:spPr>
          <a:xfrm>
            <a:off x="2377440" y="4937760"/>
            <a:ext cx="0" cy="155448"/>
          </a:xfrm>
          <a:prstGeom prst="line">
            <a:avLst/>
          </a:prstGeom>
          <a:noFill/>
          <a:ln w="12700">
            <a:solidFill>
              <a:srgbClr val="5B6584"/>
            </a:solidFill>
            <a:prstDash val="solid"/>
          </a:ln>
        </p:spPr>
      </p:sp>
      <p:sp>
        <p:nvSpPr>
          <p:cNvPr id="53" name="Shape 51"/>
          <p:cNvSpPr/>
          <p:nvPr/>
        </p:nvSpPr>
        <p:spPr>
          <a:xfrm>
            <a:off x="5852160" y="2651760"/>
            <a:ext cx="457200" cy="457200"/>
          </a:xfrm>
          <a:prstGeom prst="ellipse">
            <a:avLst/>
          </a:prstGeom>
          <a:solidFill>
            <a:srgbClr val="FFFFFF"/>
          </a:solidFill>
          <a:ln w="22225">
            <a:solidFill>
              <a:srgbClr val="1F6F4A"/>
            </a:solidFill>
            <a:prstDash val="solid"/>
          </a:ln>
        </p:spPr>
      </p:sp>
      <p:sp>
        <p:nvSpPr>
          <p:cNvPr id="54" name="Text 52"/>
          <p:cNvSpPr txBox="1"/>
          <p:nvPr/>
        </p:nvSpPr>
        <p:spPr>
          <a:xfrm>
            <a:off x="5852160" y="265176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a:t>
            </a:r>
            <a:endParaRPr lang="en-US" sz="1300" dirty="0"/>
          </a:p>
        </p:txBody>
      </p:sp>
      <p:sp>
        <p:nvSpPr>
          <p:cNvPr id="55" name="Shape 53"/>
          <p:cNvSpPr/>
          <p:nvPr/>
        </p:nvSpPr>
        <p:spPr>
          <a:xfrm>
            <a:off x="3429000" y="3474720"/>
            <a:ext cx="457200" cy="457200"/>
          </a:xfrm>
          <a:prstGeom prst="ellipse">
            <a:avLst/>
          </a:prstGeom>
          <a:solidFill>
            <a:srgbClr val="FFFFFF"/>
          </a:solidFill>
          <a:ln w="22225">
            <a:solidFill>
              <a:srgbClr val="1F6F4A"/>
            </a:solidFill>
            <a:prstDash val="solid"/>
          </a:ln>
        </p:spPr>
      </p:sp>
      <p:sp>
        <p:nvSpPr>
          <p:cNvPr id="56" name="Text 54"/>
          <p:cNvSpPr txBox="1"/>
          <p:nvPr/>
        </p:nvSpPr>
        <p:spPr>
          <a:xfrm>
            <a:off x="3429000" y="347472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10</a:t>
            </a:r>
            <a:endParaRPr lang="en-US" sz="1300" dirty="0"/>
          </a:p>
        </p:txBody>
      </p:sp>
      <p:sp>
        <p:nvSpPr>
          <p:cNvPr id="57" name="Shape 55"/>
          <p:cNvSpPr/>
          <p:nvPr/>
        </p:nvSpPr>
        <p:spPr>
          <a:xfrm>
            <a:off x="8275320" y="3474720"/>
            <a:ext cx="457200" cy="457200"/>
          </a:xfrm>
          <a:prstGeom prst="ellipse">
            <a:avLst/>
          </a:prstGeom>
          <a:solidFill>
            <a:srgbClr val="DC2626"/>
          </a:solidFill>
          <a:ln w="22225">
            <a:solidFill>
              <a:srgbClr val="DC2626"/>
            </a:solidFill>
            <a:prstDash val="solid"/>
          </a:ln>
        </p:spPr>
      </p:sp>
      <p:sp>
        <p:nvSpPr>
          <p:cNvPr id="58" name="Text 56"/>
          <p:cNvSpPr txBox="1"/>
          <p:nvPr/>
        </p:nvSpPr>
        <p:spPr>
          <a:xfrm>
            <a:off x="8275320" y="34747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59" name="Shape 57"/>
          <p:cNvSpPr/>
          <p:nvPr/>
        </p:nvSpPr>
        <p:spPr>
          <a:xfrm>
            <a:off x="2148840" y="4297680"/>
            <a:ext cx="457200" cy="457200"/>
          </a:xfrm>
          <a:prstGeom prst="ellipse">
            <a:avLst/>
          </a:prstGeom>
          <a:solidFill>
            <a:srgbClr val="FFFFFF"/>
          </a:solidFill>
          <a:ln w="22225">
            <a:solidFill>
              <a:srgbClr val="1F6F4A"/>
            </a:solidFill>
            <a:prstDash val="solid"/>
          </a:ln>
        </p:spPr>
      </p:sp>
      <p:sp>
        <p:nvSpPr>
          <p:cNvPr id="60" name="Text 58"/>
          <p:cNvSpPr txBox="1"/>
          <p:nvPr/>
        </p:nvSpPr>
        <p:spPr>
          <a:xfrm>
            <a:off x="2148840" y="42976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61" name="Shape 59"/>
          <p:cNvSpPr/>
          <p:nvPr/>
        </p:nvSpPr>
        <p:spPr>
          <a:xfrm>
            <a:off x="4709160" y="4297680"/>
            <a:ext cx="457200" cy="457200"/>
          </a:xfrm>
          <a:prstGeom prst="ellipse">
            <a:avLst/>
          </a:prstGeom>
          <a:solidFill>
            <a:srgbClr val="FFFFFF"/>
          </a:solidFill>
          <a:ln w="22225">
            <a:solidFill>
              <a:srgbClr val="1F6F4A"/>
            </a:solidFill>
            <a:prstDash val="solid"/>
          </a:ln>
        </p:spPr>
      </p:sp>
      <p:sp>
        <p:nvSpPr>
          <p:cNvPr id="62" name="Text 60"/>
          <p:cNvSpPr txBox="1"/>
          <p:nvPr/>
        </p:nvSpPr>
        <p:spPr>
          <a:xfrm>
            <a:off x="4709160" y="42976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a:t>
            </a:r>
            <a:endParaRPr lang="en-US" sz="1300" dirty="0"/>
          </a:p>
        </p:txBody>
      </p:sp>
      <p:sp>
        <p:nvSpPr>
          <p:cNvPr id="63" name="Shape 61"/>
          <p:cNvSpPr/>
          <p:nvPr/>
        </p:nvSpPr>
        <p:spPr>
          <a:xfrm>
            <a:off x="7086600" y="4297680"/>
            <a:ext cx="457200" cy="457200"/>
          </a:xfrm>
          <a:prstGeom prst="ellipse">
            <a:avLst/>
          </a:prstGeom>
          <a:solidFill>
            <a:srgbClr val="FFFFFF"/>
          </a:solidFill>
          <a:ln w="22225">
            <a:solidFill>
              <a:srgbClr val="1F6F4A"/>
            </a:solidFill>
            <a:prstDash val="solid"/>
          </a:ln>
        </p:spPr>
      </p:sp>
      <p:sp>
        <p:nvSpPr>
          <p:cNvPr id="64" name="Text 62"/>
          <p:cNvSpPr txBox="1"/>
          <p:nvPr/>
        </p:nvSpPr>
        <p:spPr>
          <a:xfrm>
            <a:off x="7086600" y="42976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8</a:t>
            </a:r>
            <a:endParaRPr lang="en-US" sz="1300" dirty="0"/>
          </a:p>
        </p:txBody>
      </p:sp>
      <p:sp>
        <p:nvSpPr>
          <p:cNvPr id="65" name="Shape 63"/>
          <p:cNvSpPr/>
          <p:nvPr/>
        </p:nvSpPr>
        <p:spPr>
          <a:xfrm>
            <a:off x="9464040" y="4297680"/>
            <a:ext cx="457200" cy="457200"/>
          </a:xfrm>
          <a:prstGeom prst="ellipse">
            <a:avLst/>
          </a:prstGeom>
          <a:solidFill>
            <a:srgbClr val="FFFFFF"/>
          </a:solidFill>
          <a:ln w="22225">
            <a:solidFill>
              <a:srgbClr val="1F6F4A"/>
            </a:solidFill>
            <a:prstDash val="solid"/>
          </a:ln>
        </p:spPr>
      </p:sp>
      <p:sp>
        <p:nvSpPr>
          <p:cNvPr id="66" name="Text 64"/>
          <p:cNvSpPr txBox="1"/>
          <p:nvPr/>
        </p:nvSpPr>
        <p:spPr>
          <a:xfrm>
            <a:off x="9464040" y="42976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a:t>
            </a:r>
            <a:endParaRPr lang="en-US" sz="1300" dirty="0"/>
          </a:p>
        </p:txBody>
      </p:sp>
      <p:sp>
        <p:nvSpPr>
          <p:cNvPr id="67" name="Shape 65"/>
          <p:cNvSpPr/>
          <p:nvPr/>
        </p:nvSpPr>
        <p:spPr>
          <a:xfrm>
            <a:off x="2148840" y="5120640"/>
            <a:ext cx="457200" cy="457200"/>
          </a:xfrm>
          <a:prstGeom prst="ellipse">
            <a:avLst/>
          </a:prstGeom>
          <a:solidFill>
            <a:srgbClr val="FFFFFF"/>
          </a:solidFill>
          <a:ln w="22225">
            <a:solidFill>
              <a:srgbClr val="1F6F4A"/>
            </a:solidFill>
            <a:prstDash val="solid"/>
          </a:ln>
        </p:spPr>
      </p:sp>
      <p:sp>
        <p:nvSpPr>
          <p:cNvPr id="68" name="Text 66"/>
          <p:cNvSpPr txBox="1"/>
          <p:nvPr/>
        </p:nvSpPr>
        <p:spPr>
          <a:xfrm>
            <a:off x="2148840" y="51206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a:t>
            </a:r>
            <a:endParaRPr lang="en-US" sz="1300" dirty="0"/>
          </a:p>
        </p:txBody>
      </p:sp>
      <p:sp>
        <p:nvSpPr>
          <p:cNvPr id="69" name="Text 67"/>
          <p:cNvSpPr txBox="1"/>
          <p:nvPr/>
        </p:nvSpPr>
        <p:spPr>
          <a:xfrm>
            <a:off x="548640" y="5760720"/>
            <a:ext cx="9144000" cy="256032"/>
          </a:xfrm>
          <a:prstGeom prst="rect">
            <a:avLst/>
          </a:prstGeom>
          <a:noFill/>
          <a:ln/>
        </p:spPr>
        <p:txBody>
          <a:bodyPr wrap="square" lIns="0" tIns="0" rIns="0" bIns="0" rtlCol="0" anchor="ctr"/>
          <a:lstStyle/>
          <a:p>
            <a:pPr marL="0" indent="0">
              <a:buNone/>
            </a:pPr>
            <a:r>
              <a:rPr lang="en-US" sz="1600" i="1" dirty="0">
                <a:solidFill>
                  <a:srgbClr val="DC2626"/>
                </a:solidFill>
                <a:latin typeface="Calibri" pitchFamily="34" charset="0"/>
                <a:ea typeface="Calibri" pitchFamily="34" charset="-122"/>
                <a:cs typeface="Calibri" pitchFamily="34" charset="-120"/>
              </a:rPr>
              <a:t>red = violates the max-heap property (a child is larger than its parent)</a:t>
            </a:r>
            <a:endParaRPr lang="en-US" sz="1600" dirty="0"/>
          </a:p>
        </p:txBody>
      </p:sp>
      <p:sp>
        <p:nvSpPr>
          <p:cNvPr id="70" name="Text 68"/>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71" name="Text 6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TRACE — PHASE 1</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Build-Max-Heap: 4 Calls, Bottom-Up</a:t>
            </a:r>
            <a:endParaRPr lang="en-US" sz="3000" dirty="0"/>
          </a:p>
        </p:txBody>
      </p:sp>
      <p:sp>
        <p:nvSpPr>
          <p:cNvPr id="6" name="Text 4"/>
          <p:cNvSpPr txBox="1"/>
          <p:nvPr/>
        </p:nvSpPr>
        <p:spPr>
          <a:xfrm>
            <a:off x="548640" y="1298448"/>
            <a:ext cx="11064240" cy="320040"/>
          </a:xfrm>
          <a:prstGeom prst="rect">
            <a:avLst/>
          </a:prstGeom>
          <a:noFill/>
          <a:ln/>
        </p:spPr>
        <p:txBody>
          <a:bodyPr wrap="square" lIns="0" tIns="0" rIns="0" bIns="0" rtlCol="0" anchor="ctr"/>
          <a:lstStyle/>
          <a:p>
            <a:pPr marL="0" indent="0">
              <a:buNone/>
            </a:pPr>
            <a:r>
              <a:rPr lang="en-US" sz="1600" b="1" i="1" dirty="0">
                <a:latin typeface="Calibri" pitchFamily="34" charset="0"/>
                <a:ea typeface="Calibri" pitchFamily="34" charset="-122"/>
                <a:cs typeface="Calibri" pitchFamily="34" charset="-120"/>
              </a:rPr>
              <a:t>Non-leaf nodes are indices 0–3 (since ⌊8/2⌋−1 = 3). MAX-HEAPIFY is called on each, from index 3 down to index 0.</a:t>
            </a:r>
            <a:endParaRPr lang="en-US" sz="1600" b="1" dirty="0"/>
          </a:p>
        </p:txBody>
      </p:sp>
      <p:sp>
        <p:nvSpPr>
          <p:cNvPr id="7" name="Shape 5"/>
          <p:cNvSpPr/>
          <p:nvPr/>
        </p:nvSpPr>
        <p:spPr>
          <a:xfrm>
            <a:off x="548640" y="1783080"/>
            <a:ext cx="11064240" cy="987552"/>
          </a:xfrm>
          <a:prstGeom prst="roundRect">
            <a:avLst>
              <a:gd name="adj" fmla="val 9259"/>
            </a:avLst>
          </a:prstGeom>
          <a:solidFill>
            <a:srgbClr val="E8F5EE"/>
          </a:solidFill>
          <a:ln w="12700">
            <a:solidFill>
              <a:srgbClr val="BFE3D0"/>
            </a:solidFill>
            <a:prstDash val="solid"/>
          </a:ln>
        </p:spPr>
      </p:sp>
      <p:sp>
        <p:nvSpPr>
          <p:cNvPr id="8" name="Text 6"/>
          <p:cNvSpPr txBox="1"/>
          <p:nvPr/>
        </p:nvSpPr>
        <p:spPr>
          <a:xfrm>
            <a:off x="777240" y="1874520"/>
            <a:ext cx="7772400" cy="256032"/>
          </a:xfrm>
          <a:prstGeom prst="rect">
            <a:avLst/>
          </a:prstGeom>
          <a:noFill/>
          <a:ln/>
        </p:spPr>
        <p:txBody>
          <a:bodyPr wrap="square" lIns="0" tIns="0" rIns="0" bIns="0" rtlCol="0" anchor="ctr"/>
          <a:lstStyle/>
          <a:p>
            <a:pPr marL="0" indent="0">
              <a:buNone/>
            </a:pPr>
            <a:r>
              <a:rPr lang="en-US" sz="1150" b="1" dirty="0">
                <a:solidFill>
                  <a:srgbClr val="14281E"/>
                </a:solidFill>
                <a:latin typeface="Courier New" pitchFamily="34" charset="0"/>
                <a:ea typeface="Courier New" pitchFamily="34" charset="-122"/>
                <a:cs typeface="Courier New" pitchFamily="34" charset="-120"/>
              </a:rPr>
              <a:t>i=3:  A[3]=5, children: A[7]=2</a:t>
            </a:r>
            <a:endParaRPr lang="en-US" sz="1150" dirty="0"/>
          </a:p>
        </p:txBody>
      </p:sp>
      <p:sp>
        <p:nvSpPr>
          <p:cNvPr id="9" name="Shape 7"/>
          <p:cNvSpPr/>
          <p:nvPr/>
        </p:nvSpPr>
        <p:spPr>
          <a:xfrm>
            <a:off x="777240" y="2167128"/>
            <a:ext cx="365760" cy="365760"/>
          </a:xfrm>
          <a:prstGeom prst="roundRect">
            <a:avLst>
              <a:gd name="adj" fmla="val 20000"/>
            </a:avLst>
          </a:prstGeom>
          <a:solidFill>
            <a:srgbClr val="FFFFFF"/>
          </a:solidFill>
          <a:ln w="22225">
            <a:solidFill>
              <a:srgbClr val="1F6F4A"/>
            </a:solidFill>
            <a:prstDash val="solid"/>
          </a:ln>
        </p:spPr>
      </p:sp>
      <p:sp>
        <p:nvSpPr>
          <p:cNvPr id="10" name="Text 8"/>
          <p:cNvSpPr txBox="1"/>
          <p:nvPr/>
        </p:nvSpPr>
        <p:spPr>
          <a:xfrm>
            <a:off x="777240"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a:t>
            </a:r>
            <a:endParaRPr lang="en-US" sz="1050" dirty="0"/>
          </a:p>
        </p:txBody>
      </p:sp>
      <p:sp>
        <p:nvSpPr>
          <p:cNvPr id="11" name="Shape 9"/>
          <p:cNvSpPr/>
          <p:nvPr/>
        </p:nvSpPr>
        <p:spPr>
          <a:xfrm>
            <a:off x="1197864" y="2167128"/>
            <a:ext cx="365760" cy="365760"/>
          </a:xfrm>
          <a:prstGeom prst="roundRect">
            <a:avLst>
              <a:gd name="adj" fmla="val 20000"/>
            </a:avLst>
          </a:prstGeom>
          <a:solidFill>
            <a:srgbClr val="FFFFFF"/>
          </a:solidFill>
          <a:ln w="22225">
            <a:solidFill>
              <a:srgbClr val="1F6F4A"/>
            </a:solidFill>
            <a:prstDash val="solid"/>
          </a:ln>
        </p:spPr>
      </p:sp>
      <p:sp>
        <p:nvSpPr>
          <p:cNvPr id="12" name="Text 10"/>
          <p:cNvSpPr txBox="1"/>
          <p:nvPr/>
        </p:nvSpPr>
        <p:spPr>
          <a:xfrm>
            <a:off x="1197864"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13" name="Shape 11"/>
          <p:cNvSpPr/>
          <p:nvPr/>
        </p:nvSpPr>
        <p:spPr>
          <a:xfrm>
            <a:off x="1618488" y="2167128"/>
            <a:ext cx="365760" cy="365760"/>
          </a:xfrm>
          <a:prstGeom prst="roundRect">
            <a:avLst>
              <a:gd name="adj" fmla="val 20000"/>
            </a:avLst>
          </a:prstGeom>
          <a:solidFill>
            <a:srgbClr val="FFFFFF"/>
          </a:solidFill>
          <a:ln w="22225">
            <a:solidFill>
              <a:srgbClr val="1F6F4A"/>
            </a:solidFill>
            <a:prstDash val="solid"/>
          </a:ln>
        </p:spPr>
      </p:sp>
      <p:sp>
        <p:nvSpPr>
          <p:cNvPr id="14" name="Text 12"/>
          <p:cNvSpPr txBox="1"/>
          <p:nvPr/>
        </p:nvSpPr>
        <p:spPr>
          <a:xfrm>
            <a:off x="1618488"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a:t>
            </a:r>
            <a:endParaRPr lang="en-US" sz="1050" dirty="0"/>
          </a:p>
        </p:txBody>
      </p:sp>
      <p:sp>
        <p:nvSpPr>
          <p:cNvPr id="15" name="Shape 13"/>
          <p:cNvSpPr/>
          <p:nvPr/>
        </p:nvSpPr>
        <p:spPr>
          <a:xfrm>
            <a:off x="2039112" y="2167128"/>
            <a:ext cx="365760" cy="365760"/>
          </a:xfrm>
          <a:prstGeom prst="roundRect">
            <a:avLst>
              <a:gd name="adj" fmla="val 20000"/>
            </a:avLst>
          </a:prstGeom>
          <a:solidFill>
            <a:srgbClr val="FFFFFF"/>
          </a:solidFill>
          <a:ln w="22225">
            <a:solidFill>
              <a:srgbClr val="1F6F4A"/>
            </a:solidFill>
            <a:prstDash val="solid"/>
          </a:ln>
        </p:spPr>
      </p:sp>
      <p:sp>
        <p:nvSpPr>
          <p:cNvPr id="16" name="Text 14"/>
          <p:cNvSpPr txBox="1"/>
          <p:nvPr/>
        </p:nvSpPr>
        <p:spPr>
          <a:xfrm>
            <a:off x="2039112"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a:t>
            </a:r>
            <a:endParaRPr lang="en-US" sz="1050" dirty="0"/>
          </a:p>
        </p:txBody>
      </p:sp>
      <p:sp>
        <p:nvSpPr>
          <p:cNvPr id="17" name="Shape 15"/>
          <p:cNvSpPr/>
          <p:nvPr/>
        </p:nvSpPr>
        <p:spPr>
          <a:xfrm>
            <a:off x="2459736" y="2167128"/>
            <a:ext cx="365760" cy="365760"/>
          </a:xfrm>
          <a:prstGeom prst="roundRect">
            <a:avLst>
              <a:gd name="adj" fmla="val 20000"/>
            </a:avLst>
          </a:prstGeom>
          <a:solidFill>
            <a:srgbClr val="FFFFFF"/>
          </a:solidFill>
          <a:ln w="22225">
            <a:solidFill>
              <a:srgbClr val="1F6F4A"/>
            </a:solidFill>
            <a:prstDash val="solid"/>
          </a:ln>
        </p:spPr>
      </p:sp>
      <p:sp>
        <p:nvSpPr>
          <p:cNvPr id="18" name="Text 16"/>
          <p:cNvSpPr txBox="1"/>
          <p:nvPr/>
        </p:nvSpPr>
        <p:spPr>
          <a:xfrm>
            <a:off x="2459736"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a:t>
            </a:r>
            <a:endParaRPr lang="en-US" sz="1050" dirty="0"/>
          </a:p>
        </p:txBody>
      </p:sp>
      <p:sp>
        <p:nvSpPr>
          <p:cNvPr id="19" name="Shape 17"/>
          <p:cNvSpPr/>
          <p:nvPr/>
        </p:nvSpPr>
        <p:spPr>
          <a:xfrm>
            <a:off x="2880360" y="2167128"/>
            <a:ext cx="365760" cy="365760"/>
          </a:xfrm>
          <a:prstGeom prst="roundRect">
            <a:avLst>
              <a:gd name="adj" fmla="val 20000"/>
            </a:avLst>
          </a:prstGeom>
          <a:solidFill>
            <a:srgbClr val="FFFFFF"/>
          </a:solidFill>
          <a:ln w="22225">
            <a:solidFill>
              <a:srgbClr val="1F6F4A"/>
            </a:solidFill>
            <a:prstDash val="solid"/>
          </a:ln>
        </p:spPr>
      </p:sp>
      <p:sp>
        <p:nvSpPr>
          <p:cNvPr id="20" name="Text 18"/>
          <p:cNvSpPr txBox="1"/>
          <p:nvPr/>
        </p:nvSpPr>
        <p:spPr>
          <a:xfrm>
            <a:off x="2880360"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a:t>
            </a:r>
            <a:endParaRPr lang="en-US" sz="1050" dirty="0"/>
          </a:p>
        </p:txBody>
      </p:sp>
      <p:sp>
        <p:nvSpPr>
          <p:cNvPr id="21" name="Shape 19"/>
          <p:cNvSpPr/>
          <p:nvPr/>
        </p:nvSpPr>
        <p:spPr>
          <a:xfrm>
            <a:off x="3300984" y="2167128"/>
            <a:ext cx="365760" cy="365760"/>
          </a:xfrm>
          <a:prstGeom prst="roundRect">
            <a:avLst>
              <a:gd name="adj" fmla="val 20000"/>
            </a:avLst>
          </a:prstGeom>
          <a:solidFill>
            <a:srgbClr val="FFFFFF"/>
          </a:solidFill>
          <a:ln w="22225">
            <a:solidFill>
              <a:srgbClr val="1F6F4A"/>
            </a:solidFill>
            <a:prstDash val="solid"/>
          </a:ln>
        </p:spPr>
      </p:sp>
      <p:sp>
        <p:nvSpPr>
          <p:cNvPr id="22" name="Text 20"/>
          <p:cNvSpPr txBox="1"/>
          <p:nvPr/>
        </p:nvSpPr>
        <p:spPr>
          <a:xfrm>
            <a:off x="3300984"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a:t>
            </a:r>
            <a:endParaRPr lang="en-US" sz="1050" dirty="0"/>
          </a:p>
        </p:txBody>
      </p:sp>
      <p:sp>
        <p:nvSpPr>
          <p:cNvPr id="23" name="Shape 21"/>
          <p:cNvSpPr/>
          <p:nvPr/>
        </p:nvSpPr>
        <p:spPr>
          <a:xfrm>
            <a:off x="3721608" y="2167128"/>
            <a:ext cx="365760" cy="365760"/>
          </a:xfrm>
          <a:prstGeom prst="roundRect">
            <a:avLst>
              <a:gd name="adj" fmla="val 20000"/>
            </a:avLst>
          </a:prstGeom>
          <a:solidFill>
            <a:srgbClr val="FFFFFF"/>
          </a:solidFill>
          <a:ln w="22225">
            <a:solidFill>
              <a:srgbClr val="1F6F4A"/>
            </a:solidFill>
            <a:prstDash val="solid"/>
          </a:ln>
        </p:spPr>
      </p:sp>
      <p:sp>
        <p:nvSpPr>
          <p:cNvPr id="24" name="Text 22"/>
          <p:cNvSpPr txBox="1"/>
          <p:nvPr/>
        </p:nvSpPr>
        <p:spPr>
          <a:xfrm>
            <a:off x="3721608" y="2167128"/>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2</a:t>
            </a:r>
            <a:endParaRPr lang="en-US" sz="1050" dirty="0"/>
          </a:p>
        </p:txBody>
      </p:sp>
      <p:sp>
        <p:nvSpPr>
          <p:cNvPr id="25" name="Text 23"/>
          <p:cNvSpPr txBox="1"/>
          <p:nvPr/>
        </p:nvSpPr>
        <p:spPr>
          <a:xfrm>
            <a:off x="4663440" y="2103120"/>
            <a:ext cx="4206240" cy="5943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5 &gt; 2  →  no swap needed</a:t>
            </a:r>
            <a:endParaRPr lang="en-US" sz="1600" dirty="0"/>
          </a:p>
        </p:txBody>
      </p:sp>
      <p:sp>
        <p:nvSpPr>
          <p:cNvPr id="26" name="Shape 24"/>
          <p:cNvSpPr/>
          <p:nvPr/>
        </p:nvSpPr>
        <p:spPr>
          <a:xfrm>
            <a:off x="9052560" y="2240280"/>
            <a:ext cx="1737360" cy="347472"/>
          </a:xfrm>
          <a:prstGeom prst="roundRect">
            <a:avLst>
              <a:gd name="adj" fmla="val 52632"/>
            </a:avLst>
          </a:prstGeom>
          <a:solidFill>
            <a:srgbClr val="14281E"/>
          </a:solidFill>
          <a:ln/>
        </p:spPr>
      </p:sp>
      <p:sp>
        <p:nvSpPr>
          <p:cNvPr id="27" name="Text 25"/>
          <p:cNvSpPr txBox="1"/>
          <p:nvPr/>
        </p:nvSpPr>
        <p:spPr>
          <a:xfrm>
            <a:off x="9052560" y="2240280"/>
            <a:ext cx="1737360" cy="347472"/>
          </a:xfrm>
          <a:prstGeom prst="rect">
            <a:avLst/>
          </a:prstGeom>
          <a:noFill/>
          <a:ln/>
        </p:spPr>
        <p:txBody>
          <a:bodyPr wrap="square" lIns="0" tIns="0" rIns="0" bIns="0" rtlCol="0" anchor="ctr"/>
          <a:lstStyle/>
          <a:p>
            <a:pPr marL="0" indent="0" algn="ctr">
              <a:buNone/>
            </a:pPr>
            <a:r>
              <a:rPr lang="en-US" sz="1400" b="1" dirty="0">
                <a:solidFill>
                  <a:srgbClr val="D97706"/>
                </a:solidFill>
                <a:latin typeface="Calibri" pitchFamily="34" charset="0"/>
                <a:ea typeface="Calibri" pitchFamily="34" charset="-122"/>
                <a:cs typeface="Calibri" pitchFamily="34" charset="-120"/>
              </a:rPr>
              <a:t>1 cmp</a:t>
            </a:r>
            <a:endParaRPr lang="en-US" sz="1400" dirty="0"/>
          </a:p>
        </p:txBody>
      </p:sp>
      <p:sp>
        <p:nvSpPr>
          <p:cNvPr id="28" name="Shape 26"/>
          <p:cNvSpPr/>
          <p:nvPr/>
        </p:nvSpPr>
        <p:spPr>
          <a:xfrm>
            <a:off x="548640" y="2862072"/>
            <a:ext cx="11064240" cy="987552"/>
          </a:xfrm>
          <a:prstGeom prst="roundRect">
            <a:avLst>
              <a:gd name="adj" fmla="val 9259"/>
            </a:avLst>
          </a:prstGeom>
          <a:solidFill>
            <a:srgbClr val="E8F5EE"/>
          </a:solidFill>
          <a:ln w="12700">
            <a:solidFill>
              <a:srgbClr val="BFE3D0"/>
            </a:solidFill>
            <a:prstDash val="solid"/>
          </a:ln>
        </p:spPr>
      </p:sp>
      <p:sp>
        <p:nvSpPr>
          <p:cNvPr id="29" name="Text 27"/>
          <p:cNvSpPr txBox="1"/>
          <p:nvPr/>
        </p:nvSpPr>
        <p:spPr>
          <a:xfrm>
            <a:off x="777240" y="2953512"/>
            <a:ext cx="7772400" cy="256032"/>
          </a:xfrm>
          <a:prstGeom prst="rect">
            <a:avLst/>
          </a:prstGeom>
          <a:noFill/>
          <a:ln/>
        </p:spPr>
        <p:txBody>
          <a:bodyPr wrap="square" lIns="0" tIns="0" rIns="0" bIns="0" rtlCol="0" anchor="ctr"/>
          <a:lstStyle/>
          <a:p>
            <a:pPr marL="0" indent="0">
              <a:buNone/>
            </a:pPr>
            <a:r>
              <a:rPr lang="en-US" sz="1150" b="1" dirty="0">
                <a:solidFill>
                  <a:srgbClr val="14281E"/>
                </a:solidFill>
                <a:latin typeface="Courier New" pitchFamily="34" charset="0"/>
                <a:ea typeface="Courier New" pitchFamily="34" charset="-122"/>
                <a:cs typeface="Courier New" pitchFamily="34" charset="-120"/>
              </a:rPr>
              <a:t>i=2:  A[2]=3, children: A[5]=8, A[6]=9</a:t>
            </a:r>
            <a:endParaRPr lang="en-US" sz="1150" dirty="0"/>
          </a:p>
        </p:txBody>
      </p:sp>
      <p:sp>
        <p:nvSpPr>
          <p:cNvPr id="30" name="Shape 28"/>
          <p:cNvSpPr/>
          <p:nvPr/>
        </p:nvSpPr>
        <p:spPr>
          <a:xfrm>
            <a:off x="777240" y="3246120"/>
            <a:ext cx="365760" cy="365760"/>
          </a:xfrm>
          <a:prstGeom prst="roundRect">
            <a:avLst>
              <a:gd name="adj" fmla="val 20000"/>
            </a:avLst>
          </a:prstGeom>
          <a:solidFill>
            <a:srgbClr val="FFFFFF"/>
          </a:solidFill>
          <a:ln w="22225">
            <a:solidFill>
              <a:srgbClr val="1F6F4A"/>
            </a:solidFill>
            <a:prstDash val="solid"/>
          </a:ln>
        </p:spPr>
      </p:sp>
      <p:sp>
        <p:nvSpPr>
          <p:cNvPr id="31" name="Text 29"/>
          <p:cNvSpPr txBox="1"/>
          <p:nvPr/>
        </p:nvSpPr>
        <p:spPr>
          <a:xfrm>
            <a:off x="777240" y="3246120"/>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a:t>
            </a:r>
            <a:endParaRPr lang="en-US" sz="1050" dirty="0"/>
          </a:p>
        </p:txBody>
      </p:sp>
      <p:sp>
        <p:nvSpPr>
          <p:cNvPr id="32" name="Shape 30"/>
          <p:cNvSpPr/>
          <p:nvPr/>
        </p:nvSpPr>
        <p:spPr>
          <a:xfrm>
            <a:off x="1197864" y="3246120"/>
            <a:ext cx="365760" cy="365760"/>
          </a:xfrm>
          <a:prstGeom prst="roundRect">
            <a:avLst>
              <a:gd name="adj" fmla="val 20000"/>
            </a:avLst>
          </a:prstGeom>
          <a:solidFill>
            <a:srgbClr val="FFFFFF"/>
          </a:solidFill>
          <a:ln w="22225">
            <a:solidFill>
              <a:srgbClr val="1F6F4A"/>
            </a:solidFill>
            <a:prstDash val="solid"/>
          </a:ln>
        </p:spPr>
      </p:sp>
      <p:sp>
        <p:nvSpPr>
          <p:cNvPr id="33" name="Text 31"/>
          <p:cNvSpPr txBox="1"/>
          <p:nvPr/>
        </p:nvSpPr>
        <p:spPr>
          <a:xfrm>
            <a:off x="1197864" y="3246120"/>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34" name="Shape 32"/>
          <p:cNvSpPr/>
          <p:nvPr/>
        </p:nvSpPr>
        <p:spPr>
          <a:xfrm>
            <a:off x="1618488" y="3246120"/>
            <a:ext cx="365760" cy="365760"/>
          </a:xfrm>
          <a:prstGeom prst="roundRect">
            <a:avLst>
              <a:gd name="adj" fmla="val 20000"/>
            </a:avLst>
          </a:prstGeom>
          <a:solidFill>
            <a:srgbClr val="D97706"/>
          </a:solidFill>
          <a:ln w="22225">
            <a:solidFill>
              <a:srgbClr val="1F6F4A"/>
            </a:solidFill>
            <a:prstDash val="solid"/>
          </a:ln>
        </p:spPr>
      </p:sp>
      <p:sp>
        <p:nvSpPr>
          <p:cNvPr id="35" name="Text 33"/>
          <p:cNvSpPr txBox="1"/>
          <p:nvPr/>
        </p:nvSpPr>
        <p:spPr>
          <a:xfrm>
            <a:off x="1618488" y="3246120"/>
            <a:ext cx="3657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9</a:t>
            </a:r>
            <a:endParaRPr lang="en-US" sz="1050" dirty="0"/>
          </a:p>
        </p:txBody>
      </p:sp>
      <p:sp>
        <p:nvSpPr>
          <p:cNvPr id="36" name="Shape 34"/>
          <p:cNvSpPr/>
          <p:nvPr/>
        </p:nvSpPr>
        <p:spPr>
          <a:xfrm>
            <a:off x="2039112" y="3246120"/>
            <a:ext cx="365760" cy="365760"/>
          </a:xfrm>
          <a:prstGeom prst="roundRect">
            <a:avLst>
              <a:gd name="adj" fmla="val 20000"/>
            </a:avLst>
          </a:prstGeom>
          <a:solidFill>
            <a:srgbClr val="FFFFFF"/>
          </a:solidFill>
          <a:ln w="22225">
            <a:solidFill>
              <a:srgbClr val="1F6F4A"/>
            </a:solidFill>
            <a:prstDash val="solid"/>
          </a:ln>
        </p:spPr>
      </p:sp>
      <p:sp>
        <p:nvSpPr>
          <p:cNvPr id="37" name="Text 35"/>
          <p:cNvSpPr txBox="1"/>
          <p:nvPr/>
        </p:nvSpPr>
        <p:spPr>
          <a:xfrm>
            <a:off x="2039112" y="3246120"/>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a:t>
            </a:r>
            <a:endParaRPr lang="en-US" sz="1050" dirty="0"/>
          </a:p>
        </p:txBody>
      </p:sp>
      <p:sp>
        <p:nvSpPr>
          <p:cNvPr id="38" name="Shape 36"/>
          <p:cNvSpPr/>
          <p:nvPr/>
        </p:nvSpPr>
        <p:spPr>
          <a:xfrm>
            <a:off x="2459736" y="3246120"/>
            <a:ext cx="365760" cy="365760"/>
          </a:xfrm>
          <a:prstGeom prst="roundRect">
            <a:avLst>
              <a:gd name="adj" fmla="val 20000"/>
            </a:avLst>
          </a:prstGeom>
          <a:solidFill>
            <a:srgbClr val="FFFFFF"/>
          </a:solidFill>
          <a:ln w="22225">
            <a:solidFill>
              <a:srgbClr val="1F6F4A"/>
            </a:solidFill>
            <a:prstDash val="solid"/>
          </a:ln>
        </p:spPr>
      </p:sp>
      <p:sp>
        <p:nvSpPr>
          <p:cNvPr id="39" name="Text 37"/>
          <p:cNvSpPr txBox="1"/>
          <p:nvPr/>
        </p:nvSpPr>
        <p:spPr>
          <a:xfrm>
            <a:off x="2459736" y="3246120"/>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a:t>
            </a:r>
            <a:endParaRPr lang="en-US" sz="1050" dirty="0"/>
          </a:p>
        </p:txBody>
      </p:sp>
      <p:sp>
        <p:nvSpPr>
          <p:cNvPr id="40" name="Shape 38"/>
          <p:cNvSpPr/>
          <p:nvPr/>
        </p:nvSpPr>
        <p:spPr>
          <a:xfrm>
            <a:off x="2880360" y="3246120"/>
            <a:ext cx="365760" cy="365760"/>
          </a:xfrm>
          <a:prstGeom prst="roundRect">
            <a:avLst>
              <a:gd name="adj" fmla="val 20000"/>
            </a:avLst>
          </a:prstGeom>
          <a:solidFill>
            <a:srgbClr val="FFFFFF"/>
          </a:solidFill>
          <a:ln w="22225">
            <a:solidFill>
              <a:srgbClr val="1F6F4A"/>
            </a:solidFill>
            <a:prstDash val="solid"/>
          </a:ln>
        </p:spPr>
      </p:sp>
      <p:sp>
        <p:nvSpPr>
          <p:cNvPr id="41" name="Text 39"/>
          <p:cNvSpPr txBox="1"/>
          <p:nvPr/>
        </p:nvSpPr>
        <p:spPr>
          <a:xfrm>
            <a:off x="2880360" y="3246120"/>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a:t>
            </a:r>
            <a:endParaRPr lang="en-US" sz="1050" dirty="0"/>
          </a:p>
        </p:txBody>
      </p:sp>
      <p:sp>
        <p:nvSpPr>
          <p:cNvPr id="42" name="Shape 40"/>
          <p:cNvSpPr/>
          <p:nvPr/>
        </p:nvSpPr>
        <p:spPr>
          <a:xfrm>
            <a:off x="3300984" y="3246120"/>
            <a:ext cx="365760" cy="365760"/>
          </a:xfrm>
          <a:prstGeom prst="roundRect">
            <a:avLst>
              <a:gd name="adj" fmla="val 20000"/>
            </a:avLst>
          </a:prstGeom>
          <a:solidFill>
            <a:srgbClr val="D97706"/>
          </a:solidFill>
          <a:ln w="22225">
            <a:solidFill>
              <a:srgbClr val="1F6F4A"/>
            </a:solidFill>
            <a:prstDash val="solid"/>
          </a:ln>
        </p:spPr>
      </p:sp>
      <p:sp>
        <p:nvSpPr>
          <p:cNvPr id="43" name="Text 41"/>
          <p:cNvSpPr txBox="1"/>
          <p:nvPr/>
        </p:nvSpPr>
        <p:spPr>
          <a:xfrm>
            <a:off x="3300984" y="3246120"/>
            <a:ext cx="3657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3</a:t>
            </a:r>
            <a:endParaRPr lang="en-US" sz="1050" dirty="0"/>
          </a:p>
        </p:txBody>
      </p:sp>
      <p:sp>
        <p:nvSpPr>
          <p:cNvPr id="44" name="Shape 42"/>
          <p:cNvSpPr/>
          <p:nvPr/>
        </p:nvSpPr>
        <p:spPr>
          <a:xfrm>
            <a:off x="3721608" y="3246120"/>
            <a:ext cx="365760" cy="365760"/>
          </a:xfrm>
          <a:prstGeom prst="roundRect">
            <a:avLst>
              <a:gd name="adj" fmla="val 20000"/>
            </a:avLst>
          </a:prstGeom>
          <a:solidFill>
            <a:srgbClr val="FFFFFF"/>
          </a:solidFill>
          <a:ln w="22225">
            <a:solidFill>
              <a:srgbClr val="1F6F4A"/>
            </a:solidFill>
            <a:prstDash val="solid"/>
          </a:ln>
        </p:spPr>
      </p:sp>
      <p:sp>
        <p:nvSpPr>
          <p:cNvPr id="45" name="Text 43"/>
          <p:cNvSpPr txBox="1"/>
          <p:nvPr/>
        </p:nvSpPr>
        <p:spPr>
          <a:xfrm>
            <a:off x="3721608" y="3246120"/>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2</a:t>
            </a:r>
            <a:endParaRPr lang="en-US" sz="1050" dirty="0"/>
          </a:p>
        </p:txBody>
      </p:sp>
      <p:sp>
        <p:nvSpPr>
          <p:cNvPr id="46" name="Text 44"/>
          <p:cNvSpPr txBox="1"/>
          <p:nvPr/>
        </p:nvSpPr>
        <p:spPr>
          <a:xfrm>
            <a:off x="4663440" y="3182112"/>
            <a:ext cx="4206240" cy="5943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largest = 9 (idx6)  →  swap idx2 ↔ idx6</a:t>
            </a:r>
            <a:endParaRPr lang="en-US" sz="1600" dirty="0"/>
          </a:p>
        </p:txBody>
      </p:sp>
      <p:sp>
        <p:nvSpPr>
          <p:cNvPr id="47" name="Shape 45"/>
          <p:cNvSpPr/>
          <p:nvPr/>
        </p:nvSpPr>
        <p:spPr>
          <a:xfrm>
            <a:off x="9052560" y="3319272"/>
            <a:ext cx="1737360" cy="347472"/>
          </a:xfrm>
          <a:prstGeom prst="roundRect">
            <a:avLst>
              <a:gd name="adj" fmla="val 52632"/>
            </a:avLst>
          </a:prstGeom>
          <a:solidFill>
            <a:srgbClr val="14281E"/>
          </a:solidFill>
          <a:ln/>
        </p:spPr>
      </p:sp>
      <p:sp>
        <p:nvSpPr>
          <p:cNvPr id="48" name="Text 46"/>
          <p:cNvSpPr txBox="1"/>
          <p:nvPr/>
        </p:nvSpPr>
        <p:spPr>
          <a:xfrm>
            <a:off x="9052560" y="3319272"/>
            <a:ext cx="1737360" cy="347472"/>
          </a:xfrm>
          <a:prstGeom prst="rect">
            <a:avLst/>
          </a:prstGeom>
          <a:noFill/>
          <a:ln/>
        </p:spPr>
        <p:txBody>
          <a:bodyPr wrap="square" lIns="0" tIns="0" rIns="0" bIns="0" rtlCol="0" anchor="ctr"/>
          <a:lstStyle/>
          <a:p>
            <a:pPr marL="0" indent="0" algn="ctr">
              <a:buNone/>
            </a:pPr>
            <a:r>
              <a:rPr lang="en-US" sz="1400" b="1" dirty="0">
                <a:solidFill>
                  <a:srgbClr val="D97706"/>
                </a:solidFill>
                <a:latin typeface="Calibri" pitchFamily="34" charset="0"/>
                <a:ea typeface="Calibri" pitchFamily="34" charset="-122"/>
                <a:cs typeface="Calibri" pitchFamily="34" charset="-120"/>
              </a:rPr>
              <a:t>2 cmp</a:t>
            </a:r>
            <a:endParaRPr lang="en-US" sz="1400" dirty="0"/>
          </a:p>
        </p:txBody>
      </p:sp>
      <p:sp>
        <p:nvSpPr>
          <p:cNvPr id="49" name="Shape 47"/>
          <p:cNvSpPr/>
          <p:nvPr/>
        </p:nvSpPr>
        <p:spPr>
          <a:xfrm>
            <a:off x="548640" y="3941064"/>
            <a:ext cx="11064240" cy="987552"/>
          </a:xfrm>
          <a:prstGeom prst="roundRect">
            <a:avLst>
              <a:gd name="adj" fmla="val 9259"/>
            </a:avLst>
          </a:prstGeom>
          <a:solidFill>
            <a:srgbClr val="E8F5EE"/>
          </a:solidFill>
          <a:ln w="12700">
            <a:solidFill>
              <a:srgbClr val="BFE3D0"/>
            </a:solidFill>
            <a:prstDash val="solid"/>
          </a:ln>
        </p:spPr>
      </p:sp>
      <p:sp>
        <p:nvSpPr>
          <p:cNvPr id="50" name="Text 48"/>
          <p:cNvSpPr txBox="1"/>
          <p:nvPr/>
        </p:nvSpPr>
        <p:spPr>
          <a:xfrm>
            <a:off x="777240" y="4032504"/>
            <a:ext cx="7772400" cy="256032"/>
          </a:xfrm>
          <a:prstGeom prst="rect">
            <a:avLst/>
          </a:prstGeom>
          <a:noFill/>
          <a:ln/>
        </p:spPr>
        <p:txBody>
          <a:bodyPr wrap="square" lIns="0" tIns="0" rIns="0" bIns="0" rtlCol="0" anchor="ctr"/>
          <a:lstStyle/>
          <a:p>
            <a:pPr marL="0" indent="0">
              <a:buNone/>
            </a:pPr>
            <a:r>
              <a:rPr lang="en-US" sz="1150" b="1" dirty="0">
                <a:solidFill>
                  <a:srgbClr val="14281E"/>
                </a:solidFill>
                <a:latin typeface="Courier New" pitchFamily="34" charset="0"/>
                <a:ea typeface="Courier New" pitchFamily="34" charset="-122"/>
                <a:cs typeface="Courier New" pitchFamily="34" charset="-120"/>
              </a:rPr>
              <a:t>i=1:  A[1]=10, children: A[3]=5, A[4]=1</a:t>
            </a:r>
            <a:endParaRPr lang="en-US" sz="1150" dirty="0"/>
          </a:p>
        </p:txBody>
      </p:sp>
      <p:sp>
        <p:nvSpPr>
          <p:cNvPr id="51" name="Shape 49"/>
          <p:cNvSpPr/>
          <p:nvPr/>
        </p:nvSpPr>
        <p:spPr>
          <a:xfrm>
            <a:off x="777240" y="4325112"/>
            <a:ext cx="365760" cy="365760"/>
          </a:xfrm>
          <a:prstGeom prst="roundRect">
            <a:avLst>
              <a:gd name="adj" fmla="val 20000"/>
            </a:avLst>
          </a:prstGeom>
          <a:solidFill>
            <a:srgbClr val="FFFFFF"/>
          </a:solidFill>
          <a:ln w="22225">
            <a:solidFill>
              <a:srgbClr val="1F6F4A"/>
            </a:solidFill>
            <a:prstDash val="solid"/>
          </a:ln>
        </p:spPr>
      </p:sp>
      <p:sp>
        <p:nvSpPr>
          <p:cNvPr id="52" name="Text 50"/>
          <p:cNvSpPr txBox="1"/>
          <p:nvPr/>
        </p:nvSpPr>
        <p:spPr>
          <a:xfrm>
            <a:off x="777240"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a:t>
            </a:r>
            <a:endParaRPr lang="en-US" sz="1050" dirty="0"/>
          </a:p>
        </p:txBody>
      </p:sp>
      <p:sp>
        <p:nvSpPr>
          <p:cNvPr id="53" name="Shape 51"/>
          <p:cNvSpPr/>
          <p:nvPr/>
        </p:nvSpPr>
        <p:spPr>
          <a:xfrm>
            <a:off x="1197864" y="4325112"/>
            <a:ext cx="365760" cy="365760"/>
          </a:xfrm>
          <a:prstGeom prst="roundRect">
            <a:avLst>
              <a:gd name="adj" fmla="val 20000"/>
            </a:avLst>
          </a:prstGeom>
          <a:solidFill>
            <a:srgbClr val="FFFFFF"/>
          </a:solidFill>
          <a:ln w="22225">
            <a:solidFill>
              <a:srgbClr val="1F6F4A"/>
            </a:solidFill>
            <a:prstDash val="solid"/>
          </a:ln>
        </p:spPr>
      </p:sp>
      <p:sp>
        <p:nvSpPr>
          <p:cNvPr id="54" name="Text 52"/>
          <p:cNvSpPr txBox="1"/>
          <p:nvPr/>
        </p:nvSpPr>
        <p:spPr>
          <a:xfrm>
            <a:off x="1197864"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55" name="Shape 53"/>
          <p:cNvSpPr/>
          <p:nvPr/>
        </p:nvSpPr>
        <p:spPr>
          <a:xfrm>
            <a:off x="1618488" y="4325112"/>
            <a:ext cx="365760" cy="365760"/>
          </a:xfrm>
          <a:prstGeom prst="roundRect">
            <a:avLst>
              <a:gd name="adj" fmla="val 20000"/>
            </a:avLst>
          </a:prstGeom>
          <a:solidFill>
            <a:srgbClr val="FFFFFF"/>
          </a:solidFill>
          <a:ln w="22225">
            <a:solidFill>
              <a:srgbClr val="1F6F4A"/>
            </a:solidFill>
            <a:prstDash val="solid"/>
          </a:ln>
        </p:spPr>
      </p:sp>
      <p:sp>
        <p:nvSpPr>
          <p:cNvPr id="56" name="Text 54"/>
          <p:cNvSpPr txBox="1"/>
          <p:nvPr/>
        </p:nvSpPr>
        <p:spPr>
          <a:xfrm>
            <a:off x="1618488"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a:t>
            </a:r>
            <a:endParaRPr lang="en-US" sz="1050" dirty="0"/>
          </a:p>
        </p:txBody>
      </p:sp>
      <p:sp>
        <p:nvSpPr>
          <p:cNvPr id="57" name="Shape 55"/>
          <p:cNvSpPr/>
          <p:nvPr/>
        </p:nvSpPr>
        <p:spPr>
          <a:xfrm>
            <a:off x="2039112" y="4325112"/>
            <a:ext cx="365760" cy="365760"/>
          </a:xfrm>
          <a:prstGeom prst="roundRect">
            <a:avLst>
              <a:gd name="adj" fmla="val 20000"/>
            </a:avLst>
          </a:prstGeom>
          <a:solidFill>
            <a:srgbClr val="FFFFFF"/>
          </a:solidFill>
          <a:ln w="22225">
            <a:solidFill>
              <a:srgbClr val="1F6F4A"/>
            </a:solidFill>
            <a:prstDash val="solid"/>
          </a:ln>
        </p:spPr>
      </p:sp>
      <p:sp>
        <p:nvSpPr>
          <p:cNvPr id="58" name="Text 56"/>
          <p:cNvSpPr txBox="1"/>
          <p:nvPr/>
        </p:nvSpPr>
        <p:spPr>
          <a:xfrm>
            <a:off x="2039112"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a:t>
            </a:r>
            <a:endParaRPr lang="en-US" sz="1050" dirty="0"/>
          </a:p>
        </p:txBody>
      </p:sp>
      <p:sp>
        <p:nvSpPr>
          <p:cNvPr id="59" name="Shape 57"/>
          <p:cNvSpPr/>
          <p:nvPr/>
        </p:nvSpPr>
        <p:spPr>
          <a:xfrm>
            <a:off x="2459736" y="4325112"/>
            <a:ext cx="365760" cy="365760"/>
          </a:xfrm>
          <a:prstGeom prst="roundRect">
            <a:avLst>
              <a:gd name="adj" fmla="val 20000"/>
            </a:avLst>
          </a:prstGeom>
          <a:solidFill>
            <a:srgbClr val="FFFFFF"/>
          </a:solidFill>
          <a:ln w="22225">
            <a:solidFill>
              <a:srgbClr val="1F6F4A"/>
            </a:solidFill>
            <a:prstDash val="solid"/>
          </a:ln>
        </p:spPr>
      </p:sp>
      <p:sp>
        <p:nvSpPr>
          <p:cNvPr id="60" name="Text 58"/>
          <p:cNvSpPr txBox="1"/>
          <p:nvPr/>
        </p:nvSpPr>
        <p:spPr>
          <a:xfrm>
            <a:off x="2459736"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a:t>
            </a:r>
            <a:endParaRPr lang="en-US" sz="1050" dirty="0"/>
          </a:p>
        </p:txBody>
      </p:sp>
      <p:sp>
        <p:nvSpPr>
          <p:cNvPr id="61" name="Shape 59"/>
          <p:cNvSpPr/>
          <p:nvPr/>
        </p:nvSpPr>
        <p:spPr>
          <a:xfrm>
            <a:off x="2880360" y="4325112"/>
            <a:ext cx="365760" cy="365760"/>
          </a:xfrm>
          <a:prstGeom prst="roundRect">
            <a:avLst>
              <a:gd name="adj" fmla="val 20000"/>
            </a:avLst>
          </a:prstGeom>
          <a:solidFill>
            <a:srgbClr val="FFFFFF"/>
          </a:solidFill>
          <a:ln w="22225">
            <a:solidFill>
              <a:srgbClr val="1F6F4A"/>
            </a:solidFill>
            <a:prstDash val="solid"/>
          </a:ln>
        </p:spPr>
      </p:sp>
      <p:sp>
        <p:nvSpPr>
          <p:cNvPr id="62" name="Text 60"/>
          <p:cNvSpPr txBox="1"/>
          <p:nvPr/>
        </p:nvSpPr>
        <p:spPr>
          <a:xfrm>
            <a:off x="2880360"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a:t>
            </a:r>
            <a:endParaRPr lang="en-US" sz="1050" dirty="0"/>
          </a:p>
        </p:txBody>
      </p:sp>
      <p:sp>
        <p:nvSpPr>
          <p:cNvPr id="63" name="Shape 61"/>
          <p:cNvSpPr/>
          <p:nvPr/>
        </p:nvSpPr>
        <p:spPr>
          <a:xfrm>
            <a:off x="3300984" y="4325112"/>
            <a:ext cx="365760" cy="365760"/>
          </a:xfrm>
          <a:prstGeom prst="roundRect">
            <a:avLst>
              <a:gd name="adj" fmla="val 20000"/>
            </a:avLst>
          </a:prstGeom>
          <a:solidFill>
            <a:srgbClr val="FFFFFF"/>
          </a:solidFill>
          <a:ln w="22225">
            <a:solidFill>
              <a:srgbClr val="1F6F4A"/>
            </a:solidFill>
            <a:prstDash val="solid"/>
          </a:ln>
        </p:spPr>
      </p:sp>
      <p:sp>
        <p:nvSpPr>
          <p:cNvPr id="64" name="Text 62"/>
          <p:cNvSpPr txBox="1"/>
          <p:nvPr/>
        </p:nvSpPr>
        <p:spPr>
          <a:xfrm>
            <a:off x="3300984"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a:t>
            </a:r>
            <a:endParaRPr lang="en-US" sz="1050" dirty="0"/>
          </a:p>
        </p:txBody>
      </p:sp>
      <p:sp>
        <p:nvSpPr>
          <p:cNvPr id="65" name="Shape 63"/>
          <p:cNvSpPr/>
          <p:nvPr/>
        </p:nvSpPr>
        <p:spPr>
          <a:xfrm>
            <a:off x="3721608" y="4325112"/>
            <a:ext cx="365760" cy="365760"/>
          </a:xfrm>
          <a:prstGeom prst="roundRect">
            <a:avLst>
              <a:gd name="adj" fmla="val 20000"/>
            </a:avLst>
          </a:prstGeom>
          <a:solidFill>
            <a:srgbClr val="FFFFFF"/>
          </a:solidFill>
          <a:ln w="22225">
            <a:solidFill>
              <a:srgbClr val="1F6F4A"/>
            </a:solidFill>
            <a:prstDash val="solid"/>
          </a:ln>
        </p:spPr>
      </p:sp>
      <p:sp>
        <p:nvSpPr>
          <p:cNvPr id="66" name="Text 64"/>
          <p:cNvSpPr txBox="1"/>
          <p:nvPr/>
        </p:nvSpPr>
        <p:spPr>
          <a:xfrm>
            <a:off x="3721608" y="4325112"/>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2</a:t>
            </a:r>
            <a:endParaRPr lang="en-US" sz="1050" dirty="0"/>
          </a:p>
        </p:txBody>
      </p:sp>
      <p:sp>
        <p:nvSpPr>
          <p:cNvPr id="67" name="Text 65"/>
          <p:cNvSpPr txBox="1"/>
          <p:nvPr/>
        </p:nvSpPr>
        <p:spPr>
          <a:xfrm>
            <a:off x="4663440" y="4261104"/>
            <a:ext cx="4206240" cy="5943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10 is already largest  →  no swap</a:t>
            </a:r>
            <a:endParaRPr lang="en-US" sz="1600" dirty="0"/>
          </a:p>
        </p:txBody>
      </p:sp>
      <p:sp>
        <p:nvSpPr>
          <p:cNvPr id="68" name="Shape 66"/>
          <p:cNvSpPr/>
          <p:nvPr/>
        </p:nvSpPr>
        <p:spPr>
          <a:xfrm>
            <a:off x="9052560" y="4398264"/>
            <a:ext cx="1737360" cy="347472"/>
          </a:xfrm>
          <a:prstGeom prst="roundRect">
            <a:avLst>
              <a:gd name="adj" fmla="val 52632"/>
            </a:avLst>
          </a:prstGeom>
          <a:solidFill>
            <a:srgbClr val="14281E"/>
          </a:solidFill>
          <a:ln/>
        </p:spPr>
      </p:sp>
      <p:sp>
        <p:nvSpPr>
          <p:cNvPr id="69" name="Text 67"/>
          <p:cNvSpPr txBox="1"/>
          <p:nvPr/>
        </p:nvSpPr>
        <p:spPr>
          <a:xfrm>
            <a:off x="9052560" y="4398264"/>
            <a:ext cx="1737360" cy="347472"/>
          </a:xfrm>
          <a:prstGeom prst="rect">
            <a:avLst/>
          </a:prstGeom>
          <a:noFill/>
          <a:ln/>
        </p:spPr>
        <p:txBody>
          <a:bodyPr wrap="square" lIns="0" tIns="0" rIns="0" bIns="0" rtlCol="0" anchor="ctr"/>
          <a:lstStyle/>
          <a:p>
            <a:pPr marL="0" indent="0" algn="ctr">
              <a:buNone/>
            </a:pPr>
            <a:r>
              <a:rPr lang="en-US" sz="1400" b="1" dirty="0">
                <a:solidFill>
                  <a:srgbClr val="D97706"/>
                </a:solidFill>
                <a:latin typeface="Calibri" pitchFamily="34" charset="0"/>
                <a:ea typeface="Calibri" pitchFamily="34" charset="-122"/>
                <a:cs typeface="Calibri" pitchFamily="34" charset="-120"/>
              </a:rPr>
              <a:t>2 cmp</a:t>
            </a:r>
            <a:endParaRPr lang="en-US" sz="1400" dirty="0"/>
          </a:p>
        </p:txBody>
      </p:sp>
      <p:sp>
        <p:nvSpPr>
          <p:cNvPr id="70" name="Shape 68"/>
          <p:cNvSpPr/>
          <p:nvPr/>
        </p:nvSpPr>
        <p:spPr>
          <a:xfrm>
            <a:off x="548640" y="5020056"/>
            <a:ext cx="11064240" cy="987552"/>
          </a:xfrm>
          <a:prstGeom prst="roundRect">
            <a:avLst>
              <a:gd name="adj" fmla="val 9259"/>
            </a:avLst>
          </a:prstGeom>
          <a:solidFill>
            <a:srgbClr val="E8F5EE"/>
          </a:solidFill>
          <a:ln w="12700">
            <a:solidFill>
              <a:srgbClr val="BFE3D0"/>
            </a:solidFill>
            <a:prstDash val="solid"/>
          </a:ln>
        </p:spPr>
      </p:sp>
      <p:sp>
        <p:nvSpPr>
          <p:cNvPr id="71" name="Text 69"/>
          <p:cNvSpPr txBox="1"/>
          <p:nvPr/>
        </p:nvSpPr>
        <p:spPr>
          <a:xfrm>
            <a:off x="777240" y="5111496"/>
            <a:ext cx="7772400" cy="256032"/>
          </a:xfrm>
          <a:prstGeom prst="rect">
            <a:avLst/>
          </a:prstGeom>
          <a:noFill/>
          <a:ln/>
        </p:spPr>
        <p:txBody>
          <a:bodyPr wrap="square" lIns="0" tIns="0" rIns="0" bIns="0" rtlCol="0" anchor="ctr"/>
          <a:lstStyle/>
          <a:p>
            <a:pPr marL="0" indent="0">
              <a:buNone/>
            </a:pPr>
            <a:r>
              <a:rPr lang="en-US" sz="1150" b="1" dirty="0">
                <a:solidFill>
                  <a:srgbClr val="14281E"/>
                </a:solidFill>
                <a:latin typeface="Courier New" pitchFamily="34" charset="0"/>
                <a:ea typeface="Courier New" pitchFamily="34" charset="-122"/>
                <a:cs typeface="Courier New" pitchFamily="34" charset="-120"/>
              </a:rPr>
              <a:t>i=0:  A[0]=4, children: A[1]=10, A[2]=9</a:t>
            </a:r>
            <a:endParaRPr lang="en-US" sz="1150" dirty="0"/>
          </a:p>
        </p:txBody>
      </p:sp>
      <p:sp>
        <p:nvSpPr>
          <p:cNvPr id="72" name="Shape 70"/>
          <p:cNvSpPr/>
          <p:nvPr/>
        </p:nvSpPr>
        <p:spPr>
          <a:xfrm>
            <a:off x="777240" y="5404104"/>
            <a:ext cx="365760" cy="365760"/>
          </a:xfrm>
          <a:prstGeom prst="roundRect">
            <a:avLst>
              <a:gd name="adj" fmla="val 20000"/>
            </a:avLst>
          </a:prstGeom>
          <a:solidFill>
            <a:srgbClr val="D97706"/>
          </a:solidFill>
          <a:ln w="22225">
            <a:solidFill>
              <a:srgbClr val="1F6F4A"/>
            </a:solidFill>
            <a:prstDash val="solid"/>
          </a:ln>
        </p:spPr>
      </p:sp>
      <p:sp>
        <p:nvSpPr>
          <p:cNvPr id="73" name="Text 71"/>
          <p:cNvSpPr txBox="1"/>
          <p:nvPr/>
        </p:nvSpPr>
        <p:spPr>
          <a:xfrm>
            <a:off x="777240" y="5404104"/>
            <a:ext cx="3657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10</a:t>
            </a:r>
            <a:endParaRPr lang="en-US" sz="1050" dirty="0"/>
          </a:p>
        </p:txBody>
      </p:sp>
      <p:sp>
        <p:nvSpPr>
          <p:cNvPr id="74" name="Shape 72"/>
          <p:cNvSpPr/>
          <p:nvPr/>
        </p:nvSpPr>
        <p:spPr>
          <a:xfrm>
            <a:off x="1197864" y="5404104"/>
            <a:ext cx="365760" cy="365760"/>
          </a:xfrm>
          <a:prstGeom prst="roundRect">
            <a:avLst>
              <a:gd name="adj" fmla="val 20000"/>
            </a:avLst>
          </a:prstGeom>
          <a:solidFill>
            <a:srgbClr val="D97706"/>
          </a:solidFill>
          <a:ln w="22225">
            <a:solidFill>
              <a:srgbClr val="1F6F4A"/>
            </a:solidFill>
            <a:prstDash val="solid"/>
          </a:ln>
        </p:spPr>
      </p:sp>
      <p:sp>
        <p:nvSpPr>
          <p:cNvPr id="75" name="Text 73"/>
          <p:cNvSpPr txBox="1"/>
          <p:nvPr/>
        </p:nvSpPr>
        <p:spPr>
          <a:xfrm>
            <a:off x="1197864" y="5404104"/>
            <a:ext cx="3657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5</a:t>
            </a:r>
            <a:endParaRPr lang="en-US" sz="1050" dirty="0"/>
          </a:p>
        </p:txBody>
      </p:sp>
      <p:sp>
        <p:nvSpPr>
          <p:cNvPr id="76" name="Shape 74"/>
          <p:cNvSpPr/>
          <p:nvPr/>
        </p:nvSpPr>
        <p:spPr>
          <a:xfrm>
            <a:off x="1618488" y="5404104"/>
            <a:ext cx="365760" cy="365760"/>
          </a:xfrm>
          <a:prstGeom prst="roundRect">
            <a:avLst>
              <a:gd name="adj" fmla="val 20000"/>
            </a:avLst>
          </a:prstGeom>
          <a:solidFill>
            <a:srgbClr val="FFFFFF"/>
          </a:solidFill>
          <a:ln w="22225">
            <a:solidFill>
              <a:srgbClr val="1F6F4A"/>
            </a:solidFill>
            <a:prstDash val="solid"/>
          </a:ln>
        </p:spPr>
      </p:sp>
      <p:sp>
        <p:nvSpPr>
          <p:cNvPr id="77" name="Text 75"/>
          <p:cNvSpPr txBox="1"/>
          <p:nvPr/>
        </p:nvSpPr>
        <p:spPr>
          <a:xfrm>
            <a:off x="1618488" y="5404104"/>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a:t>
            </a:r>
            <a:endParaRPr lang="en-US" sz="1050" dirty="0"/>
          </a:p>
        </p:txBody>
      </p:sp>
      <p:sp>
        <p:nvSpPr>
          <p:cNvPr id="78" name="Shape 76"/>
          <p:cNvSpPr/>
          <p:nvPr/>
        </p:nvSpPr>
        <p:spPr>
          <a:xfrm>
            <a:off x="2039112" y="5404104"/>
            <a:ext cx="365760" cy="365760"/>
          </a:xfrm>
          <a:prstGeom prst="roundRect">
            <a:avLst>
              <a:gd name="adj" fmla="val 20000"/>
            </a:avLst>
          </a:prstGeom>
          <a:solidFill>
            <a:srgbClr val="D97706"/>
          </a:solidFill>
          <a:ln w="22225">
            <a:solidFill>
              <a:srgbClr val="1F6F4A"/>
            </a:solidFill>
            <a:prstDash val="solid"/>
          </a:ln>
        </p:spPr>
      </p:sp>
      <p:sp>
        <p:nvSpPr>
          <p:cNvPr id="79" name="Text 77"/>
          <p:cNvSpPr txBox="1"/>
          <p:nvPr/>
        </p:nvSpPr>
        <p:spPr>
          <a:xfrm>
            <a:off x="2039112" y="5404104"/>
            <a:ext cx="3657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4</a:t>
            </a:r>
            <a:endParaRPr lang="en-US" sz="1050" dirty="0"/>
          </a:p>
        </p:txBody>
      </p:sp>
      <p:sp>
        <p:nvSpPr>
          <p:cNvPr id="80" name="Shape 78"/>
          <p:cNvSpPr/>
          <p:nvPr/>
        </p:nvSpPr>
        <p:spPr>
          <a:xfrm>
            <a:off x="2459736" y="5404104"/>
            <a:ext cx="365760" cy="365760"/>
          </a:xfrm>
          <a:prstGeom prst="roundRect">
            <a:avLst>
              <a:gd name="adj" fmla="val 20000"/>
            </a:avLst>
          </a:prstGeom>
          <a:solidFill>
            <a:srgbClr val="FFFFFF"/>
          </a:solidFill>
          <a:ln w="22225">
            <a:solidFill>
              <a:srgbClr val="1F6F4A"/>
            </a:solidFill>
            <a:prstDash val="solid"/>
          </a:ln>
        </p:spPr>
      </p:sp>
      <p:sp>
        <p:nvSpPr>
          <p:cNvPr id="81" name="Text 79"/>
          <p:cNvSpPr txBox="1"/>
          <p:nvPr/>
        </p:nvSpPr>
        <p:spPr>
          <a:xfrm>
            <a:off x="2459736" y="5404104"/>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a:t>
            </a:r>
            <a:endParaRPr lang="en-US" sz="1050" dirty="0"/>
          </a:p>
        </p:txBody>
      </p:sp>
      <p:sp>
        <p:nvSpPr>
          <p:cNvPr id="82" name="Shape 80"/>
          <p:cNvSpPr/>
          <p:nvPr/>
        </p:nvSpPr>
        <p:spPr>
          <a:xfrm>
            <a:off x="2880360" y="5404104"/>
            <a:ext cx="365760" cy="365760"/>
          </a:xfrm>
          <a:prstGeom prst="roundRect">
            <a:avLst>
              <a:gd name="adj" fmla="val 20000"/>
            </a:avLst>
          </a:prstGeom>
          <a:solidFill>
            <a:srgbClr val="FFFFFF"/>
          </a:solidFill>
          <a:ln w="22225">
            <a:solidFill>
              <a:srgbClr val="1F6F4A"/>
            </a:solidFill>
            <a:prstDash val="solid"/>
          </a:ln>
        </p:spPr>
      </p:sp>
      <p:sp>
        <p:nvSpPr>
          <p:cNvPr id="83" name="Text 81"/>
          <p:cNvSpPr txBox="1"/>
          <p:nvPr/>
        </p:nvSpPr>
        <p:spPr>
          <a:xfrm>
            <a:off x="2880360" y="5404104"/>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a:t>
            </a:r>
            <a:endParaRPr lang="en-US" sz="1050" dirty="0"/>
          </a:p>
        </p:txBody>
      </p:sp>
      <p:sp>
        <p:nvSpPr>
          <p:cNvPr id="84" name="Shape 82"/>
          <p:cNvSpPr/>
          <p:nvPr/>
        </p:nvSpPr>
        <p:spPr>
          <a:xfrm>
            <a:off x="3300984" y="5404104"/>
            <a:ext cx="365760" cy="365760"/>
          </a:xfrm>
          <a:prstGeom prst="roundRect">
            <a:avLst>
              <a:gd name="adj" fmla="val 20000"/>
            </a:avLst>
          </a:prstGeom>
          <a:solidFill>
            <a:srgbClr val="FFFFFF"/>
          </a:solidFill>
          <a:ln w="22225">
            <a:solidFill>
              <a:srgbClr val="1F6F4A"/>
            </a:solidFill>
            <a:prstDash val="solid"/>
          </a:ln>
        </p:spPr>
      </p:sp>
      <p:sp>
        <p:nvSpPr>
          <p:cNvPr id="85" name="Text 83"/>
          <p:cNvSpPr txBox="1"/>
          <p:nvPr/>
        </p:nvSpPr>
        <p:spPr>
          <a:xfrm>
            <a:off x="3300984" y="5404104"/>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a:t>
            </a:r>
            <a:endParaRPr lang="en-US" sz="1050" dirty="0"/>
          </a:p>
        </p:txBody>
      </p:sp>
      <p:sp>
        <p:nvSpPr>
          <p:cNvPr id="86" name="Shape 84"/>
          <p:cNvSpPr/>
          <p:nvPr/>
        </p:nvSpPr>
        <p:spPr>
          <a:xfrm>
            <a:off x="3721608" y="5404104"/>
            <a:ext cx="365760" cy="365760"/>
          </a:xfrm>
          <a:prstGeom prst="roundRect">
            <a:avLst>
              <a:gd name="adj" fmla="val 20000"/>
            </a:avLst>
          </a:prstGeom>
          <a:solidFill>
            <a:srgbClr val="FFFFFF"/>
          </a:solidFill>
          <a:ln w="22225">
            <a:solidFill>
              <a:srgbClr val="1F6F4A"/>
            </a:solidFill>
            <a:prstDash val="solid"/>
          </a:ln>
        </p:spPr>
      </p:sp>
      <p:sp>
        <p:nvSpPr>
          <p:cNvPr id="87" name="Text 85"/>
          <p:cNvSpPr txBox="1"/>
          <p:nvPr/>
        </p:nvSpPr>
        <p:spPr>
          <a:xfrm>
            <a:off x="3721608" y="5404104"/>
            <a:ext cx="365760" cy="365760"/>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2</a:t>
            </a:r>
            <a:endParaRPr lang="en-US" sz="1050" dirty="0"/>
          </a:p>
        </p:txBody>
      </p:sp>
      <p:sp>
        <p:nvSpPr>
          <p:cNvPr id="88" name="Text 86"/>
          <p:cNvSpPr txBox="1"/>
          <p:nvPr/>
        </p:nvSpPr>
        <p:spPr>
          <a:xfrm>
            <a:off x="4663440" y="5340096"/>
            <a:ext cx="4206240" cy="59436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largest=10(idx1)→swap; then at idx1: largest=5(idx3)→swap; then idx3: no swap</a:t>
            </a:r>
            <a:endParaRPr lang="en-US" sz="1600" dirty="0"/>
          </a:p>
        </p:txBody>
      </p:sp>
      <p:sp>
        <p:nvSpPr>
          <p:cNvPr id="89" name="Shape 87"/>
          <p:cNvSpPr/>
          <p:nvPr/>
        </p:nvSpPr>
        <p:spPr>
          <a:xfrm>
            <a:off x="9052560" y="5477256"/>
            <a:ext cx="1737360" cy="347472"/>
          </a:xfrm>
          <a:prstGeom prst="roundRect">
            <a:avLst>
              <a:gd name="adj" fmla="val 52632"/>
            </a:avLst>
          </a:prstGeom>
          <a:solidFill>
            <a:srgbClr val="14281E"/>
          </a:solidFill>
          <a:ln/>
        </p:spPr>
      </p:sp>
      <p:sp>
        <p:nvSpPr>
          <p:cNvPr id="90" name="Text 88"/>
          <p:cNvSpPr txBox="1"/>
          <p:nvPr/>
        </p:nvSpPr>
        <p:spPr>
          <a:xfrm>
            <a:off x="9052560" y="5477256"/>
            <a:ext cx="1737360" cy="347472"/>
          </a:xfrm>
          <a:prstGeom prst="rect">
            <a:avLst/>
          </a:prstGeom>
          <a:noFill/>
          <a:ln/>
        </p:spPr>
        <p:txBody>
          <a:bodyPr wrap="square" lIns="0" tIns="0" rIns="0" bIns="0" rtlCol="0" anchor="ctr"/>
          <a:lstStyle/>
          <a:p>
            <a:pPr marL="0" indent="0" algn="ctr">
              <a:buNone/>
            </a:pPr>
            <a:r>
              <a:rPr lang="en-US" sz="1400" b="1" dirty="0">
                <a:solidFill>
                  <a:srgbClr val="D97706"/>
                </a:solidFill>
                <a:latin typeface="Calibri" pitchFamily="34" charset="0"/>
                <a:ea typeface="Calibri" pitchFamily="34" charset="-122"/>
                <a:cs typeface="Calibri" pitchFamily="34" charset="-120"/>
              </a:rPr>
              <a:t>5 cmp</a:t>
            </a:r>
            <a:endParaRPr lang="en-US" sz="1400" dirty="0"/>
          </a:p>
        </p:txBody>
      </p:sp>
      <p:sp>
        <p:nvSpPr>
          <p:cNvPr id="91" name="Shape 89"/>
          <p:cNvSpPr/>
          <p:nvPr/>
        </p:nvSpPr>
        <p:spPr>
          <a:xfrm>
            <a:off x="548640" y="6117336"/>
            <a:ext cx="11064240" cy="457200"/>
          </a:xfrm>
          <a:prstGeom prst="roundRect">
            <a:avLst>
              <a:gd name="adj" fmla="val 20000"/>
            </a:avLst>
          </a:prstGeom>
          <a:solidFill>
            <a:srgbClr val="14281E"/>
          </a:solidFill>
          <a:ln w="12700">
            <a:solidFill>
              <a:srgbClr val="14281E"/>
            </a:solidFill>
            <a:prstDash val="solid"/>
          </a:ln>
        </p:spPr>
      </p:sp>
      <p:sp>
        <p:nvSpPr>
          <p:cNvPr id="92" name="Text 90"/>
          <p:cNvSpPr txBox="1"/>
          <p:nvPr/>
        </p:nvSpPr>
        <p:spPr>
          <a:xfrm>
            <a:off x="777240" y="6117336"/>
            <a:ext cx="10607040" cy="457200"/>
          </a:xfrm>
          <a:prstGeom prst="rect">
            <a:avLst/>
          </a:prstGeom>
          <a:noFill/>
          <a:ln/>
        </p:spPr>
        <p:txBody>
          <a:bodyPr wrap="square" lIns="0" tIns="0" rIns="0" bIns="0" rtlCol="0" anchor="ctr"/>
          <a:lstStyle/>
          <a:p>
            <a:pPr marL="0" indent="0">
              <a:buNone/>
            </a:pPr>
            <a:r>
              <a:rPr lang="en-US" sz="1400" b="1" dirty="0">
                <a:solidFill>
                  <a:srgbClr val="D97706"/>
                </a:solidFill>
                <a:latin typeface="Courier New" pitchFamily="34" charset="0"/>
                <a:ea typeface="Courier New" pitchFamily="34" charset="-122"/>
                <a:cs typeface="Courier New" pitchFamily="34" charset="-120"/>
              </a:rPr>
              <a:t>Build-Max-Heap total:  </a:t>
            </a:r>
            <a:r>
              <a:rPr lang="en-US" sz="1400" b="1" dirty="0">
                <a:solidFill>
                  <a:srgbClr val="FFFFFF"/>
                </a:solidFill>
                <a:latin typeface="Courier New" pitchFamily="34" charset="0"/>
                <a:ea typeface="Courier New" pitchFamily="34" charset="-122"/>
                <a:cs typeface="Courier New" pitchFamily="34" charset="-120"/>
              </a:rPr>
              <a:t>1 + 2 + 2 + 5 = 10 comparisons, 3 swaps</a:t>
            </a:r>
            <a:endParaRPr lang="en-US" sz="1400" dirty="0"/>
          </a:p>
        </p:txBody>
      </p:sp>
      <p:sp>
        <p:nvSpPr>
          <p:cNvPr id="93" name="Text 91"/>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94" name="Text 92"/>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TRACE — PHASE 2 (STEPS 1–4)</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Extract-Max, Swap, Shrink, Heapify</a:t>
            </a:r>
            <a:endParaRPr lang="en-US" sz="3000" dirty="0"/>
          </a:p>
        </p:txBody>
      </p:sp>
      <p:sp>
        <p:nvSpPr>
          <p:cNvPr id="6" name="Text 4"/>
          <p:cNvSpPr txBox="1"/>
          <p:nvPr/>
        </p:nvSpPr>
        <p:spPr>
          <a:xfrm>
            <a:off x="548640" y="1298448"/>
            <a:ext cx="11064240" cy="320040"/>
          </a:xfrm>
          <a:prstGeom prst="rect">
            <a:avLst/>
          </a:prstGeom>
          <a:noFill/>
          <a:ln/>
        </p:spPr>
        <p:txBody>
          <a:bodyPr wrap="square" lIns="0" tIns="0" rIns="0" bIns="0"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Heap after Build-Max-Heap:  [10, 5, 9, 4, 1, 8, 3, 2]     Repeat: swap root with last live element, shrink heap, heapify root.</a:t>
            </a:r>
            <a:endParaRPr lang="en-US" sz="1150" dirty="0"/>
          </a:p>
        </p:txBody>
      </p:sp>
      <p:sp>
        <p:nvSpPr>
          <p:cNvPr id="7" name="Shape 5"/>
          <p:cNvSpPr/>
          <p:nvPr/>
        </p:nvSpPr>
        <p:spPr>
          <a:xfrm>
            <a:off x="548640" y="1737360"/>
            <a:ext cx="11064240" cy="411480"/>
          </a:xfrm>
          <a:prstGeom prst="roundRect">
            <a:avLst>
              <a:gd name="adj" fmla="val 22222"/>
            </a:avLst>
          </a:prstGeom>
          <a:solidFill>
            <a:srgbClr val="1F6F4A"/>
          </a:solidFill>
          <a:ln w="12700">
            <a:solidFill>
              <a:srgbClr val="1F6F4A"/>
            </a:solidFill>
            <a:prstDash val="solid"/>
          </a:ln>
        </p:spPr>
      </p:sp>
      <p:sp>
        <p:nvSpPr>
          <p:cNvPr id="8" name="Text 6"/>
          <p:cNvSpPr txBox="1"/>
          <p:nvPr/>
        </p:nvSpPr>
        <p:spPr>
          <a:xfrm>
            <a:off x="548640" y="1737360"/>
            <a:ext cx="82296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Step</a:t>
            </a:r>
            <a:endParaRPr lang="en-US" sz="1150" dirty="0"/>
          </a:p>
        </p:txBody>
      </p:sp>
      <p:sp>
        <p:nvSpPr>
          <p:cNvPr id="9" name="Text 7"/>
          <p:cNvSpPr txBox="1"/>
          <p:nvPr/>
        </p:nvSpPr>
        <p:spPr>
          <a:xfrm>
            <a:off x="1371600" y="1737360"/>
            <a:ext cx="246888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Extract &amp; Swap</a:t>
            </a:r>
            <a:endParaRPr lang="en-US" sz="1150" dirty="0"/>
          </a:p>
        </p:txBody>
      </p:sp>
      <p:sp>
        <p:nvSpPr>
          <p:cNvPr id="10" name="Text 8"/>
          <p:cNvSpPr txBox="1"/>
          <p:nvPr/>
        </p:nvSpPr>
        <p:spPr>
          <a:xfrm>
            <a:off x="3840480" y="1737360"/>
            <a:ext cx="420624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Heap After Sift-Down</a:t>
            </a:r>
            <a:endParaRPr lang="en-US" sz="1150" dirty="0"/>
          </a:p>
        </p:txBody>
      </p:sp>
      <p:sp>
        <p:nvSpPr>
          <p:cNvPr id="11" name="Text 9"/>
          <p:cNvSpPr txBox="1"/>
          <p:nvPr/>
        </p:nvSpPr>
        <p:spPr>
          <a:xfrm>
            <a:off x="8046720" y="1737360"/>
            <a:ext cx="219456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Sorted Suffix</a:t>
            </a:r>
            <a:endParaRPr lang="en-US" sz="1150" dirty="0"/>
          </a:p>
        </p:txBody>
      </p:sp>
      <p:sp>
        <p:nvSpPr>
          <p:cNvPr id="12" name="Text 10"/>
          <p:cNvSpPr txBox="1"/>
          <p:nvPr/>
        </p:nvSpPr>
        <p:spPr>
          <a:xfrm>
            <a:off x="10241280" y="1737360"/>
            <a:ext cx="137160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Cmp</a:t>
            </a:r>
            <a:endParaRPr lang="en-US" sz="1150" dirty="0"/>
          </a:p>
        </p:txBody>
      </p:sp>
      <p:sp>
        <p:nvSpPr>
          <p:cNvPr id="13" name="Shape 11"/>
          <p:cNvSpPr/>
          <p:nvPr/>
        </p:nvSpPr>
        <p:spPr>
          <a:xfrm>
            <a:off x="548640" y="2148840"/>
            <a:ext cx="11064240" cy="566928"/>
          </a:xfrm>
          <a:prstGeom prst="roundRect">
            <a:avLst>
              <a:gd name="adj" fmla="val 16129"/>
            </a:avLst>
          </a:prstGeom>
          <a:solidFill>
            <a:srgbClr val="E8F5EE"/>
          </a:solidFill>
          <a:ln w="12700">
            <a:solidFill>
              <a:srgbClr val="BFE3D0"/>
            </a:solidFill>
            <a:prstDash val="solid"/>
          </a:ln>
        </p:spPr>
      </p:sp>
      <p:sp>
        <p:nvSpPr>
          <p:cNvPr id="14" name="Text 12"/>
          <p:cNvSpPr txBox="1"/>
          <p:nvPr/>
        </p:nvSpPr>
        <p:spPr>
          <a:xfrm>
            <a:off x="548640" y="2148840"/>
            <a:ext cx="822960" cy="566928"/>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1</a:t>
            </a:r>
            <a:endParaRPr lang="en-US" sz="1100" dirty="0"/>
          </a:p>
        </p:txBody>
      </p:sp>
      <p:sp>
        <p:nvSpPr>
          <p:cNvPr id="15" name="Text 13"/>
          <p:cNvSpPr txBox="1"/>
          <p:nvPr/>
        </p:nvSpPr>
        <p:spPr>
          <a:xfrm>
            <a:off x="1371600" y="2148840"/>
            <a:ext cx="246888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A[0],A[7]: 10↔2</a:t>
            </a:r>
            <a:endParaRPr lang="en-US" sz="1600" dirty="0"/>
          </a:p>
        </p:txBody>
      </p:sp>
      <p:sp>
        <p:nvSpPr>
          <p:cNvPr id="16" name="Text 14"/>
          <p:cNvSpPr txBox="1"/>
          <p:nvPr/>
        </p:nvSpPr>
        <p:spPr>
          <a:xfrm>
            <a:off x="3840480" y="2148840"/>
            <a:ext cx="420624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[9,5,8,4,1,2,3]</a:t>
            </a:r>
            <a:endParaRPr lang="en-US" sz="1600" dirty="0"/>
          </a:p>
        </p:txBody>
      </p:sp>
      <p:sp>
        <p:nvSpPr>
          <p:cNvPr id="17" name="Text 15"/>
          <p:cNvSpPr txBox="1"/>
          <p:nvPr/>
        </p:nvSpPr>
        <p:spPr>
          <a:xfrm>
            <a:off x="8046720" y="2148840"/>
            <a:ext cx="219456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10</a:t>
            </a:r>
            <a:endParaRPr lang="en-US" sz="1600" dirty="0"/>
          </a:p>
        </p:txBody>
      </p:sp>
      <p:sp>
        <p:nvSpPr>
          <p:cNvPr id="18" name="Text 16"/>
          <p:cNvSpPr txBox="1"/>
          <p:nvPr/>
        </p:nvSpPr>
        <p:spPr>
          <a:xfrm>
            <a:off x="10241280" y="2148840"/>
            <a:ext cx="137160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4</a:t>
            </a:r>
            <a:endParaRPr lang="en-US" sz="1600" dirty="0"/>
          </a:p>
        </p:txBody>
      </p:sp>
      <p:sp>
        <p:nvSpPr>
          <p:cNvPr id="19" name="Shape 17"/>
          <p:cNvSpPr/>
          <p:nvPr/>
        </p:nvSpPr>
        <p:spPr>
          <a:xfrm>
            <a:off x="548640" y="2715768"/>
            <a:ext cx="11064240" cy="566928"/>
          </a:xfrm>
          <a:prstGeom prst="roundRect">
            <a:avLst>
              <a:gd name="adj" fmla="val 16129"/>
            </a:avLst>
          </a:prstGeom>
          <a:solidFill>
            <a:srgbClr val="FFFFFF"/>
          </a:solidFill>
          <a:ln w="12700">
            <a:solidFill>
              <a:srgbClr val="BFE3D0"/>
            </a:solidFill>
            <a:prstDash val="solid"/>
          </a:ln>
        </p:spPr>
      </p:sp>
      <p:sp>
        <p:nvSpPr>
          <p:cNvPr id="20" name="Text 18"/>
          <p:cNvSpPr txBox="1"/>
          <p:nvPr/>
        </p:nvSpPr>
        <p:spPr>
          <a:xfrm>
            <a:off x="548640" y="2715768"/>
            <a:ext cx="822960" cy="566928"/>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2</a:t>
            </a:r>
            <a:endParaRPr lang="en-US" sz="1100" dirty="0"/>
          </a:p>
        </p:txBody>
      </p:sp>
      <p:sp>
        <p:nvSpPr>
          <p:cNvPr id="21" name="Text 19"/>
          <p:cNvSpPr txBox="1"/>
          <p:nvPr/>
        </p:nvSpPr>
        <p:spPr>
          <a:xfrm>
            <a:off x="1371600" y="2715768"/>
            <a:ext cx="246888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A[0],A[6]: 9↔3</a:t>
            </a:r>
            <a:endParaRPr lang="en-US" sz="1600" dirty="0"/>
          </a:p>
        </p:txBody>
      </p:sp>
      <p:sp>
        <p:nvSpPr>
          <p:cNvPr id="22" name="Text 20"/>
          <p:cNvSpPr txBox="1"/>
          <p:nvPr/>
        </p:nvSpPr>
        <p:spPr>
          <a:xfrm>
            <a:off x="3840480" y="2715768"/>
            <a:ext cx="420624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[8,5,3,4,1,2]</a:t>
            </a:r>
            <a:endParaRPr lang="en-US" sz="1600" dirty="0"/>
          </a:p>
        </p:txBody>
      </p:sp>
      <p:sp>
        <p:nvSpPr>
          <p:cNvPr id="23" name="Text 21"/>
          <p:cNvSpPr txBox="1"/>
          <p:nvPr/>
        </p:nvSpPr>
        <p:spPr>
          <a:xfrm>
            <a:off x="8046720" y="2715768"/>
            <a:ext cx="219456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9,10</a:t>
            </a:r>
            <a:endParaRPr lang="en-US" sz="1600" dirty="0"/>
          </a:p>
        </p:txBody>
      </p:sp>
      <p:sp>
        <p:nvSpPr>
          <p:cNvPr id="24" name="Text 22"/>
          <p:cNvSpPr txBox="1"/>
          <p:nvPr/>
        </p:nvSpPr>
        <p:spPr>
          <a:xfrm>
            <a:off x="10241280" y="2715768"/>
            <a:ext cx="137160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3</a:t>
            </a:r>
            <a:endParaRPr lang="en-US" sz="1600" dirty="0"/>
          </a:p>
        </p:txBody>
      </p:sp>
      <p:sp>
        <p:nvSpPr>
          <p:cNvPr id="25" name="Shape 23"/>
          <p:cNvSpPr/>
          <p:nvPr/>
        </p:nvSpPr>
        <p:spPr>
          <a:xfrm>
            <a:off x="548640" y="3282696"/>
            <a:ext cx="11064240" cy="566928"/>
          </a:xfrm>
          <a:prstGeom prst="roundRect">
            <a:avLst>
              <a:gd name="adj" fmla="val 16129"/>
            </a:avLst>
          </a:prstGeom>
          <a:solidFill>
            <a:srgbClr val="E8F5EE"/>
          </a:solidFill>
          <a:ln w="12700">
            <a:solidFill>
              <a:srgbClr val="BFE3D0"/>
            </a:solidFill>
            <a:prstDash val="solid"/>
          </a:ln>
        </p:spPr>
      </p:sp>
      <p:sp>
        <p:nvSpPr>
          <p:cNvPr id="26" name="Text 24"/>
          <p:cNvSpPr txBox="1"/>
          <p:nvPr/>
        </p:nvSpPr>
        <p:spPr>
          <a:xfrm>
            <a:off x="548640" y="3282696"/>
            <a:ext cx="822960" cy="566928"/>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3</a:t>
            </a:r>
            <a:endParaRPr lang="en-US" sz="1100" dirty="0"/>
          </a:p>
        </p:txBody>
      </p:sp>
      <p:sp>
        <p:nvSpPr>
          <p:cNvPr id="27" name="Text 25"/>
          <p:cNvSpPr txBox="1"/>
          <p:nvPr/>
        </p:nvSpPr>
        <p:spPr>
          <a:xfrm>
            <a:off x="1371600" y="3282696"/>
            <a:ext cx="246888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A[0],A[5]: 8↔2</a:t>
            </a:r>
            <a:endParaRPr lang="en-US" sz="1600" dirty="0"/>
          </a:p>
        </p:txBody>
      </p:sp>
      <p:sp>
        <p:nvSpPr>
          <p:cNvPr id="28" name="Text 26"/>
          <p:cNvSpPr txBox="1"/>
          <p:nvPr/>
        </p:nvSpPr>
        <p:spPr>
          <a:xfrm>
            <a:off x="3840480" y="3282696"/>
            <a:ext cx="420624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[5,4,3,2,1]</a:t>
            </a:r>
            <a:endParaRPr lang="en-US" sz="1600" dirty="0"/>
          </a:p>
        </p:txBody>
      </p:sp>
      <p:sp>
        <p:nvSpPr>
          <p:cNvPr id="29" name="Text 27"/>
          <p:cNvSpPr txBox="1"/>
          <p:nvPr/>
        </p:nvSpPr>
        <p:spPr>
          <a:xfrm>
            <a:off x="8046720" y="3282696"/>
            <a:ext cx="219456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8,9,10</a:t>
            </a:r>
            <a:endParaRPr lang="en-US" sz="1600" dirty="0"/>
          </a:p>
        </p:txBody>
      </p:sp>
      <p:sp>
        <p:nvSpPr>
          <p:cNvPr id="30" name="Text 28"/>
          <p:cNvSpPr txBox="1"/>
          <p:nvPr/>
        </p:nvSpPr>
        <p:spPr>
          <a:xfrm>
            <a:off x="10241280" y="3282696"/>
            <a:ext cx="137160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4</a:t>
            </a:r>
            <a:endParaRPr lang="en-US" sz="1600" dirty="0"/>
          </a:p>
        </p:txBody>
      </p:sp>
      <p:sp>
        <p:nvSpPr>
          <p:cNvPr id="31" name="Shape 29"/>
          <p:cNvSpPr/>
          <p:nvPr/>
        </p:nvSpPr>
        <p:spPr>
          <a:xfrm>
            <a:off x="548640" y="3849624"/>
            <a:ext cx="11064240" cy="566928"/>
          </a:xfrm>
          <a:prstGeom prst="roundRect">
            <a:avLst>
              <a:gd name="adj" fmla="val 16129"/>
            </a:avLst>
          </a:prstGeom>
          <a:solidFill>
            <a:srgbClr val="FFFFFF"/>
          </a:solidFill>
          <a:ln w="12700">
            <a:solidFill>
              <a:srgbClr val="BFE3D0"/>
            </a:solidFill>
            <a:prstDash val="solid"/>
          </a:ln>
        </p:spPr>
      </p:sp>
      <p:sp>
        <p:nvSpPr>
          <p:cNvPr id="32" name="Text 30"/>
          <p:cNvSpPr txBox="1"/>
          <p:nvPr/>
        </p:nvSpPr>
        <p:spPr>
          <a:xfrm>
            <a:off x="548640" y="3849624"/>
            <a:ext cx="822960" cy="566928"/>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4</a:t>
            </a:r>
            <a:endParaRPr lang="en-US" sz="1100" dirty="0"/>
          </a:p>
        </p:txBody>
      </p:sp>
      <p:sp>
        <p:nvSpPr>
          <p:cNvPr id="33" name="Text 31"/>
          <p:cNvSpPr txBox="1"/>
          <p:nvPr/>
        </p:nvSpPr>
        <p:spPr>
          <a:xfrm>
            <a:off x="1371600" y="3849624"/>
            <a:ext cx="246888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A[0],A[4]: 5↔1</a:t>
            </a:r>
            <a:endParaRPr lang="en-US" sz="1600" dirty="0"/>
          </a:p>
        </p:txBody>
      </p:sp>
      <p:sp>
        <p:nvSpPr>
          <p:cNvPr id="34" name="Text 32"/>
          <p:cNvSpPr txBox="1"/>
          <p:nvPr/>
        </p:nvSpPr>
        <p:spPr>
          <a:xfrm>
            <a:off x="3840480" y="3849624"/>
            <a:ext cx="420624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[4,2,3,1]</a:t>
            </a:r>
            <a:endParaRPr lang="en-US" sz="1600" dirty="0"/>
          </a:p>
        </p:txBody>
      </p:sp>
      <p:sp>
        <p:nvSpPr>
          <p:cNvPr id="35" name="Text 33"/>
          <p:cNvSpPr txBox="1"/>
          <p:nvPr/>
        </p:nvSpPr>
        <p:spPr>
          <a:xfrm>
            <a:off x="8046720" y="3849624"/>
            <a:ext cx="219456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5,8,9,10</a:t>
            </a:r>
            <a:endParaRPr lang="en-US" sz="1600" dirty="0"/>
          </a:p>
        </p:txBody>
      </p:sp>
      <p:sp>
        <p:nvSpPr>
          <p:cNvPr id="36" name="Text 34"/>
          <p:cNvSpPr txBox="1"/>
          <p:nvPr/>
        </p:nvSpPr>
        <p:spPr>
          <a:xfrm>
            <a:off x="10241280" y="3849624"/>
            <a:ext cx="1371600" cy="566928"/>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3</a:t>
            </a:r>
            <a:endParaRPr lang="en-US" sz="1600" dirty="0"/>
          </a:p>
        </p:txBody>
      </p:sp>
      <p:sp>
        <p:nvSpPr>
          <p:cNvPr id="37" name="Shape 35"/>
          <p:cNvSpPr/>
          <p:nvPr/>
        </p:nvSpPr>
        <p:spPr>
          <a:xfrm>
            <a:off x="548640" y="4599432"/>
            <a:ext cx="11064240" cy="1371600"/>
          </a:xfrm>
          <a:prstGeom prst="roundRect">
            <a:avLst>
              <a:gd name="adj" fmla="val 6667"/>
            </a:avLst>
          </a:prstGeom>
          <a:solidFill>
            <a:schemeClr val="bg1"/>
          </a:solidFill>
          <a:ln w="12700">
            <a:solidFill>
              <a:srgbClr val="14281E"/>
            </a:solidFill>
            <a:prstDash val="solid"/>
          </a:ln>
        </p:spPr>
      </p:sp>
      <p:sp>
        <p:nvSpPr>
          <p:cNvPr id="38" name="Text 36"/>
          <p:cNvSpPr txBox="1"/>
          <p:nvPr/>
        </p:nvSpPr>
        <p:spPr>
          <a:xfrm>
            <a:off x="777240" y="4736592"/>
            <a:ext cx="7315200" cy="256032"/>
          </a:xfrm>
          <a:prstGeom prst="rect">
            <a:avLst/>
          </a:prstGeom>
          <a:noFill/>
          <a:ln/>
        </p:spPr>
        <p:txBody>
          <a:bodyPr wrap="square" lIns="0" tIns="0" rIns="0" bIns="0" rtlCol="0" anchor="ctr"/>
          <a:lstStyle/>
          <a:p>
            <a:pPr marL="0" indent="0">
              <a:buNone/>
            </a:pPr>
            <a:r>
              <a:rPr lang="en-US" b="1" kern="0" spc="100" dirty="0">
                <a:solidFill>
                  <a:srgbClr val="D97706"/>
                </a:solidFill>
                <a:latin typeface="Calibri" pitchFamily="34" charset="0"/>
                <a:ea typeface="Calibri" pitchFamily="34" charset="-122"/>
                <a:cs typeface="Calibri" pitchFamily="34" charset="-120"/>
              </a:rPr>
              <a:t>READING THE TABLE</a:t>
            </a:r>
            <a:endParaRPr lang="en-US" dirty="0"/>
          </a:p>
        </p:txBody>
      </p:sp>
      <p:sp>
        <p:nvSpPr>
          <p:cNvPr id="39" name="Text 37"/>
          <p:cNvSpPr txBox="1"/>
          <p:nvPr/>
        </p:nvSpPr>
        <p:spPr>
          <a:xfrm>
            <a:off x="777240" y="5010912"/>
            <a:ext cx="10607040" cy="86868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Each step swaps the current maximum (always at index 0) with the last live element, shrinks the heap by one, then re-heapifies the new root. The “Heap After Sift-Down” column shows the active heap only — the sorted suffix (right of it) never changes again.</a:t>
            </a:r>
            <a:endParaRPr lang="en-US" sz="1600" dirty="0"/>
          </a:p>
        </p:txBody>
      </p:sp>
      <p:sp>
        <p:nvSpPr>
          <p:cNvPr id="40" name="Text 38"/>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41" name="Text 3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TRACE — PHASE 2 (STEPS 5–7, FINAL)</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Finishing the Sort</a:t>
            </a:r>
            <a:endParaRPr lang="en-US" sz="3000" dirty="0"/>
          </a:p>
        </p:txBody>
      </p:sp>
      <p:sp>
        <p:nvSpPr>
          <p:cNvPr id="6" name="Shape 4"/>
          <p:cNvSpPr/>
          <p:nvPr/>
        </p:nvSpPr>
        <p:spPr>
          <a:xfrm>
            <a:off x="548640" y="1417320"/>
            <a:ext cx="11064240" cy="411480"/>
          </a:xfrm>
          <a:prstGeom prst="roundRect">
            <a:avLst>
              <a:gd name="adj" fmla="val 22222"/>
            </a:avLst>
          </a:prstGeom>
          <a:solidFill>
            <a:srgbClr val="1F6F4A"/>
          </a:solidFill>
          <a:ln w="12700">
            <a:solidFill>
              <a:srgbClr val="1F6F4A"/>
            </a:solidFill>
            <a:prstDash val="solid"/>
          </a:ln>
        </p:spPr>
      </p:sp>
      <p:sp>
        <p:nvSpPr>
          <p:cNvPr id="7" name="Text 5"/>
          <p:cNvSpPr txBox="1"/>
          <p:nvPr/>
        </p:nvSpPr>
        <p:spPr>
          <a:xfrm>
            <a:off x="548640" y="1417320"/>
            <a:ext cx="82296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Step</a:t>
            </a:r>
            <a:endParaRPr lang="en-US" sz="1150" dirty="0"/>
          </a:p>
        </p:txBody>
      </p:sp>
      <p:sp>
        <p:nvSpPr>
          <p:cNvPr id="8" name="Text 6"/>
          <p:cNvSpPr txBox="1"/>
          <p:nvPr/>
        </p:nvSpPr>
        <p:spPr>
          <a:xfrm>
            <a:off x="1371600" y="1417320"/>
            <a:ext cx="246888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Extract &amp; Swap</a:t>
            </a:r>
            <a:endParaRPr lang="en-US" sz="1150" dirty="0"/>
          </a:p>
        </p:txBody>
      </p:sp>
      <p:sp>
        <p:nvSpPr>
          <p:cNvPr id="9" name="Text 7"/>
          <p:cNvSpPr txBox="1"/>
          <p:nvPr/>
        </p:nvSpPr>
        <p:spPr>
          <a:xfrm>
            <a:off x="3840480" y="1417320"/>
            <a:ext cx="420624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Heap After Sift-Down</a:t>
            </a:r>
            <a:endParaRPr lang="en-US" sz="1150" dirty="0"/>
          </a:p>
        </p:txBody>
      </p:sp>
      <p:sp>
        <p:nvSpPr>
          <p:cNvPr id="10" name="Text 8"/>
          <p:cNvSpPr txBox="1"/>
          <p:nvPr/>
        </p:nvSpPr>
        <p:spPr>
          <a:xfrm>
            <a:off x="8046720" y="1417320"/>
            <a:ext cx="219456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Sorted Suffix</a:t>
            </a:r>
            <a:endParaRPr lang="en-US" sz="1150" dirty="0"/>
          </a:p>
        </p:txBody>
      </p:sp>
      <p:sp>
        <p:nvSpPr>
          <p:cNvPr id="11" name="Text 9"/>
          <p:cNvSpPr txBox="1"/>
          <p:nvPr/>
        </p:nvSpPr>
        <p:spPr>
          <a:xfrm>
            <a:off x="10241280" y="1417320"/>
            <a:ext cx="137160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Cmp</a:t>
            </a:r>
            <a:endParaRPr lang="en-US" sz="1150" dirty="0"/>
          </a:p>
        </p:txBody>
      </p:sp>
      <p:sp>
        <p:nvSpPr>
          <p:cNvPr id="12" name="Shape 10"/>
          <p:cNvSpPr/>
          <p:nvPr/>
        </p:nvSpPr>
        <p:spPr>
          <a:xfrm>
            <a:off x="548640" y="1828800"/>
            <a:ext cx="11064240" cy="502920"/>
          </a:xfrm>
          <a:prstGeom prst="roundRect">
            <a:avLst>
              <a:gd name="adj" fmla="val 18182"/>
            </a:avLst>
          </a:prstGeom>
          <a:solidFill>
            <a:srgbClr val="E8F5EE"/>
          </a:solidFill>
          <a:ln w="12700">
            <a:solidFill>
              <a:srgbClr val="BFE3D0"/>
            </a:solidFill>
            <a:prstDash val="solid"/>
          </a:ln>
        </p:spPr>
      </p:sp>
      <p:sp>
        <p:nvSpPr>
          <p:cNvPr id="13" name="Text 11"/>
          <p:cNvSpPr txBox="1"/>
          <p:nvPr/>
        </p:nvSpPr>
        <p:spPr>
          <a:xfrm>
            <a:off x="548640" y="1828800"/>
            <a:ext cx="82296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5</a:t>
            </a:r>
            <a:endParaRPr lang="en-US" sz="1600" dirty="0"/>
          </a:p>
        </p:txBody>
      </p:sp>
      <p:sp>
        <p:nvSpPr>
          <p:cNvPr id="14" name="Text 12"/>
          <p:cNvSpPr txBox="1"/>
          <p:nvPr/>
        </p:nvSpPr>
        <p:spPr>
          <a:xfrm>
            <a:off x="1371600" y="182880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A[0],A[3]: 4↔1</a:t>
            </a:r>
            <a:endParaRPr lang="en-US" sz="1600" dirty="0"/>
          </a:p>
        </p:txBody>
      </p:sp>
      <p:sp>
        <p:nvSpPr>
          <p:cNvPr id="15" name="Text 13"/>
          <p:cNvSpPr txBox="1"/>
          <p:nvPr/>
        </p:nvSpPr>
        <p:spPr>
          <a:xfrm>
            <a:off x="3840480" y="1828800"/>
            <a:ext cx="42062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[3,2,1]</a:t>
            </a:r>
            <a:endParaRPr lang="en-US" sz="1600" dirty="0"/>
          </a:p>
        </p:txBody>
      </p:sp>
      <p:sp>
        <p:nvSpPr>
          <p:cNvPr id="16" name="Text 14"/>
          <p:cNvSpPr txBox="1"/>
          <p:nvPr/>
        </p:nvSpPr>
        <p:spPr>
          <a:xfrm>
            <a:off x="8046720" y="1828800"/>
            <a:ext cx="21945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4,5,8,9,10</a:t>
            </a:r>
            <a:endParaRPr lang="en-US" sz="1600" dirty="0"/>
          </a:p>
        </p:txBody>
      </p:sp>
      <p:sp>
        <p:nvSpPr>
          <p:cNvPr id="17" name="Text 15"/>
          <p:cNvSpPr txBox="1"/>
          <p:nvPr/>
        </p:nvSpPr>
        <p:spPr>
          <a:xfrm>
            <a:off x="10241280" y="1828800"/>
            <a:ext cx="137160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2</a:t>
            </a:r>
            <a:endParaRPr lang="en-US" sz="1600" dirty="0"/>
          </a:p>
        </p:txBody>
      </p:sp>
      <p:sp>
        <p:nvSpPr>
          <p:cNvPr id="18" name="Shape 16"/>
          <p:cNvSpPr/>
          <p:nvPr/>
        </p:nvSpPr>
        <p:spPr>
          <a:xfrm>
            <a:off x="548640" y="2331720"/>
            <a:ext cx="11064240" cy="502920"/>
          </a:xfrm>
          <a:prstGeom prst="roundRect">
            <a:avLst>
              <a:gd name="adj" fmla="val 18182"/>
            </a:avLst>
          </a:prstGeom>
          <a:solidFill>
            <a:srgbClr val="FFFFFF"/>
          </a:solidFill>
          <a:ln w="12700">
            <a:solidFill>
              <a:srgbClr val="BFE3D0"/>
            </a:solidFill>
            <a:prstDash val="solid"/>
          </a:ln>
        </p:spPr>
      </p:sp>
      <p:sp>
        <p:nvSpPr>
          <p:cNvPr id="19" name="Text 17"/>
          <p:cNvSpPr txBox="1"/>
          <p:nvPr/>
        </p:nvSpPr>
        <p:spPr>
          <a:xfrm>
            <a:off x="548640" y="2331720"/>
            <a:ext cx="82296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6</a:t>
            </a:r>
            <a:endParaRPr lang="en-US" sz="1600" dirty="0"/>
          </a:p>
        </p:txBody>
      </p:sp>
      <p:sp>
        <p:nvSpPr>
          <p:cNvPr id="20" name="Text 18"/>
          <p:cNvSpPr txBox="1"/>
          <p:nvPr/>
        </p:nvSpPr>
        <p:spPr>
          <a:xfrm>
            <a:off x="1371600" y="233172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A[0],A[2]: 3↔1</a:t>
            </a:r>
            <a:endParaRPr lang="en-US" sz="1600" dirty="0"/>
          </a:p>
        </p:txBody>
      </p:sp>
      <p:sp>
        <p:nvSpPr>
          <p:cNvPr id="21" name="Text 19"/>
          <p:cNvSpPr txBox="1"/>
          <p:nvPr/>
        </p:nvSpPr>
        <p:spPr>
          <a:xfrm>
            <a:off x="3840480" y="2331720"/>
            <a:ext cx="42062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[2,1]</a:t>
            </a:r>
            <a:endParaRPr lang="en-US" sz="1600" dirty="0"/>
          </a:p>
        </p:txBody>
      </p:sp>
      <p:sp>
        <p:nvSpPr>
          <p:cNvPr id="22" name="Text 20"/>
          <p:cNvSpPr txBox="1"/>
          <p:nvPr/>
        </p:nvSpPr>
        <p:spPr>
          <a:xfrm>
            <a:off x="8046720" y="2331720"/>
            <a:ext cx="21945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3,4,5,8,9,10</a:t>
            </a:r>
            <a:endParaRPr lang="en-US" sz="1600" dirty="0"/>
          </a:p>
        </p:txBody>
      </p:sp>
      <p:sp>
        <p:nvSpPr>
          <p:cNvPr id="23" name="Text 21"/>
          <p:cNvSpPr txBox="1"/>
          <p:nvPr/>
        </p:nvSpPr>
        <p:spPr>
          <a:xfrm>
            <a:off x="10241280" y="2331720"/>
            <a:ext cx="137160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a:t>
            </a:r>
            <a:endParaRPr lang="en-US" sz="1600" dirty="0"/>
          </a:p>
        </p:txBody>
      </p:sp>
      <p:sp>
        <p:nvSpPr>
          <p:cNvPr id="24" name="Shape 22"/>
          <p:cNvSpPr/>
          <p:nvPr/>
        </p:nvSpPr>
        <p:spPr>
          <a:xfrm>
            <a:off x="548640" y="2834640"/>
            <a:ext cx="11064240" cy="502920"/>
          </a:xfrm>
          <a:prstGeom prst="roundRect">
            <a:avLst>
              <a:gd name="adj" fmla="val 18182"/>
            </a:avLst>
          </a:prstGeom>
          <a:solidFill>
            <a:srgbClr val="E8F5EE"/>
          </a:solidFill>
          <a:ln w="12700">
            <a:solidFill>
              <a:srgbClr val="BFE3D0"/>
            </a:solidFill>
            <a:prstDash val="solid"/>
          </a:ln>
        </p:spPr>
      </p:sp>
      <p:sp>
        <p:nvSpPr>
          <p:cNvPr id="25" name="Text 23"/>
          <p:cNvSpPr txBox="1"/>
          <p:nvPr/>
        </p:nvSpPr>
        <p:spPr>
          <a:xfrm>
            <a:off x="548640" y="2834640"/>
            <a:ext cx="82296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7</a:t>
            </a:r>
            <a:endParaRPr lang="en-US" sz="1600" dirty="0"/>
          </a:p>
        </p:txBody>
      </p:sp>
      <p:sp>
        <p:nvSpPr>
          <p:cNvPr id="26" name="Text 24"/>
          <p:cNvSpPr txBox="1"/>
          <p:nvPr/>
        </p:nvSpPr>
        <p:spPr>
          <a:xfrm>
            <a:off x="1371600" y="283464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swap A[0],A[1]: 2↔1</a:t>
            </a:r>
            <a:endParaRPr lang="en-US" sz="1600" dirty="0"/>
          </a:p>
        </p:txBody>
      </p:sp>
      <p:sp>
        <p:nvSpPr>
          <p:cNvPr id="27" name="Text 25"/>
          <p:cNvSpPr txBox="1"/>
          <p:nvPr/>
        </p:nvSpPr>
        <p:spPr>
          <a:xfrm>
            <a:off x="3840480" y="2834640"/>
            <a:ext cx="42062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a:t>
            </a:r>
            <a:endParaRPr lang="en-US" sz="1600" dirty="0"/>
          </a:p>
        </p:txBody>
      </p:sp>
      <p:sp>
        <p:nvSpPr>
          <p:cNvPr id="28" name="Text 26"/>
          <p:cNvSpPr txBox="1"/>
          <p:nvPr/>
        </p:nvSpPr>
        <p:spPr>
          <a:xfrm>
            <a:off x="8046720" y="2834640"/>
            <a:ext cx="21945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2,3,4,5,8,9,10</a:t>
            </a:r>
            <a:endParaRPr lang="en-US" sz="1600" dirty="0"/>
          </a:p>
        </p:txBody>
      </p:sp>
      <p:sp>
        <p:nvSpPr>
          <p:cNvPr id="29" name="Text 27"/>
          <p:cNvSpPr txBox="1"/>
          <p:nvPr/>
        </p:nvSpPr>
        <p:spPr>
          <a:xfrm>
            <a:off x="10241280" y="2834640"/>
            <a:ext cx="137160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0</a:t>
            </a:r>
            <a:endParaRPr lang="en-US" sz="1600" dirty="0"/>
          </a:p>
        </p:txBody>
      </p:sp>
      <p:sp>
        <p:nvSpPr>
          <p:cNvPr id="30" name="Shape 28"/>
          <p:cNvSpPr/>
          <p:nvPr/>
        </p:nvSpPr>
        <p:spPr>
          <a:xfrm>
            <a:off x="548640" y="3474720"/>
            <a:ext cx="11064240" cy="1417320"/>
          </a:xfrm>
          <a:prstGeom prst="roundRect">
            <a:avLst>
              <a:gd name="adj" fmla="val 6452"/>
            </a:avLst>
          </a:prstGeom>
          <a:solidFill>
            <a:schemeClr val="bg1"/>
          </a:solidFill>
          <a:ln w="12700">
            <a:solidFill>
              <a:srgbClr val="14281E"/>
            </a:solidFill>
            <a:prstDash val="solid"/>
          </a:ln>
        </p:spPr>
      </p:sp>
      <p:sp>
        <p:nvSpPr>
          <p:cNvPr id="31" name="Text 29"/>
          <p:cNvSpPr txBox="1"/>
          <p:nvPr/>
        </p:nvSpPr>
        <p:spPr>
          <a:xfrm>
            <a:off x="777240" y="3611880"/>
            <a:ext cx="4572000" cy="228600"/>
          </a:xfrm>
          <a:prstGeom prst="rect">
            <a:avLst/>
          </a:prstGeom>
          <a:noFill/>
          <a:ln/>
        </p:spPr>
        <p:txBody>
          <a:bodyPr wrap="square" lIns="0" tIns="0" rIns="0" bIns="0" rtlCol="0" anchor="ctr"/>
          <a:lstStyle/>
          <a:p>
            <a:pPr marL="0" indent="0">
              <a:buNone/>
            </a:pPr>
            <a:r>
              <a:rPr lang="en-US" sz="1600" b="1" kern="0" spc="100" dirty="0">
                <a:solidFill>
                  <a:srgbClr val="D97706"/>
                </a:solidFill>
                <a:latin typeface="Calibri" pitchFamily="34" charset="0"/>
                <a:ea typeface="Calibri" pitchFamily="34" charset="-122"/>
                <a:cs typeface="Calibri" pitchFamily="34" charset="-120"/>
              </a:rPr>
              <a:t>FINAL SORTED ARRAY</a:t>
            </a:r>
            <a:endParaRPr lang="en-US" sz="1600" dirty="0"/>
          </a:p>
        </p:txBody>
      </p:sp>
      <p:sp>
        <p:nvSpPr>
          <p:cNvPr id="32" name="Shape 30"/>
          <p:cNvSpPr/>
          <p:nvPr/>
        </p:nvSpPr>
        <p:spPr>
          <a:xfrm>
            <a:off x="777240" y="3858768"/>
            <a:ext cx="502920" cy="502920"/>
          </a:xfrm>
          <a:prstGeom prst="roundRect">
            <a:avLst>
              <a:gd name="adj" fmla="val 14545"/>
            </a:avLst>
          </a:prstGeom>
          <a:solidFill>
            <a:srgbClr val="1F6F4A"/>
          </a:solidFill>
          <a:ln w="22225">
            <a:solidFill>
              <a:srgbClr val="1F6F4A"/>
            </a:solidFill>
            <a:prstDash val="solid"/>
          </a:ln>
        </p:spPr>
      </p:sp>
      <p:sp>
        <p:nvSpPr>
          <p:cNvPr id="33" name="Text 31"/>
          <p:cNvSpPr txBox="1"/>
          <p:nvPr/>
        </p:nvSpPr>
        <p:spPr>
          <a:xfrm>
            <a:off x="777240"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34" name="Shape 32"/>
          <p:cNvSpPr/>
          <p:nvPr/>
        </p:nvSpPr>
        <p:spPr>
          <a:xfrm>
            <a:off x="1362456" y="3858768"/>
            <a:ext cx="502920" cy="502920"/>
          </a:xfrm>
          <a:prstGeom prst="roundRect">
            <a:avLst>
              <a:gd name="adj" fmla="val 14545"/>
            </a:avLst>
          </a:prstGeom>
          <a:solidFill>
            <a:srgbClr val="1F6F4A"/>
          </a:solidFill>
          <a:ln w="22225">
            <a:solidFill>
              <a:srgbClr val="1F6F4A"/>
            </a:solidFill>
            <a:prstDash val="solid"/>
          </a:ln>
        </p:spPr>
      </p:sp>
      <p:sp>
        <p:nvSpPr>
          <p:cNvPr id="35" name="Text 33"/>
          <p:cNvSpPr txBox="1"/>
          <p:nvPr/>
        </p:nvSpPr>
        <p:spPr>
          <a:xfrm>
            <a:off x="1362456"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36" name="Shape 34"/>
          <p:cNvSpPr/>
          <p:nvPr/>
        </p:nvSpPr>
        <p:spPr>
          <a:xfrm>
            <a:off x="1947672" y="3858768"/>
            <a:ext cx="502920" cy="502920"/>
          </a:xfrm>
          <a:prstGeom prst="roundRect">
            <a:avLst>
              <a:gd name="adj" fmla="val 14545"/>
            </a:avLst>
          </a:prstGeom>
          <a:solidFill>
            <a:srgbClr val="1F6F4A"/>
          </a:solidFill>
          <a:ln w="22225">
            <a:solidFill>
              <a:srgbClr val="1F6F4A"/>
            </a:solidFill>
            <a:prstDash val="solid"/>
          </a:ln>
        </p:spPr>
      </p:sp>
      <p:sp>
        <p:nvSpPr>
          <p:cNvPr id="37" name="Text 35"/>
          <p:cNvSpPr txBox="1"/>
          <p:nvPr/>
        </p:nvSpPr>
        <p:spPr>
          <a:xfrm>
            <a:off x="1947672"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38" name="Shape 36"/>
          <p:cNvSpPr/>
          <p:nvPr/>
        </p:nvSpPr>
        <p:spPr>
          <a:xfrm>
            <a:off x="2532888" y="3858768"/>
            <a:ext cx="502920" cy="502920"/>
          </a:xfrm>
          <a:prstGeom prst="roundRect">
            <a:avLst>
              <a:gd name="adj" fmla="val 14545"/>
            </a:avLst>
          </a:prstGeom>
          <a:solidFill>
            <a:srgbClr val="1F6F4A"/>
          </a:solidFill>
          <a:ln w="22225">
            <a:solidFill>
              <a:srgbClr val="1F6F4A"/>
            </a:solidFill>
            <a:prstDash val="solid"/>
          </a:ln>
        </p:spPr>
      </p:sp>
      <p:sp>
        <p:nvSpPr>
          <p:cNvPr id="39" name="Text 37"/>
          <p:cNvSpPr txBox="1"/>
          <p:nvPr/>
        </p:nvSpPr>
        <p:spPr>
          <a:xfrm>
            <a:off x="2532888"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40" name="Shape 38"/>
          <p:cNvSpPr/>
          <p:nvPr/>
        </p:nvSpPr>
        <p:spPr>
          <a:xfrm>
            <a:off x="3118104" y="3858768"/>
            <a:ext cx="502920" cy="502920"/>
          </a:xfrm>
          <a:prstGeom prst="roundRect">
            <a:avLst>
              <a:gd name="adj" fmla="val 14545"/>
            </a:avLst>
          </a:prstGeom>
          <a:solidFill>
            <a:srgbClr val="1F6F4A"/>
          </a:solidFill>
          <a:ln w="22225">
            <a:solidFill>
              <a:srgbClr val="1F6F4A"/>
            </a:solidFill>
            <a:prstDash val="solid"/>
          </a:ln>
        </p:spPr>
      </p:sp>
      <p:sp>
        <p:nvSpPr>
          <p:cNvPr id="41" name="Text 39"/>
          <p:cNvSpPr txBox="1"/>
          <p:nvPr/>
        </p:nvSpPr>
        <p:spPr>
          <a:xfrm>
            <a:off x="3118104"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42" name="Shape 40"/>
          <p:cNvSpPr/>
          <p:nvPr/>
        </p:nvSpPr>
        <p:spPr>
          <a:xfrm>
            <a:off x="3703320" y="3858768"/>
            <a:ext cx="502920" cy="502920"/>
          </a:xfrm>
          <a:prstGeom prst="roundRect">
            <a:avLst>
              <a:gd name="adj" fmla="val 14545"/>
            </a:avLst>
          </a:prstGeom>
          <a:solidFill>
            <a:srgbClr val="1F6F4A"/>
          </a:solidFill>
          <a:ln w="22225">
            <a:solidFill>
              <a:srgbClr val="1F6F4A"/>
            </a:solidFill>
            <a:prstDash val="solid"/>
          </a:ln>
        </p:spPr>
      </p:sp>
      <p:sp>
        <p:nvSpPr>
          <p:cNvPr id="43" name="Text 41"/>
          <p:cNvSpPr txBox="1"/>
          <p:nvPr/>
        </p:nvSpPr>
        <p:spPr>
          <a:xfrm>
            <a:off x="3703320"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8</a:t>
            </a:r>
            <a:endParaRPr lang="en-US" sz="1300" dirty="0"/>
          </a:p>
        </p:txBody>
      </p:sp>
      <p:sp>
        <p:nvSpPr>
          <p:cNvPr id="44" name="Shape 42"/>
          <p:cNvSpPr/>
          <p:nvPr/>
        </p:nvSpPr>
        <p:spPr>
          <a:xfrm>
            <a:off x="4288536" y="3858768"/>
            <a:ext cx="502920" cy="502920"/>
          </a:xfrm>
          <a:prstGeom prst="roundRect">
            <a:avLst>
              <a:gd name="adj" fmla="val 14545"/>
            </a:avLst>
          </a:prstGeom>
          <a:solidFill>
            <a:srgbClr val="1F6F4A"/>
          </a:solidFill>
          <a:ln w="22225">
            <a:solidFill>
              <a:srgbClr val="1F6F4A"/>
            </a:solidFill>
            <a:prstDash val="solid"/>
          </a:ln>
        </p:spPr>
      </p:sp>
      <p:sp>
        <p:nvSpPr>
          <p:cNvPr id="45" name="Text 43"/>
          <p:cNvSpPr txBox="1"/>
          <p:nvPr/>
        </p:nvSpPr>
        <p:spPr>
          <a:xfrm>
            <a:off x="4288536"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9</a:t>
            </a:r>
            <a:endParaRPr lang="en-US" sz="1300" dirty="0"/>
          </a:p>
        </p:txBody>
      </p:sp>
      <p:sp>
        <p:nvSpPr>
          <p:cNvPr id="46" name="Shape 44"/>
          <p:cNvSpPr/>
          <p:nvPr/>
        </p:nvSpPr>
        <p:spPr>
          <a:xfrm>
            <a:off x="4873752" y="3858768"/>
            <a:ext cx="502920" cy="502920"/>
          </a:xfrm>
          <a:prstGeom prst="roundRect">
            <a:avLst>
              <a:gd name="adj" fmla="val 14545"/>
            </a:avLst>
          </a:prstGeom>
          <a:solidFill>
            <a:srgbClr val="1F6F4A"/>
          </a:solidFill>
          <a:ln w="22225">
            <a:solidFill>
              <a:srgbClr val="1F6F4A"/>
            </a:solidFill>
            <a:prstDash val="solid"/>
          </a:ln>
        </p:spPr>
      </p:sp>
      <p:sp>
        <p:nvSpPr>
          <p:cNvPr id="47" name="Text 45"/>
          <p:cNvSpPr txBox="1"/>
          <p:nvPr/>
        </p:nvSpPr>
        <p:spPr>
          <a:xfrm>
            <a:off x="4873752" y="385876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10</a:t>
            </a:r>
            <a:endParaRPr lang="en-US" sz="1300" dirty="0"/>
          </a:p>
        </p:txBody>
      </p:sp>
      <p:sp>
        <p:nvSpPr>
          <p:cNvPr id="48" name="Text 46"/>
          <p:cNvSpPr txBox="1"/>
          <p:nvPr/>
        </p:nvSpPr>
        <p:spPr>
          <a:xfrm>
            <a:off x="5688106" y="3794760"/>
            <a:ext cx="5741894" cy="822960"/>
          </a:xfrm>
          <a:prstGeom prst="rect">
            <a:avLst/>
          </a:prstGeom>
          <a:noFill/>
          <a:ln/>
        </p:spPr>
        <p:txBody>
          <a:bodyPr wrap="square" lIns="0" tIns="0" rIns="0" bIns="0" rtlCol="0" anchor="ctr"/>
          <a:lstStyle/>
          <a:p>
            <a:pPr marL="0" indent="0">
              <a:lnSpc>
                <a:spcPct val="140000"/>
              </a:lnSpc>
              <a:buNone/>
            </a:pPr>
            <a:r>
              <a:rPr lang="en-US" sz="1600" b="1" dirty="0">
                <a:latin typeface="Courier New" pitchFamily="34" charset="0"/>
                <a:ea typeface="Courier New" pitchFamily="34" charset="-122"/>
                <a:cs typeface="Courier New" pitchFamily="34" charset="-120"/>
              </a:rPr>
              <a:t>Total comparisons: 27  (10 build + 17 extract)</a:t>
            </a:r>
            <a:endParaRPr lang="en-US" sz="1600" dirty="0"/>
          </a:p>
          <a:p>
            <a:pPr marL="0" indent="0">
              <a:lnSpc>
                <a:spcPct val="140000"/>
              </a:lnSpc>
              <a:buNone/>
            </a:pPr>
            <a:r>
              <a:rPr lang="en-US" sz="1600" b="1" dirty="0">
                <a:latin typeface="Courier New" pitchFamily="34" charset="0"/>
                <a:ea typeface="Courier New" pitchFamily="34" charset="-122"/>
                <a:cs typeface="Courier New" pitchFamily="34" charset="-120"/>
              </a:rPr>
              <a:t>Total swaps: 19  (3 build + 16 extract)</a:t>
            </a:r>
            <a:endParaRPr lang="en-US" sz="1600" dirty="0"/>
          </a:p>
        </p:txBody>
      </p:sp>
      <p:sp>
        <p:nvSpPr>
          <p:cNvPr id="49" name="Text 4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50" name="Text 4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CONNECTING THE PHASES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Comparison-Count Summary</a:t>
            </a:r>
            <a:endParaRPr lang="en-US" sz="3000" dirty="0"/>
          </a:p>
        </p:txBody>
      </p:sp>
      <p:sp>
        <p:nvSpPr>
          <p:cNvPr id="6" name="Shape 4"/>
          <p:cNvSpPr/>
          <p:nvPr/>
        </p:nvSpPr>
        <p:spPr>
          <a:xfrm>
            <a:off x="548640" y="1463040"/>
            <a:ext cx="11064240" cy="457200"/>
          </a:xfrm>
          <a:prstGeom prst="roundRect">
            <a:avLst>
              <a:gd name="adj" fmla="val 20000"/>
            </a:avLst>
          </a:prstGeom>
          <a:solidFill>
            <a:srgbClr val="1F6F4A"/>
          </a:solidFill>
          <a:ln w="12700">
            <a:solidFill>
              <a:srgbClr val="1F6F4A"/>
            </a:solidFill>
            <a:prstDash val="solid"/>
          </a:ln>
        </p:spPr>
      </p:sp>
      <p:sp>
        <p:nvSpPr>
          <p:cNvPr id="7" name="Text 5"/>
          <p:cNvSpPr txBox="1"/>
          <p:nvPr/>
        </p:nvSpPr>
        <p:spPr>
          <a:xfrm>
            <a:off x="548640" y="1463040"/>
            <a:ext cx="2926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a:t>
            </a:r>
            <a:endParaRPr lang="en-US" sz="1200" dirty="0"/>
          </a:p>
        </p:txBody>
      </p:sp>
      <p:sp>
        <p:nvSpPr>
          <p:cNvPr id="8" name="Text 6"/>
          <p:cNvSpPr txBox="1"/>
          <p:nvPr/>
        </p:nvSpPr>
        <p:spPr>
          <a:xfrm>
            <a:off x="3474720" y="1463040"/>
            <a:ext cx="4846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Work Done</a:t>
            </a:r>
            <a:endParaRPr lang="en-US" sz="1200" dirty="0"/>
          </a:p>
        </p:txBody>
      </p:sp>
      <p:sp>
        <p:nvSpPr>
          <p:cNvPr id="9" name="Text 7"/>
          <p:cNvSpPr txBox="1"/>
          <p:nvPr/>
        </p:nvSpPr>
        <p:spPr>
          <a:xfrm>
            <a:off x="8321040" y="1463040"/>
            <a:ext cx="17373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Comparisons</a:t>
            </a:r>
            <a:endParaRPr lang="en-US" sz="1200" dirty="0"/>
          </a:p>
        </p:txBody>
      </p:sp>
      <p:sp>
        <p:nvSpPr>
          <p:cNvPr id="10" name="Text 8"/>
          <p:cNvSpPr txBox="1"/>
          <p:nvPr/>
        </p:nvSpPr>
        <p:spPr>
          <a:xfrm>
            <a:off x="10058400" y="146304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Swaps</a:t>
            </a:r>
            <a:endParaRPr lang="en-US" sz="1200" dirty="0"/>
          </a:p>
        </p:txBody>
      </p:sp>
      <p:sp>
        <p:nvSpPr>
          <p:cNvPr id="11" name="Shape 9"/>
          <p:cNvSpPr/>
          <p:nvPr/>
        </p:nvSpPr>
        <p:spPr>
          <a:xfrm>
            <a:off x="548640" y="1920240"/>
            <a:ext cx="11064240" cy="502920"/>
          </a:xfrm>
          <a:prstGeom prst="roundRect">
            <a:avLst>
              <a:gd name="adj" fmla="val 18182"/>
            </a:avLst>
          </a:prstGeom>
          <a:solidFill>
            <a:srgbClr val="E8F5EE"/>
          </a:solidFill>
          <a:ln w="12700">
            <a:solidFill>
              <a:srgbClr val="BFE3D0"/>
            </a:solidFill>
            <a:prstDash val="solid"/>
          </a:ln>
        </p:spPr>
      </p:sp>
      <p:sp>
        <p:nvSpPr>
          <p:cNvPr id="12" name="Text 10"/>
          <p:cNvSpPr txBox="1"/>
          <p:nvPr/>
        </p:nvSpPr>
        <p:spPr>
          <a:xfrm>
            <a:off x="548640" y="1920240"/>
            <a:ext cx="29260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Build-Max-Heap</a:t>
            </a:r>
            <a:endParaRPr lang="en-US" sz="1600" dirty="0"/>
          </a:p>
        </p:txBody>
      </p:sp>
      <p:sp>
        <p:nvSpPr>
          <p:cNvPr id="13" name="Text 11"/>
          <p:cNvSpPr txBox="1"/>
          <p:nvPr/>
        </p:nvSpPr>
        <p:spPr>
          <a:xfrm>
            <a:off x="3474720" y="1920240"/>
            <a:ext cx="4846320" cy="502920"/>
          </a:xfrm>
          <a:prstGeom prst="rect">
            <a:avLst/>
          </a:prstGeom>
          <a:noFill/>
          <a:ln/>
        </p:spPr>
        <p:txBody>
          <a:bodyPr wrap="square" lIns="101600" tIns="101600" rIns="101600" bIns="101600" rtlCol="0" anchor="ctr"/>
          <a:lstStyle/>
          <a:p>
            <a:pPr marL="0" indent="0" algn="l">
              <a:buNone/>
            </a:pPr>
            <a:r>
              <a:rPr lang="en-US" sz="1600" dirty="0">
                <a:solidFill>
                  <a:srgbClr val="1B2233"/>
                </a:solidFill>
                <a:latin typeface="Calibri" pitchFamily="34" charset="0"/>
                <a:ea typeface="Calibri" pitchFamily="34" charset="-122"/>
                <a:cs typeface="Calibri" pitchFamily="34" charset="-120"/>
              </a:rPr>
              <a:t>4 heapify calls (i=3,2,1,0)</a:t>
            </a:r>
            <a:endParaRPr lang="en-US" sz="1600" dirty="0"/>
          </a:p>
        </p:txBody>
      </p:sp>
      <p:sp>
        <p:nvSpPr>
          <p:cNvPr id="14" name="Text 12"/>
          <p:cNvSpPr txBox="1"/>
          <p:nvPr/>
        </p:nvSpPr>
        <p:spPr>
          <a:xfrm>
            <a:off x="8321040" y="1920240"/>
            <a:ext cx="17373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10</a:t>
            </a:r>
            <a:endParaRPr lang="en-US" sz="1600" dirty="0"/>
          </a:p>
        </p:txBody>
      </p:sp>
      <p:sp>
        <p:nvSpPr>
          <p:cNvPr id="15" name="Text 13"/>
          <p:cNvSpPr txBox="1"/>
          <p:nvPr/>
        </p:nvSpPr>
        <p:spPr>
          <a:xfrm>
            <a:off x="10058400" y="192024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3</a:t>
            </a:r>
            <a:endParaRPr lang="en-US" sz="1600" dirty="0"/>
          </a:p>
        </p:txBody>
      </p:sp>
      <p:sp>
        <p:nvSpPr>
          <p:cNvPr id="16" name="Shape 14"/>
          <p:cNvSpPr/>
          <p:nvPr/>
        </p:nvSpPr>
        <p:spPr>
          <a:xfrm>
            <a:off x="548640" y="2423160"/>
            <a:ext cx="11064240" cy="502920"/>
          </a:xfrm>
          <a:prstGeom prst="roundRect">
            <a:avLst>
              <a:gd name="adj" fmla="val 18182"/>
            </a:avLst>
          </a:prstGeom>
          <a:solidFill>
            <a:srgbClr val="FFFFFF"/>
          </a:solidFill>
          <a:ln w="12700">
            <a:solidFill>
              <a:srgbClr val="BFE3D0"/>
            </a:solidFill>
            <a:prstDash val="solid"/>
          </a:ln>
        </p:spPr>
      </p:sp>
      <p:sp>
        <p:nvSpPr>
          <p:cNvPr id="17" name="Text 15"/>
          <p:cNvSpPr txBox="1"/>
          <p:nvPr/>
        </p:nvSpPr>
        <p:spPr>
          <a:xfrm>
            <a:off x="548640" y="2423160"/>
            <a:ext cx="29260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Extract × 7</a:t>
            </a:r>
            <a:endParaRPr lang="en-US" sz="1600" dirty="0"/>
          </a:p>
        </p:txBody>
      </p:sp>
      <p:sp>
        <p:nvSpPr>
          <p:cNvPr id="18" name="Text 16"/>
          <p:cNvSpPr txBox="1"/>
          <p:nvPr/>
        </p:nvSpPr>
        <p:spPr>
          <a:xfrm>
            <a:off x="3474720" y="2423160"/>
            <a:ext cx="4846320" cy="502920"/>
          </a:xfrm>
          <a:prstGeom prst="rect">
            <a:avLst/>
          </a:prstGeom>
          <a:noFill/>
          <a:ln/>
        </p:spPr>
        <p:txBody>
          <a:bodyPr wrap="square" lIns="101600" tIns="101600" rIns="101600" bIns="101600" rtlCol="0" anchor="ctr"/>
          <a:lstStyle/>
          <a:p>
            <a:pPr marL="0" indent="0" algn="l">
              <a:buNone/>
            </a:pPr>
            <a:r>
              <a:rPr lang="en-US" sz="1600" dirty="0">
                <a:solidFill>
                  <a:srgbClr val="1B2233"/>
                </a:solidFill>
                <a:latin typeface="Calibri" pitchFamily="34" charset="0"/>
                <a:ea typeface="Calibri" pitchFamily="34" charset="-122"/>
                <a:cs typeface="Calibri" pitchFamily="34" charset="-120"/>
              </a:rPr>
              <a:t>7 extract+sift-down calls</a:t>
            </a:r>
            <a:endParaRPr lang="en-US" sz="1600" dirty="0"/>
          </a:p>
        </p:txBody>
      </p:sp>
      <p:sp>
        <p:nvSpPr>
          <p:cNvPr id="19" name="Text 17"/>
          <p:cNvSpPr txBox="1"/>
          <p:nvPr/>
        </p:nvSpPr>
        <p:spPr>
          <a:xfrm>
            <a:off x="8321040" y="2423160"/>
            <a:ext cx="17373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17</a:t>
            </a:r>
            <a:endParaRPr lang="en-US" sz="1600" dirty="0"/>
          </a:p>
        </p:txBody>
      </p:sp>
      <p:sp>
        <p:nvSpPr>
          <p:cNvPr id="20" name="Text 18"/>
          <p:cNvSpPr txBox="1"/>
          <p:nvPr/>
        </p:nvSpPr>
        <p:spPr>
          <a:xfrm>
            <a:off x="10058400" y="242316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16</a:t>
            </a:r>
            <a:endParaRPr lang="en-US" sz="1600" dirty="0"/>
          </a:p>
        </p:txBody>
      </p:sp>
      <p:sp>
        <p:nvSpPr>
          <p:cNvPr id="21" name="Shape 19"/>
          <p:cNvSpPr/>
          <p:nvPr/>
        </p:nvSpPr>
        <p:spPr>
          <a:xfrm>
            <a:off x="548640" y="2926080"/>
            <a:ext cx="11064240" cy="502920"/>
          </a:xfrm>
          <a:prstGeom prst="roundRect">
            <a:avLst>
              <a:gd name="adj" fmla="val 18182"/>
            </a:avLst>
          </a:prstGeom>
          <a:solidFill>
            <a:srgbClr val="E8F5EE"/>
          </a:solidFill>
          <a:ln w="12700">
            <a:solidFill>
              <a:srgbClr val="BFE3D0"/>
            </a:solidFill>
            <a:prstDash val="solid"/>
          </a:ln>
        </p:spPr>
      </p:sp>
      <p:sp>
        <p:nvSpPr>
          <p:cNvPr id="22" name="Text 20"/>
          <p:cNvSpPr txBox="1"/>
          <p:nvPr/>
        </p:nvSpPr>
        <p:spPr>
          <a:xfrm>
            <a:off x="548640" y="2926080"/>
            <a:ext cx="7772400" cy="502920"/>
          </a:xfrm>
          <a:prstGeom prst="rect">
            <a:avLst/>
          </a:prstGeom>
          <a:noFill/>
          <a:ln/>
        </p:spPr>
        <p:txBody>
          <a:bodyPr wrap="square" lIns="0" tIns="0" rIns="0" bIns="0" rtlCol="0" anchor="ctr"/>
          <a:lstStyle/>
          <a:p>
            <a:pPr marL="0" indent="0" algn="ctr">
              <a:buNone/>
            </a:pPr>
            <a:r>
              <a:rPr lang="en-US" sz="1200" b="1" dirty="0">
                <a:solidFill>
                  <a:srgbClr val="1F6F4A"/>
                </a:solidFill>
                <a:latin typeface="Calibri" pitchFamily="34" charset="0"/>
                <a:ea typeface="Calibri" pitchFamily="34" charset="-122"/>
                <a:cs typeface="Calibri" pitchFamily="34" charset="-120"/>
              </a:rPr>
              <a:t>TOTAL</a:t>
            </a:r>
            <a:endParaRPr lang="en-US" sz="1200" dirty="0"/>
          </a:p>
        </p:txBody>
      </p:sp>
      <p:sp>
        <p:nvSpPr>
          <p:cNvPr id="23" name="Text 21"/>
          <p:cNvSpPr txBox="1"/>
          <p:nvPr/>
        </p:nvSpPr>
        <p:spPr>
          <a:xfrm>
            <a:off x="8321040" y="2926080"/>
            <a:ext cx="1737360" cy="502920"/>
          </a:xfrm>
          <a:prstGeom prst="rect">
            <a:avLst/>
          </a:prstGeom>
          <a:noFill/>
          <a:ln/>
        </p:spPr>
        <p:txBody>
          <a:bodyPr wrap="square" lIns="0" tIns="0" rIns="0" bIns="0" rtlCol="0" anchor="ctr"/>
          <a:lstStyle/>
          <a:p>
            <a:pPr marL="0" indent="0" algn="ctr">
              <a:buNone/>
            </a:pPr>
            <a:r>
              <a:rPr lang="en-US" sz="1600" b="1" dirty="0">
                <a:solidFill>
                  <a:srgbClr val="14281E"/>
                </a:solidFill>
                <a:latin typeface="Courier New" pitchFamily="34" charset="0"/>
                <a:ea typeface="Courier New" pitchFamily="34" charset="-122"/>
                <a:cs typeface="Courier New" pitchFamily="34" charset="-120"/>
              </a:rPr>
              <a:t>27</a:t>
            </a:r>
            <a:endParaRPr lang="en-US" sz="1600" dirty="0"/>
          </a:p>
        </p:txBody>
      </p:sp>
      <p:sp>
        <p:nvSpPr>
          <p:cNvPr id="24" name="Text 22"/>
          <p:cNvSpPr txBox="1"/>
          <p:nvPr/>
        </p:nvSpPr>
        <p:spPr>
          <a:xfrm>
            <a:off x="10058400" y="2926080"/>
            <a:ext cx="1554480" cy="502920"/>
          </a:xfrm>
          <a:prstGeom prst="rect">
            <a:avLst/>
          </a:prstGeom>
          <a:noFill/>
          <a:ln/>
        </p:spPr>
        <p:txBody>
          <a:bodyPr wrap="square" lIns="0" tIns="0" rIns="0" bIns="0" rtlCol="0" anchor="ctr"/>
          <a:lstStyle/>
          <a:p>
            <a:pPr marL="0" indent="0" algn="ctr">
              <a:buNone/>
            </a:pPr>
            <a:r>
              <a:rPr lang="en-US" sz="1600" b="1" dirty="0">
                <a:solidFill>
                  <a:srgbClr val="14281E"/>
                </a:solidFill>
                <a:latin typeface="Courier New" pitchFamily="34" charset="0"/>
                <a:ea typeface="Courier New" pitchFamily="34" charset="-122"/>
                <a:cs typeface="Courier New" pitchFamily="34" charset="-120"/>
              </a:rPr>
              <a:t>19</a:t>
            </a:r>
            <a:endParaRPr lang="en-US" sz="1600" dirty="0"/>
          </a:p>
        </p:txBody>
      </p:sp>
      <p:sp>
        <p:nvSpPr>
          <p:cNvPr id="25" name="Shape 23"/>
          <p:cNvSpPr/>
          <p:nvPr/>
        </p:nvSpPr>
        <p:spPr>
          <a:xfrm>
            <a:off x="548640" y="3584448"/>
            <a:ext cx="11064240" cy="1554480"/>
          </a:xfrm>
          <a:prstGeom prst="roundRect">
            <a:avLst>
              <a:gd name="adj" fmla="val 5882"/>
            </a:avLst>
          </a:prstGeom>
          <a:solidFill>
            <a:schemeClr val="bg1"/>
          </a:solidFill>
          <a:ln w="12700">
            <a:solidFill>
              <a:srgbClr val="14281E"/>
            </a:solidFill>
            <a:prstDash val="solid"/>
          </a:ln>
        </p:spPr>
      </p:sp>
      <p:sp>
        <p:nvSpPr>
          <p:cNvPr id="26" name="Text 24"/>
          <p:cNvSpPr txBox="1"/>
          <p:nvPr/>
        </p:nvSpPr>
        <p:spPr>
          <a:xfrm>
            <a:off x="777240" y="3721608"/>
            <a:ext cx="10515600" cy="274320"/>
          </a:xfrm>
          <a:prstGeom prst="rect">
            <a:avLst/>
          </a:prstGeom>
          <a:noFill/>
          <a:ln/>
        </p:spPr>
        <p:txBody>
          <a:bodyPr wrap="square" lIns="0" tIns="0" rIns="0" bIns="0" rtlCol="0" anchor="ctr"/>
          <a:lstStyle/>
          <a:p>
            <a:pPr marL="0" indent="0">
              <a:buNone/>
            </a:pPr>
            <a:r>
              <a:rPr lang="en-US" b="1" kern="0" spc="50" dirty="0">
                <a:solidFill>
                  <a:srgbClr val="D97706"/>
                </a:solidFill>
                <a:latin typeface="Calibri" pitchFamily="34" charset="0"/>
                <a:ea typeface="Calibri" pitchFamily="34" charset="-122"/>
                <a:cs typeface="Calibri" pitchFamily="34" charset="-120"/>
              </a:rPr>
              <a:t>THE SURPRISING RESULT: BUILD-MAX-HEAP IS O(n), NOT O(n log n)</a:t>
            </a:r>
            <a:endParaRPr lang="en-US" dirty="0"/>
          </a:p>
        </p:txBody>
      </p:sp>
      <p:sp>
        <p:nvSpPr>
          <p:cNvPr id="27" name="Text 25"/>
          <p:cNvSpPr txBox="1"/>
          <p:nvPr/>
        </p:nvSpPr>
        <p:spPr>
          <a:xfrm>
            <a:off x="777240" y="4041648"/>
            <a:ext cx="10607040" cy="1005840"/>
          </a:xfrm>
          <a:prstGeom prst="rect">
            <a:avLst/>
          </a:prstGeom>
          <a:noFill/>
          <a:ln/>
        </p:spPr>
        <p:txBody>
          <a:bodyPr wrap="square" lIns="0" tIns="0" rIns="0" bIns="0" rtlCol="0" anchor="ctr"/>
          <a:lstStyle/>
          <a:p>
            <a:pPr marL="0" indent="0">
              <a:lnSpc>
                <a:spcPct val="135000"/>
              </a:lnSpc>
              <a:buNone/>
            </a:pPr>
            <a:r>
              <a:rPr lang="en-US" sz="1600" dirty="0">
                <a:latin typeface="Calibri" pitchFamily="34" charset="0"/>
                <a:ea typeface="Calibri" pitchFamily="34" charset="-122"/>
                <a:cs typeface="Calibri" pitchFamily="34" charset="-120"/>
              </a:rPr>
              <a:t>A loose bound says n/2 heapify calls × O(log n) each = O(n log n). But most nodes are near the </a:t>
            </a:r>
            <a:r>
              <a:rPr lang="en-US" sz="1600" b="1" dirty="0">
                <a:latin typeface="Calibri" pitchFamily="34" charset="0"/>
                <a:ea typeface="Calibri" pitchFamily="34" charset="-122"/>
                <a:cs typeface="Calibri" pitchFamily="34" charset="-120"/>
              </a:rPr>
              <a:t>bottom</a:t>
            </a:r>
            <a:r>
              <a:rPr lang="en-US" sz="1600" dirty="0">
                <a:latin typeface="Calibri" pitchFamily="34" charset="0"/>
                <a:ea typeface="Calibri" pitchFamily="34" charset="-122"/>
                <a:cs typeface="Calibri" pitchFamily="34" charset="-120"/>
              </a:rPr>
              <a:t> of the tree, where heapify has almost nothing to do — summing the actual work by height gives </a:t>
            </a:r>
            <a:r>
              <a:rPr lang="en-US" sz="1600" b="1" dirty="0">
                <a:latin typeface="Calibri" pitchFamily="34" charset="0"/>
                <a:ea typeface="Calibri" pitchFamily="34" charset="-122"/>
                <a:cs typeface="Calibri" pitchFamily="34" charset="-120"/>
              </a:rPr>
              <a:t>Θ(n)</a:t>
            </a:r>
            <a:r>
              <a:rPr lang="en-US" sz="1600" dirty="0">
                <a:latin typeface="Calibri" pitchFamily="34" charset="0"/>
                <a:ea typeface="Calibri" pitchFamily="34" charset="-122"/>
                <a:cs typeface="Calibri" pitchFamily="34" charset="-120"/>
              </a:rPr>
              <a:t>, a tighter and truer bound (derived on the complexity slide).</a:t>
            </a:r>
            <a:endParaRPr lang="en-US" sz="1600" dirty="0"/>
          </a:p>
        </p:txBody>
      </p:sp>
      <p:sp>
        <p:nvSpPr>
          <p:cNvPr id="28" name="Text 2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29" name="Text 2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D97706"/>
                </a:solidFill>
                <a:latin typeface="Calibri" pitchFamily="34" charset="0"/>
                <a:ea typeface="Calibri" pitchFamily="34" charset="-122"/>
                <a:cs typeface="Calibri" pitchFamily="34" charset="-120"/>
              </a:rPr>
              <a:t>THE ALGORITHM</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Pseudocode</a:t>
            </a:r>
            <a:endParaRPr lang="en-US" sz="3000" dirty="0"/>
          </a:p>
        </p:txBody>
      </p:sp>
      <p:sp>
        <p:nvSpPr>
          <p:cNvPr id="6" name="Shape 4"/>
          <p:cNvSpPr/>
          <p:nvPr/>
        </p:nvSpPr>
        <p:spPr>
          <a:xfrm>
            <a:off x="309282" y="1392079"/>
            <a:ext cx="5725758" cy="2402681"/>
          </a:xfrm>
          <a:prstGeom prst="roundRect">
            <a:avLst>
              <a:gd name="adj" fmla="val 2759"/>
            </a:avLst>
          </a:prstGeom>
          <a:solidFill>
            <a:schemeClr val="bg2">
              <a:lumMod val="90000"/>
            </a:schemeClr>
          </a:solidFill>
          <a:ln/>
        </p:spPr>
      </p:sp>
      <p:sp>
        <p:nvSpPr>
          <p:cNvPr id="7" name="Text 5"/>
          <p:cNvSpPr txBox="1"/>
          <p:nvPr/>
        </p:nvSpPr>
        <p:spPr>
          <a:xfrm>
            <a:off x="411480" y="1581912"/>
            <a:ext cx="5532120" cy="2322576"/>
          </a:xfrm>
          <a:prstGeom prst="rect">
            <a:avLst/>
          </a:prstGeom>
          <a:noFill/>
          <a:ln/>
        </p:spPr>
        <p:txBody>
          <a:bodyPr wrap="square" lIns="0" tIns="0" rIns="0" bIns="0" rtlCol="0" anchor="t"/>
          <a:lstStyle/>
          <a:p>
            <a:pPr marL="0" indent="0">
              <a:buNone/>
            </a:pPr>
            <a:r>
              <a:rPr lang="en-US" sz="1600" b="1" dirty="0">
                <a:latin typeface="Courier New" pitchFamily="34" charset="0"/>
                <a:ea typeface="Courier New" pitchFamily="34" charset="-122"/>
                <a:cs typeface="Courier New" pitchFamily="34" charset="-120"/>
              </a:rPr>
              <a:t>MAX-HEAPIFY(A, i, n)
  l = 2i + 1;  r = 2i + 2
  largest = i
  if l &lt; n and A[l] &gt; A[largest]: largest = l
  if r &lt; n and A[r] &gt; A[largest]: largest = r
  if largest ≠ i
      swap A[i], A[largest]
      MAX-HEAPIFY(A, largest, n)</a:t>
            </a:r>
            <a:endParaRPr lang="en-US" sz="1600" b="1" dirty="0"/>
          </a:p>
        </p:txBody>
      </p:sp>
      <p:sp>
        <p:nvSpPr>
          <p:cNvPr id="8" name="Shape 6"/>
          <p:cNvSpPr/>
          <p:nvPr/>
        </p:nvSpPr>
        <p:spPr>
          <a:xfrm>
            <a:off x="6172200" y="1417320"/>
            <a:ext cx="5608320" cy="2377440"/>
          </a:xfrm>
          <a:prstGeom prst="roundRect">
            <a:avLst>
              <a:gd name="adj" fmla="val 3077"/>
            </a:avLst>
          </a:prstGeom>
          <a:solidFill>
            <a:schemeClr val="tx2">
              <a:lumMod val="20000"/>
              <a:lumOff val="80000"/>
            </a:schemeClr>
          </a:solidFill>
          <a:ln/>
        </p:spPr>
      </p:sp>
      <p:sp>
        <p:nvSpPr>
          <p:cNvPr id="9" name="Text 7"/>
          <p:cNvSpPr txBox="1"/>
          <p:nvPr/>
        </p:nvSpPr>
        <p:spPr>
          <a:xfrm>
            <a:off x="6400800" y="1581912"/>
            <a:ext cx="5212080" cy="2048256"/>
          </a:xfrm>
          <a:prstGeom prst="rect">
            <a:avLst/>
          </a:prstGeom>
          <a:noFill/>
          <a:ln/>
        </p:spPr>
        <p:txBody>
          <a:bodyPr wrap="square" lIns="0" tIns="0" rIns="0" bIns="0" rtlCol="0" anchor="t"/>
          <a:lstStyle/>
          <a:p>
            <a:pPr marL="0" indent="0">
              <a:buNone/>
            </a:pPr>
            <a:r>
              <a:rPr lang="en-US" sz="1600" b="1" dirty="0">
                <a:latin typeface="Courier New" pitchFamily="34" charset="0"/>
                <a:ea typeface="Courier New" pitchFamily="34" charset="-122"/>
                <a:cs typeface="Courier New" pitchFamily="34" charset="-120"/>
              </a:rPr>
              <a:t>HEAP-SORT(A, n)
  for i = ⌊n/2⌋ − 1 downto 0
      MAX-HEAPIFY(A, i, n)   // build phase
  for end = n − 1 downto 1
      swap A[0], A[end]
      MAX-HEAPIFY(A, 0, end)   // extract phase</a:t>
            </a:r>
            <a:endParaRPr lang="en-US" sz="1600" b="1" dirty="0"/>
          </a:p>
        </p:txBody>
      </p:sp>
      <p:sp>
        <p:nvSpPr>
          <p:cNvPr id="10" name="Shape 8"/>
          <p:cNvSpPr/>
          <p:nvPr/>
        </p:nvSpPr>
        <p:spPr>
          <a:xfrm>
            <a:off x="309282" y="3904488"/>
            <a:ext cx="5725758" cy="2542032"/>
          </a:xfrm>
          <a:prstGeom prst="roundRect">
            <a:avLst>
              <a:gd name="adj" fmla="val 4167"/>
            </a:avLst>
          </a:prstGeom>
          <a:solidFill>
            <a:schemeClr val="accent2">
              <a:lumMod val="20000"/>
              <a:lumOff val="80000"/>
            </a:schemeClr>
          </a:solidFill>
          <a:ln w="12700">
            <a:solidFill>
              <a:srgbClr val="1F6F4A"/>
            </a:solidFill>
            <a:prstDash val="solid"/>
          </a:ln>
        </p:spPr>
      </p:sp>
      <p:sp>
        <p:nvSpPr>
          <p:cNvPr id="11" name="Text 9"/>
          <p:cNvSpPr txBox="1"/>
          <p:nvPr/>
        </p:nvSpPr>
        <p:spPr>
          <a:xfrm>
            <a:off x="657561" y="4094321"/>
            <a:ext cx="5029200" cy="274320"/>
          </a:xfrm>
          <a:prstGeom prst="rect">
            <a:avLst/>
          </a:prstGeom>
          <a:noFill/>
          <a:ln/>
        </p:spPr>
        <p:txBody>
          <a:bodyPr wrap="square" lIns="0" tIns="0" rIns="0" bIns="0" rtlCol="0" anchor="ctr"/>
          <a:lstStyle/>
          <a:p>
            <a:pPr marL="0" indent="0">
              <a:buNone/>
            </a:pPr>
            <a:r>
              <a:rPr lang="en-US" sz="1600" b="1" kern="0" spc="120" dirty="0">
                <a:solidFill>
                  <a:srgbClr val="D97706"/>
                </a:solidFill>
                <a:latin typeface="Calibri" pitchFamily="34" charset="0"/>
                <a:ea typeface="Calibri" pitchFamily="34" charset="-122"/>
                <a:cs typeface="Calibri" pitchFamily="34" charset="-120"/>
              </a:rPr>
              <a:t>LINE-BY-LINE (MAX-HEAPIFY)</a:t>
            </a:r>
            <a:endParaRPr lang="en-US" sz="1600" dirty="0"/>
          </a:p>
        </p:txBody>
      </p:sp>
      <p:sp>
        <p:nvSpPr>
          <p:cNvPr id="12" name="Text 10"/>
          <p:cNvSpPr txBox="1"/>
          <p:nvPr/>
        </p:nvSpPr>
        <p:spPr>
          <a:xfrm>
            <a:off x="657561" y="4453128"/>
            <a:ext cx="5029200" cy="548640"/>
          </a:xfrm>
          <a:prstGeom prst="rect">
            <a:avLst/>
          </a:prstGeom>
          <a:noFill/>
          <a:ln/>
        </p:spPr>
        <p:txBody>
          <a:bodyPr wrap="square" lIns="0" tIns="0" rIns="0" bIns="0" rtlCol="0" anchor="ctr"/>
          <a:lstStyle/>
          <a:p>
            <a:pPr marL="0" indent="0">
              <a:lnSpc>
                <a:spcPct val="120000"/>
              </a:lnSpc>
              <a:buNone/>
            </a:pPr>
            <a:r>
              <a:rPr lang="en-US" sz="1600" b="1" dirty="0">
                <a:latin typeface="Courier New" pitchFamily="34" charset="0"/>
                <a:ea typeface="Courier New" pitchFamily="34" charset="-122"/>
                <a:cs typeface="Courier New" pitchFamily="34" charset="-120"/>
              </a:rPr>
              <a:t>l, r  —  </a:t>
            </a:r>
            <a:r>
              <a:rPr lang="en-US" sz="1600" dirty="0">
                <a:latin typeface="Calibri" pitchFamily="34" charset="0"/>
                <a:ea typeface="Calibri" pitchFamily="34" charset="-122"/>
                <a:cs typeface="Calibri" pitchFamily="34" charset="-120"/>
              </a:rPr>
              <a:t>Index formulas for the left and right children of node i.</a:t>
            </a:r>
            <a:endParaRPr lang="en-US" sz="1600" dirty="0"/>
          </a:p>
        </p:txBody>
      </p:sp>
      <p:sp>
        <p:nvSpPr>
          <p:cNvPr id="13" name="Text 11"/>
          <p:cNvSpPr txBox="1"/>
          <p:nvPr/>
        </p:nvSpPr>
        <p:spPr>
          <a:xfrm>
            <a:off x="657561" y="5112592"/>
            <a:ext cx="5029200" cy="548640"/>
          </a:xfrm>
          <a:prstGeom prst="rect">
            <a:avLst/>
          </a:prstGeom>
          <a:noFill/>
          <a:ln/>
        </p:spPr>
        <p:txBody>
          <a:bodyPr wrap="square" lIns="0" tIns="0" rIns="0" bIns="0" rtlCol="0" anchor="ctr"/>
          <a:lstStyle/>
          <a:p>
            <a:pPr marL="0" indent="0">
              <a:lnSpc>
                <a:spcPct val="120000"/>
              </a:lnSpc>
              <a:buNone/>
            </a:pPr>
            <a:r>
              <a:rPr lang="en-US" sz="1600" b="1" dirty="0">
                <a:latin typeface="Courier New" pitchFamily="34" charset="0"/>
                <a:ea typeface="Courier New" pitchFamily="34" charset="-122"/>
                <a:cs typeface="Courier New" pitchFamily="34" charset="-120"/>
              </a:rPr>
              <a:t>largest  —  </a:t>
            </a:r>
            <a:r>
              <a:rPr lang="en-US" sz="1600" dirty="0">
                <a:latin typeface="Calibri" pitchFamily="34" charset="0"/>
                <a:ea typeface="Calibri" pitchFamily="34" charset="-122"/>
                <a:cs typeface="Calibri" pitchFamily="34" charset="-120"/>
              </a:rPr>
              <a:t>Tracks which of {i, l, r} currently holds the biggest value.</a:t>
            </a:r>
            <a:endParaRPr lang="en-US" sz="1600" dirty="0"/>
          </a:p>
        </p:txBody>
      </p:sp>
      <p:sp>
        <p:nvSpPr>
          <p:cNvPr id="14" name="Text 12"/>
          <p:cNvSpPr txBox="1"/>
          <p:nvPr/>
        </p:nvSpPr>
        <p:spPr>
          <a:xfrm>
            <a:off x="657561" y="5806440"/>
            <a:ext cx="5029200" cy="548640"/>
          </a:xfrm>
          <a:prstGeom prst="rect">
            <a:avLst/>
          </a:prstGeom>
          <a:noFill/>
          <a:ln/>
        </p:spPr>
        <p:txBody>
          <a:bodyPr wrap="square" lIns="0" tIns="0" rIns="0" bIns="0" rtlCol="0" anchor="ctr"/>
          <a:lstStyle/>
          <a:p>
            <a:pPr marL="0" indent="0">
              <a:lnSpc>
                <a:spcPct val="120000"/>
              </a:lnSpc>
              <a:buNone/>
            </a:pPr>
            <a:r>
              <a:rPr lang="en-US" sz="1600" b="1" dirty="0">
                <a:latin typeface="Courier New" pitchFamily="34" charset="0"/>
                <a:ea typeface="Courier New" pitchFamily="34" charset="-122"/>
                <a:cs typeface="Courier New" pitchFamily="34" charset="-120"/>
              </a:rPr>
              <a:t>if largest ≠ i  —  </a:t>
            </a:r>
            <a:r>
              <a:rPr lang="en-US" sz="1600" dirty="0">
                <a:latin typeface="Calibri" pitchFamily="34" charset="0"/>
                <a:ea typeface="Calibri" pitchFamily="34" charset="-122"/>
                <a:cs typeface="Calibri" pitchFamily="34" charset="-120"/>
              </a:rPr>
              <a:t>A child was bigger — swap it up, then keep fixing downward.</a:t>
            </a:r>
            <a:endParaRPr lang="en-US" sz="1600" dirty="0"/>
          </a:p>
        </p:txBody>
      </p:sp>
      <p:sp>
        <p:nvSpPr>
          <p:cNvPr id="15" name="Shape 13"/>
          <p:cNvSpPr/>
          <p:nvPr/>
        </p:nvSpPr>
        <p:spPr>
          <a:xfrm>
            <a:off x="6172200" y="3966304"/>
            <a:ext cx="5608320" cy="2480215"/>
          </a:xfrm>
          <a:prstGeom prst="roundRect">
            <a:avLst>
              <a:gd name="adj" fmla="val 3636"/>
            </a:avLst>
          </a:prstGeom>
          <a:solidFill>
            <a:schemeClr val="accent3">
              <a:lumMod val="20000"/>
              <a:lumOff val="80000"/>
            </a:schemeClr>
          </a:solidFill>
          <a:ln w="12700">
            <a:solidFill>
              <a:srgbClr val="1F6F4A"/>
            </a:solidFill>
            <a:prstDash val="solid"/>
          </a:ln>
        </p:spPr>
      </p:sp>
      <p:sp>
        <p:nvSpPr>
          <p:cNvPr id="16" name="Text 14"/>
          <p:cNvSpPr txBox="1"/>
          <p:nvPr/>
        </p:nvSpPr>
        <p:spPr>
          <a:xfrm>
            <a:off x="6400800" y="4069080"/>
            <a:ext cx="4937760" cy="274320"/>
          </a:xfrm>
          <a:prstGeom prst="rect">
            <a:avLst/>
          </a:prstGeom>
          <a:noFill/>
          <a:ln/>
        </p:spPr>
        <p:txBody>
          <a:bodyPr wrap="square" lIns="0" tIns="0" rIns="0" bIns="0" rtlCol="0" anchor="ctr"/>
          <a:lstStyle/>
          <a:p>
            <a:pPr marL="0" indent="0">
              <a:buNone/>
            </a:pPr>
            <a:r>
              <a:rPr lang="en-US" sz="1600" b="1" kern="0" spc="120" dirty="0">
                <a:solidFill>
                  <a:srgbClr val="D97706"/>
                </a:solidFill>
                <a:latin typeface="Calibri" pitchFamily="34" charset="0"/>
                <a:ea typeface="Calibri" pitchFamily="34" charset="-122"/>
                <a:cs typeface="Calibri" pitchFamily="34" charset="-120"/>
              </a:rPr>
              <a:t>KEY INVARIANT &amp; CONTRAST</a:t>
            </a:r>
            <a:endParaRPr lang="en-US" sz="1600" dirty="0"/>
          </a:p>
        </p:txBody>
      </p:sp>
      <p:sp>
        <p:nvSpPr>
          <p:cNvPr id="17" name="Text 15"/>
          <p:cNvSpPr txBox="1"/>
          <p:nvPr/>
        </p:nvSpPr>
        <p:spPr>
          <a:xfrm>
            <a:off x="6400800" y="4370832"/>
            <a:ext cx="5212080" cy="1920240"/>
          </a:xfrm>
          <a:prstGeom prst="rect">
            <a:avLst/>
          </a:prstGeom>
          <a:noFill/>
          <a:ln/>
        </p:spPr>
        <p:txBody>
          <a:bodyPr wrap="square" lIns="0" tIns="0" rIns="0" bIns="0" rtlCol="0" anchor="ctr"/>
          <a:lstStyle/>
          <a:p>
            <a:pPr marL="0" indent="0" algn="just">
              <a:lnSpc>
                <a:spcPct val="130000"/>
              </a:lnSpc>
              <a:buNone/>
            </a:pPr>
            <a:r>
              <a:rPr lang="en-US" sz="1600" dirty="0">
                <a:latin typeface="Calibri" pitchFamily="34" charset="0"/>
                <a:ea typeface="Calibri" pitchFamily="34" charset="-122"/>
                <a:cs typeface="Calibri" pitchFamily="34" charset="-120"/>
              </a:rPr>
              <a:t>Like Merge Sort's MERGE and Quick Sort's PARTITION, MAX-HEAPIFY needs no auxiliary array — everything happens directly within A. Unlike either, there is no recursive division of the problem: the same array, treated as one implicit tree, is reused throughout both phases.</a:t>
            </a:r>
            <a:endParaRPr lang="en-US" sz="1600" dirty="0"/>
          </a:p>
        </p:txBody>
      </p:sp>
      <p:sp>
        <p:nvSpPr>
          <p:cNvPr id="18" name="Text 1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A8D9C2"/>
                </a:solidFill>
                <a:latin typeface="Calibri" pitchFamily="34" charset="0"/>
                <a:ea typeface="Calibri" pitchFamily="34" charset="-122"/>
                <a:cs typeface="Calibri" pitchFamily="34" charset="-120"/>
              </a:rPr>
              <a:t>Heap Sort  |  Data Structures Using C</a:t>
            </a:r>
            <a:endParaRPr lang="en-US" sz="900" dirty="0"/>
          </a:p>
        </p:txBody>
      </p:sp>
      <p:sp>
        <p:nvSpPr>
          <p:cNvPr id="19" name="Text 1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A8D9C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D97706"/>
                </a:solidFill>
                <a:latin typeface="Calibri" pitchFamily="34" charset="0"/>
                <a:ea typeface="Calibri" pitchFamily="34" charset="-122"/>
                <a:cs typeface="Calibri" pitchFamily="34" charset="-120"/>
              </a:rPr>
              <a:t>IMPLEMENTATION</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Heap Sort in C</a:t>
            </a:r>
            <a:endParaRPr lang="en-US" sz="3000" dirty="0"/>
          </a:p>
        </p:txBody>
      </p:sp>
      <p:sp>
        <p:nvSpPr>
          <p:cNvPr id="6" name="Shape 4"/>
          <p:cNvSpPr/>
          <p:nvPr/>
        </p:nvSpPr>
        <p:spPr>
          <a:xfrm>
            <a:off x="548640" y="1371600"/>
            <a:ext cx="5430820" cy="4983480"/>
          </a:xfrm>
          <a:prstGeom prst="roundRect">
            <a:avLst>
              <a:gd name="adj" fmla="val 1739"/>
            </a:avLst>
          </a:prstGeom>
          <a:solidFill>
            <a:schemeClr val="bg2">
              <a:lumMod val="90000"/>
            </a:schemeClr>
          </a:solidFill>
          <a:ln/>
        </p:spPr>
      </p:sp>
      <p:sp>
        <p:nvSpPr>
          <p:cNvPr id="7" name="Text 5"/>
          <p:cNvSpPr txBox="1"/>
          <p:nvPr/>
        </p:nvSpPr>
        <p:spPr>
          <a:xfrm>
            <a:off x="777240" y="1536191"/>
            <a:ext cx="4951207" cy="4574191"/>
          </a:xfrm>
          <a:prstGeom prst="rect">
            <a:avLst/>
          </a:prstGeom>
          <a:noFill/>
          <a:ln/>
        </p:spPr>
        <p:txBody>
          <a:bodyPr wrap="square" lIns="0" tIns="0" rIns="0" bIns="0" rtlCol="0" anchor="t"/>
          <a:lstStyle/>
          <a:p>
            <a:pPr marL="0" indent="0">
              <a:buNone/>
            </a:pPr>
            <a:r>
              <a:rPr lang="en-US" sz="1600" b="1" dirty="0">
                <a:latin typeface="Courier New" pitchFamily="34" charset="0"/>
                <a:ea typeface="Courier New" pitchFamily="34" charset="-122"/>
                <a:cs typeface="Courier New" pitchFamily="34" charset="-120"/>
              </a:rPr>
              <a:t>void maxHeapify(int A[], int n, int i)
{
    int largest = i;
    int l = 2 * i + 1, r = 2 * i + 2;
    if (l &lt; n &amp;&amp; A[l] &gt; A[largest])
        largest = l;
    if (r &lt; n &amp;&amp; A[r] &gt; A[largest])
        largest = r;
    if (largest != i)
    {
        int temp = A[i];
        A[i] = A[largest];
        A[largest] = temp;
        maxHeapify(A, n, largest);
    }
}</a:t>
            </a:r>
            <a:endParaRPr lang="en-US" sz="1600" b="1" dirty="0"/>
          </a:p>
        </p:txBody>
      </p:sp>
      <p:sp>
        <p:nvSpPr>
          <p:cNvPr id="8" name="Shape 6"/>
          <p:cNvSpPr/>
          <p:nvPr/>
        </p:nvSpPr>
        <p:spPr>
          <a:xfrm>
            <a:off x="6212541" y="1371600"/>
            <a:ext cx="5400339" cy="4983480"/>
          </a:xfrm>
          <a:prstGeom prst="roundRect">
            <a:avLst>
              <a:gd name="adj" fmla="val 1942"/>
            </a:avLst>
          </a:prstGeom>
          <a:solidFill>
            <a:schemeClr val="accent1">
              <a:lumMod val="20000"/>
              <a:lumOff val="80000"/>
            </a:schemeClr>
          </a:solidFill>
          <a:ln w="12700">
            <a:solidFill>
              <a:srgbClr val="1F6F4A"/>
            </a:solidFill>
            <a:prstDash val="solid"/>
          </a:ln>
        </p:spPr>
      </p:sp>
      <p:sp>
        <p:nvSpPr>
          <p:cNvPr id="9" name="Text 7"/>
          <p:cNvSpPr txBox="1"/>
          <p:nvPr/>
        </p:nvSpPr>
        <p:spPr>
          <a:xfrm>
            <a:off x="7132320" y="1536192"/>
            <a:ext cx="4206240" cy="274320"/>
          </a:xfrm>
          <a:prstGeom prst="rect">
            <a:avLst/>
          </a:prstGeom>
          <a:noFill/>
          <a:ln/>
        </p:spPr>
        <p:txBody>
          <a:bodyPr wrap="square" lIns="0" tIns="0" rIns="0" bIns="0" rtlCol="0" anchor="ctr"/>
          <a:lstStyle/>
          <a:p>
            <a:pPr marL="0" indent="0">
              <a:buNone/>
            </a:pPr>
            <a:r>
              <a:rPr lang="en-US" sz="1100" b="1" kern="0" spc="150" dirty="0">
                <a:solidFill>
                  <a:srgbClr val="D97706"/>
                </a:solidFill>
                <a:latin typeface="Calibri" pitchFamily="34" charset="0"/>
                <a:ea typeface="Calibri" pitchFamily="34" charset="-122"/>
                <a:cs typeface="Calibri" pitchFamily="34" charset="-120"/>
              </a:rPr>
              <a:t>HEAPSORT + main()</a:t>
            </a:r>
            <a:endParaRPr lang="en-US" sz="1100" dirty="0"/>
          </a:p>
        </p:txBody>
      </p:sp>
      <p:sp>
        <p:nvSpPr>
          <p:cNvPr id="10" name="Text 8"/>
          <p:cNvSpPr txBox="1"/>
          <p:nvPr/>
        </p:nvSpPr>
        <p:spPr>
          <a:xfrm>
            <a:off x="6446520" y="1828800"/>
            <a:ext cx="4983480" cy="4447460"/>
          </a:xfrm>
          <a:prstGeom prst="rect">
            <a:avLst/>
          </a:prstGeom>
          <a:noFill/>
          <a:ln/>
        </p:spPr>
        <p:txBody>
          <a:bodyPr wrap="square" lIns="0" tIns="0" rIns="0" bIns="0" rtlCol="0" anchor="t"/>
          <a:lstStyle/>
          <a:p>
            <a:pPr marL="0" indent="0">
              <a:buNone/>
            </a:pPr>
            <a:r>
              <a:rPr lang="en-US" sz="1400" b="1" dirty="0">
                <a:latin typeface="Courier New" pitchFamily="34" charset="0"/>
                <a:ea typeface="Courier New" pitchFamily="34" charset="-122"/>
                <a:cs typeface="Courier New" pitchFamily="34" charset="-120"/>
              </a:rPr>
              <a:t>void heapSort(int A[], int n)
{
    for (int i = n / 2 - 1; i &gt;= 0; i--)
        maxHeapify(A, n, </a:t>
            </a:r>
            <a:r>
              <a:rPr lang="en-US" sz="1400" b="1" dirty="0" err="1">
                <a:latin typeface="Courier New" pitchFamily="34" charset="0"/>
                <a:ea typeface="Courier New" pitchFamily="34" charset="-122"/>
                <a:cs typeface="Courier New" pitchFamily="34" charset="-120"/>
              </a:rPr>
              <a:t>i</a:t>
            </a:r>
            <a:r>
              <a:rPr lang="en-US" sz="1400" b="1" dirty="0">
                <a:latin typeface="Courier New" pitchFamily="34" charset="0"/>
                <a:ea typeface="Courier New" pitchFamily="34" charset="-122"/>
                <a:cs typeface="Courier New" pitchFamily="34" charset="-120"/>
              </a:rPr>
              <a:t>);
    for (int end = n - 1; end &gt; 0; end--)
    {
        int temp = A[0];
        A[0] = A[end];
        A[end] = temp;
        maxHeapify(A, end, 0);
    }
}
int main()
{
    int A[] = {4,10,3,5,1,8,9,2};
    int n = sizeof(A) / sizeof(A[0]);
    heapSort(A, n);
    for (int i = 0; i &lt; n; i++)
        printf("%d ", A[i]);
    return 0;
}</a:t>
            </a:r>
            <a:endParaRPr lang="en-US" sz="1400" b="1" dirty="0"/>
          </a:p>
        </p:txBody>
      </p:sp>
      <p:sp>
        <p:nvSpPr>
          <p:cNvPr id="11" name="Text 9"/>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A8D9C2"/>
                </a:solidFill>
                <a:latin typeface="Calibri" pitchFamily="34" charset="0"/>
                <a:ea typeface="Calibri" pitchFamily="34" charset="-122"/>
                <a:cs typeface="Calibri" pitchFamily="34" charset="-120"/>
              </a:rPr>
              <a:t>Heap Sort  |  Data Structures Using C</a:t>
            </a:r>
            <a:endParaRPr lang="en-US" sz="900" dirty="0"/>
          </a:p>
        </p:txBody>
      </p:sp>
      <p:sp>
        <p:nvSpPr>
          <p:cNvPr id="12" name="Text 10"/>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A8D9C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CONNECTING CODE TO EXAMPLE</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Trace: maxHeapify(A, 8, 0)  —  the Build Call at i=0</a:t>
            </a:r>
            <a:endParaRPr lang="en-US" sz="3000" dirty="0"/>
          </a:p>
        </p:txBody>
      </p:sp>
      <p:sp>
        <p:nvSpPr>
          <p:cNvPr id="6" name="Text 4"/>
          <p:cNvSpPr txBox="1"/>
          <p:nvPr/>
        </p:nvSpPr>
        <p:spPr>
          <a:xfrm>
            <a:off x="548640" y="1371600"/>
            <a:ext cx="10972800" cy="320040"/>
          </a:xfrm>
          <a:prstGeom prst="rect">
            <a:avLst/>
          </a:prstGeom>
          <a:noFill/>
          <a:ln/>
        </p:spPr>
        <p:txBody>
          <a:bodyPr wrap="square" lIns="0" tIns="0" rIns="0" bIns="0" rtlCol="0" anchor="ctr"/>
          <a:lstStyle/>
          <a:p>
            <a:pPr marL="0" indent="0">
              <a:buNone/>
            </a:pPr>
            <a:r>
              <a:rPr lang="en-US" sz="1250" dirty="0">
                <a:solidFill>
                  <a:srgbClr val="5B6584"/>
                </a:solidFill>
                <a:latin typeface="Calibri" pitchFamily="34" charset="0"/>
                <a:ea typeface="Calibri" pitchFamily="34" charset="-122"/>
                <a:cs typeface="Calibri" pitchFamily="34" charset="-120"/>
              </a:rPr>
              <a:t>Starting array:  [4, 10, 9, 5, 1, 8, 3, 2]     largest = i = 0,   l = 1,   r = 2</a:t>
            </a:r>
            <a:endParaRPr lang="en-US" sz="1250" dirty="0"/>
          </a:p>
        </p:txBody>
      </p:sp>
      <p:sp>
        <p:nvSpPr>
          <p:cNvPr id="7" name="Shape 5"/>
          <p:cNvSpPr/>
          <p:nvPr/>
        </p:nvSpPr>
        <p:spPr>
          <a:xfrm>
            <a:off x="548640" y="1828800"/>
            <a:ext cx="3657600" cy="365760"/>
          </a:xfrm>
          <a:prstGeom prst="roundRect">
            <a:avLst>
              <a:gd name="adj" fmla="val 50000"/>
            </a:avLst>
          </a:prstGeom>
          <a:solidFill>
            <a:srgbClr val="E8F5EE"/>
          </a:solidFill>
          <a:ln/>
        </p:spPr>
      </p:sp>
      <p:sp>
        <p:nvSpPr>
          <p:cNvPr id="8" name="Text 6"/>
          <p:cNvSpPr txBox="1"/>
          <p:nvPr/>
        </p:nvSpPr>
        <p:spPr>
          <a:xfrm>
            <a:off x="548640" y="1828800"/>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A[1]=10 &gt; A[0]=4?</a:t>
            </a:r>
            <a:endParaRPr lang="en-US" sz="1100" dirty="0"/>
          </a:p>
        </p:txBody>
      </p:sp>
      <p:sp>
        <p:nvSpPr>
          <p:cNvPr id="9" name="Shape 7"/>
          <p:cNvSpPr/>
          <p:nvPr/>
        </p:nvSpPr>
        <p:spPr>
          <a:xfrm>
            <a:off x="4343400" y="1828800"/>
            <a:ext cx="7269480" cy="365760"/>
          </a:xfrm>
          <a:prstGeom prst="roundRect">
            <a:avLst>
              <a:gd name="adj" fmla="val 50000"/>
            </a:avLst>
          </a:prstGeom>
          <a:solidFill>
            <a:srgbClr val="EDEFF3"/>
          </a:solidFill>
          <a:ln/>
        </p:spPr>
      </p:sp>
      <p:sp>
        <p:nvSpPr>
          <p:cNvPr id="10" name="Text 8"/>
          <p:cNvSpPr txBox="1"/>
          <p:nvPr/>
        </p:nvSpPr>
        <p:spPr>
          <a:xfrm>
            <a:off x="4343400" y="1828800"/>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true  →  largest = 1</a:t>
            </a:r>
            <a:endParaRPr lang="en-US" sz="1100" dirty="0"/>
          </a:p>
        </p:txBody>
      </p:sp>
      <p:sp>
        <p:nvSpPr>
          <p:cNvPr id="11" name="Shape 9"/>
          <p:cNvSpPr/>
          <p:nvPr/>
        </p:nvSpPr>
        <p:spPr>
          <a:xfrm>
            <a:off x="548640" y="2267712"/>
            <a:ext cx="3657600" cy="365760"/>
          </a:xfrm>
          <a:prstGeom prst="roundRect">
            <a:avLst>
              <a:gd name="adj" fmla="val 50000"/>
            </a:avLst>
          </a:prstGeom>
          <a:solidFill>
            <a:srgbClr val="E8F5EE"/>
          </a:solidFill>
          <a:ln/>
        </p:spPr>
      </p:sp>
      <p:sp>
        <p:nvSpPr>
          <p:cNvPr id="12" name="Text 10"/>
          <p:cNvSpPr txBox="1"/>
          <p:nvPr/>
        </p:nvSpPr>
        <p:spPr>
          <a:xfrm>
            <a:off x="548640" y="2267712"/>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A[2]=9 &gt; A[1]=10?</a:t>
            </a:r>
            <a:endParaRPr lang="en-US" sz="1100" dirty="0"/>
          </a:p>
        </p:txBody>
      </p:sp>
      <p:sp>
        <p:nvSpPr>
          <p:cNvPr id="13" name="Shape 11"/>
          <p:cNvSpPr/>
          <p:nvPr/>
        </p:nvSpPr>
        <p:spPr>
          <a:xfrm>
            <a:off x="4343400" y="2267712"/>
            <a:ext cx="7269480" cy="365760"/>
          </a:xfrm>
          <a:prstGeom prst="roundRect">
            <a:avLst>
              <a:gd name="adj" fmla="val 50000"/>
            </a:avLst>
          </a:prstGeom>
          <a:solidFill>
            <a:srgbClr val="EDEFF3"/>
          </a:solidFill>
          <a:ln/>
        </p:spPr>
      </p:sp>
      <p:sp>
        <p:nvSpPr>
          <p:cNvPr id="14" name="Text 12"/>
          <p:cNvSpPr txBox="1"/>
          <p:nvPr/>
        </p:nvSpPr>
        <p:spPr>
          <a:xfrm>
            <a:off x="4343400" y="2267712"/>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false  →  largest stays 1</a:t>
            </a:r>
            <a:endParaRPr lang="en-US" sz="1100" dirty="0"/>
          </a:p>
        </p:txBody>
      </p:sp>
      <p:sp>
        <p:nvSpPr>
          <p:cNvPr id="15" name="Shape 13"/>
          <p:cNvSpPr/>
          <p:nvPr/>
        </p:nvSpPr>
        <p:spPr>
          <a:xfrm>
            <a:off x="548640" y="2706624"/>
            <a:ext cx="3657600" cy="365760"/>
          </a:xfrm>
          <a:prstGeom prst="roundRect">
            <a:avLst>
              <a:gd name="adj" fmla="val 50000"/>
            </a:avLst>
          </a:prstGeom>
          <a:solidFill>
            <a:srgbClr val="E8F5EE"/>
          </a:solidFill>
          <a:ln/>
        </p:spPr>
      </p:sp>
      <p:sp>
        <p:nvSpPr>
          <p:cNvPr id="16" name="Text 14"/>
          <p:cNvSpPr txBox="1"/>
          <p:nvPr/>
        </p:nvSpPr>
        <p:spPr>
          <a:xfrm>
            <a:off x="548640" y="2706624"/>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largest(1) ≠ i(0)</a:t>
            </a:r>
            <a:endParaRPr lang="en-US" sz="1100" dirty="0"/>
          </a:p>
        </p:txBody>
      </p:sp>
      <p:sp>
        <p:nvSpPr>
          <p:cNvPr id="17" name="Shape 15"/>
          <p:cNvSpPr/>
          <p:nvPr/>
        </p:nvSpPr>
        <p:spPr>
          <a:xfrm>
            <a:off x="4343400" y="2706624"/>
            <a:ext cx="7269480" cy="365760"/>
          </a:xfrm>
          <a:prstGeom prst="roundRect">
            <a:avLst>
              <a:gd name="adj" fmla="val 50000"/>
            </a:avLst>
          </a:prstGeom>
          <a:solidFill>
            <a:srgbClr val="D97706"/>
          </a:solidFill>
          <a:ln/>
        </p:spPr>
      </p:sp>
      <p:sp>
        <p:nvSpPr>
          <p:cNvPr id="18" name="Text 16"/>
          <p:cNvSpPr txBox="1"/>
          <p:nvPr/>
        </p:nvSpPr>
        <p:spPr>
          <a:xfrm>
            <a:off x="4343400" y="2706624"/>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swap A[0], A[1]  →  [10,4,9,5,1,8,3,2]  →  recurse maxHeapify(A,8,1)</a:t>
            </a:r>
            <a:endParaRPr lang="en-US" sz="1100" dirty="0"/>
          </a:p>
        </p:txBody>
      </p:sp>
      <p:sp>
        <p:nvSpPr>
          <p:cNvPr id="19" name="Shape 17"/>
          <p:cNvSpPr/>
          <p:nvPr/>
        </p:nvSpPr>
        <p:spPr>
          <a:xfrm>
            <a:off x="548640" y="3145536"/>
            <a:ext cx="3657600" cy="365760"/>
          </a:xfrm>
          <a:prstGeom prst="roundRect">
            <a:avLst>
              <a:gd name="adj" fmla="val 50000"/>
            </a:avLst>
          </a:prstGeom>
          <a:solidFill>
            <a:srgbClr val="E8F5EE"/>
          </a:solidFill>
          <a:ln/>
        </p:spPr>
      </p:sp>
      <p:sp>
        <p:nvSpPr>
          <p:cNvPr id="20" name="Text 18"/>
          <p:cNvSpPr txBox="1"/>
          <p:nvPr/>
        </p:nvSpPr>
        <p:spPr>
          <a:xfrm>
            <a:off x="548640" y="3145536"/>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 A[3]=5 &gt; A[1]=4?</a:t>
            </a:r>
            <a:endParaRPr lang="en-US" sz="1100" dirty="0"/>
          </a:p>
        </p:txBody>
      </p:sp>
      <p:sp>
        <p:nvSpPr>
          <p:cNvPr id="21" name="Shape 19"/>
          <p:cNvSpPr/>
          <p:nvPr/>
        </p:nvSpPr>
        <p:spPr>
          <a:xfrm>
            <a:off x="4343400" y="3145536"/>
            <a:ext cx="7269480" cy="365760"/>
          </a:xfrm>
          <a:prstGeom prst="roundRect">
            <a:avLst>
              <a:gd name="adj" fmla="val 50000"/>
            </a:avLst>
          </a:prstGeom>
          <a:solidFill>
            <a:srgbClr val="EDEFF3"/>
          </a:solidFill>
          <a:ln/>
        </p:spPr>
      </p:sp>
      <p:sp>
        <p:nvSpPr>
          <p:cNvPr id="22" name="Text 20"/>
          <p:cNvSpPr txBox="1"/>
          <p:nvPr/>
        </p:nvSpPr>
        <p:spPr>
          <a:xfrm>
            <a:off x="4343400" y="3145536"/>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true  →  largest = 3</a:t>
            </a:r>
            <a:endParaRPr lang="en-US" sz="1100" dirty="0"/>
          </a:p>
        </p:txBody>
      </p:sp>
      <p:sp>
        <p:nvSpPr>
          <p:cNvPr id="23" name="Shape 21"/>
          <p:cNvSpPr/>
          <p:nvPr/>
        </p:nvSpPr>
        <p:spPr>
          <a:xfrm>
            <a:off x="548640" y="3584448"/>
            <a:ext cx="3657600" cy="365760"/>
          </a:xfrm>
          <a:prstGeom prst="roundRect">
            <a:avLst>
              <a:gd name="adj" fmla="val 50000"/>
            </a:avLst>
          </a:prstGeom>
          <a:solidFill>
            <a:srgbClr val="E8F5EE"/>
          </a:solidFill>
          <a:ln/>
        </p:spPr>
      </p:sp>
      <p:sp>
        <p:nvSpPr>
          <p:cNvPr id="24" name="Text 22"/>
          <p:cNvSpPr txBox="1"/>
          <p:nvPr/>
        </p:nvSpPr>
        <p:spPr>
          <a:xfrm>
            <a:off x="548640" y="3584448"/>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 A[4]=1 &gt; A[3]=5?</a:t>
            </a:r>
            <a:endParaRPr lang="en-US" sz="1100" dirty="0"/>
          </a:p>
        </p:txBody>
      </p:sp>
      <p:sp>
        <p:nvSpPr>
          <p:cNvPr id="25" name="Shape 23"/>
          <p:cNvSpPr/>
          <p:nvPr/>
        </p:nvSpPr>
        <p:spPr>
          <a:xfrm>
            <a:off x="4343400" y="3584448"/>
            <a:ext cx="7269480" cy="365760"/>
          </a:xfrm>
          <a:prstGeom prst="roundRect">
            <a:avLst>
              <a:gd name="adj" fmla="val 50000"/>
            </a:avLst>
          </a:prstGeom>
          <a:solidFill>
            <a:srgbClr val="EDEFF3"/>
          </a:solidFill>
          <a:ln/>
        </p:spPr>
      </p:sp>
      <p:sp>
        <p:nvSpPr>
          <p:cNvPr id="26" name="Text 24"/>
          <p:cNvSpPr txBox="1"/>
          <p:nvPr/>
        </p:nvSpPr>
        <p:spPr>
          <a:xfrm>
            <a:off x="4343400" y="3584448"/>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false  →  largest stays 3</a:t>
            </a:r>
            <a:endParaRPr lang="en-US" sz="1100" dirty="0"/>
          </a:p>
        </p:txBody>
      </p:sp>
      <p:sp>
        <p:nvSpPr>
          <p:cNvPr id="27" name="Shape 25"/>
          <p:cNvSpPr/>
          <p:nvPr/>
        </p:nvSpPr>
        <p:spPr>
          <a:xfrm>
            <a:off x="548640" y="4023360"/>
            <a:ext cx="3657600" cy="365760"/>
          </a:xfrm>
          <a:prstGeom prst="roundRect">
            <a:avLst>
              <a:gd name="adj" fmla="val 50000"/>
            </a:avLst>
          </a:prstGeom>
          <a:solidFill>
            <a:srgbClr val="E8F5EE"/>
          </a:solidFill>
          <a:ln/>
        </p:spPr>
      </p:sp>
      <p:sp>
        <p:nvSpPr>
          <p:cNvPr id="28" name="Text 26"/>
          <p:cNvSpPr txBox="1"/>
          <p:nvPr/>
        </p:nvSpPr>
        <p:spPr>
          <a:xfrm>
            <a:off x="548640" y="4023360"/>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 largest(3) ≠ i(1)</a:t>
            </a:r>
            <a:endParaRPr lang="en-US" sz="1100" dirty="0"/>
          </a:p>
        </p:txBody>
      </p:sp>
      <p:sp>
        <p:nvSpPr>
          <p:cNvPr id="29" name="Shape 27"/>
          <p:cNvSpPr/>
          <p:nvPr/>
        </p:nvSpPr>
        <p:spPr>
          <a:xfrm>
            <a:off x="4343400" y="4023360"/>
            <a:ext cx="7269480" cy="365760"/>
          </a:xfrm>
          <a:prstGeom prst="roundRect">
            <a:avLst>
              <a:gd name="adj" fmla="val 50000"/>
            </a:avLst>
          </a:prstGeom>
          <a:solidFill>
            <a:srgbClr val="D97706"/>
          </a:solidFill>
          <a:ln/>
        </p:spPr>
      </p:sp>
      <p:sp>
        <p:nvSpPr>
          <p:cNvPr id="30" name="Text 28"/>
          <p:cNvSpPr txBox="1"/>
          <p:nvPr/>
        </p:nvSpPr>
        <p:spPr>
          <a:xfrm>
            <a:off x="4343400" y="4023360"/>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swap A[1], A[3]  →  [10,5,9,4,1,8,3,2]  →  recurse maxHeapify(A,8,3)</a:t>
            </a:r>
            <a:endParaRPr lang="en-US" sz="1100" dirty="0"/>
          </a:p>
        </p:txBody>
      </p:sp>
      <p:sp>
        <p:nvSpPr>
          <p:cNvPr id="31" name="Shape 29"/>
          <p:cNvSpPr/>
          <p:nvPr/>
        </p:nvSpPr>
        <p:spPr>
          <a:xfrm>
            <a:off x="548640" y="4462272"/>
            <a:ext cx="3657600" cy="365760"/>
          </a:xfrm>
          <a:prstGeom prst="roundRect">
            <a:avLst>
              <a:gd name="adj" fmla="val 50000"/>
            </a:avLst>
          </a:prstGeom>
          <a:solidFill>
            <a:srgbClr val="E8F5EE"/>
          </a:solidFill>
          <a:ln/>
        </p:spPr>
      </p:sp>
      <p:sp>
        <p:nvSpPr>
          <p:cNvPr id="32" name="Text 30"/>
          <p:cNvSpPr txBox="1"/>
          <p:nvPr/>
        </p:nvSpPr>
        <p:spPr>
          <a:xfrm>
            <a:off x="548640" y="4462272"/>
            <a:ext cx="3657600" cy="365760"/>
          </a:xfrm>
          <a:prstGeom prst="rect">
            <a:avLst/>
          </a:prstGeom>
          <a:noFill/>
          <a:ln/>
        </p:spPr>
        <p:txBody>
          <a:bodyPr wrap="square" lIns="101600" tIns="101600" rIns="101600" bIns="101600" rtlCol="0" anchor="ctr"/>
          <a:lstStyle/>
          <a:p>
            <a:pPr marL="0" indent="0" algn="l">
              <a:buNone/>
            </a:pPr>
            <a:r>
              <a:rPr lang="en-US" sz="1100" b="1" dirty="0">
                <a:solidFill>
                  <a:srgbClr val="14281E"/>
                </a:solidFill>
                <a:latin typeface="Calibri" pitchFamily="34" charset="0"/>
                <a:ea typeface="Calibri" pitchFamily="34" charset="-122"/>
                <a:cs typeface="Calibri" pitchFamily="34" charset="-120"/>
              </a:rPr>
              <a:t>↳↳ A[7]=2 &gt; A[3]=4?</a:t>
            </a:r>
            <a:endParaRPr lang="en-US" sz="1100" dirty="0"/>
          </a:p>
        </p:txBody>
      </p:sp>
      <p:sp>
        <p:nvSpPr>
          <p:cNvPr id="33" name="Shape 31"/>
          <p:cNvSpPr/>
          <p:nvPr/>
        </p:nvSpPr>
        <p:spPr>
          <a:xfrm>
            <a:off x="4343400" y="4462272"/>
            <a:ext cx="7269480" cy="365760"/>
          </a:xfrm>
          <a:prstGeom prst="roundRect">
            <a:avLst>
              <a:gd name="adj" fmla="val 50000"/>
            </a:avLst>
          </a:prstGeom>
          <a:solidFill>
            <a:srgbClr val="EDEFF3"/>
          </a:solidFill>
          <a:ln/>
        </p:spPr>
      </p:sp>
      <p:sp>
        <p:nvSpPr>
          <p:cNvPr id="34" name="Text 32"/>
          <p:cNvSpPr txBox="1"/>
          <p:nvPr/>
        </p:nvSpPr>
        <p:spPr>
          <a:xfrm>
            <a:off x="4343400" y="4462272"/>
            <a:ext cx="7269480" cy="365760"/>
          </a:xfrm>
          <a:prstGeom prst="rect">
            <a:avLst/>
          </a:prstGeom>
          <a:noFill/>
          <a:ln/>
        </p:spPr>
        <p:txBody>
          <a:bodyPr wrap="square" lIns="101600" tIns="101600" rIns="101600" bIns="1016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false  →  largest stays 3  →  largest = i, stop</a:t>
            </a:r>
            <a:endParaRPr lang="en-US" sz="1100" dirty="0"/>
          </a:p>
        </p:txBody>
      </p:sp>
      <p:sp>
        <p:nvSpPr>
          <p:cNvPr id="35" name="Shape 33"/>
          <p:cNvSpPr/>
          <p:nvPr/>
        </p:nvSpPr>
        <p:spPr>
          <a:xfrm>
            <a:off x="548640" y="4992624"/>
            <a:ext cx="11064240" cy="777240"/>
          </a:xfrm>
          <a:prstGeom prst="roundRect">
            <a:avLst>
              <a:gd name="adj" fmla="val 11765"/>
            </a:avLst>
          </a:prstGeom>
          <a:solidFill>
            <a:schemeClr val="accent2">
              <a:lumMod val="20000"/>
              <a:lumOff val="80000"/>
            </a:schemeClr>
          </a:solidFill>
          <a:ln w="12700">
            <a:solidFill>
              <a:srgbClr val="14281E"/>
            </a:solidFill>
            <a:prstDash val="solid"/>
          </a:ln>
        </p:spPr>
      </p:sp>
      <p:sp>
        <p:nvSpPr>
          <p:cNvPr id="36" name="Shape 34"/>
          <p:cNvSpPr/>
          <p:nvPr/>
        </p:nvSpPr>
        <p:spPr>
          <a:xfrm>
            <a:off x="777240" y="5102352"/>
            <a:ext cx="384048" cy="384048"/>
          </a:xfrm>
          <a:prstGeom prst="roundRect">
            <a:avLst>
              <a:gd name="adj" fmla="val 19048"/>
            </a:avLst>
          </a:prstGeom>
          <a:solidFill>
            <a:srgbClr val="1F6F4A"/>
          </a:solidFill>
          <a:ln w="22225">
            <a:solidFill>
              <a:srgbClr val="3FA672"/>
            </a:solidFill>
            <a:prstDash val="solid"/>
          </a:ln>
        </p:spPr>
      </p:sp>
      <p:sp>
        <p:nvSpPr>
          <p:cNvPr id="37" name="Text 35"/>
          <p:cNvSpPr txBox="1"/>
          <p:nvPr/>
        </p:nvSpPr>
        <p:spPr>
          <a:xfrm>
            <a:off x="777240" y="510235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10</a:t>
            </a:r>
            <a:endParaRPr lang="en-US" sz="1050" dirty="0"/>
          </a:p>
        </p:txBody>
      </p:sp>
      <p:sp>
        <p:nvSpPr>
          <p:cNvPr id="38" name="Shape 36"/>
          <p:cNvSpPr/>
          <p:nvPr/>
        </p:nvSpPr>
        <p:spPr>
          <a:xfrm>
            <a:off x="1216152" y="5102352"/>
            <a:ext cx="384048" cy="384048"/>
          </a:xfrm>
          <a:prstGeom prst="roundRect">
            <a:avLst>
              <a:gd name="adj" fmla="val 19048"/>
            </a:avLst>
          </a:prstGeom>
          <a:solidFill>
            <a:srgbClr val="1F6F4A"/>
          </a:solidFill>
          <a:ln w="22225">
            <a:solidFill>
              <a:srgbClr val="3FA672"/>
            </a:solidFill>
            <a:prstDash val="solid"/>
          </a:ln>
        </p:spPr>
      </p:sp>
      <p:sp>
        <p:nvSpPr>
          <p:cNvPr id="39" name="Text 37"/>
          <p:cNvSpPr txBox="1"/>
          <p:nvPr/>
        </p:nvSpPr>
        <p:spPr>
          <a:xfrm>
            <a:off x="1216152" y="510235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5</a:t>
            </a:r>
            <a:endParaRPr lang="en-US" sz="1050" dirty="0"/>
          </a:p>
        </p:txBody>
      </p:sp>
      <p:sp>
        <p:nvSpPr>
          <p:cNvPr id="40" name="Shape 38"/>
          <p:cNvSpPr/>
          <p:nvPr/>
        </p:nvSpPr>
        <p:spPr>
          <a:xfrm>
            <a:off x="1655064" y="5102352"/>
            <a:ext cx="384048" cy="384048"/>
          </a:xfrm>
          <a:prstGeom prst="roundRect">
            <a:avLst>
              <a:gd name="adj" fmla="val 19048"/>
            </a:avLst>
          </a:prstGeom>
          <a:solidFill>
            <a:srgbClr val="FFFFFF"/>
          </a:solidFill>
          <a:ln w="22225">
            <a:solidFill>
              <a:srgbClr val="3FA672"/>
            </a:solidFill>
            <a:prstDash val="solid"/>
          </a:ln>
        </p:spPr>
      </p:sp>
      <p:sp>
        <p:nvSpPr>
          <p:cNvPr id="41" name="Text 39"/>
          <p:cNvSpPr txBox="1"/>
          <p:nvPr/>
        </p:nvSpPr>
        <p:spPr>
          <a:xfrm>
            <a:off x="1655064" y="510235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a:t>
            </a:r>
            <a:endParaRPr lang="en-US" sz="1050" dirty="0"/>
          </a:p>
        </p:txBody>
      </p:sp>
      <p:sp>
        <p:nvSpPr>
          <p:cNvPr id="42" name="Shape 40"/>
          <p:cNvSpPr/>
          <p:nvPr/>
        </p:nvSpPr>
        <p:spPr>
          <a:xfrm>
            <a:off x="2093976" y="5102352"/>
            <a:ext cx="384048" cy="384048"/>
          </a:xfrm>
          <a:prstGeom prst="roundRect">
            <a:avLst>
              <a:gd name="adj" fmla="val 19048"/>
            </a:avLst>
          </a:prstGeom>
          <a:solidFill>
            <a:srgbClr val="1F6F4A"/>
          </a:solidFill>
          <a:ln w="22225">
            <a:solidFill>
              <a:srgbClr val="3FA672"/>
            </a:solidFill>
            <a:prstDash val="solid"/>
          </a:ln>
        </p:spPr>
      </p:sp>
      <p:sp>
        <p:nvSpPr>
          <p:cNvPr id="43" name="Text 41"/>
          <p:cNvSpPr txBox="1"/>
          <p:nvPr/>
        </p:nvSpPr>
        <p:spPr>
          <a:xfrm>
            <a:off x="2093976" y="510235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4</a:t>
            </a:r>
            <a:endParaRPr lang="en-US" sz="1050" dirty="0"/>
          </a:p>
        </p:txBody>
      </p:sp>
      <p:sp>
        <p:nvSpPr>
          <p:cNvPr id="44" name="Shape 42"/>
          <p:cNvSpPr/>
          <p:nvPr/>
        </p:nvSpPr>
        <p:spPr>
          <a:xfrm>
            <a:off x="2532888" y="5102352"/>
            <a:ext cx="384048" cy="384048"/>
          </a:xfrm>
          <a:prstGeom prst="roundRect">
            <a:avLst>
              <a:gd name="adj" fmla="val 19048"/>
            </a:avLst>
          </a:prstGeom>
          <a:solidFill>
            <a:srgbClr val="FFFFFF"/>
          </a:solidFill>
          <a:ln w="22225">
            <a:solidFill>
              <a:srgbClr val="3FA672"/>
            </a:solidFill>
            <a:prstDash val="solid"/>
          </a:ln>
        </p:spPr>
      </p:sp>
      <p:sp>
        <p:nvSpPr>
          <p:cNvPr id="45" name="Text 43"/>
          <p:cNvSpPr txBox="1"/>
          <p:nvPr/>
        </p:nvSpPr>
        <p:spPr>
          <a:xfrm>
            <a:off x="2532888" y="510235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a:t>
            </a:r>
            <a:endParaRPr lang="en-US" sz="1050" dirty="0"/>
          </a:p>
        </p:txBody>
      </p:sp>
      <p:sp>
        <p:nvSpPr>
          <p:cNvPr id="46" name="Shape 44"/>
          <p:cNvSpPr/>
          <p:nvPr/>
        </p:nvSpPr>
        <p:spPr>
          <a:xfrm>
            <a:off x="2971800" y="5102352"/>
            <a:ext cx="384048" cy="384048"/>
          </a:xfrm>
          <a:prstGeom prst="roundRect">
            <a:avLst>
              <a:gd name="adj" fmla="val 19048"/>
            </a:avLst>
          </a:prstGeom>
          <a:solidFill>
            <a:srgbClr val="FFFFFF"/>
          </a:solidFill>
          <a:ln w="22225">
            <a:solidFill>
              <a:srgbClr val="3FA672"/>
            </a:solidFill>
            <a:prstDash val="solid"/>
          </a:ln>
        </p:spPr>
      </p:sp>
      <p:sp>
        <p:nvSpPr>
          <p:cNvPr id="47" name="Text 45"/>
          <p:cNvSpPr txBox="1"/>
          <p:nvPr/>
        </p:nvSpPr>
        <p:spPr>
          <a:xfrm>
            <a:off x="2971800" y="510235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a:t>
            </a:r>
            <a:endParaRPr lang="en-US" sz="1050" dirty="0"/>
          </a:p>
        </p:txBody>
      </p:sp>
      <p:sp>
        <p:nvSpPr>
          <p:cNvPr id="48" name="Shape 46"/>
          <p:cNvSpPr/>
          <p:nvPr/>
        </p:nvSpPr>
        <p:spPr>
          <a:xfrm>
            <a:off x="3410712" y="5102352"/>
            <a:ext cx="384048" cy="384048"/>
          </a:xfrm>
          <a:prstGeom prst="roundRect">
            <a:avLst>
              <a:gd name="adj" fmla="val 19048"/>
            </a:avLst>
          </a:prstGeom>
          <a:solidFill>
            <a:srgbClr val="FFFFFF"/>
          </a:solidFill>
          <a:ln w="22225">
            <a:solidFill>
              <a:srgbClr val="3FA672"/>
            </a:solidFill>
            <a:prstDash val="solid"/>
          </a:ln>
        </p:spPr>
      </p:sp>
      <p:sp>
        <p:nvSpPr>
          <p:cNvPr id="49" name="Text 47"/>
          <p:cNvSpPr txBox="1"/>
          <p:nvPr/>
        </p:nvSpPr>
        <p:spPr>
          <a:xfrm>
            <a:off x="3410712" y="510235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a:t>
            </a:r>
            <a:endParaRPr lang="en-US" sz="1050" dirty="0"/>
          </a:p>
        </p:txBody>
      </p:sp>
      <p:sp>
        <p:nvSpPr>
          <p:cNvPr id="50" name="Shape 48"/>
          <p:cNvSpPr/>
          <p:nvPr/>
        </p:nvSpPr>
        <p:spPr>
          <a:xfrm>
            <a:off x="3849624" y="5102352"/>
            <a:ext cx="384048" cy="384048"/>
          </a:xfrm>
          <a:prstGeom prst="roundRect">
            <a:avLst>
              <a:gd name="adj" fmla="val 19048"/>
            </a:avLst>
          </a:prstGeom>
          <a:solidFill>
            <a:srgbClr val="FFFFFF"/>
          </a:solidFill>
          <a:ln w="22225">
            <a:solidFill>
              <a:srgbClr val="3FA672"/>
            </a:solidFill>
            <a:prstDash val="solid"/>
          </a:ln>
        </p:spPr>
      </p:sp>
      <p:sp>
        <p:nvSpPr>
          <p:cNvPr id="51" name="Text 49"/>
          <p:cNvSpPr txBox="1"/>
          <p:nvPr/>
        </p:nvSpPr>
        <p:spPr>
          <a:xfrm>
            <a:off x="3849624" y="510235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2</a:t>
            </a:r>
            <a:endParaRPr lang="en-US" sz="1050" dirty="0"/>
          </a:p>
        </p:txBody>
      </p:sp>
      <p:sp>
        <p:nvSpPr>
          <p:cNvPr id="52" name="Text 50"/>
          <p:cNvSpPr txBox="1"/>
          <p:nvPr/>
        </p:nvSpPr>
        <p:spPr>
          <a:xfrm>
            <a:off x="4514944" y="5221224"/>
            <a:ext cx="7006495" cy="365760"/>
          </a:xfrm>
          <a:prstGeom prst="rect">
            <a:avLst/>
          </a:prstGeom>
          <a:noFill/>
          <a:ln/>
        </p:spPr>
        <p:txBody>
          <a:bodyPr wrap="square" lIns="0" tIns="0" rIns="0" bIns="0" rtlCol="0" anchor="ctr"/>
          <a:lstStyle/>
          <a:p>
            <a:pPr marL="0" indent="0">
              <a:buNone/>
            </a:pPr>
            <a:r>
              <a:rPr lang="en-US" sz="1600" b="1" dirty="0">
                <a:latin typeface="Courier New" pitchFamily="34" charset="0"/>
                <a:ea typeface="Courier New" pitchFamily="34" charset="-122"/>
                <a:cs typeface="Courier New" pitchFamily="34" charset="-120"/>
              </a:rPr>
              <a:t>Valid max-heap after this call — Build-Max-Heap complete</a:t>
            </a:r>
            <a:endParaRPr lang="en-US" sz="1600" dirty="0"/>
          </a:p>
        </p:txBody>
      </p:sp>
      <p:sp>
        <p:nvSpPr>
          <p:cNvPr id="53" name="Text 51"/>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54" name="Text 52"/>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RIGOROUS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Time Complexity — Two Recurrences</a:t>
            </a:r>
            <a:endParaRPr lang="en-US" sz="3000" dirty="0"/>
          </a:p>
        </p:txBody>
      </p:sp>
      <p:sp>
        <p:nvSpPr>
          <p:cNvPr id="6" name="Shape 4"/>
          <p:cNvSpPr/>
          <p:nvPr/>
        </p:nvSpPr>
        <p:spPr>
          <a:xfrm>
            <a:off x="548640" y="1417320"/>
            <a:ext cx="5440680" cy="2331720"/>
          </a:xfrm>
          <a:prstGeom prst="roundRect">
            <a:avLst>
              <a:gd name="adj" fmla="val 3922"/>
            </a:avLst>
          </a:prstGeom>
          <a:solidFill>
            <a:srgbClr val="E8F5EE"/>
          </a:solidFill>
          <a:ln w="12700">
            <a:solidFill>
              <a:srgbClr val="BFE3D0"/>
            </a:solidFill>
            <a:prstDash val="solid"/>
          </a:ln>
        </p:spPr>
      </p:sp>
      <p:sp>
        <p:nvSpPr>
          <p:cNvPr id="7" name="Text 5"/>
          <p:cNvSpPr txBox="1"/>
          <p:nvPr/>
        </p:nvSpPr>
        <p:spPr>
          <a:xfrm>
            <a:off x="777240" y="1554480"/>
            <a:ext cx="4937760" cy="274320"/>
          </a:xfrm>
          <a:prstGeom prst="rect">
            <a:avLst/>
          </a:prstGeom>
          <a:noFill/>
          <a:ln/>
        </p:spPr>
        <p:txBody>
          <a:bodyPr wrap="square" lIns="0" tIns="0" rIns="0" bIns="0" rtlCol="0" anchor="ctr"/>
          <a:lstStyle/>
          <a:p>
            <a:pPr marL="0" indent="0">
              <a:buNone/>
            </a:pPr>
            <a:r>
              <a:rPr lang="en-US" sz="1050" b="1" kern="0" spc="50" dirty="0">
                <a:solidFill>
                  <a:srgbClr val="3FA672"/>
                </a:solidFill>
                <a:latin typeface="Calibri" pitchFamily="34" charset="0"/>
                <a:ea typeface="Calibri" pitchFamily="34" charset="-122"/>
                <a:cs typeface="Calibri" pitchFamily="34" charset="-120"/>
              </a:rPr>
              <a:t>MAX-HEAPIFY: HEIGHT-BASED RECURRENCE</a:t>
            </a:r>
            <a:endParaRPr lang="en-US" sz="1050" dirty="0"/>
          </a:p>
        </p:txBody>
      </p:sp>
      <p:sp>
        <p:nvSpPr>
          <p:cNvPr id="8" name="Text 6"/>
          <p:cNvSpPr txBox="1"/>
          <p:nvPr/>
        </p:nvSpPr>
        <p:spPr>
          <a:xfrm>
            <a:off x="777240" y="1828800"/>
            <a:ext cx="4937760" cy="365760"/>
          </a:xfrm>
          <a:prstGeom prst="rect">
            <a:avLst/>
          </a:prstGeom>
          <a:noFill/>
          <a:ln/>
        </p:spPr>
        <p:txBody>
          <a:bodyPr wrap="square" lIns="0" tIns="0" rIns="0" bIns="0" rtlCol="0" anchor="ctr"/>
          <a:lstStyle/>
          <a:p>
            <a:pPr marL="0" indent="0">
              <a:buNone/>
            </a:pPr>
            <a:r>
              <a:rPr lang="en-US" sz="2000" b="1" dirty="0">
                <a:solidFill>
                  <a:srgbClr val="14281E"/>
                </a:solidFill>
                <a:latin typeface="Courier New" pitchFamily="34" charset="0"/>
                <a:ea typeface="Courier New" pitchFamily="34" charset="-122"/>
                <a:cs typeface="Courier New" pitchFamily="34" charset="-120"/>
              </a:rPr>
              <a:t>T(h) = T(h−1) + Θ(1)</a:t>
            </a:r>
            <a:endParaRPr lang="en-US" sz="2000" dirty="0"/>
          </a:p>
        </p:txBody>
      </p:sp>
      <p:sp>
        <p:nvSpPr>
          <p:cNvPr id="9" name="Text 7"/>
          <p:cNvSpPr txBox="1"/>
          <p:nvPr/>
        </p:nvSpPr>
        <p:spPr>
          <a:xfrm>
            <a:off x="777240" y="2286000"/>
            <a:ext cx="4937760" cy="1371600"/>
          </a:xfrm>
          <a:prstGeom prst="rect">
            <a:avLst/>
          </a:prstGeom>
          <a:noFill/>
          <a:ln/>
        </p:spPr>
        <p:txBody>
          <a:bodyPr wrap="square" lIns="0" tIns="0" rIns="0" bIns="0" rtlCol="0" anchor="ctr"/>
          <a:lstStyle/>
          <a:p>
            <a:pPr marL="0" indent="0">
              <a:lnSpc>
                <a:spcPct val="135000"/>
              </a:lnSpc>
              <a:buNone/>
            </a:pPr>
            <a:r>
              <a:rPr lang="en-US" sz="1600" dirty="0">
                <a:solidFill>
                  <a:srgbClr val="1B2233"/>
                </a:solidFill>
                <a:latin typeface="Calibri" pitchFamily="34" charset="0"/>
                <a:ea typeface="Calibri" pitchFamily="34" charset="-122"/>
                <a:cs typeface="Calibri" pitchFamily="34" charset="-120"/>
              </a:rPr>
              <a:t>where h = height of the subtree. Each call does O(1) work (compare 2 children) then recurses one level down.
</a:t>
            </a:r>
            <a:r>
              <a:rPr lang="en-US" sz="1600" b="1" dirty="0">
                <a:solidFill>
                  <a:srgbClr val="1F6F4A"/>
                </a:solidFill>
                <a:latin typeface="Calibri" pitchFamily="34" charset="0"/>
                <a:ea typeface="Calibri" pitchFamily="34" charset="-122"/>
                <a:cs typeface="Calibri" pitchFamily="34" charset="-120"/>
              </a:rPr>
              <a:t>T(h) = Θ(h)</a:t>
            </a:r>
            <a:r>
              <a:rPr lang="en-US" sz="1600" dirty="0">
                <a:solidFill>
                  <a:srgbClr val="1B2233"/>
                </a:solidFill>
                <a:latin typeface="Calibri" pitchFamily="34" charset="0"/>
                <a:ea typeface="Calibri" pitchFamily="34" charset="-122"/>
                <a:cs typeface="Calibri" pitchFamily="34" charset="-120"/>
              </a:rPr>
              <a:t>  and since h ≤ log₂ n,   </a:t>
            </a:r>
            <a:r>
              <a:rPr lang="en-US" sz="1600" b="1" dirty="0">
                <a:solidFill>
                  <a:srgbClr val="1F6F4A"/>
                </a:solidFill>
                <a:latin typeface="Calibri" pitchFamily="34" charset="0"/>
                <a:ea typeface="Calibri" pitchFamily="34" charset="-122"/>
                <a:cs typeface="Calibri" pitchFamily="34" charset="-120"/>
              </a:rPr>
              <a:t>MAX-HEAPIFY is O(log n)</a:t>
            </a:r>
            <a:endParaRPr lang="en-US" sz="1600" dirty="0"/>
          </a:p>
        </p:txBody>
      </p:sp>
      <p:sp>
        <p:nvSpPr>
          <p:cNvPr id="10" name="Shape 8"/>
          <p:cNvSpPr/>
          <p:nvPr/>
        </p:nvSpPr>
        <p:spPr>
          <a:xfrm>
            <a:off x="6172200" y="1417320"/>
            <a:ext cx="5440680" cy="2331720"/>
          </a:xfrm>
          <a:prstGeom prst="roundRect">
            <a:avLst>
              <a:gd name="adj" fmla="val 3922"/>
            </a:avLst>
          </a:prstGeom>
          <a:solidFill>
            <a:srgbClr val="F5F6FE"/>
          </a:solidFill>
          <a:ln w="12700">
            <a:solidFill>
              <a:srgbClr val="BFE3D0"/>
            </a:solidFill>
            <a:prstDash val="solid"/>
          </a:ln>
        </p:spPr>
      </p:sp>
      <p:sp>
        <p:nvSpPr>
          <p:cNvPr id="11" name="Text 9"/>
          <p:cNvSpPr txBox="1"/>
          <p:nvPr/>
        </p:nvSpPr>
        <p:spPr>
          <a:xfrm>
            <a:off x="6400800" y="1554480"/>
            <a:ext cx="4937760" cy="274320"/>
          </a:xfrm>
          <a:prstGeom prst="rect">
            <a:avLst/>
          </a:prstGeom>
          <a:noFill/>
          <a:ln/>
        </p:spPr>
        <p:txBody>
          <a:bodyPr wrap="square" lIns="0" tIns="0" rIns="0" bIns="0" rtlCol="0" anchor="ctr"/>
          <a:lstStyle/>
          <a:p>
            <a:pPr marL="0" indent="0">
              <a:buNone/>
            </a:pPr>
            <a:r>
              <a:rPr lang="en-US" sz="1050" b="1" kern="0" spc="50" dirty="0">
                <a:solidFill>
                  <a:srgbClr val="D97706"/>
                </a:solidFill>
                <a:latin typeface="Calibri" pitchFamily="34" charset="0"/>
                <a:ea typeface="Calibri" pitchFamily="34" charset="-122"/>
                <a:cs typeface="Calibri" pitchFamily="34" charset="-120"/>
              </a:rPr>
              <a:t>BUILD-MAX-HEAP: SUMMING BY HEIGHT</a:t>
            </a:r>
            <a:endParaRPr lang="en-US" sz="1050" dirty="0"/>
          </a:p>
        </p:txBody>
      </p:sp>
      <p:sp>
        <p:nvSpPr>
          <p:cNvPr id="12" name="Text 10"/>
          <p:cNvSpPr txBox="1"/>
          <p:nvPr/>
        </p:nvSpPr>
        <p:spPr>
          <a:xfrm>
            <a:off x="6400800" y="1828800"/>
            <a:ext cx="4937760" cy="365760"/>
          </a:xfrm>
          <a:prstGeom prst="rect">
            <a:avLst/>
          </a:prstGeom>
          <a:noFill/>
          <a:ln/>
        </p:spPr>
        <p:txBody>
          <a:bodyPr wrap="square" lIns="0" tIns="0" rIns="0" bIns="0" rtlCol="0" anchor="ctr"/>
          <a:lstStyle/>
          <a:p>
            <a:pPr marL="0" indent="0">
              <a:buNone/>
            </a:pPr>
            <a:r>
              <a:rPr lang="en-US" sz="1600" b="1" dirty="0">
                <a:solidFill>
                  <a:srgbClr val="14281E"/>
                </a:solidFill>
                <a:latin typeface="Courier New" pitchFamily="34" charset="0"/>
                <a:ea typeface="Courier New" pitchFamily="34" charset="-122"/>
                <a:cs typeface="Courier New" pitchFamily="34" charset="-120"/>
              </a:rPr>
              <a:t>At most ⌈n/2^(h+1)⌉ nodes have height h</a:t>
            </a:r>
            <a:endParaRPr lang="en-US" sz="1600" dirty="0"/>
          </a:p>
        </p:txBody>
      </p:sp>
      <p:sp>
        <p:nvSpPr>
          <p:cNvPr id="13" name="Text 11"/>
          <p:cNvSpPr txBox="1"/>
          <p:nvPr/>
        </p:nvSpPr>
        <p:spPr>
          <a:xfrm>
            <a:off x="6400800" y="2286000"/>
            <a:ext cx="4937760" cy="1371600"/>
          </a:xfrm>
          <a:prstGeom prst="rect">
            <a:avLst/>
          </a:prstGeom>
          <a:noFill/>
          <a:ln/>
        </p:spPr>
        <p:txBody>
          <a:bodyPr wrap="square" lIns="0" tIns="0" rIns="0" bIns="0" rtlCol="0" anchor="ctr"/>
          <a:lstStyle/>
          <a:p>
            <a:pPr marL="0" indent="0">
              <a:lnSpc>
                <a:spcPct val="130000"/>
              </a:lnSpc>
              <a:buNone/>
            </a:pPr>
            <a:r>
              <a:rPr lang="en-US" sz="1400" dirty="0">
                <a:solidFill>
                  <a:srgbClr val="1B2233"/>
                </a:solidFill>
                <a:latin typeface="Calibri" pitchFamily="34" charset="0"/>
                <a:ea typeface="Calibri" pitchFamily="34" charset="-122"/>
                <a:cs typeface="Calibri" pitchFamily="34" charset="-120"/>
              </a:rPr>
              <a:t>Total work  =  Σ (nodes at height h) × O(h)  =  </a:t>
            </a:r>
            <a:r>
              <a:rPr lang="en-US" sz="1400" b="1" dirty="0">
                <a:solidFill>
                  <a:srgbClr val="D97706"/>
                </a:solidFill>
                <a:latin typeface="Calibri" pitchFamily="34" charset="0"/>
                <a:ea typeface="Calibri" pitchFamily="34" charset="-122"/>
                <a:cs typeface="Calibri" pitchFamily="34" charset="-120"/>
              </a:rPr>
              <a:t>n · Σ h/2^h</a:t>
            </a:r>
            <a:r>
              <a:rPr lang="en-US" sz="1400" dirty="0">
                <a:solidFill>
                  <a:srgbClr val="1B2233"/>
                </a:solidFill>
                <a:latin typeface="Calibri" pitchFamily="34" charset="0"/>
                <a:ea typeface="Calibri" pitchFamily="34" charset="-122"/>
                <a:cs typeface="Calibri" pitchFamily="34" charset="-120"/>
              </a:rPr>
              <a:t>
The sum Σ h/2^h (for h=0 to ∞) converges to 2, a constant  ⇒
</a:t>
            </a:r>
            <a:r>
              <a:rPr lang="en-US" sz="1400" b="1" dirty="0">
                <a:solidFill>
                  <a:srgbClr val="D97706"/>
                </a:solidFill>
                <a:latin typeface="Calibri" pitchFamily="34" charset="0"/>
                <a:ea typeface="Calibri" pitchFamily="34" charset="-122"/>
                <a:cs typeface="Calibri" pitchFamily="34" charset="-120"/>
              </a:rPr>
              <a:t>Build-Max-Heap is Θ(n)</a:t>
            </a:r>
            <a:r>
              <a:rPr lang="en-US" sz="1400" b="1" dirty="0">
                <a:solidFill>
                  <a:srgbClr val="DC2626"/>
                </a:solidFill>
                <a:latin typeface="Calibri" pitchFamily="34" charset="0"/>
                <a:ea typeface="Calibri" pitchFamily="34" charset="-122"/>
                <a:cs typeface="Calibri" pitchFamily="34" charset="-120"/>
              </a:rPr>
              <a:t>  — not Θ(n log n)!</a:t>
            </a:r>
            <a:endParaRPr lang="en-US" sz="1400" dirty="0"/>
          </a:p>
        </p:txBody>
      </p:sp>
      <p:sp>
        <p:nvSpPr>
          <p:cNvPr id="14" name="Shape 12"/>
          <p:cNvSpPr/>
          <p:nvPr/>
        </p:nvSpPr>
        <p:spPr>
          <a:xfrm>
            <a:off x="548640" y="3931920"/>
            <a:ext cx="11064240" cy="1234440"/>
          </a:xfrm>
          <a:prstGeom prst="roundRect">
            <a:avLst>
              <a:gd name="adj" fmla="val 7407"/>
            </a:avLst>
          </a:prstGeom>
          <a:solidFill>
            <a:schemeClr val="accent2">
              <a:lumMod val="20000"/>
              <a:lumOff val="80000"/>
            </a:schemeClr>
          </a:solidFill>
          <a:ln w="12700">
            <a:solidFill>
              <a:srgbClr val="14281E"/>
            </a:solidFill>
            <a:prstDash val="solid"/>
          </a:ln>
        </p:spPr>
      </p:sp>
      <p:sp>
        <p:nvSpPr>
          <p:cNvPr id="15" name="Text 13"/>
          <p:cNvSpPr txBox="1"/>
          <p:nvPr/>
        </p:nvSpPr>
        <p:spPr>
          <a:xfrm>
            <a:off x="777240" y="4069080"/>
            <a:ext cx="7315200" cy="256032"/>
          </a:xfrm>
          <a:prstGeom prst="rect">
            <a:avLst/>
          </a:prstGeom>
          <a:noFill/>
          <a:ln/>
        </p:spPr>
        <p:txBody>
          <a:bodyPr wrap="square" lIns="0" tIns="0" rIns="0" bIns="0" rtlCol="0" anchor="ctr"/>
          <a:lstStyle/>
          <a:p>
            <a:pPr marL="0" indent="0">
              <a:buNone/>
            </a:pPr>
            <a:r>
              <a:rPr lang="en-US" sz="1600" b="1" kern="0" spc="100" dirty="0">
                <a:solidFill>
                  <a:srgbClr val="D97706"/>
                </a:solidFill>
                <a:latin typeface="Calibri" pitchFamily="34" charset="0"/>
                <a:ea typeface="Calibri" pitchFamily="34" charset="-122"/>
                <a:cs typeface="Calibri" pitchFamily="34" charset="-120"/>
              </a:rPr>
              <a:t>WHY THE LOOSE BOUND OVERESTIMATES</a:t>
            </a:r>
            <a:endParaRPr lang="en-US" sz="1600" dirty="0"/>
          </a:p>
        </p:txBody>
      </p:sp>
      <p:sp>
        <p:nvSpPr>
          <p:cNvPr id="16" name="Text 14"/>
          <p:cNvSpPr txBox="1"/>
          <p:nvPr/>
        </p:nvSpPr>
        <p:spPr>
          <a:xfrm>
            <a:off x="777240" y="4343400"/>
            <a:ext cx="10607040" cy="77724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Roughly half of all nodes are leaves (height 0, no work); half of what remains are at height 1; and so on. Most of the tree is near the bottom, where MAX-HEAPIFY has almost nothing to do — so the true total is linear, not Θ(n log n).</a:t>
            </a:r>
            <a:endParaRPr lang="en-US" sz="1600" dirty="0"/>
          </a:p>
        </p:txBody>
      </p:sp>
      <p:sp>
        <p:nvSpPr>
          <p:cNvPr id="17" name="Shape 15"/>
          <p:cNvSpPr/>
          <p:nvPr/>
        </p:nvSpPr>
        <p:spPr>
          <a:xfrm>
            <a:off x="548640" y="5349240"/>
            <a:ext cx="11064240" cy="777240"/>
          </a:xfrm>
          <a:prstGeom prst="roundRect">
            <a:avLst>
              <a:gd name="adj" fmla="val 11765"/>
            </a:avLst>
          </a:prstGeom>
          <a:solidFill>
            <a:srgbClr val="E8F5EE"/>
          </a:solidFill>
          <a:ln w="12700">
            <a:solidFill>
              <a:srgbClr val="BFE3D0"/>
            </a:solidFill>
            <a:prstDash val="solid"/>
          </a:ln>
        </p:spPr>
      </p:sp>
      <p:sp>
        <p:nvSpPr>
          <p:cNvPr id="18" name="Text 16"/>
          <p:cNvSpPr txBox="1"/>
          <p:nvPr/>
        </p:nvSpPr>
        <p:spPr>
          <a:xfrm>
            <a:off x="777240" y="5349240"/>
            <a:ext cx="10607040" cy="777240"/>
          </a:xfrm>
          <a:prstGeom prst="rect">
            <a:avLst/>
          </a:prstGeom>
          <a:noFill/>
          <a:ln/>
        </p:spPr>
        <p:txBody>
          <a:bodyPr wrap="square" lIns="0" tIns="0" rIns="0" bIns="0" rtlCol="0" anchor="ctr"/>
          <a:lstStyle/>
          <a:p>
            <a:pPr marL="0" indent="0">
              <a:lnSpc>
                <a:spcPct val="130000"/>
              </a:lnSpc>
              <a:buNone/>
            </a:pPr>
            <a:r>
              <a:rPr lang="en-US" b="1" dirty="0">
                <a:solidFill>
                  <a:srgbClr val="14281E"/>
                </a:solidFill>
                <a:latin typeface="Calibri" pitchFamily="34" charset="0"/>
                <a:ea typeface="Calibri" pitchFamily="34" charset="-122"/>
                <a:cs typeface="Calibri" pitchFamily="34" charset="-120"/>
              </a:rPr>
              <a:t>Extract phase:  </a:t>
            </a:r>
            <a:r>
              <a:rPr lang="en-US" dirty="0">
                <a:solidFill>
                  <a:srgbClr val="5B6584"/>
                </a:solidFill>
                <a:latin typeface="Calibri" pitchFamily="34" charset="0"/>
                <a:ea typeface="Calibri" pitchFamily="34" charset="-122"/>
                <a:cs typeface="Calibri" pitchFamily="34" charset="-120"/>
              </a:rPr>
              <a:t>(n−1) extractions, each doing one swap + one MAX-HEAPIFY at O(log n)  ⇒  Θ(n log n) total  ⇒  overall  T(n) = Θ(n) + Θ(n log n) = </a:t>
            </a:r>
            <a:r>
              <a:rPr lang="en-US" b="1" dirty="0">
                <a:solidFill>
                  <a:srgbClr val="1F6F4A"/>
                </a:solidFill>
                <a:latin typeface="Calibri" pitchFamily="34" charset="0"/>
                <a:ea typeface="Calibri" pitchFamily="34" charset="-122"/>
                <a:cs typeface="Calibri" pitchFamily="34" charset="-120"/>
              </a:rPr>
              <a:t>Θ(n log n)</a:t>
            </a:r>
            <a:endParaRPr lang="en-US" dirty="0"/>
          </a:p>
        </p:txBody>
      </p:sp>
      <p:sp>
        <p:nvSpPr>
          <p:cNvPr id="19" name="Text 1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20" name="Text 1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RIGOROUS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Complexity Summary</a:t>
            </a:r>
            <a:endParaRPr lang="en-US" sz="3000" dirty="0"/>
          </a:p>
        </p:txBody>
      </p:sp>
      <p:sp>
        <p:nvSpPr>
          <p:cNvPr id="6" name="Shape 4"/>
          <p:cNvSpPr/>
          <p:nvPr/>
        </p:nvSpPr>
        <p:spPr>
          <a:xfrm>
            <a:off x="548640" y="1463040"/>
            <a:ext cx="3520440" cy="2377440"/>
          </a:xfrm>
          <a:prstGeom prst="roundRect">
            <a:avLst>
              <a:gd name="adj" fmla="val 3846"/>
            </a:avLst>
          </a:prstGeom>
          <a:solidFill>
            <a:srgbClr val="1F6F4A"/>
          </a:solidFill>
          <a:ln w="12700">
            <a:solidFill>
              <a:srgbClr val="1F6F4A"/>
            </a:solidFill>
            <a:prstDash val="solid"/>
          </a:ln>
        </p:spPr>
      </p:sp>
      <p:sp>
        <p:nvSpPr>
          <p:cNvPr id="7" name="Text 5"/>
          <p:cNvSpPr txBox="1"/>
          <p:nvPr/>
        </p:nvSpPr>
        <p:spPr>
          <a:xfrm>
            <a:off x="777240" y="1664208"/>
            <a:ext cx="3063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BEST CASE</a:t>
            </a:r>
            <a:endParaRPr lang="en-US" sz="1600" dirty="0"/>
          </a:p>
        </p:txBody>
      </p:sp>
      <p:sp>
        <p:nvSpPr>
          <p:cNvPr id="8" name="Text 6"/>
          <p:cNvSpPr txBox="1"/>
          <p:nvPr/>
        </p:nvSpPr>
        <p:spPr>
          <a:xfrm>
            <a:off x="777240" y="1956816"/>
            <a:ext cx="3063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 log n)</a:t>
            </a:r>
            <a:endParaRPr lang="en-US" sz="3200" dirty="0"/>
          </a:p>
        </p:txBody>
      </p:sp>
      <p:sp>
        <p:nvSpPr>
          <p:cNvPr id="9" name="Text 7"/>
          <p:cNvSpPr txBox="1"/>
          <p:nvPr/>
        </p:nvSpPr>
        <p:spPr>
          <a:xfrm>
            <a:off x="777240" y="2743200"/>
            <a:ext cx="3063240" cy="1005840"/>
          </a:xfrm>
          <a:prstGeom prst="rect">
            <a:avLst/>
          </a:prstGeom>
          <a:noFill/>
          <a:ln/>
        </p:spPr>
        <p:txBody>
          <a:bodyPr wrap="square" lIns="0" tIns="0" rIns="0" bIns="0" rtlCol="0" anchor="ctr"/>
          <a:lstStyle/>
          <a:p>
            <a:pPr marL="0" indent="0">
              <a:lnSpc>
                <a:spcPct val="130000"/>
              </a:lnSpc>
              <a:buNone/>
            </a:pPr>
            <a:r>
              <a:rPr lang="en-US" sz="1600" dirty="0">
                <a:solidFill>
                  <a:srgbClr val="F1F3FC"/>
                </a:solidFill>
                <a:latin typeface="Calibri" pitchFamily="34" charset="0"/>
                <a:ea typeface="Calibri" pitchFamily="34" charset="-122"/>
                <a:cs typeface="Calibri" pitchFamily="34" charset="-120"/>
              </a:rPr>
              <a:t>Even a sorted array still needs the full build phase and n−1 extractions.</a:t>
            </a:r>
            <a:endParaRPr lang="en-US" sz="1600" dirty="0"/>
          </a:p>
        </p:txBody>
      </p:sp>
      <p:sp>
        <p:nvSpPr>
          <p:cNvPr id="10" name="Shape 8"/>
          <p:cNvSpPr/>
          <p:nvPr/>
        </p:nvSpPr>
        <p:spPr>
          <a:xfrm>
            <a:off x="4343400" y="1463040"/>
            <a:ext cx="3520440" cy="2377440"/>
          </a:xfrm>
          <a:prstGeom prst="roundRect">
            <a:avLst>
              <a:gd name="adj" fmla="val 3846"/>
            </a:avLst>
          </a:prstGeom>
          <a:solidFill>
            <a:srgbClr val="3FA672"/>
          </a:solidFill>
          <a:ln w="12700">
            <a:solidFill>
              <a:srgbClr val="3FA672"/>
            </a:solidFill>
            <a:prstDash val="solid"/>
          </a:ln>
        </p:spPr>
      </p:sp>
      <p:sp>
        <p:nvSpPr>
          <p:cNvPr id="11" name="Text 9"/>
          <p:cNvSpPr txBox="1"/>
          <p:nvPr/>
        </p:nvSpPr>
        <p:spPr>
          <a:xfrm>
            <a:off x="4572000" y="1664208"/>
            <a:ext cx="3063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AVERAGE CASE</a:t>
            </a:r>
            <a:endParaRPr lang="en-US" sz="1600" dirty="0"/>
          </a:p>
        </p:txBody>
      </p:sp>
      <p:sp>
        <p:nvSpPr>
          <p:cNvPr id="12" name="Text 10"/>
          <p:cNvSpPr txBox="1"/>
          <p:nvPr/>
        </p:nvSpPr>
        <p:spPr>
          <a:xfrm>
            <a:off x="4572000" y="1956816"/>
            <a:ext cx="3063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 log n)</a:t>
            </a:r>
            <a:endParaRPr lang="en-US" sz="3200" dirty="0"/>
          </a:p>
        </p:txBody>
      </p:sp>
      <p:sp>
        <p:nvSpPr>
          <p:cNvPr id="13" name="Text 11"/>
          <p:cNvSpPr txBox="1"/>
          <p:nvPr/>
        </p:nvSpPr>
        <p:spPr>
          <a:xfrm>
            <a:off x="4572000" y="2743200"/>
            <a:ext cx="3063240" cy="1005840"/>
          </a:xfrm>
          <a:prstGeom prst="rect">
            <a:avLst/>
          </a:prstGeom>
          <a:noFill/>
          <a:ln/>
        </p:spPr>
        <p:txBody>
          <a:bodyPr wrap="square" lIns="0" tIns="0" rIns="0" bIns="0" rtlCol="0" anchor="ctr"/>
          <a:lstStyle/>
          <a:p>
            <a:pPr marL="0" indent="0">
              <a:lnSpc>
                <a:spcPct val="130000"/>
              </a:lnSpc>
              <a:buNone/>
            </a:pPr>
            <a:r>
              <a:rPr lang="en-US" sz="1600" dirty="0">
                <a:solidFill>
                  <a:srgbClr val="F1F3FC"/>
                </a:solidFill>
                <a:latin typeface="Calibri" pitchFamily="34" charset="0"/>
                <a:ea typeface="Calibri" pitchFamily="34" charset="-122"/>
                <a:cs typeface="Calibri" pitchFamily="34" charset="-120"/>
              </a:rPr>
              <a:t>Random input — the heap's shape and extraction cost don't depend on data order.</a:t>
            </a:r>
            <a:endParaRPr lang="en-US" sz="1600" dirty="0"/>
          </a:p>
        </p:txBody>
      </p:sp>
      <p:sp>
        <p:nvSpPr>
          <p:cNvPr id="14" name="Shape 12"/>
          <p:cNvSpPr/>
          <p:nvPr/>
        </p:nvSpPr>
        <p:spPr>
          <a:xfrm>
            <a:off x="8138160" y="1463040"/>
            <a:ext cx="3520440" cy="2377440"/>
          </a:xfrm>
          <a:prstGeom prst="roundRect">
            <a:avLst>
              <a:gd name="adj" fmla="val 3846"/>
            </a:avLst>
          </a:prstGeom>
          <a:solidFill>
            <a:srgbClr val="D97706"/>
          </a:solidFill>
          <a:ln w="12700">
            <a:solidFill>
              <a:srgbClr val="D97706"/>
            </a:solidFill>
            <a:prstDash val="solid"/>
          </a:ln>
        </p:spPr>
      </p:sp>
      <p:sp>
        <p:nvSpPr>
          <p:cNvPr id="15" name="Text 13"/>
          <p:cNvSpPr txBox="1"/>
          <p:nvPr/>
        </p:nvSpPr>
        <p:spPr>
          <a:xfrm>
            <a:off x="8366760" y="1664208"/>
            <a:ext cx="3063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WORST CASE</a:t>
            </a:r>
            <a:endParaRPr lang="en-US" sz="1600" dirty="0"/>
          </a:p>
        </p:txBody>
      </p:sp>
      <p:sp>
        <p:nvSpPr>
          <p:cNvPr id="16" name="Text 14"/>
          <p:cNvSpPr txBox="1"/>
          <p:nvPr/>
        </p:nvSpPr>
        <p:spPr>
          <a:xfrm>
            <a:off x="8366760" y="1956816"/>
            <a:ext cx="3063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 log n)</a:t>
            </a:r>
            <a:endParaRPr lang="en-US" sz="3200" dirty="0"/>
          </a:p>
        </p:txBody>
      </p:sp>
      <p:sp>
        <p:nvSpPr>
          <p:cNvPr id="17" name="Text 15"/>
          <p:cNvSpPr txBox="1"/>
          <p:nvPr/>
        </p:nvSpPr>
        <p:spPr>
          <a:xfrm>
            <a:off x="8366760" y="2743200"/>
            <a:ext cx="3063240" cy="1005840"/>
          </a:xfrm>
          <a:prstGeom prst="rect">
            <a:avLst/>
          </a:prstGeom>
          <a:noFill/>
          <a:ln/>
        </p:spPr>
        <p:txBody>
          <a:bodyPr wrap="square" lIns="0" tIns="0" rIns="0" bIns="0" rtlCol="0" anchor="ctr"/>
          <a:lstStyle/>
          <a:p>
            <a:pPr marL="0" indent="0">
              <a:lnSpc>
                <a:spcPct val="130000"/>
              </a:lnSpc>
              <a:buNone/>
            </a:pPr>
            <a:r>
              <a:rPr lang="en-US" sz="1600" dirty="0">
                <a:solidFill>
                  <a:srgbClr val="F1F3FC"/>
                </a:solidFill>
                <a:latin typeface="Calibri" pitchFamily="34" charset="0"/>
                <a:ea typeface="Calibri" pitchFamily="34" charset="-122"/>
                <a:cs typeface="Calibri" pitchFamily="34" charset="-120"/>
              </a:rPr>
              <a:t>No input can force extra work — heap height is fixed by n alone.</a:t>
            </a:r>
            <a:endParaRPr lang="en-US" sz="1600" dirty="0"/>
          </a:p>
        </p:txBody>
      </p:sp>
      <p:sp>
        <p:nvSpPr>
          <p:cNvPr id="18" name="Shape 16"/>
          <p:cNvSpPr/>
          <p:nvPr/>
        </p:nvSpPr>
        <p:spPr>
          <a:xfrm>
            <a:off x="548640" y="4069080"/>
            <a:ext cx="5440680" cy="1920240"/>
          </a:xfrm>
          <a:prstGeom prst="roundRect">
            <a:avLst>
              <a:gd name="adj" fmla="val 4762"/>
            </a:avLst>
          </a:prstGeom>
          <a:solidFill>
            <a:srgbClr val="E8F5EE"/>
          </a:solidFill>
          <a:ln w="12700">
            <a:solidFill>
              <a:srgbClr val="BFE3D0"/>
            </a:solidFill>
            <a:prstDash val="solid"/>
          </a:ln>
        </p:spPr>
      </p:sp>
      <p:sp>
        <p:nvSpPr>
          <p:cNvPr id="19" name="Text 17"/>
          <p:cNvSpPr txBox="1"/>
          <p:nvPr/>
        </p:nvSpPr>
        <p:spPr>
          <a:xfrm>
            <a:off x="777240" y="4224528"/>
            <a:ext cx="4572000" cy="274320"/>
          </a:xfrm>
          <a:prstGeom prst="rect">
            <a:avLst/>
          </a:prstGeom>
          <a:noFill/>
          <a:ln/>
        </p:spPr>
        <p:txBody>
          <a:bodyPr wrap="square" lIns="0" tIns="0" rIns="0" bIns="0" rtlCol="0" anchor="ctr"/>
          <a:lstStyle/>
          <a:p>
            <a:pPr marL="0" indent="0">
              <a:buNone/>
            </a:pPr>
            <a:r>
              <a:rPr lang="en-US" b="1" kern="0" spc="120" dirty="0">
                <a:solidFill>
                  <a:srgbClr val="3FA672"/>
                </a:solidFill>
                <a:latin typeface="Calibri" pitchFamily="34" charset="0"/>
                <a:ea typeface="Calibri" pitchFamily="34" charset="-122"/>
                <a:cs typeface="Calibri" pitchFamily="34" charset="-120"/>
              </a:rPr>
              <a:t>SPACE COMPLEXITY</a:t>
            </a:r>
            <a:endParaRPr lang="en-US" dirty="0"/>
          </a:p>
        </p:txBody>
      </p:sp>
      <p:sp>
        <p:nvSpPr>
          <p:cNvPr id="20" name="Text 18"/>
          <p:cNvSpPr txBox="1"/>
          <p:nvPr/>
        </p:nvSpPr>
        <p:spPr>
          <a:xfrm>
            <a:off x="777240" y="4498848"/>
            <a:ext cx="4937760" cy="502920"/>
          </a:xfrm>
          <a:prstGeom prst="rect">
            <a:avLst/>
          </a:prstGeom>
          <a:noFill/>
          <a:ln/>
        </p:spPr>
        <p:txBody>
          <a:bodyPr wrap="square" lIns="0" tIns="0" rIns="0" bIns="0" rtlCol="0" anchor="ctr"/>
          <a:lstStyle/>
          <a:p>
            <a:pPr marL="0" indent="0">
              <a:buNone/>
            </a:pPr>
            <a:r>
              <a:rPr lang="en-US" sz="2600" b="1" dirty="0">
                <a:solidFill>
                  <a:srgbClr val="1F6F4A"/>
                </a:solidFill>
                <a:latin typeface="Cambria" pitchFamily="34" charset="0"/>
                <a:ea typeface="Cambria" pitchFamily="34" charset="-122"/>
                <a:cs typeface="Cambria" pitchFamily="34" charset="-120"/>
              </a:rPr>
              <a:t>O(1)</a:t>
            </a:r>
            <a:endParaRPr lang="en-US" sz="2600" dirty="0"/>
          </a:p>
        </p:txBody>
      </p:sp>
      <p:sp>
        <p:nvSpPr>
          <p:cNvPr id="21" name="Text 19"/>
          <p:cNvSpPr txBox="1"/>
          <p:nvPr/>
        </p:nvSpPr>
        <p:spPr>
          <a:xfrm>
            <a:off x="777240" y="5029200"/>
            <a:ext cx="4937760" cy="914400"/>
          </a:xfrm>
          <a:prstGeom prst="rect">
            <a:avLst/>
          </a:prstGeom>
          <a:noFill/>
          <a:ln/>
        </p:spPr>
        <p:txBody>
          <a:bodyPr wrap="square" lIns="0" tIns="0" rIns="0" bIns="0" rtlCol="0" anchor="ctr"/>
          <a:lstStyle/>
          <a:p>
            <a:pPr marL="0" indent="0">
              <a:lnSpc>
                <a:spcPct val="125000"/>
              </a:lnSpc>
              <a:buNone/>
            </a:pPr>
            <a:r>
              <a:rPr lang="en-US" sz="1600" dirty="0">
                <a:solidFill>
                  <a:srgbClr val="5B6584"/>
                </a:solidFill>
                <a:latin typeface="Calibri" pitchFamily="34" charset="0"/>
                <a:ea typeface="Calibri" pitchFamily="34" charset="-122"/>
                <a:cs typeface="Calibri" pitchFamily="34" charset="-120"/>
              </a:rPr>
              <a:t>No auxiliary array, and (with an iterative sift-down loop instead of recursion) no meaningful extra stack either — truly constant extra space.</a:t>
            </a:r>
            <a:endParaRPr lang="en-US" sz="1600" dirty="0"/>
          </a:p>
        </p:txBody>
      </p:sp>
      <p:sp>
        <p:nvSpPr>
          <p:cNvPr id="22" name="Shape 20"/>
          <p:cNvSpPr/>
          <p:nvPr/>
        </p:nvSpPr>
        <p:spPr>
          <a:xfrm>
            <a:off x="6172200" y="4069080"/>
            <a:ext cx="5440680" cy="1920240"/>
          </a:xfrm>
          <a:prstGeom prst="roundRect">
            <a:avLst>
              <a:gd name="adj" fmla="val 4762"/>
            </a:avLst>
          </a:prstGeom>
          <a:solidFill>
            <a:schemeClr val="accent5">
              <a:lumMod val="20000"/>
              <a:lumOff val="80000"/>
            </a:schemeClr>
          </a:solidFill>
          <a:ln w="12700">
            <a:solidFill>
              <a:srgbClr val="14281E"/>
            </a:solidFill>
            <a:prstDash val="solid"/>
          </a:ln>
        </p:spPr>
      </p:sp>
      <p:sp>
        <p:nvSpPr>
          <p:cNvPr id="23" name="Text 21"/>
          <p:cNvSpPr txBox="1"/>
          <p:nvPr/>
        </p:nvSpPr>
        <p:spPr>
          <a:xfrm>
            <a:off x="6400800" y="4224528"/>
            <a:ext cx="4937760" cy="274320"/>
          </a:xfrm>
          <a:prstGeom prst="rect">
            <a:avLst/>
          </a:prstGeom>
          <a:noFill/>
          <a:ln/>
        </p:spPr>
        <p:txBody>
          <a:bodyPr wrap="square" lIns="0" tIns="0" rIns="0" bIns="0" rtlCol="0" anchor="ctr"/>
          <a:lstStyle/>
          <a:p>
            <a:pPr marL="0" indent="0">
              <a:buNone/>
            </a:pPr>
            <a:r>
              <a:rPr lang="en-US" b="1" kern="0" spc="100" dirty="0">
                <a:solidFill>
                  <a:srgbClr val="D97706"/>
                </a:solidFill>
                <a:latin typeface="Calibri" pitchFamily="34" charset="0"/>
                <a:ea typeface="Calibri" pitchFamily="34" charset="-122"/>
                <a:cs typeface="Calibri" pitchFamily="34" charset="-120"/>
              </a:rPr>
              <a:t>HEAP SORT vs THE OTHERS</a:t>
            </a:r>
            <a:endParaRPr lang="en-US" dirty="0"/>
          </a:p>
        </p:txBody>
      </p:sp>
      <p:sp>
        <p:nvSpPr>
          <p:cNvPr id="24" name="Text 22"/>
          <p:cNvSpPr txBox="1"/>
          <p:nvPr/>
        </p:nvSpPr>
        <p:spPr>
          <a:xfrm>
            <a:off x="6400800" y="4526280"/>
            <a:ext cx="4937760" cy="137160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Heap Sort is the only algorithm covered so far with BOTH a guaranteed O(n log n) worst case (like Merge Sort) AND O(1) space (better than Quick Sort's O(log n) average).</a:t>
            </a:r>
            <a:endParaRPr lang="en-US" sz="1600" dirty="0"/>
          </a:p>
        </p:txBody>
      </p:sp>
      <p:sp>
        <p:nvSpPr>
          <p:cNvPr id="25" name="Text 2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26" name="Text 2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PROPERTIES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Characteristics of Heap Sort</a:t>
            </a:r>
            <a:endParaRPr lang="en-US" sz="3000" dirty="0"/>
          </a:p>
        </p:txBody>
      </p:sp>
      <p:sp>
        <p:nvSpPr>
          <p:cNvPr id="6" name="Shape 4"/>
          <p:cNvSpPr/>
          <p:nvPr/>
        </p:nvSpPr>
        <p:spPr>
          <a:xfrm>
            <a:off x="548640" y="1463040"/>
            <a:ext cx="5440680" cy="4572000"/>
          </a:xfrm>
          <a:prstGeom prst="roundRect">
            <a:avLst>
              <a:gd name="adj" fmla="val 2000"/>
            </a:avLst>
          </a:prstGeom>
          <a:solidFill>
            <a:srgbClr val="E8F5EE"/>
          </a:solidFill>
          <a:ln w="12700">
            <a:solidFill>
              <a:srgbClr val="BFE3D0"/>
            </a:solidFill>
            <a:prstDash val="solid"/>
          </a:ln>
        </p:spPr>
      </p:sp>
      <p:sp>
        <p:nvSpPr>
          <p:cNvPr id="8" name="Shape 6"/>
          <p:cNvSpPr/>
          <p:nvPr/>
        </p:nvSpPr>
        <p:spPr>
          <a:xfrm>
            <a:off x="777240" y="2039112"/>
            <a:ext cx="310896" cy="310896"/>
          </a:xfrm>
          <a:prstGeom prst="ellipse">
            <a:avLst/>
          </a:prstGeom>
          <a:solidFill>
            <a:srgbClr val="1F6F4A"/>
          </a:solidFill>
          <a:ln/>
        </p:spPr>
      </p:sp>
      <p:sp>
        <p:nvSpPr>
          <p:cNvPr id="9" name="Text 7"/>
          <p:cNvSpPr txBox="1"/>
          <p:nvPr/>
        </p:nvSpPr>
        <p:spPr>
          <a:xfrm>
            <a:off x="777240" y="20391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207008" y="2011680"/>
            <a:ext cx="4572000" cy="274320"/>
          </a:xfrm>
          <a:prstGeom prst="rect">
            <a:avLst/>
          </a:prstGeom>
          <a:noFill/>
          <a:ln/>
        </p:spPr>
        <p:txBody>
          <a:bodyPr wrap="square" lIns="0" tIns="0" rIns="0" bIns="0" rtlCol="0" anchor="ctr"/>
          <a:lstStyle/>
          <a:p>
            <a:pPr marL="0" indent="0">
              <a:buNone/>
            </a:pPr>
            <a:r>
              <a:rPr lang="en-US" b="1" dirty="0">
                <a:solidFill>
                  <a:srgbClr val="14281E"/>
                </a:solidFill>
                <a:latin typeface="Cambria" pitchFamily="34" charset="0"/>
                <a:ea typeface="Cambria" pitchFamily="34" charset="-122"/>
                <a:cs typeface="Cambria" pitchFamily="34" charset="-120"/>
              </a:rPr>
              <a:t>In-Place</a:t>
            </a:r>
            <a:endParaRPr lang="en-US" dirty="0"/>
          </a:p>
        </p:txBody>
      </p:sp>
      <p:sp>
        <p:nvSpPr>
          <p:cNvPr id="11" name="Text 9"/>
          <p:cNvSpPr txBox="1"/>
          <p:nvPr/>
        </p:nvSpPr>
        <p:spPr>
          <a:xfrm>
            <a:off x="1207008" y="2304288"/>
            <a:ext cx="4572000" cy="54864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Sorts within the array with O(1) extra space — the best of any algorithm covered.</a:t>
            </a:r>
            <a:endParaRPr lang="en-US" sz="1600" dirty="0"/>
          </a:p>
        </p:txBody>
      </p:sp>
      <p:sp>
        <p:nvSpPr>
          <p:cNvPr id="12" name="Shape 10"/>
          <p:cNvSpPr/>
          <p:nvPr/>
        </p:nvSpPr>
        <p:spPr>
          <a:xfrm>
            <a:off x="777240" y="3090672"/>
            <a:ext cx="310896" cy="310896"/>
          </a:xfrm>
          <a:prstGeom prst="ellipse">
            <a:avLst/>
          </a:prstGeom>
          <a:solidFill>
            <a:srgbClr val="1F6F4A"/>
          </a:solidFill>
          <a:ln/>
        </p:spPr>
      </p:sp>
      <p:sp>
        <p:nvSpPr>
          <p:cNvPr id="13" name="Text 11"/>
          <p:cNvSpPr txBox="1"/>
          <p:nvPr/>
        </p:nvSpPr>
        <p:spPr>
          <a:xfrm>
            <a:off x="777240" y="30906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207008" y="3063240"/>
            <a:ext cx="4572000" cy="274320"/>
          </a:xfrm>
          <a:prstGeom prst="rect">
            <a:avLst/>
          </a:prstGeom>
          <a:noFill/>
          <a:ln/>
        </p:spPr>
        <p:txBody>
          <a:bodyPr wrap="square" lIns="0" tIns="0" rIns="0" bIns="0" rtlCol="0" anchor="ctr"/>
          <a:lstStyle/>
          <a:p>
            <a:pPr marL="0" indent="0">
              <a:buNone/>
            </a:pPr>
            <a:r>
              <a:rPr lang="en-US" b="1" dirty="0">
                <a:solidFill>
                  <a:srgbClr val="14281E"/>
                </a:solidFill>
                <a:latin typeface="Cambria" pitchFamily="34" charset="0"/>
                <a:ea typeface="Cambria" pitchFamily="34" charset="-122"/>
                <a:cs typeface="Cambria" pitchFamily="34" charset="-120"/>
              </a:rPr>
              <a:t>Not Stable</a:t>
            </a:r>
            <a:endParaRPr lang="en-US" dirty="0"/>
          </a:p>
        </p:txBody>
      </p:sp>
      <p:sp>
        <p:nvSpPr>
          <p:cNvPr id="15" name="Text 13"/>
          <p:cNvSpPr txBox="1"/>
          <p:nvPr/>
        </p:nvSpPr>
        <p:spPr>
          <a:xfrm>
            <a:off x="1207008" y="3355848"/>
            <a:ext cx="4572000" cy="54864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Sift-down swaps can move an element past an equal one.</a:t>
            </a:r>
            <a:endParaRPr lang="en-US" sz="1600" dirty="0"/>
          </a:p>
        </p:txBody>
      </p:sp>
      <p:sp>
        <p:nvSpPr>
          <p:cNvPr id="16" name="Shape 14"/>
          <p:cNvSpPr/>
          <p:nvPr/>
        </p:nvSpPr>
        <p:spPr>
          <a:xfrm>
            <a:off x="777240" y="4142232"/>
            <a:ext cx="310896" cy="310896"/>
          </a:xfrm>
          <a:prstGeom prst="ellipse">
            <a:avLst/>
          </a:prstGeom>
          <a:solidFill>
            <a:srgbClr val="1F6F4A"/>
          </a:solidFill>
          <a:ln/>
        </p:spPr>
      </p:sp>
      <p:sp>
        <p:nvSpPr>
          <p:cNvPr id="17" name="Text 15"/>
          <p:cNvSpPr txBox="1"/>
          <p:nvPr/>
        </p:nvSpPr>
        <p:spPr>
          <a:xfrm>
            <a:off x="777240" y="414223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207008" y="4114800"/>
            <a:ext cx="4572000" cy="274320"/>
          </a:xfrm>
          <a:prstGeom prst="rect">
            <a:avLst/>
          </a:prstGeom>
          <a:noFill/>
          <a:ln/>
        </p:spPr>
        <p:txBody>
          <a:bodyPr wrap="square" lIns="0" tIns="0" rIns="0" bIns="0" rtlCol="0" anchor="ctr"/>
          <a:lstStyle/>
          <a:p>
            <a:pPr marL="0" indent="0">
              <a:buNone/>
            </a:pPr>
            <a:r>
              <a:rPr lang="en-US" b="1" dirty="0">
                <a:solidFill>
                  <a:srgbClr val="14281E"/>
                </a:solidFill>
                <a:latin typeface="Cambria" pitchFamily="34" charset="0"/>
                <a:ea typeface="Cambria" pitchFamily="34" charset="-122"/>
                <a:cs typeface="Cambria" pitchFamily="34" charset="-120"/>
              </a:rPr>
              <a:t>Comparison-Based</a:t>
            </a:r>
            <a:endParaRPr lang="en-US" dirty="0"/>
          </a:p>
        </p:txBody>
      </p:sp>
      <p:sp>
        <p:nvSpPr>
          <p:cNvPr id="19" name="Text 17"/>
          <p:cNvSpPr txBox="1"/>
          <p:nvPr/>
        </p:nvSpPr>
        <p:spPr>
          <a:xfrm>
            <a:off x="1207008" y="4407408"/>
            <a:ext cx="4572000" cy="54864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Every decision compares a node to its children.</a:t>
            </a:r>
            <a:endParaRPr lang="en-US" sz="1600" dirty="0"/>
          </a:p>
        </p:txBody>
      </p:sp>
      <p:sp>
        <p:nvSpPr>
          <p:cNvPr id="20" name="Shape 18"/>
          <p:cNvSpPr/>
          <p:nvPr/>
        </p:nvSpPr>
        <p:spPr>
          <a:xfrm>
            <a:off x="777240" y="5193792"/>
            <a:ext cx="310896" cy="310896"/>
          </a:xfrm>
          <a:prstGeom prst="ellipse">
            <a:avLst/>
          </a:prstGeom>
          <a:solidFill>
            <a:srgbClr val="1F6F4A"/>
          </a:solidFill>
          <a:ln/>
        </p:spPr>
      </p:sp>
      <p:sp>
        <p:nvSpPr>
          <p:cNvPr id="21" name="Text 19"/>
          <p:cNvSpPr txBox="1"/>
          <p:nvPr/>
        </p:nvSpPr>
        <p:spPr>
          <a:xfrm>
            <a:off x="777240" y="51937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txBox="1"/>
          <p:nvPr/>
        </p:nvSpPr>
        <p:spPr>
          <a:xfrm>
            <a:off x="1207008" y="5166360"/>
            <a:ext cx="4572000" cy="274320"/>
          </a:xfrm>
          <a:prstGeom prst="rect">
            <a:avLst/>
          </a:prstGeom>
          <a:noFill/>
          <a:ln/>
        </p:spPr>
        <p:txBody>
          <a:bodyPr wrap="square" lIns="0" tIns="0" rIns="0" bIns="0" rtlCol="0" anchor="ctr"/>
          <a:lstStyle/>
          <a:p>
            <a:pPr marL="0" indent="0">
              <a:buNone/>
            </a:pPr>
            <a:r>
              <a:rPr lang="en-US" b="1" dirty="0">
                <a:solidFill>
                  <a:srgbClr val="14281E"/>
                </a:solidFill>
                <a:latin typeface="Cambria" pitchFamily="34" charset="0"/>
                <a:ea typeface="Cambria" pitchFamily="34" charset="-122"/>
                <a:cs typeface="Cambria" pitchFamily="34" charset="-120"/>
              </a:rPr>
              <a:t>Guaranteed Performance</a:t>
            </a:r>
            <a:endParaRPr lang="en-US" dirty="0"/>
          </a:p>
        </p:txBody>
      </p:sp>
      <p:sp>
        <p:nvSpPr>
          <p:cNvPr id="23" name="Text 21"/>
          <p:cNvSpPr txBox="1"/>
          <p:nvPr/>
        </p:nvSpPr>
        <p:spPr>
          <a:xfrm>
            <a:off x="1207008" y="5458968"/>
            <a:ext cx="4572000" cy="548640"/>
          </a:xfrm>
          <a:prstGeom prst="rect">
            <a:avLst/>
          </a:prstGeom>
          <a:noFill/>
          <a:ln/>
        </p:spPr>
        <p:txBody>
          <a:bodyPr wrap="square" lIns="0" tIns="0" rIns="0" bIns="0" rtlCol="0" anchor="ctr"/>
          <a:lstStyle/>
          <a:p>
            <a:pPr marL="0" indent="0">
              <a:lnSpc>
                <a:spcPct val="120000"/>
              </a:lnSpc>
              <a:buNone/>
            </a:pPr>
            <a:r>
              <a:rPr lang="en-US" sz="1600" dirty="0">
                <a:solidFill>
                  <a:srgbClr val="5B6584"/>
                </a:solidFill>
                <a:latin typeface="Calibri" pitchFamily="34" charset="0"/>
                <a:ea typeface="Calibri" pitchFamily="34" charset="-122"/>
                <a:cs typeface="Calibri" pitchFamily="34" charset="-120"/>
              </a:rPr>
              <a:t>O(n log n) in every case — no data pattern can force worse behavior.</a:t>
            </a:r>
            <a:endParaRPr lang="en-US" sz="1600" dirty="0"/>
          </a:p>
        </p:txBody>
      </p:sp>
      <p:sp>
        <p:nvSpPr>
          <p:cNvPr id="24" name="Shape 22"/>
          <p:cNvSpPr/>
          <p:nvPr/>
        </p:nvSpPr>
        <p:spPr>
          <a:xfrm>
            <a:off x="6263640" y="1463040"/>
            <a:ext cx="5349240" cy="4572000"/>
          </a:xfrm>
          <a:prstGeom prst="roundRect">
            <a:avLst>
              <a:gd name="adj" fmla="val 2000"/>
            </a:avLst>
          </a:prstGeom>
          <a:solidFill>
            <a:schemeClr val="accent2">
              <a:lumMod val="20000"/>
              <a:lumOff val="80000"/>
            </a:schemeClr>
          </a:solidFill>
          <a:ln w="12700">
            <a:solidFill>
              <a:srgbClr val="14281E"/>
            </a:solidFill>
            <a:prstDash val="solid"/>
          </a:ln>
        </p:spPr>
      </p:sp>
      <p:sp>
        <p:nvSpPr>
          <p:cNvPr id="25" name="Text 23"/>
          <p:cNvSpPr txBox="1"/>
          <p:nvPr/>
        </p:nvSpPr>
        <p:spPr>
          <a:xfrm>
            <a:off x="6492240" y="1627632"/>
            <a:ext cx="4846320" cy="274320"/>
          </a:xfrm>
          <a:prstGeom prst="rect">
            <a:avLst/>
          </a:prstGeom>
          <a:noFill/>
          <a:ln/>
        </p:spPr>
        <p:txBody>
          <a:bodyPr wrap="square" lIns="0" tIns="0" rIns="0" bIns="0" rtlCol="0" anchor="ctr"/>
          <a:lstStyle/>
          <a:p>
            <a:pPr marL="0" indent="0">
              <a:buNone/>
            </a:pPr>
            <a:r>
              <a:rPr lang="en-US" b="1" kern="0" spc="100" dirty="0">
                <a:solidFill>
                  <a:srgbClr val="D97706"/>
                </a:solidFill>
                <a:latin typeface="Calibri" pitchFamily="34" charset="0"/>
                <a:ea typeface="Calibri" pitchFamily="34" charset="-122"/>
                <a:cs typeface="Calibri" pitchFamily="34" charset="-120"/>
              </a:rPr>
              <a:t>WHY “NOT STABLE”? A QUICK EXAMPLE</a:t>
            </a:r>
            <a:endParaRPr lang="en-US" dirty="0"/>
          </a:p>
        </p:txBody>
      </p:sp>
      <p:sp>
        <p:nvSpPr>
          <p:cNvPr id="26" name="Text 24"/>
          <p:cNvSpPr txBox="1"/>
          <p:nvPr/>
        </p:nvSpPr>
        <p:spPr>
          <a:xfrm>
            <a:off x="6492240" y="1938528"/>
            <a:ext cx="4846320" cy="502920"/>
          </a:xfrm>
          <a:prstGeom prst="rect">
            <a:avLst/>
          </a:prstGeom>
          <a:noFill/>
          <a:ln/>
        </p:spPr>
        <p:txBody>
          <a:bodyPr wrap="square" lIns="0" tIns="0" rIns="0" bIns="0" rtlCol="0" anchor="ctr"/>
          <a:lstStyle/>
          <a:p>
            <a:pPr marL="0" indent="0">
              <a:lnSpc>
                <a:spcPct val="125000"/>
              </a:lnSpc>
              <a:buNone/>
            </a:pPr>
            <a:r>
              <a:rPr lang="en-US" sz="1400" b="1" dirty="0">
                <a:latin typeface="Calibri" pitchFamily="34" charset="0"/>
                <a:ea typeface="Calibri" pitchFamily="34" charset="-122"/>
                <a:cs typeface="Calibri" pitchFamily="34" charset="-120"/>
              </a:rPr>
              <a:t>Take two equal-valued elements, tagged to track their original order, already arranged as a valid max-heap:</a:t>
            </a:r>
            <a:endParaRPr lang="en-US" sz="1400" b="1" dirty="0"/>
          </a:p>
        </p:txBody>
      </p:sp>
      <p:sp>
        <p:nvSpPr>
          <p:cNvPr id="27" name="Shape 25"/>
          <p:cNvSpPr/>
          <p:nvPr/>
        </p:nvSpPr>
        <p:spPr>
          <a:xfrm>
            <a:off x="6492240" y="2487168"/>
            <a:ext cx="566928" cy="566928"/>
          </a:xfrm>
          <a:prstGeom prst="roundRect">
            <a:avLst>
              <a:gd name="adj" fmla="val 12903"/>
            </a:avLst>
          </a:prstGeom>
          <a:solidFill>
            <a:srgbClr val="FFFFFF"/>
          </a:solidFill>
          <a:ln w="22225">
            <a:solidFill>
              <a:srgbClr val="3FA672"/>
            </a:solidFill>
            <a:prstDash val="solid"/>
          </a:ln>
        </p:spPr>
      </p:sp>
      <p:sp>
        <p:nvSpPr>
          <p:cNvPr id="28" name="Text 26"/>
          <p:cNvSpPr txBox="1"/>
          <p:nvPr/>
        </p:nvSpPr>
        <p:spPr>
          <a:xfrm>
            <a:off x="6492240" y="2487168"/>
            <a:ext cx="566928" cy="566928"/>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5a</a:t>
            </a:r>
            <a:endParaRPr lang="en-US" sz="1200" dirty="0"/>
          </a:p>
        </p:txBody>
      </p:sp>
      <p:sp>
        <p:nvSpPr>
          <p:cNvPr id="29" name="Shape 27"/>
          <p:cNvSpPr/>
          <p:nvPr/>
        </p:nvSpPr>
        <p:spPr>
          <a:xfrm>
            <a:off x="7168896" y="2487168"/>
            <a:ext cx="566928" cy="566928"/>
          </a:xfrm>
          <a:prstGeom prst="roundRect">
            <a:avLst>
              <a:gd name="adj" fmla="val 12903"/>
            </a:avLst>
          </a:prstGeom>
          <a:solidFill>
            <a:srgbClr val="FFFFFF"/>
          </a:solidFill>
          <a:ln w="22225">
            <a:solidFill>
              <a:srgbClr val="3FA672"/>
            </a:solidFill>
            <a:prstDash val="solid"/>
          </a:ln>
        </p:spPr>
      </p:sp>
      <p:sp>
        <p:nvSpPr>
          <p:cNvPr id="30" name="Text 28"/>
          <p:cNvSpPr txBox="1"/>
          <p:nvPr/>
        </p:nvSpPr>
        <p:spPr>
          <a:xfrm>
            <a:off x="7168896" y="2487168"/>
            <a:ext cx="566928" cy="566928"/>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5b</a:t>
            </a:r>
            <a:endParaRPr lang="en-US" sz="1200" dirty="0"/>
          </a:p>
        </p:txBody>
      </p:sp>
      <p:sp>
        <p:nvSpPr>
          <p:cNvPr id="31" name="Shape 29"/>
          <p:cNvSpPr/>
          <p:nvPr/>
        </p:nvSpPr>
        <p:spPr>
          <a:xfrm>
            <a:off x="7845552" y="2487168"/>
            <a:ext cx="566928" cy="566928"/>
          </a:xfrm>
          <a:prstGeom prst="roundRect">
            <a:avLst>
              <a:gd name="adj" fmla="val 12903"/>
            </a:avLst>
          </a:prstGeom>
          <a:solidFill>
            <a:srgbClr val="FFFFFF"/>
          </a:solidFill>
          <a:ln w="22225">
            <a:solidFill>
              <a:srgbClr val="3FA672"/>
            </a:solidFill>
            <a:prstDash val="solid"/>
          </a:ln>
        </p:spPr>
      </p:sp>
      <p:sp>
        <p:nvSpPr>
          <p:cNvPr id="32" name="Text 30"/>
          <p:cNvSpPr txBox="1"/>
          <p:nvPr/>
        </p:nvSpPr>
        <p:spPr>
          <a:xfrm>
            <a:off x="7845552" y="2487168"/>
            <a:ext cx="566928" cy="566928"/>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2</a:t>
            </a:r>
            <a:endParaRPr lang="en-US" sz="1200" dirty="0"/>
          </a:p>
        </p:txBody>
      </p:sp>
      <p:sp>
        <p:nvSpPr>
          <p:cNvPr id="33" name="Text 31"/>
          <p:cNvSpPr txBox="1"/>
          <p:nvPr/>
        </p:nvSpPr>
        <p:spPr>
          <a:xfrm>
            <a:off x="6492240" y="3108960"/>
            <a:ext cx="4846320" cy="1005840"/>
          </a:xfrm>
          <a:prstGeom prst="rect">
            <a:avLst/>
          </a:prstGeom>
          <a:noFill/>
          <a:ln/>
        </p:spPr>
        <p:txBody>
          <a:bodyPr wrap="square" lIns="0" tIns="0" rIns="0" bIns="0" rtlCol="0" anchor="ctr"/>
          <a:lstStyle/>
          <a:p>
            <a:pPr marL="0" indent="0">
              <a:lnSpc>
                <a:spcPct val="130000"/>
              </a:lnSpc>
              <a:buNone/>
            </a:pPr>
            <a:r>
              <a:rPr lang="en-US" sz="1400" b="1" dirty="0">
                <a:latin typeface="Calibri" pitchFamily="34" charset="0"/>
                <a:ea typeface="Calibri" pitchFamily="34" charset="-122"/>
                <a:cs typeface="Calibri" pitchFamily="34" charset="-120"/>
              </a:rPr>
              <a:t>Extracting swaps A[0]=5a with the last element (2), then sifts the new root down — 5b can easily end up ahead of 5a in the output, since the swap mechanics never check which equal element arrived first.</a:t>
            </a:r>
            <a:endParaRPr lang="en-US" sz="1400" b="1" dirty="0"/>
          </a:p>
        </p:txBody>
      </p:sp>
      <p:sp>
        <p:nvSpPr>
          <p:cNvPr id="34" name="Text 32"/>
          <p:cNvSpPr txBox="1"/>
          <p:nvPr/>
        </p:nvSpPr>
        <p:spPr>
          <a:xfrm>
            <a:off x="6492240" y="4206240"/>
            <a:ext cx="4846320" cy="548640"/>
          </a:xfrm>
          <a:prstGeom prst="rect">
            <a:avLst/>
          </a:prstGeom>
          <a:noFill/>
          <a:ln/>
        </p:spPr>
        <p:txBody>
          <a:bodyPr wrap="square" lIns="0" tIns="0" rIns="0" bIns="0" rtlCol="0" anchor="ctr"/>
          <a:lstStyle/>
          <a:p>
            <a:pPr marL="0" indent="0">
              <a:lnSpc>
                <a:spcPct val="125000"/>
              </a:lnSpc>
              <a:buNone/>
            </a:pPr>
            <a:r>
              <a:rPr lang="en-US" sz="1400" b="1" i="1" dirty="0">
                <a:latin typeface="Calibri" pitchFamily="34" charset="0"/>
                <a:ea typeface="Calibri" pitchFamily="34" charset="-122"/>
                <a:cs typeface="Calibri" pitchFamily="34" charset="-120"/>
              </a:rPr>
              <a:t>Contrast with Merge Sort's MERGE, whose L[i] ≤ R[j] tie-break rule guarantees stability by design.</a:t>
            </a:r>
            <a:endParaRPr lang="en-US" sz="1400" b="1" dirty="0"/>
          </a:p>
        </p:txBody>
      </p:sp>
      <p:sp>
        <p:nvSpPr>
          <p:cNvPr id="35" name="Text 3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36" name="Text 3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COMPARATIVE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Heap Sort vs Other Sorting Algorithms</a:t>
            </a:r>
            <a:endParaRPr lang="en-US" sz="3000" dirty="0"/>
          </a:p>
        </p:txBody>
      </p:sp>
      <p:sp>
        <p:nvSpPr>
          <p:cNvPr id="6" name="Shape 4"/>
          <p:cNvSpPr/>
          <p:nvPr/>
        </p:nvSpPr>
        <p:spPr>
          <a:xfrm>
            <a:off x="548640" y="1463040"/>
            <a:ext cx="11064240" cy="457200"/>
          </a:xfrm>
          <a:prstGeom prst="roundRect">
            <a:avLst>
              <a:gd name="adj" fmla="val 20000"/>
            </a:avLst>
          </a:prstGeom>
          <a:solidFill>
            <a:srgbClr val="1F6F4A"/>
          </a:solidFill>
          <a:ln w="12700">
            <a:solidFill>
              <a:srgbClr val="1F6F4A"/>
            </a:solidFill>
            <a:prstDash val="solid"/>
          </a:ln>
        </p:spPr>
      </p:sp>
      <p:sp>
        <p:nvSpPr>
          <p:cNvPr id="7" name="Text 5"/>
          <p:cNvSpPr txBox="1"/>
          <p:nvPr/>
        </p:nvSpPr>
        <p:spPr>
          <a:xfrm>
            <a:off x="548640" y="1463040"/>
            <a:ext cx="24688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p>
        </p:txBody>
      </p:sp>
      <p:sp>
        <p:nvSpPr>
          <p:cNvPr id="8" name="Text 6"/>
          <p:cNvSpPr txBox="1"/>
          <p:nvPr/>
        </p:nvSpPr>
        <p:spPr>
          <a:xfrm>
            <a:off x="3017520" y="1463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Best</a:t>
            </a:r>
            <a:endParaRPr lang="en-US" sz="1200" dirty="0"/>
          </a:p>
        </p:txBody>
      </p:sp>
      <p:sp>
        <p:nvSpPr>
          <p:cNvPr id="9" name="Text 7"/>
          <p:cNvSpPr txBox="1"/>
          <p:nvPr/>
        </p:nvSpPr>
        <p:spPr>
          <a:xfrm>
            <a:off x="4709160" y="1463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Average</a:t>
            </a:r>
            <a:endParaRPr lang="en-US" sz="1200" dirty="0"/>
          </a:p>
        </p:txBody>
      </p:sp>
      <p:sp>
        <p:nvSpPr>
          <p:cNvPr id="10" name="Text 8"/>
          <p:cNvSpPr txBox="1"/>
          <p:nvPr/>
        </p:nvSpPr>
        <p:spPr>
          <a:xfrm>
            <a:off x="6400800" y="1463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Worst</a:t>
            </a:r>
            <a:endParaRPr lang="en-US" sz="1200" dirty="0"/>
          </a:p>
        </p:txBody>
      </p:sp>
      <p:sp>
        <p:nvSpPr>
          <p:cNvPr id="11" name="Text 9"/>
          <p:cNvSpPr txBox="1"/>
          <p:nvPr/>
        </p:nvSpPr>
        <p:spPr>
          <a:xfrm>
            <a:off x="8092440" y="146304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Stable</a:t>
            </a:r>
            <a:endParaRPr lang="en-US" sz="1200" dirty="0"/>
          </a:p>
        </p:txBody>
      </p:sp>
      <p:sp>
        <p:nvSpPr>
          <p:cNvPr id="12" name="Text 10"/>
          <p:cNvSpPr txBox="1"/>
          <p:nvPr/>
        </p:nvSpPr>
        <p:spPr>
          <a:xfrm>
            <a:off x="9555480" y="1463040"/>
            <a:ext cx="20574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Extra Space</a:t>
            </a:r>
            <a:endParaRPr lang="en-US" sz="1200" dirty="0"/>
          </a:p>
        </p:txBody>
      </p:sp>
      <p:sp>
        <p:nvSpPr>
          <p:cNvPr id="13" name="Shape 11"/>
          <p:cNvSpPr/>
          <p:nvPr/>
        </p:nvSpPr>
        <p:spPr>
          <a:xfrm>
            <a:off x="548640" y="1920240"/>
            <a:ext cx="11064240" cy="475488"/>
          </a:xfrm>
          <a:prstGeom prst="roundRect">
            <a:avLst>
              <a:gd name="adj" fmla="val 19231"/>
            </a:avLst>
          </a:prstGeom>
          <a:solidFill>
            <a:srgbClr val="F5F6FE"/>
          </a:solidFill>
          <a:ln w="12700">
            <a:solidFill>
              <a:srgbClr val="D8DCF7"/>
            </a:solidFill>
            <a:prstDash val="solid"/>
          </a:ln>
        </p:spPr>
      </p:sp>
      <p:sp>
        <p:nvSpPr>
          <p:cNvPr id="14" name="Text 12"/>
          <p:cNvSpPr txBox="1"/>
          <p:nvPr/>
        </p:nvSpPr>
        <p:spPr>
          <a:xfrm>
            <a:off x="548640" y="1920240"/>
            <a:ext cx="2468880" cy="47548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Bubble Sort</a:t>
            </a:r>
            <a:endParaRPr lang="en-US" sz="1150" dirty="0"/>
          </a:p>
        </p:txBody>
      </p:sp>
      <p:sp>
        <p:nvSpPr>
          <p:cNvPr id="15" name="Text 13"/>
          <p:cNvSpPr txBox="1"/>
          <p:nvPr/>
        </p:nvSpPr>
        <p:spPr>
          <a:xfrm>
            <a:off x="3017520" y="1920240"/>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a:t>
            </a:r>
            <a:endParaRPr lang="en-US" sz="1150" dirty="0"/>
          </a:p>
        </p:txBody>
      </p:sp>
      <p:sp>
        <p:nvSpPr>
          <p:cNvPr id="16" name="Text 14"/>
          <p:cNvSpPr txBox="1"/>
          <p:nvPr/>
        </p:nvSpPr>
        <p:spPr>
          <a:xfrm>
            <a:off x="4709160" y="1920240"/>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17" name="Text 15"/>
          <p:cNvSpPr txBox="1"/>
          <p:nvPr/>
        </p:nvSpPr>
        <p:spPr>
          <a:xfrm>
            <a:off x="6400800" y="1920240"/>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18" name="Text 16"/>
          <p:cNvSpPr txBox="1"/>
          <p:nvPr/>
        </p:nvSpPr>
        <p:spPr>
          <a:xfrm>
            <a:off x="8092440" y="1920240"/>
            <a:ext cx="14630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Yes</a:t>
            </a:r>
            <a:endParaRPr lang="en-US" sz="1150" dirty="0"/>
          </a:p>
        </p:txBody>
      </p:sp>
      <p:sp>
        <p:nvSpPr>
          <p:cNvPr id="19" name="Text 17"/>
          <p:cNvSpPr txBox="1"/>
          <p:nvPr/>
        </p:nvSpPr>
        <p:spPr>
          <a:xfrm>
            <a:off x="9555480" y="1920240"/>
            <a:ext cx="205740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O(1)</a:t>
            </a:r>
            <a:endParaRPr lang="en-US" sz="1150" dirty="0"/>
          </a:p>
        </p:txBody>
      </p:sp>
      <p:sp>
        <p:nvSpPr>
          <p:cNvPr id="20" name="Shape 18"/>
          <p:cNvSpPr/>
          <p:nvPr/>
        </p:nvSpPr>
        <p:spPr>
          <a:xfrm>
            <a:off x="548640" y="2395728"/>
            <a:ext cx="11064240" cy="475488"/>
          </a:xfrm>
          <a:prstGeom prst="roundRect">
            <a:avLst>
              <a:gd name="adj" fmla="val 19231"/>
            </a:avLst>
          </a:prstGeom>
          <a:solidFill>
            <a:srgbClr val="F5F6FE"/>
          </a:solidFill>
          <a:ln w="12700">
            <a:solidFill>
              <a:srgbClr val="D8DCF7"/>
            </a:solidFill>
            <a:prstDash val="solid"/>
          </a:ln>
        </p:spPr>
      </p:sp>
      <p:sp>
        <p:nvSpPr>
          <p:cNvPr id="21" name="Text 19"/>
          <p:cNvSpPr txBox="1"/>
          <p:nvPr/>
        </p:nvSpPr>
        <p:spPr>
          <a:xfrm>
            <a:off x="548640" y="2395728"/>
            <a:ext cx="2468880" cy="47548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Insertion Sort</a:t>
            </a:r>
            <a:endParaRPr lang="en-US" sz="1150" dirty="0"/>
          </a:p>
        </p:txBody>
      </p:sp>
      <p:sp>
        <p:nvSpPr>
          <p:cNvPr id="22" name="Text 20"/>
          <p:cNvSpPr txBox="1"/>
          <p:nvPr/>
        </p:nvSpPr>
        <p:spPr>
          <a:xfrm>
            <a:off x="3017520" y="2395728"/>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a:t>
            </a:r>
            <a:endParaRPr lang="en-US" sz="1150" dirty="0"/>
          </a:p>
        </p:txBody>
      </p:sp>
      <p:sp>
        <p:nvSpPr>
          <p:cNvPr id="23" name="Text 21"/>
          <p:cNvSpPr txBox="1"/>
          <p:nvPr/>
        </p:nvSpPr>
        <p:spPr>
          <a:xfrm>
            <a:off x="4709160" y="2395728"/>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24" name="Text 22"/>
          <p:cNvSpPr txBox="1"/>
          <p:nvPr/>
        </p:nvSpPr>
        <p:spPr>
          <a:xfrm>
            <a:off x="6400800" y="2395728"/>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25" name="Text 23"/>
          <p:cNvSpPr txBox="1"/>
          <p:nvPr/>
        </p:nvSpPr>
        <p:spPr>
          <a:xfrm>
            <a:off x="8092440" y="2395728"/>
            <a:ext cx="14630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Yes</a:t>
            </a:r>
            <a:endParaRPr lang="en-US" sz="1150" dirty="0"/>
          </a:p>
        </p:txBody>
      </p:sp>
      <p:sp>
        <p:nvSpPr>
          <p:cNvPr id="26" name="Text 24"/>
          <p:cNvSpPr txBox="1"/>
          <p:nvPr/>
        </p:nvSpPr>
        <p:spPr>
          <a:xfrm>
            <a:off x="9555480" y="2395728"/>
            <a:ext cx="205740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O(1)</a:t>
            </a:r>
            <a:endParaRPr lang="en-US" sz="1150" dirty="0"/>
          </a:p>
        </p:txBody>
      </p:sp>
      <p:sp>
        <p:nvSpPr>
          <p:cNvPr id="27" name="Shape 25"/>
          <p:cNvSpPr/>
          <p:nvPr/>
        </p:nvSpPr>
        <p:spPr>
          <a:xfrm>
            <a:off x="548640" y="2871216"/>
            <a:ext cx="11064240" cy="475488"/>
          </a:xfrm>
          <a:prstGeom prst="roundRect">
            <a:avLst>
              <a:gd name="adj" fmla="val 19231"/>
            </a:avLst>
          </a:prstGeom>
          <a:solidFill>
            <a:srgbClr val="F5F6FE"/>
          </a:solidFill>
          <a:ln w="12700">
            <a:solidFill>
              <a:srgbClr val="D8DCF7"/>
            </a:solidFill>
            <a:prstDash val="solid"/>
          </a:ln>
        </p:spPr>
      </p:sp>
      <p:sp>
        <p:nvSpPr>
          <p:cNvPr id="28" name="Text 26"/>
          <p:cNvSpPr txBox="1"/>
          <p:nvPr/>
        </p:nvSpPr>
        <p:spPr>
          <a:xfrm>
            <a:off x="548640" y="2871216"/>
            <a:ext cx="2468880" cy="47548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Selection Sort</a:t>
            </a:r>
            <a:endParaRPr lang="en-US" sz="1150" dirty="0"/>
          </a:p>
        </p:txBody>
      </p:sp>
      <p:sp>
        <p:nvSpPr>
          <p:cNvPr id="29" name="Text 27"/>
          <p:cNvSpPr txBox="1"/>
          <p:nvPr/>
        </p:nvSpPr>
        <p:spPr>
          <a:xfrm>
            <a:off x="3017520" y="2871216"/>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30" name="Text 28"/>
          <p:cNvSpPr txBox="1"/>
          <p:nvPr/>
        </p:nvSpPr>
        <p:spPr>
          <a:xfrm>
            <a:off x="4709160" y="2871216"/>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31" name="Text 29"/>
          <p:cNvSpPr txBox="1"/>
          <p:nvPr/>
        </p:nvSpPr>
        <p:spPr>
          <a:xfrm>
            <a:off x="6400800" y="2871216"/>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32" name="Text 30"/>
          <p:cNvSpPr txBox="1"/>
          <p:nvPr/>
        </p:nvSpPr>
        <p:spPr>
          <a:xfrm>
            <a:off x="8092440" y="2871216"/>
            <a:ext cx="14630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No</a:t>
            </a:r>
            <a:endParaRPr lang="en-US" sz="1150" dirty="0"/>
          </a:p>
        </p:txBody>
      </p:sp>
      <p:sp>
        <p:nvSpPr>
          <p:cNvPr id="33" name="Text 31"/>
          <p:cNvSpPr txBox="1"/>
          <p:nvPr/>
        </p:nvSpPr>
        <p:spPr>
          <a:xfrm>
            <a:off x="9555480" y="2871216"/>
            <a:ext cx="205740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O(1)</a:t>
            </a:r>
            <a:endParaRPr lang="en-US" sz="1150" dirty="0"/>
          </a:p>
        </p:txBody>
      </p:sp>
      <p:sp>
        <p:nvSpPr>
          <p:cNvPr id="34" name="Shape 32"/>
          <p:cNvSpPr/>
          <p:nvPr/>
        </p:nvSpPr>
        <p:spPr>
          <a:xfrm>
            <a:off x="548640" y="3346704"/>
            <a:ext cx="11064240" cy="475488"/>
          </a:xfrm>
          <a:prstGeom prst="roundRect">
            <a:avLst>
              <a:gd name="adj" fmla="val 19231"/>
            </a:avLst>
          </a:prstGeom>
          <a:solidFill>
            <a:srgbClr val="F5F6FE"/>
          </a:solidFill>
          <a:ln w="12700">
            <a:solidFill>
              <a:srgbClr val="D8DCF7"/>
            </a:solidFill>
            <a:prstDash val="solid"/>
          </a:ln>
        </p:spPr>
      </p:sp>
      <p:sp>
        <p:nvSpPr>
          <p:cNvPr id="35" name="Text 33"/>
          <p:cNvSpPr txBox="1"/>
          <p:nvPr/>
        </p:nvSpPr>
        <p:spPr>
          <a:xfrm>
            <a:off x="548640" y="3346704"/>
            <a:ext cx="2468880" cy="47548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Merge Sort</a:t>
            </a:r>
            <a:endParaRPr lang="en-US" sz="1150" dirty="0"/>
          </a:p>
        </p:txBody>
      </p:sp>
      <p:sp>
        <p:nvSpPr>
          <p:cNvPr id="36" name="Text 34"/>
          <p:cNvSpPr txBox="1"/>
          <p:nvPr/>
        </p:nvSpPr>
        <p:spPr>
          <a:xfrm>
            <a:off x="3017520" y="3346704"/>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 log n)</a:t>
            </a:r>
            <a:endParaRPr lang="en-US" sz="1150" dirty="0"/>
          </a:p>
        </p:txBody>
      </p:sp>
      <p:sp>
        <p:nvSpPr>
          <p:cNvPr id="37" name="Text 35"/>
          <p:cNvSpPr txBox="1"/>
          <p:nvPr/>
        </p:nvSpPr>
        <p:spPr>
          <a:xfrm>
            <a:off x="4709160" y="3346704"/>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 log n)</a:t>
            </a:r>
            <a:endParaRPr lang="en-US" sz="1150" dirty="0"/>
          </a:p>
        </p:txBody>
      </p:sp>
      <p:sp>
        <p:nvSpPr>
          <p:cNvPr id="38" name="Text 36"/>
          <p:cNvSpPr txBox="1"/>
          <p:nvPr/>
        </p:nvSpPr>
        <p:spPr>
          <a:xfrm>
            <a:off x="6400800" y="3346704"/>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 log n)</a:t>
            </a:r>
            <a:endParaRPr lang="en-US" sz="1150" dirty="0"/>
          </a:p>
        </p:txBody>
      </p:sp>
      <p:sp>
        <p:nvSpPr>
          <p:cNvPr id="39" name="Text 37"/>
          <p:cNvSpPr txBox="1"/>
          <p:nvPr/>
        </p:nvSpPr>
        <p:spPr>
          <a:xfrm>
            <a:off x="8092440" y="3346704"/>
            <a:ext cx="14630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Yes</a:t>
            </a:r>
            <a:endParaRPr lang="en-US" sz="1150" dirty="0"/>
          </a:p>
        </p:txBody>
      </p:sp>
      <p:sp>
        <p:nvSpPr>
          <p:cNvPr id="40" name="Text 38"/>
          <p:cNvSpPr txBox="1"/>
          <p:nvPr/>
        </p:nvSpPr>
        <p:spPr>
          <a:xfrm>
            <a:off x="9555480" y="3346704"/>
            <a:ext cx="205740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a:t>
            </a:r>
            <a:endParaRPr lang="en-US" sz="1150" dirty="0"/>
          </a:p>
        </p:txBody>
      </p:sp>
      <p:sp>
        <p:nvSpPr>
          <p:cNvPr id="41" name="Shape 39"/>
          <p:cNvSpPr/>
          <p:nvPr/>
        </p:nvSpPr>
        <p:spPr>
          <a:xfrm>
            <a:off x="548640" y="3822192"/>
            <a:ext cx="11064240" cy="475488"/>
          </a:xfrm>
          <a:prstGeom prst="roundRect">
            <a:avLst>
              <a:gd name="adj" fmla="val 19231"/>
            </a:avLst>
          </a:prstGeom>
          <a:solidFill>
            <a:srgbClr val="F5F6FE"/>
          </a:solidFill>
          <a:ln w="12700">
            <a:solidFill>
              <a:srgbClr val="D8DCF7"/>
            </a:solidFill>
            <a:prstDash val="solid"/>
          </a:ln>
        </p:spPr>
      </p:sp>
      <p:sp>
        <p:nvSpPr>
          <p:cNvPr id="42" name="Text 40"/>
          <p:cNvSpPr txBox="1"/>
          <p:nvPr/>
        </p:nvSpPr>
        <p:spPr>
          <a:xfrm>
            <a:off x="548640" y="3822192"/>
            <a:ext cx="2468880" cy="47548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Quick Sort</a:t>
            </a:r>
            <a:endParaRPr lang="en-US" sz="1150" dirty="0"/>
          </a:p>
        </p:txBody>
      </p:sp>
      <p:sp>
        <p:nvSpPr>
          <p:cNvPr id="43" name="Text 41"/>
          <p:cNvSpPr txBox="1"/>
          <p:nvPr/>
        </p:nvSpPr>
        <p:spPr>
          <a:xfrm>
            <a:off x="3017520" y="3822192"/>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 log n)</a:t>
            </a:r>
            <a:endParaRPr lang="en-US" sz="1150" dirty="0"/>
          </a:p>
        </p:txBody>
      </p:sp>
      <p:sp>
        <p:nvSpPr>
          <p:cNvPr id="44" name="Text 42"/>
          <p:cNvSpPr txBox="1"/>
          <p:nvPr/>
        </p:nvSpPr>
        <p:spPr>
          <a:xfrm>
            <a:off x="4709160" y="3822192"/>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 log n)</a:t>
            </a:r>
            <a:endParaRPr lang="en-US" sz="1150" dirty="0"/>
          </a:p>
        </p:txBody>
      </p:sp>
      <p:sp>
        <p:nvSpPr>
          <p:cNvPr id="45" name="Text 43"/>
          <p:cNvSpPr txBox="1"/>
          <p:nvPr/>
        </p:nvSpPr>
        <p:spPr>
          <a:xfrm>
            <a:off x="6400800" y="3822192"/>
            <a:ext cx="16916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O(n²)</a:t>
            </a:r>
            <a:endParaRPr lang="en-US" sz="1150" dirty="0"/>
          </a:p>
        </p:txBody>
      </p:sp>
      <p:sp>
        <p:nvSpPr>
          <p:cNvPr id="46" name="Text 44"/>
          <p:cNvSpPr txBox="1"/>
          <p:nvPr/>
        </p:nvSpPr>
        <p:spPr>
          <a:xfrm>
            <a:off x="8092440" y="3822192"/>
            <a:ext cx="146304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No</a:t>
            </a:r>
            <a:endParaRPr lang="en-US" sz="1150" dirty="0"/>
          </a:p>
        </p:txBody>
      </p:sp>
      <p:sp>
        <p:nvSpPr>
          <p:cNvPr id="47" name="Text 45"/>
          <p:cNvSpPr txBox="1"/>
          <p:nvPr/>
        </p:nvSpPr>
        <p:spPr>
          <a:xfrm>
            <a:off x="9555480" y="3822192"/>
            <a:ext cx="2057400" cy="47548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O(log n) avg</a:t>
            </a:r>
            <a:endParaRPr lang="en-US" sz="1150" dirty="0"/>
          </a:p>
        </p:txBody>
      </p:sp>
      <p:sp>
        <p:nvSpPr>
          <p:cNvPr id="48" name="Shape 46"/>
          <p:cNvSpPr/>
          <p:nvPr/>
        </p:nvSpPr>
        <p:spPr>
          <a:xfrm>
            <a:off x="548640" y="4297680"/>
            <a:ext cx="11064240" cy="475488"/>
          </a:xfrm>
          <a:prstGeom prst="roundRect">
            <a:avLst>
              <a:gd name="adj" fmla="val 19231"/>
            </a:avLst>
          </a:prstGeom>
          <a:solidFill>
            <a:srgbClr val="E8F5EE"/>
          </a:solidFill>
          <a:ln w="12700">
            <a:solidFill>
              <a:srgbClr val="BFE3D0"/>
            </a:solidFill>
            <a:prstDash val="solid"/>
          </a:ln>
        </p:spPr>
      </p:sp>
      <p:sp>
        <p:nvSpPr>
          <p:cNvPr id="49" name="Text 47"/>
          <p:cNvSpPr txBox="1"/>
          <p:nvPr/>
        </p:nvSpPr>
        <p:spPr>
          <a:xfrm>
            <a:off x="548640" y="4297680"/>
            <a:ext cx="2468880" cy="475488"/>
          </a:xfrm>
          <a:prstGeom prst="rect">
            <a:avLst/>
          </a:prstGeom>
          <a:noFill/>
          <a:ln/>
        </p:spPr>
        <p:txBody>
          <a:bodyPr wrap="square" lIns="0" tIns="0" rIns="0" bIns="0" rtlCol="0" anchor="ctr"/>
          <a:lstStyle/>
          <a:p>
            <a:pPr marL="0" indent="0" algn="ctr">
              <a:buNone/>
            </a:pPr>
            <a:r>
              <a:rPr lang="en-US" sz="1150" b="1" dirty="0">
                <a:solidFill>
                  <a:srgbClr val="1F6F4A"/>
                </a:solidFill>
                <a:latin typeface="Calibri" pitchFamily="34" charset="0"/>
                <a:ea typeface="Calibri" pitchFamily="34" charset="-122"/>
                <a:cs typeface="Calibri" pitchFamily="34" charset="-120"/>
              </a:rPr>
              <a:t>Heap Sort</a:t>
            </a:r>
            <a:endParaRPr lang="en-US" sz="1150" dirty="0"/>
          </a:p>
        </p:txBody>
      </p:sp>
      <p:sp>
        <p:nvSpPr>
          <p:cNvPr id="50" name="Text 48"/>
          <p:cNvSpPr txBox="1"/>
          <p:nvPr/>
        </p:nvSpPr>
        <p:spPr>
          <a:xfrm>
            <a:off x="3017520" y="4297680"/>
            <a:ext cx="1691640" cy="475488"/>
          </a:xfrm>
          <a:prstGeom prst="rect">
            <a:avLst/>
          </a:prstGeom>
          <a:noFill/>
          <a:ln/>
        </p:spPr>
        <p:txBody>
          <a:bodyPr wrap="square" lIns="0" tIns="0" rIns="0" bIns="0" rtlCol="0" anchor="ctr"/>
          <a:lstStyle/>
          <a:p>
            <a:pPr marL="0" indent="0" algn="ctr">
              <a:buNone/>
            </a:pPr>
            <a:r>
              <a:rPr lang="en-US" sz="1150" b="1" dirty="0">
                <a:solidFill>
                  <a:srgbClr val="1F6F4A"/>
                </a:solidFill>
                <a:latin typeface="Courier New" pitchFamily="34" charset="0"/>
                <a:ea typeface="Courier New" pitchFamily="34" charset="-122"/>
                <a:cs typeface="Courier New" pitchFamily="34" charset="-120"/>
              </a:rPr>
              <a:t>O(n log n)</a:t>
            </a:r>
            <a:endParaRPr lang="en-US" sz="1150" dirty="0"/>
          </a:p>
        </p:txBody>
      </p:sp>
      <p:sp>
        <p:nvSpPr>
          <p:cNvPr id="51" name="Text 49"/>
          <p:cNvSpPr txBox="1"/>
          <p:nvPr/>
        </p:nvSpPr>
        <p:spPr>
          <a:xfrm>
            <a:off x="4709160" y="4297680"/>
            <a:ext cx="1691640" cy="475488"/>
          </a:xfrm>
          <a:prstGeom prst="rect">
            <a:avLst/>
          </a:prstGeom>
          <a:noFill/>
          <a:ln/>
        </p:spPr>
        <p:txBody>
          <a:bodyPr wrap="square" lIns="0" tIns="0" rIns="0" bIns="0" rtlCol="0" anchor="ctr"/>
          <a:lstStyle/>
          <a:p>
            <a:pPr marL="0" indent="0" algn="ctr">
              <a:buNone/>
            </a:pPr>
            <a:r>
              <a:rPr lang="en-US" sz="1150" b="1" dirty="0">
                <a:solidFill>
                  <a:srgbClr val="1F6F4A"/>
                </a:solidFill>
                <a:latin typeface="Courier New" pitchFamily="34" charset="0"/>
                <a:ea typeface="Courier New" pitchFamily="34" charset="-122"/>
                <a:cs typeface="Courier New" pitchFamily="34" charset="-120"/>
              </a:rPr>
              <a:t>O(n log n)</a:t>
            </a:r>
            <a:endParaRPr lang="en-US" sz="1150" dirty="0"/>
          </a:p>
        </p:txBody>
      </p:sp>
      <p:sp>
        <p:nvSpPr>
          <p:cNvPr id="52" name="Text 50"/>
          <p:cNvSpPr txBox="1"/>
          <p:nvPr/>
        </p:nvSpPr>
        <p:spPr>
          <a:xfrm>
            <a:off x="6400800" y="4297680"/>
            <a:ext cx="1691640" cy="475488"/>
          </a:xfrm>
          <a:prstGeom prst="rect">
            <a:avLst/>
          </a:prstGeom>
          <a:noFill/>
          <a:ln/>
        </p:spPr>
        <p:txBody>
          <a:bodyPr wrap="square" lIns="0" tIns="0" rIns="0" bIns="0" rtlCol="0" anchor="ctr"/>
          <a:lstStyle/>
          <a:p>
            <a:pPr marL="0" indent="0" algn="ctr">
              <a:buNone/>
            </a:pPr>
            <a:r>
              <a:rPr lang="en-US" sz="1150" b="1" dirty="0">
                <a:solidFill>
                  <a:srgbClr val="1F6F4A"/>
                </a:solidFill>
                <a:latin typeface="Courier New" pitchFamily="34" charset="0"/>
                <a:ea typeface="Courier New" pitchFamily="34" charset="-122"/>
                <a:cs typeface="Courier New" pitchFamily="34" charset="-120"/>
              </a:rPr>
              <a:t>O(n log n)</a:t>
            </a:r>
            <a:endParaRPr lang="en-US" sz="1150" dirty="0"/>
          </a:p>
        </p:txBody>
      </p:sp>
      <p:sp>
        <p:nvSpPr>
          <p:cNvPr id="53" name="Text 51"/>
          <p:cNvSpPr txBox="1"/>
          <p:nvPr/>
        </p:nvSpPr>
        <p:spPr>
          <a:xfrm>
            <a:off x="8092440" y="4297680"/>
            <a:ext cx="1463040" cy="475488"/>
          </a:xfrm>
          <a:prstGeom prst="rect">
            <a:avLst/>
          </a:prstGeom>
          <a:noFill/>
          <a:ln/>
        </p:spPr>
        <p:txBody>
          <a:bodyPr wrap="square" lIns="0" tIns="0" rIns="0" bIns="0" rtlCol="0" anchor="ctr"/>
          <a:lstStyle/>
          <a:p>
            <a:pPr marL="0" indent="0" algn="ctr">
              <a:buNone/>
            </a:pPr>
            <a:r>
              <a:rPr lang="en-US" sz="1150" b="1" dirty="0">
                <a:solidFill>
                  <a:srgbClr val="1F6F4A"/>
                </a:solidFill>
                <a:latin typeface="Courier New" pitchFamily="34" charset="0"/>
                <a:ea typeface="Courier New" pitchFamily="34" charset="-122"/>
                <a:cs typeface="Courier New" pitchFamily="34" charset="-120"/>
              </a:rPr>
              <a:t>No</a:t>
            </a:r>
            <a:endParaRPr lang="en-US" sz="1150" dirty="0"/>
          </a:p>
        </p:txBody>
      </p:sp>
      <p:sp>
        <p:nvSpPr>
          <p:cNvPr id="54" name="Text 52"/>
          <p:cNvSpPr txBox="1"/>
          <p:nvPr/>
        </p:nvSpPr>
        <p:spPr>
          <a:xfrm>
            <a:off x="9555480" y="4297680"/>
            <a:ext cx="2057400" cy="475488"/>
          </a:xfrm>
          <a:prstGeom prst="rect">
            <a:avLst/>
          </a:prstGeom>
          <a:noFill/>
          <a:ln/>
        </p:spPr>
        <p:txBody>
          <a:bodyPr wrap="square" lIns="0" tIns="0" rIns="0" bIns="0" rtlCol="0" anchor="ctr"/>
          <a:lstStyle/>
          <a:p>
            <a:pPr marL="0" indent="0" algn="ctr">
              <a:buNone/>
            </a:pPr>
            <a:r>
              <a:rPr lang="en-US" sz="1150" b="1" dirty="0">
                <a:solidFill>
                  <a:srgbClr val="1F6F4A"/>
                </a:solidFill>
                <a:latin typeface="Courier New" pitchFamily="34" charset="0"/>
                <a:ea typeface="Courier New" pitchFamily="34" charset="-122"/>
                <a:cs typeface="Courier New" pitchFamily="34" charset="-120"/>
              </a:rPr>
              <a:t>O(1)</a:t>
            </a:r>
            <a:endParaRPr lang="en-US" sz="1150" dirty="0"/>
          </a:p>
        </p:txBody>
      </p:sp>
      <p:sp>
        <p:nvSpPr>
          <p:cNvPr id="55" name="Shape 53"/>
          <p:cNvSpPr/>
          <p:nvPr/>
        </p:nvSpPr>
        <p:spPr>
          <a:xfrm>
            <a:off x="548640" y="5047488"/>
            <a:ext cx="11064240" cy="1463040"/>
          </a:xfrm>
          <a:prstGeom prst="roundRect">
            <a:avLst>
              <a:gd name="adj" fmla="val 6250"/>
            </a:avLst>
          </a:prstGeom>
          <a:solidFill>
            <a:schemeClr val="bg2">
              <a:lumMod val="90000"/>
            </a:schemeClr>
          </a:solidFill>
          <a:ln w="12700">
            <a:solidFill>
              <a:srgbClr val="14281E"/>
            </a:solidFill>
            <a:prstDash val="solid"/>
          </a:ln>
        </p:spPr>
      </p:sp>
      <p:sp>
        <p:nvSpPr>
          <p:cNvPr id="56" name="Text 54"/>
          <p:cNvSpPr txBox="1"/>
          <p:nvPr/>
        </p:nvSpPr>
        <p:spPr>
          <a:xfrm>
            <a:off x="777240" y="5184648"/>
            <a:ext cx="7315200" cy="274320"/>
          </a:xfrm>
          <a:prstGeom prst="rect">
            <a:avLst/>
          </a:prstGeom>
          <a:noFill/>
          <a:ln/>
        </p:spPr>
        <p:txBody>
          <a:bodyPr wrap="square" lIns="0" tIns="0" rIns="0" bIns="0" rtlCol="0" anchor="ctr"/>
          <a:lstStyle/>
          <a:p>
            <a:pPr marL="0" indent="0">
              <a:buNone/>
            </a:pPr>
            <a:r>
              <a:rPr lang="en-US" sz="1400" b="1" kern="0" spc="100" dirty="0">
                <a:latin typeface="Calibri" pitchFamily="34" charset="0"/>
                <a:ea typeface="Calibri" pitchFamily="34" charset="-122"/>
                <a:cs typeface="Calibri" pitchFamily="34" charset="-120"/>
              </a:rPr>
              <a:t>KEY TAKEAWAYS FROM THE TABLE</a:t>
            </a:r>
            <a:endParaRPr lang="en-US" sz="1400" dirty="0"/>
          </a:p>
        </p:txBody>
      </p:sp>
      <p:sp>
        <p:nvSpPr>
          <p:cNvPr id="57" name="Text 55"/>
          <p:cNvSpPr txBox="1"/>
          <p:nvPr/>
        </p:nvSpPr>
        <p:spPr>
          <a:xfrm>
            <a:off x="777240" y="5504688"/>
            <a:ext cx="10607040" cy="914400"/>
          </a:xfrm>
          <a:prstGeom prst="rect">
            <a:avLst/>
          </a:prstGeom>
          <a:noFill/>
          <a:ln/>
        </p:spPr>
        <p:txBody>
          <a:bodyPr wrap="square" lIns="0" tIns="0" rIns="0" bIns="0" rtlCol="0" anchor="ctr"/>
          <a:lstStyle/>
          <a:p>
            <a:pPr marL="0" indent="0">
              <a:lnSpc>
                <a:spcPct val="135000"/>
              </a:lnSpc>
              <a:buNone/>
            </a:pPr>
            <a:r>
              <a:rPr lang="en-US" sz="1600" dirty="0">
                <a:latin typeface="Calibri" pitchFamily="34" charset="0"/>
                <a:ea typeface="Calibri" pitchFamily="34" charset="-122"/>
                <a:cs typeface="Calibri" pitchFamily="34" charset="-120"/>
              </a:rPr>
              <a:t>•  Heap Sort is the only algorithm here combining </a:t>
            </a:r>
            <a:r>
              <a:rPr lang="en-US" sz="1600" b="1" dirty="0">
                <a:latin typeface="Calibri" pitchFamily="34" charset="0"/>
                <a:ea typeface="Calibri" pitchFamily="34" charset="-122"/>
                <a:cs typeface="Calibri" pitchFamily="34" charset="-120"/>
              </a:rPr>
              <a:t>guaranteed O(n log n) AND O(1) space</a:t>
            </a:r>
            <a:r>
              <a:rPr lang="en-US" sz="1600" dirty="0">
                <a:latin typeface="Calibri" pitchFamily="34" charset="0"/>
                <a:ea typeface="Calibri" pitchFamily="34" charset="-122"/>
                <a:cs typeface="Calibri" pitchFamily="34" charset="-120"/>
              </a:rPr>
              <a:t> — Merge Sort matches the time guarantee but needs O(n) space; Quick Sort matches the space but not the guarantee.
•  Its cost: </a:t>
            </a:r>
            <a:r>
              <a:rPr lang="en-US" sz="1600" b="1" dirty="0">
                <a:latin typeface="Calibri" pitchFamily="34" charset="0"/>
                <a:ea typeface="Calibri" pitchFamily="34" charset="-122"/>
                <a:cs typeface="Calibri" pitchFamily="34" charset="-120"/>
              </a:rPr>
              <a:t>not stable</a:t>
            </a:r>
            <a:r>
              <a:rPr lang="en-US" sz="1600" dirty="0">
                <a:latin typeface="Calibri" pitchFamily="34" charset="0"/>
                <a:ea typeface="Calibri" pitchFamily="34" charset="-122"/>
                <a:cs typeface="Calibri" pitchFamily="34" charset="-120"/>
              </a:rPr>
              <a:t>, and in practice often slower than Quick Sort due to less cache-friendly memory access.</a:t>
            </a:r>
            <a:endParaRPr lang="en-US" sz="1600" dirty="0"/>
          </a:p>
        </p:txBody>
      </p:sp>
      <p:sp>
        <p:nvSpPr>
          <p:cNvPr id="58" name="Text 5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59" name="Text 5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TRADE-OFFS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Advantages and Limitations</a:t>
            </a:r>
            <a:endParaRPr lang="en-US" sz="3000" dirty="0"/>
          </a:p>
        </p:txBody>
      </p:sp>
      <p:sp>
        <p:nvSpPr>
          <p:cNvPr id="6" name="Shape 4"/>
          <p:cNvSpPr/>
          <p:nvPr/>
        </p:nvSpPr>
        <p:spPr>
          <a:xfrm>
            <a:off x="548640" y="1463040"/>
            <a:ext cx="5440680" cy="4572000"/>
          </a:xfrm>
          <a:prstGeom prst="roundRect">
            <a:avLst>
              <a:gd name="adj" fmla="val 2000"/>
            </a:avLst>
          </a:prstGeom>
          <a:solidFill>
            <a:srgbClr val="E8F5EE"/>
          </a:solidFill>
          <a:ln w="12700">
            <a:solidFill>
              <a:srgbClr val="BFE3D0"/>
            </a:solidFill>
            <a:prstDash val="solid"/>
          </a:ln>
        </p:spPr>
      </p:sp>
      <p:sp>
        <p:nvSpPr>
          <p:cNvPr id="7" name="Text 5"/>
          <p:cNvSpPr txBox="1"/>
          <p:nvPr/>
        </p:nvSpPr>
        <p:spPr>
          <a:xfrm>
            <a:off x="777240" y="1627632"/>
            <a:ext cx="4846320" cy="274320"/>
          </a:xfrm>
          <a:prstGeom prst="rect">
            <a:avLst/>
          </a:prstGeom>
          <a:noFill/>
          <a:ln/>
        </p:spPr>
        <p:txBody>
          <a:bodyPr wrap="square" lIns="0" tIns="0" rIns="0" bIns="0" rtlCol="0" anchor="ctr"/>
          <a:lstStyle/>
          <a:p>
            <a:pPr marL="0" indent="0">
              <a:buNone/>
            </a:pPr>
            <a:r>
              <a:rPr lang="en-US" b="1" kern="0" spc="150" dirty="0">
                <a:solidFill>
                  <a:srgbClr val="1F6F4A"/>
                </a:solidFill>
                <a:latin typeface="Calibri" pitchFamily="34" charset="0"/>
                <a:ea typeface="Calibri" pitchFamily="34" charset="-122"/>
                <a:cs typeface="Calibri" pitchFamily="34" charset="-120"/>
              </a:rPr>
              <a:t>ADVANTAGES</a:t>
            </a:r>
            <a:endParaRPr lang="en-US" dirty="0"/>
          </a:p>
        </p:txBody>
      </p:sp>
      <p:sp>
        <p:nvSpPr>
          <p:cNvPr id="8" name="Shape 6"/>
          <p:cNvSpPr/>
          <p:nvPr/>
        </p:nvSpPr>
        <p:spPr>
          <a:xfrm>
            <a:off x="777240" y="2057400"/>
            <a:ext cx="237744" cy="237744"/>
          </a:xfrm>
          <a:prstGeom prst="ellipse">
            <a:avLst/>
          </a:prstGeom>
          <a:solidFill>
            <a:srgbClr val="1F6F4A"/>
          </a:solidFill>
          <a:ln/>
        </p:spPr>
      </p:sp>
      <p:sp>
        <p:nvSpPr>
          <p:cNvPr id="9" name="Text 7"/>
          <p:cNvSpPr txBox="1"/>
          <p:nvPr/>
        </p:nvSpPr>
        <p:spPr>
          <a:xfrm>
            <a:off x="777240" y="205740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1143000" y="1993392"/>
            <a:ext cx="4572000" cy="566928"/>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Guaranteed O(n log n) in every case — no pathological inputs.</a:t>
            </a:r>
            <a:endParaRPr lang="en-US" sz="1600" dirty="0"/>
          </a:p>
        </p:txBody>
      </p:sp>
      <p:sp>
        <p:nvSpPr>
          <p:cNvPr id="11" name="Shape 9"/>
          <p:cNvSpPr/>
          <p:nvPr/>
        </p:nvSpPr>
        <p:spPr>
          <a:xfrm>
            <a:off x="777240" y="2697480"/>
            <a:ext cx="237744" cy="237744"/>
          </a:xfrm>
          <a:prstGeom prst="ellipse">
            <a:avLst/>
          </a:prstGeom>
          <a:solidFill>
            <a:srgbClr val="1F6F4A"/>
          </a:solidFill>
          <a:ln/>
        </p:spPr>
      </p:sp>
      <p:sp>
        <p:nvSpPr>
          <p:cNvPr id="12" name="Text 10"/>
          <p:cNvSpPr txBox="1"/>
          <p:nvPr/>
        </p:nvSpPr>
        <p:spPr>
          <a:xfrm>
            <a:off x="777240" y="269748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txBox="1"/>
          <p:nvPr/>
        </p:nvSpPr>
        <p:spPr>
          <a:xfrm>
            <a:off x="1143000" y="2633472"/>
            <a:ext cx="4572000" cy="566928"/>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In-place: O(1) extra space, better than Merge or Quick Sort.</a:t>
            </a:r>
            <a:endParaRPr lang="en-US" sz="1600" dirty="0"/>
          </a:p>
        </p:txBody>
      </p:sp>
      <p:sp>
        <p:nvSpPr>
          <p:cNvPr id="14" name="Shape 12"/>
          <p:cNvSpPr/>
          <p:nvPr/>
        </p:nvSpPr>
        <p:spPr>
          <a:xfrm>
            <a:off x="777240" y="3337560"/>
            <a:ext cx="237744" cy="237744"/>
          </a:xfrm>
          <a:prstGeom prst="ellipse">
            <a:avLst/>
          </a:prstGeom>
          <a:solidFill>
            <a:srgbClr val="1F6F4A"/>
          </a:solidFill>
          <a:ln/>
        </p:spPr>
      </p:sp>
      <p:sp>
        <p:nvSpPr>
          <p:cNvPr id="15" name="Text 13"/>
          <p:cNvSpPr txBox="1"/>
          <p:nvPr/>
        </p:nvSpPr>
        <p:spPr>
          <a:xfrm>
            <a:off x="777240" y="333756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1143000" y="3273552"/>
            <a:ext cx="4572000" cy="566928"/>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No recursion required — heapify runs as a simple loop.</a:t>
            </a:r>
            <a:endParaRPr lang="en-US" sz="1600" dirty="0"/>
          </a:p>
        </p:txBody>
      </p:sp>
      <p:sp>
        <p:nvSpPr>
          <p:cNvPr id="17" name="Shape 15"/>
          <p:cNvSpPr/>
          <p:nvPr/>
        </p:nvSpPr>
        <p:spPr>
          <a:xfrm>
            <a:off x="777240" y="3977640"/>
            <a:ext cx="237744" cy="237744"/>
          </a:xfrm>
          <a:prstGeom prst="ellipse">
            <a:avLst/>
          </a:prstGeom>
          <a:solidFill>
            <a:srgbClr val="1F6F4A"/>
          </a:solidFill>
          <a:ln/>
        </p:spPr>
      </p:sp>
      <p:sp>
        <p:nvSpPr>
          <p:cNvPr id="18" name="Text 16"/>
          <p:cNvSpPr txBox="1"/>
          <p:nvPr/>
        </p:nvSpPr>
        <p:spPr>
          <a:xfrm>
            <a:off x="777240" y="397764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txBox="1"/>
          <p:nvPr/>
        </p:nvSpPr>
        <p:spPr>
          <a:xfrm>
            <a:off x="1143000" y="3913632"/>
            <a:ext cx="4572000" cy="566928"/>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The heap structure itself is useful beyond sorting (priority queues).</a:t>
            </a:r>
            <a:endParaRPr lang="en-US" sz="1600" dirty="0"/>
          </a:p>
        </p:txBody>
      </p:sp>
      <p:sp>
        <p:nvSpPr>
          <p:cNvPr id="20" name="Shape 18"/>
          <p:cNvSpPr/>
          <p:nvPr/>
        </p:nvSpPr>
        <p:spPr>
          <a:xfrm>
            <a:off x="777240" y="4617720"/>
            <a:ext cx="237744" cy="237744"/>
          </a:xfrm>
          <a:prstGeom prst="ellipse">
            <a:avLst/>
          </a:prstGeom>
          <a:solidFill>
            <a:srgbClr val="1F6F4A"/>
          </a:solidFill>
          <a:ln/>
        </p:spPr>
      </p:sp>
      <p:sp>
        <p:nvSpPr>
          <p:cNvPr id="21" name="Text 19"/>
          <p:cNvSpPr txBox="1"/>
          <p:nvPr/>
        </p:nvSpPr>
        <p:spPr>
          <a:xfrm>
            <a:off x="777240" y="461772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1143000" y="4553712"/>
            <a:ext cx="4572000" cy="566928"/>
          </a:xfrm>
          <a:prstGeom prst="rect">
            <a:avLst/>
          </a:prstGeom>
          <a:noFill/>
          <a:ln/>
        </p:spPr>
        <p:txBody>
          <a:bodyPr wrap="square" lIns="0" tIns="0" rIns="0" bIns="0" rtlCol="0" anchor="ctr"/>
          <a:lstStyle/>
          <a:p>
            <a:pPr marL="0" indent="0">
              <a:buNone/>
            </a:pPr>
            <a:r>
              <a:rPr lang="en-US" sz="1600" dirty="0">
                <a:solidFill>
                  <a:srgbClr val="1B2233"/>
                </a:solidFill>
                <a:latin typeface="Calibri" pitchFamily="34" charset="0"/>
                <a:ea typeface="Calibri" pitchFamily="34" charset="-122"/>
                <a:cs typeface="Calibri" pitchFamily="34" charset="-120"/>
              </a:rPr>
              <a:t>Predictable, consistent performance for real-time systems.</a:t>
            </a:r>
            <a:endParaRPr lang="en-US" sz="1600" dirty="0"/>
          </a:p>
        </p:txBody>
      </p:sp>
      <p:sp>
        <p:nvSpPr>
          <p:cNvPr id="23" name="Shape 21"/>
          <p:cNvSpPr/>
          <p:nvPr/>
        </p:nvSpPr>
        <p:spPr>
          <a:xfrm>
            <a:off x="6263640" y="1463040"/>
            <a:ext cx="5349240" cy="4572000"/>
          </a:xfrm>
          <a:prstGeom prst="roundRect">
            <a:avLst>
              <a:gd name="adj" fmla="val 2000"/>
            </a:avLst>
          </a:prstGeom>
          <a:solidFill>
            <a:schemeClr val="accent2">
              <a:lumMod val="20000"/>
              <a:lumOff val="80000"/>
            </a:schemeClr>
          </a:solidFill>
          <a:ln w="12700">
            <a:solidFill>
              <a:srgbClr val="BFE3D0"/>
            </a:solidFill>
            <a:prstDash val="solid"/>
          </a:ln>
        </p:spPr>
      </p:sp>
      <p:sp>
        <p:nvSpPr>
          <p:cNvPr id="24" name="Text 22"/>
          <p:cNvSpPr txBox="1"/>
          <p:nvPr/>
        </p:nvSpPr>
        <p:spPr>
          <a:xfrm>
            <a:off x="6492240" y="1627632"/>
            <a:ext cx="4846320" cy="274320"/>
          </a:xfrm>
          <a:prstGeom prst="rect">
            <a:avLst/>
          </a:prstGeom>
          <a:noFill/>
          <a:ln/>
        </p:spPr>
        <p:txBody>
          <a:bodyPr wrap="square" lIns="0" tIns="0" rIns="0" bIns="0" rtlCol="0" anchor="ctr"/>
          <a:lstStyle/>
          <a:p>
            <a:pPr marL="0" indent="0">
              <a:buNone/>
            </a:pPr>
            <a:r>
              <a:rPr lang="en-US" b="1" kern="0" spc="150" dirty="0">
                <a:solidFill>
                  <a:srgbClr val="D97706"/>
                </a:solidFill>
                <a:latin typeface="Calibri" pitchFamily="34" charset="0"/>
                <a:ea typeface="Calibri" pitchFamily="34" charset="-122"/>
                <a:cs typeface="Calibri" pitchFamily="34" charset="-120"/>
              </a:rPr>
              <a:t>LIMITATIONS</a:t>
            </a:r>
            <a:endParaRPr lang="en-US" dirty="0"/>
          </a:p>
        </p:txBody>
      </p:sp>
      <p:sp>
        <p:nvSpPr>
          <p:cNvPr id="25" name="Shape 23"/>
          <p:cNvSpPr/>
          <p:nvPr/>
        </p:nvSpPr>
        <p:spPr>
          <a:xfrm>
            <a:off x="6492240" y="2103120"/>
            <a:ext cx="237744" cy="237744"/>
          </a:xfrm>
          <a:prstGeom prst="ellipse">
            <a:avLst/>
          </a:prstGeom>
          <a:solidFill>
            <a:srgbClr val="D97706"/>
          </a:solidFill>
          <a:ln/>
        </p:spPr>
      </p:sp>
      <p:sp>
        <p:nvSpPr>
          <p:cNvPr id="26" name="Text 24"/>
          <p:cNvSpPr txBox="1"/>
          <p:nvPr/>
        </p:nvSpPr>
        <p:spPr>
          <a:xfrm>
            <a:off x="6492240" y="2103120"/>
            <a:ext cx="237744" cy="237744"/>
          </a:xfrm>
          <a:prstGeom prst="rect">
            <a:avLst/>
          </a:prstGeom>
          <a:noFill/>
          <a:ln/>
        </p:spPr>
        <p:txBody>
          <a:bodyPr wrap="square" lIns="0" tIns="0" rIns="0" bIns="0" rtlCol="0" anchor="ctr"/>
          <a:lstStyle/>
          <a:p>
            <a:pPr marL="0" indent="0" algn="ctr">
              <a:buNone/>
            </a:pPr>
            <a:r>
              <a:rPr lang="en-US" sz="1100" b="1" dirty="0">
                <a:solidFill>
                  <a:srgbClr val="14281E"/>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6858000" y="2029968"/>
            <a:ext cx="457200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Not stable — unsuitable when tie order must be preserved.</a:t>
            </a:r>
            <a:endParaRPr lang="en-US" sz="1600" dirty="0"/>
          </a:p>
        </p:txBody>
      </p:sp>
      <p:sp>
        <p:nvSpPr>
          <p:cNvPr id="28" name="Shape 26"/>
          <p:cNvSpPr/>
          <p:nvPr/>
        </p:nvSpPr>
        <p:spPr>
          <a:xfrm>
            <a:off x="6492240" y="2971800"/>
            <a:ext cx="237744" cy="237744"/>
          </a:xfrm>
          <a:prstGeom prst="ellipse">
            <a:avLst/>
          </a:prstGeom>
          <a:solidFill>
            <a:srgbClr val="D97706"/>
          </a:solidFill>
          <a:ln/>
        </p:spPr>
      </p:sp>
      <p:sp>
        <p:nvSpPr>
          <p:cNvPr id="29" name="Text 27"/>
          <p:cNvSpPr txBox="1"/>
          <p:nvPr/>
        </p:nvSpPr>
        <p:spPr>
          <a:xfrm>
            <a:off x="6492240" y="2971800"/>
            <a:ext cx="237744" cy="237744"/>
          </a:xfrm>
          <a:prstGeom prst="rect">
            <a:avLst/>
          </a:prstGeom>
          <a:noFill/>
          <a:ln/>
        </p:spPr>
        <p:txBody>
          <a:bodyPr wrap="square" lIns="0" tIns="0" rIns="0" bIns="0" rtlCol="0" anchor="ctr"/>
          <a:lstStyle/>
          <a:p>
            <a:pPr marL="0" indent="0" algn="ctr">
              <a:buNone/>
            </a:pPr>
            <a:r>
              <a:rPr lang="en-US" sz="1100" b="1" dirty="0">
                <a:solidFill>
                  <a:srgbClr val="14281E"/>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858000" y="2898648"/>
            <a:ext cx="457200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Poor cache locality: parent/child indices jump around memory.</a:t>
            </a:r>
            <a:endParaRPr lang="en-US" sz="1600" dirty="0"/>
          </a:p>
        </p:txBody>
      </p:sp>
      <p:sp>
        <p:nvSpPr>
          <p:cNvPr id="31" name="Shape 29"/>
          <p:cNvSpPr/>
          <p:nvPr/>
        </p:nvSpPr>
        <p:spPr>
          <a:xfrm>
            <a:off x="6492240" y="3840480"/>
            <a:ext cx="237744" cy="237744"/>
          </a:xfrm>
          <a:prstGeom prst="ellipse">
            <a:avLst/>
          </a:prstGeom>
          <a:solidFill>
            <a:srgbClr val="D97706"/>
          </a:solidFill>
          <a:ln/>
        </p:spPr>
      </p:sp>
      <p:sp>
        <p:nvSpPr>
          <p:cNvPr id="32" name="Text 30"/>
          <p:cNvSpPr txBox="1"/>
          <p:nvPr/>
        </p:nvSpPr>
        <p:spPr>
          <a:xfrm>
            <a:off x="6492240" y="3840480"/>
            <a:ext cx="237744" cy="237744"/>
          </a:xfrm>
          <a:prstGeom prst="rect">
            <a:avLst/>
          </a:prstGeom>
          <a:noFill/>
          <a:ln/>
        </p:spPr>
        <p:txBody>
          <a:bodyPr wrap="square" lIns="0" tIns="0" rIns="0" bIns="0" rtlCol="0" anchor="ctr"/>
          <a:lstStyle/>
          <a:p>
            <a:pPr marL="0" indent="0" algn="ctr">
              <a:buNone/>
            </a:pPr>
            <a:r>
              <a:rPr lang="en-US" sz="1100" b="1" dirty="0">
                <a:solidFill>
                  <a:srgbClr val="14281E"/>
                </a:solidFill>
                <a:latin typeface="Calibri" pitchFamily="34" charset="0"/>
                <a:ea typeface="Calibri" pitchFamily="34" charset="-122"/>
                <a:cs typeface="Calibri" pitchFamily="34" charset="-120"/>
              </a:rPr>
              <a:t>✗</a:t>
            </a:r>
            <a:endParaRPr lang="en-US" sz="1100" dirty="0"/>
          </a:p>
        </p:txBody>
      </p:sp>
      <p:sp>
        <p:nvSpPr>
          <p:cNvPr id="33" name="Text 31"/>
          <p:cNvSpPr txBox="1"/>
          <p:nvPr/>
        </p:nvSpPr>
        <p:spPr>
          <a:xfrm>
            <a:off x="6858000" y="3767328"/>
            <a:ext cx="457200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Usually slower in practice than a well-tuned Quick Sort.</a:t>
            </a:r>
            <a:endParaRPr lang="en-US" sz="1600" dirty="0"/>
          </a:p>
        </p:txBody>
      </p:sp>
      <p:sp>
        <p:nvSpPr>
          <p:cNvPr id="34" name="Shape 32"/>
          <p:cNvSpPr/>
          <p:nvPr/>
        </p:nvSpPr>
        <p:spPr>
          <a:xfrm>
            <a:off x="6492240" y="4709160"/>
            <a:ext cx="237744" cy="237744"/>
          </a:xfrm>
          <a:prstGeom prst="ellipse">
            <a:avLst/>
          </a:prstGeom>
          <a:solidFill>
            <a:srgbClr val="D97706"/>
          </a:solidFill>
          <a:ln/>
        </p:spPr>
      </p:sp>
      <p:sp>
        <p:nvSpPr>
          <p:cNvPr id="35" name="Text 33"/>
          <p:cNvSpPr txBox="1"/>
          <p:nvPr/>
        </p:nvSpPr>
        <p:spPr>
          <a:xfrm>
            <a:off x="6492240" y="4709160"/>
            <a:ext cx="237744" cy="237744"/>
          </a:xfrm>
          <a:prstGeom prst="rect">
            <a:avLst/>
          </a:prstGeom>
          <a:noFill/>
          <a:ln/>
        </p:spPr>
        <p:txBody>
          <a:bodyPr wrap="square" lIns="0" tIns="0" rIns="0" bIns="0" rtlCol="0" anchor="ctr"/>
          <a:lstStyle/>
          <a:p>
            <a:pPr marL="0" indent="0" algn="ctr">
              <a:buNone/>
            </a:pPr>
            <a:r>
              <a:rPr lang="en-US" sz="1100" b="1" dirty="0">
                <a:solidFill>
                  <a:srgbClr val="14281E"/>
                </a:solidFill>
                <a:latin typeface="Calibri" pitchFamily="34" charset="0"/>
                <a:ea typeface="Calibri" pitchFamily="34" charset="-122"/>
                <a:cs typeface="Calibri" pitchFamily="34" charset="-120"/>
              </a:rPr>
              <a:t>✗</a:t>
            </a:r>
            <a:endParaRPr lang="en-US" sz="1100" dirty="0"/>
          </a:p>
        </p:txBody>
      </p:sp>
      <p:sp>
        <p:nvSpPr>
          <p:cNvPr id="36" name="Text 34"/>
          <p:cNvSpPr txBox="1"/>
          <p:nvPr/>
        </p:nvSpPr>
        <p:spPr>
          <a:xfrm>
            <a:off x="6858000" y="4636008"/>
            <a:ext cx="457200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More complex to implement correctly than simpler O(n²) sorts.</a:t>
            </a:r>
            <a:endParaRPr lang="en-US" sz="1600" dirty="0"/>
          </a:p>
        </p:txBody>
      </p:sp>
      <p:sp>
        <p:nvSpPr>
          <p:cNvPr id="37" name="Text 35"/>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38" name="Text 36"/>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1F6F4A">
              <a:alpha val="5000"/>
            </a:srgbClr>
          </a:solidFill>
          <a:ln/>
        </p:spPr>
      </p:sp>
      <p:sp>
        <p:nvSpPr>
          <p:cNvPr id="3" name="Shape 1"/>
          <p:cNvSpPr/>
          <p:nvPr/>
        </p:nvSpPr>
        <p:spPr>
          <a:xfrm rot="12300000">
            <a:off x="-1097280" y="5760720"/>
            <a:ext cx="2377440" cy="2377440"/>
          </a:xfrm>
          <a:prstGeom prst="triangle">
            <a:avLst/>
          </a:prstGeom>
          <a:solidFill>
            <a:srgbClr val="1F6F4A">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3FA672"/>
                </a:solidFill>
                <a:latin typeface="Calibri" pitchFamily="34" charset="0"/>
                <a:ea typeface="Calibri" pitchFamily="34" charset="-122"/>
                <a:cs typeface="Calibri" pitchFamily="34" charset="-120"/>
              </a:rPr>
              <a:t>WRAP-UP</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4281E"/>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548640" y="1417320"/>
            <a:ext cx="11064240" cy="749808"/>
          </a:xfrm>
          <a:prstGeom prst="roundRect">
            <a:avLst>
              <a:gd name="adj" fmla="val 12195"/>
            </a:avLst>
          </a:prstGeom>
          <a:solidFill>
            <a:srgbClr val="E8F5EE"/>
          </a:solidFill>
          <a:ln w="12700">
            <a:solidFill>
              <a:srgbClr val="BFE3D0"/>
            </a:solidFill>
            <a:prstDash val="solid"/>
          </a:ln>
        </p:spPr>
      </p:sp>
      <p:sp>
        <p:nvSpPr>
          <p:cNvPr id="7" name="Shape 5"/>
          <p:cNvSpPr/>
          <p:nvPr/>
        </p:nvSpPr>
        <p:spPr>
          <a:xfrm>
            <a:off x="777240" y="1600200"/>
            <a:ext cx="384048" cy="384048"/>
          </a:xfrm>
          <a:prstGeom prst="ellipse">
            <a:avLst/>
          </a:prstGeom>
          <a:solidFill>
            <a:srgbClr val="1F6F4A"/>
          </a:solidFill>
          <a:ln/>
        </p:spPr>
      </p:sp>
      <p:sp>
        <p:nvSpPr>
          <p:cNvPr id="8" name="Text 6"/>
          <p:cNvSpPr txBox="1"/>
          <p:nvPr/>
        </p:nvSpPr>
        <p:spPr>
          <a:xfrm>
            <a:off x="777240" y="1600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325880" y="1417320"/>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4281E"/>
                </a:solidFill>
                <a:latin typeface="Calibri" pitchFamily="34" charset="0"/>
                <a:ea typeface="Calibri" pitchFamily="34" charset="-122"/>
                <a:cs typeface="Calibri" pitchFamily="34" charset="-120"/>
              </a:rPr>
              <a:t>How it works:  </a:t>
            </a:r>
            <a:r>
              <a:rPr lang="en-US" sz="1200" dirty="0">
                <a:solidFill>
                  <a:srgbClr val="1B2233"/>
                </a:solidFill>
                <a:latin typeface="Calibri" pitchFamily="34" charset="0"/>
                <a:ea typeface="Calibri" pitchFamily="34" charset="-122"/>
                <a:cs typeface="Calibri" pitchFamily="34" charset="-120"/>
              </a:rPr>
              <a:t>Builds a max-heap from the array, then repeatedly moves the maximum to the end and re-heapifies the shrinking remainder.</a:t>
            </a:r>
            <a:endParaRPr lang="en-US" sz="1200" dirty="0"/>
          </a:p>
        </p:txBody>
      </p:sp>
      <p:sp>
        <p:nvSpPr>
          <p:cNvPr id="10" name="Shape 8"/>
          <p:cNvSpPr/>
          <p:nvPr/>
        </p:nvSpPr>
        <p:spPr>
          <a:xfrm>
            <a:off x="548640" y="2304288"/>
            <a:ext cx="11064240" cy="749808"/>
          </a:xfrm>
          <a:prstGeom prst="roundRect">
            <a:avLst>
              <a:gd name="adj" fmla="val 12195"/>
            </a:avLst>
          </a:prstGeom>
          <a:solidFill>
            <a:srgbClr val="E8F5EE"/>
          </a:solidFill>
          <a:ln w="12700">
            <a:solidFill>
              <a:srgbClr val="BFE3D0"/>
            </a:solidFill>
            <a:prstDash val="solid"/>
          </a:ln>
        </p:spPr>
      </p:sp>
      <p:sp>
        <p:nvSpPr>
          <p:cNvPr id="11" name="Shape 9"/>
          <p:cNvSpPr/>
          <p:nvPr/>
        </p:nvSpPr>
        <p:spPr>
          <a:xfrm>
            <a:off x="777240" y="2487168"/>
            <a:ext cx="384048" cy="384048"/>
          </a:xfrm>
          <a:prstGeom prst="ellipse">
            <a:avLst/>
          </a:prstGeom>
          <a:solidFill>
            <a:srgbClr val="1F6F4A"/>
          </a:solidFill>
          <a:ln/>
        </p:spPr>
      </p:sp>
      <p:sp>
        <p:nvSpPr>
          <p:cNvPr id="12" name="Text 10"/>
          <p:cNvSpPr txBox="1"/>
          <p:nvPr/>
        </p:nvSpPr>
        <p:spPr>
          <a:xfrm>
            <a:off x="777240" y="2487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1325880" y="2304288"/>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4281E"/>
                </a:solidFill>
                <a:latin typeface="Calibri" pitchFamily="34" charset="0"/>
                <a:ea typeface="Calibri" pitchFamily="34" charset="-122"/>
                <a:cs typeface="Calibri" pitchFamily="34" charset="-120"/>
              </a:rPr>
              <a:t>C implementation:  </a:t>
            </a:r>
            <a:r>
              <a:rPr lang="en-US" sz="1200" dirty="0">
                <a:solidFill>
                  <a:srgbClr val="1B2233"/>
                </a:solidFill>
                <a:latin typeface="Calibri" pitchFamily="34" charset="0"/>
                <a:ea typeface="Calibri" pitchFamily="34" charset="-122"/>
                <a:cs typeface="Calibri" pitchFamily="34" charset="-120"/>
              </a:rPr>
              <a:t>One maxHeapify() function reused by both phases of heapSort() — a build loop, then an extract loop.</a:t>
            </a:r>
            <a:endParaRPr lang="en-US" sz="1200" dirty="0"/>
          </a:p>
        </p:txBody>
      </p:sp>
      <p:sp>
        <p:nvSpPr>
          <p:cNvPr id="14" name="Shape 12"/>
          <p:cNvSpPr/>
          <p:nvPr/>
        </p:nvSpPr>
        <p:spPr>
          <a:xfrm>
            <a:off x="548640" y="3191256"/>
            <a:ext cx="11064240" cy="749808"/>
          </a:xfrm>
          <a:prstGeom prst="roundRect">
            <a:avLst>
              <a:gd name="adj" fmla="val 12195"/>
            </a:avLst>
          </a:prstGeom>
          <a:solidFill>
            <a:srgbClr val="E8F5EE"/>
          </a:solidFill>
          <a:ln w="12700">
            <a:solidFill>
              <a:srgbClr val="BFE3D0"/>
            </a:solidFill>
            <a:prstDash val="solid"/>
          </a:ln>
        </p:spPr>
      </p:sp>
      <p:sp>
        <p:nvSpPr>
          <p:cNvPr id="15" name="Shape 13"/>
          <p:cNvSpPr/>
          <p:nvPr/>
        </p:nvSpPr>
        <p:spPr>
          <a:xfrm>
            <a:off x="777240" y="3374136"/>
            <a:ext cx="384048" cy="384048"/>
          </a:xfrm>
          <a:prstGeom prst="ellipse">
            <a:avLst/>
          </a:prstGeom>
          <a:solidFill>
            <a:srgbClr val="1F6F4A"/>
          </a:solidFill>
          <a:ln/>
        </p:spPr>
      </p:sp>
      <p:sp>
        <p:nvSpPr>
          <p:cNvPr id="16" name="Text 14"/>
          <p:cNvSpPr txBox="1"/>
          <p:nvPr/>
        </p:nvSpPr>
        <p:spPr>
          <a:xfrm>
            <a:off x="777240" y="3374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325880" y="3191256"/>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4281E"/>
                </a:solidFill>
                <a:latin typeface="Calibri" pitchFamily="34" charset="0"/>
                <a:ea typeface="Calibri" pitchFamily="34" charset="-122"/>
                <a:cs typeface="Calibri" pitchFamily="34" charset="-120"/>
              </a:rPr>
              <a:t>Complexity:  </a:t>
            </a:r>
            <a:r>
              <a:rPr lang="en-US" sz="1200" dirty="0">
                <a:solidFill>
                  <a:srgbClr val="1B2233"/>
                </a:solidFill>
                <a:latin typeface="Calibri" pitchFamily="34" charset="0"/>
                <a:ea typeface="Calibri" pitchFamily="34" charset="-122"/>
                <a:cs typeface="Calibri" pitchFamily="34" charset="-120"/>
              </a:rPr>
              <a:t>O(n log n) in best, average, AND worst case; Build-Max-Heap alone is a surprising O(n), not O(n log n).</a:t>
            </a:r>
            <a:endParaRPr lang="en-US" sz="1200" dirty="0"/>
          </a:p>
        </p:txBody>
      </p:sp>
      <p:sp>
        <p:nvSpPr>
          <p:cNvPr id="18" name="Shape 16"/>
          <p:cNvSpPr/>
          <p:nvPr/>
        </p:nvSpPr>
        <p:spPr>
          <a:xfrm>
            <a:off x="548640" y="4078224"/>
            <a:ext cx="11064240" cy="749808"/>
          </a:xfrm>
          <a:prstGeom prst="roundRect">
            <a:avLst>
              <a:gd name="adj" fmla="val 12195"/>
            </a:avLst>
          </a:prstGeom>
          <a:solidFill>
            <a:srgbClr val="E8F5EE"/>
          </a:solidFill>
          <a:ln w="12700">
            <a:solidFill>
              <a:srgbClr val="BFE3D0"/>
            </a:solidFill>
            <a:prstDash val="solid"/>
          </a:ln>
        </p:spPr>
      </p:sp>
      <p:sp>
        <p:nvSpPr>
          <p:cNvPr id="19" name="Shape 17"/>
          <p:cNvSpPr/>
          <p:nvPr/>
        </p:nvSpPr>
        <p:spPr>
          <a:xfrm>
            <a:off x="777240" y="4261104"/>
            <a:ext cx="384048" cy="384048"/>
          </a:xfrm>
          <a:prstGeom prst="ellipse">
            <a:avLst/>
          </a:prstGeom>
          <a:solidFill>
            <a:srgbClr val="1F6F4A"/>
          </a:solidFill>
          <a:ln/>
        </p:spPr>
      </p:sp>
      <p:sp>
        <p:nvSpPr>
          <p:cNvPr id="20" name="Text 18"/>
          <p:cNvSpPr txBox="1"/>
          <p:nvPr/>
        </p:nvSpPr>
        <p:spPr>
          <a:xfrm>
            <a:off x="777240" y="42611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1325880" y="4078224"/>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4281E"/>
                </a:solidFill>
                <a:latin typeface="Calibri" pitchFamily="34" charset="0"/>
                <a:ea typeface="Calibri" pitchFamily="34" charset="-122"/>
                <a:cs typeface="Calibri" pitchFamily="34" charset="-120"/>
              </a:rPr>
              <a:t>Where it's useful:  </a:t>
            </a:r>
            <a:r>
              <a:rPr lang="en-US" sz="1200" dirty="0">
                <a:solidFill>
                  <a:srgbClr val="1B2233"/>
                </a:solidFill>
                <a:latin typeface="Calibri" pitchFamily="34" charset="0"/>
                <a:ea typeface="Calibri" pitchFamily="34" charset="-122"/>
                <a:cs typeface="Calibri" pitchFamily="34" charset="-120"/>
              </a:rPr>
              <a:t>Situations needing both a worst-case guarantee and minimal memory — and the heap itself powers priority queues.</a:t>
            </a:r>
            <a:endParaRPr lang="en-US" sz="1200" dirty="0"/>
          </a:p>
        </p:txBody>
      </p:sp>
      <p:sp>
        <p:nvSpPr>
          <p:cNvPr id="22" name="Shape 20"/>
          <p:cNvSpPr/>
          <p:nvPr/>
        </p:nvSpPr>
        <p:spPr>
          <a:xfrm>
            <a:off x="548640" y="5056632"/>
            <a:ext cx="11064240" cy="1051560"/>
          </a:xfrm>
          <a:prstGeom prst="roundRect">
            <a:avLst>
              <a:gd name="adj" fmla="val 8696"/>
            </a:avLst>
          </a:prstGeom>
          <a:solidFill>
            <a:srgbClr val="14281E"/>
          </a:solidFill>
          <a:ln w="12700">
            <a:solidFill>
              <a:srgbClr val="14281E"/>
            </a:solidFill>
            <a:prstDash val="solid"/>
          </a:ln>
        </p:spPr>
      </p:sp>
      <p:sp>
        <p:nvSpPr>
          <p:cNvPr id="23" name="Text 21"/>
          <p:cNvSpPr txBox="1"/>
          <p:nvPr/>
        </p:nvSpPr>
        <p:spPr>
          <a:xfrm>
            <a:off x="777240" y="5193792"/>
            <a:ext cx="3657600" cy="274320"/>
          </a:xfrm>
          <a:prstGeom prst="rect">
            <a:avLst/>
          </a:prstGeom>
          <a:noFill/>
          <a:ln/>
        </p:spPr>
        <p:txBody>
          <a:bodyPr wrap="square" lIns="0" tIns="0" rIns="0" bIns="0" rtlCol="0" anchor="ctr"/>
          <a:lstStyle/>
          <a:p>
            <a:pPr marL="0" indent="0">
              <a:buNone/>
            </a:pPr>
            <a:r>
              <a:rPr lang="en-US" sz="1100" b="1" kern="0" spc="150" dirty="0">
                <a:solidFill>
                  <a:srgbClr val="D97706"/>
                </a:solidFill>
                <a:latin typeface="Calibri" pitchFamily="34" charset="0"/>
                <a:ea typeface="Calibri" pitchFamily="34" charset="-122"/>
                <a:cs typeface="Calibri" pitchFamily="34" charset="-120"/>
              </a:rPr>
              <a:t>REFERENCES</a:t>
            </a:r>
            <a:endParaRPr lang="en-US" sz="1100" dirty="0"/>
          </a:p>
        </p:txBody>
      </p:sp>
      <p:sp>
        <p:nvSpPr>
          <p:cNvPr id="24" name="Text 22"/>
          <p:cNvSpPr txBox="1"/>
          <p:nvPr/>
        </p:nvSpPr>
        <p:spPr>
          <a:xfrm>
            <a:off x="777240" y="5468112"/>
            <a:ext cx="10607040" cy="548640"/>
          </a:xfrm>
          <a:prstGeom prst="rect">
            <a:avLst/>
          </a:prstGeom>
          <a:noFill/>
          <a:ln/>
        </p:spPr>
        <p:txBody>
          <a:bodyPr wrap="square" lIns="0" tIns="0" rIns="0" bIns="0" rtlCol="0" anchor="ctr"/>
          <a:lstStyle/>
          <a:p>
            <a:pPr marL="0" indent="0">
              <a:lnSpc>
                <a:spcPct val="120000"/>
              </a:lnSpc>
              <a:buNone/>
            </a:pPr>
            <a:r>
              <a:rPr lang="en-US" sz="1250" i="1" dirty="0">
                <a:solidFill>
                  <a:srgbClr val="D6F2E4"/>
                </a:solidFill>
                <a:latin typeface="Calibri" pitchFamily="34" charset="0"/>
                <a:ea typeface="Calibri" pitchFamily="34" charset="-122"/>
                <a:cs typeface="Calibri" pitchFamily="34" charset="-120"/>
              </a:rPr>
              <a:t>Tanenbaum, A. S., Langsam, Y., &amp; Augenstein, M. J. Data Structures Using C. Pearson / Prentice-Hall.</a:t>
            </a:r>
            <a:endParaRPr lang="en-US" sz="1250" dirty="0"/>
          </a:p>
        </p:txBody>
      </p:sp>
      <p:sp>
        <p:nvSpPr>
          <p:cNvPr id="25" name="Text 2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Heap Sort  |  Data Structures Using C</a:t>
            </a:r>
            <a:endParaRPr lang="en-US" sz="900" dirty="0"/>
          </a:p>
        </p:txBody>
      </p:sp>
      <p:sp>
        <p:nvSpPr>
          <p:cNvPr id="26" name="Text 2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1021</TotalTime>
  <Words>4555</Words>
  <Application>Microsoft Macintosh PowerPoint</Application>
  <PresentationFormat>Widescreen</PresentationFormat>
  <Paragraphs>475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Anjali Tripathi</cp:lastModifiedBy>
  <cp:revision>3</cp:revision>
  <dcterms:created xsi:type="dcterms:W3CDTF">2026-09-21T09:28:23Z</dcterms:created>
  <dcterms:modified xsi:type="dcterms:W3CDTF">2026-09-30T05:58:18Z</dcterms:modified>
</cp:coreProperties>
</file>