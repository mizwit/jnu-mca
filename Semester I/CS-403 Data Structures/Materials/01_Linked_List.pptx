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3" d="100"/>
          <a:sy n="93" d="100"/>
        </p:scale>
        <p:origin x="274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ev Kumar" userId="afc1d97c678e6b9c" providerId="LiveId" clId="{E1C5B397-5F36-40BC-B9C0-3019570C9B68}"/>
    <pc:docChg chg="undo custSel modSld">
      <pc:chgData name="Rajeev Kumar" userId="afc1d97c678e6b9c" providerId="LiveId" clId="{E1C5B397-5F36-40BC-B9C0-3019570C9B68}" dt="2026-08-31T08:39:25.122" v="89" actId="1076"/>
      <pc:docMkLst>
        <pc:docMk/>
      </pc:docMkLst>
      <pc:sldChg chg="modSp mod">
        <pc:chgData name="Rajeev Kumar" userId="afc1d97c678e6b9c" providerId="LiveId" clId="{E1C5B397-5F36-40BC-B9C0-3019570C9B68}" dt="2026-08-31T08:29:28.248" v="88" actId="14100"/>
        <pc:sldMkLst>
          <pc:docMk/>
          <pc:sldMk cId="0" sldId="256"/>
        </pc:sldMkLst>
        <pc:spChg chg="mod">
          <ac:chgData name="Rajeev Kumar" userId="afc1d97c678e6b9c" providerId="LiveId" clId="{E1C5B397-5F36-40BC-B9C0-3019570C9B68}" dt="2026-08-31T08:29:28.248" v="88" actId="14100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19:05.411" v="0" actId="1076"/>
        <pc:sldMkLst>
          <pc:docMk/>
          <pc:sldMk cId="0" sldId="269"/>
        </pc:sldMkLst>
        <pc:spChg chg="mod">
          <ac:chgData name="Rajeev Kumar" userId="afc1d97c678e6b9c" providerId="LiveId" clId="{E1C5B397-5F36-40BC-B9C0-3019570C9B68}" dt="2026-08-31T08:19:05.411" v="0" actId="1076"/>
          <ac:spMkLst>
            <pc:docMk/>
            <pc:sldMk cId="0" sldId="269"/>
            <ac:spMk id="5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19:31.761" v="4" actId="1076"/>
        <pc:sldMkLst>
          <pc:docMk/>
          <pc:sldMk cId="0" sldId="270"/>
        </pc:sldMkLst>
        <pc:spChg chg="mod">
          <ac:chgData name="Rajeev Kumar" userId="afc1d97c678e6b9c" providerId="LiveId" clId="{E1C5B397-5F36-40BC-B9C0-3019570C9B68}" dt="2026-08-31T08:19:15.154" v="2" actId="1036"/>
          <ac:spMkLst>
            <pc:docMk/>
            <pc:sldMk cId="0" sldId="270"/>
            <ac:spMk id="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19:26.990" v="3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19:31.761" v="4" actId="1076"/>
          <ac:spMkLst>
            <pc:docMk/>
            <pc:sldMk cId="0" sldId="270"/>
            <ac:spMk id="30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19:48.324" v="7" actId="1076"/>
        <pc:sldMkLst>
          <pc:docMk/>
          <pc:sldMk cId="0" sldId="271"/>
        </pc:sldMkLst>
        <pc:spChg chg="mod">
          <ac:chgData name="Rajeev Kumar" userId="afc1d97c678e6b9c" providerId="LiveId" clId="{E1C5B397-5F36-40BC-B9C0-3019570C9B68}" dt="2026-08-31T08:19:40.616" v="5" actId="1076"/>
          <ac:spMkLst>
            <pc:docMk/>
            <pc:sldMk cId="0" sldId="271"/>
            <ac:spMk id="5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19:45.606" v="6" actId="1076"/>
          <ac:spMkLst>
            <pc:docMk/>
            <pc:sldMk cId="0" sldId="271"/>
            <ac:spMk id="7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19:48.324" v="7" actId="1076"/>
          <ac:spMkLst>
            <pc:docMk/>
            <pc:sldMk cId="0" sldId="271"/>
            <ac:spMk id="31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20:32.362" v="9" actId="1076"/>
        <pc:sldMkLst>
          <pc:docMk/>
          <pc:sldMk cId="0" sldId="272"/>
        </pc:sldMkLst>
        <pc:spChg chg="mod">
          <ac:chgData name="Rajeev Kumar" userId="afc1d97c678e6b9c" providerId="LiveId" clId="{E1C5B397-5F36-40BC-B9C0-3019570C9B68}" dt="2026-08-31T08:19:58.922" v="8" actId="1076"/>
          <ac:spMkLst>
            <pc:docMk/>
            <pc:sldMk cId="0" sldId="272"/>
            <ac:spMk id="7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0:32.362" v="9" actId="1076"/>
          <ac:spMkLst>
            <pc:docMk/>
            <pc:sldMk cId="0" sldId="272"/>
            <ac:spMk id="31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20:40.346" v="10" actId="1076"/>
        <pc:sldMkLst>
          <pc:docMk/>
          <pc:sldMk cId="0" sldId="273"/>
        </pc:sldMkLst>
        <pc:spChg chg="mod">
          <ac:chgData name="Rajeev Kumar" userId="afc1d97c678e6b9c" providerId="LiveId" clId="{E1C5B397-5F36-40BC-B9C0-3019570C9B68}" dt="2026-08-31T08:20:40.346" v="10" actId="1076"/>
          <ac:spMkLst>
            <pc:docMk/>
            <pc:sldMk cId="0" sldId="273"/>
            <ac:spMk id="4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21:17.630" v="17" actId="1076"/>
        <pc:sldMkLst>
          <pc:docMk/>
          <pc:sldMk cId="0" sldId="276"/>
        </pc:sldMkLst>
        <pc:spChg chg="mod">
          <ac:chgData name="Rajeev Kumar" userId="afc1d97c678e6b9c" providerId="LiveId" clId="{E1C5B397-5F36-40BC-B9C0-3019570C9B68}" dt="2026-08-31T08:20:56.563" v="13" actId="1076"/>
          <ac:spMkLst>
            <pc:docMk/>
            <pc:sldMk cId="0" sldId="276"/>
            <ac:spMk id="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1:07.854" v="15" actId="1076"/>
          <ac:spMkLst>
            <pc:docMk/>
            <pc:sldMk cId="0" sldId="276"/>
            <ac:spMk id="5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0:54.404" v="12" actId="1076"/>
          <ac:spMkLst>
            <pc:docMk/>
            <pc:sldMk cId="0" sldId="276"/>
            <ac:spMk id="23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1:02.516" v="14" actId="1076"/>
          <ac:spMkLst>
            <pc:docMk/>
            <pc:sldMk cId="0" sldId="276"/>
            <ac:spMk id="2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1:17.630" v="17" actId="1076"/>
          <ac:spMkLst>
            <pc:docMk/>
            <pc:sldMk cId="0" sldId="276"/>
            <ac:spMk id="25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1:12.944" v="16" actId="1076"/>
          <ac:spMkLst>
            <pc:docMk/>
            <pc:sldMk cId="0" sldId="276"/>
            <ac:spMk id="49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22:00.560" v="26" actId="1076"/>
        <pc:sldMkLst>
          <pc:docMk/>
          <pc:sldMk cId="0" sldId="277"/>
        </pc:sldMkLst>
        <pc:spChg chg="mod">
          <ac:chgData name="Rajeev Kumar" userId="afc1d97c678e6b9c" providerId="LiveId" clId="{E1C5B397-5F36-40BC-B9C0-3019570C9B68}" dt="2026-08-31T08:21:42.072" v="21" actId="1076"/>
          <ac:spMkLst>
            <pc:docMk/>
            <pc:sldMk cId="0" sldId="277"/>
            <ac:spMk id="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1:39.014" v="20" actId="1076"/>
          <ac:spMkLst>
            <pc:docMk/>
            <pc:sldMk cId="0" sldId="277"/>
            <ac:spMk id="5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2:00.560" v="26" actId="1076"/>
          <ac:spMkLst>
            <pc:docMk/>
            <pc:sldMk cId="0" sldId="277"/>
            <ac:spMk id="23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1:31.964" v="19" actId="1076"/>
          <ac:spMkLst>
            <pc:docMk/>
            <pc:sldMk cId="0" sldId="277"/>
            <ac:spMk id="2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1:26.719" v="18" actId="1076"/>
          <ac:spMkLst>
            <pc:docMk/>
            <pc:sldMk cId="0" sldId="277"/>
            <ac:spMk id="49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22:36.467" v="32" actId="1076"/>
        <pc:sldMkLst>
          <pc:docMk/>
          <pc:sldMk cId="0" sldId="278"/>
        </pc:sldMkLst>
        <pc:spChg chg="mod">
          <ac:chgData name="Rajeev Kumar" userId="afc1d97c678e6b9c" providerId="LiveId" clId="{E1C5B397-5F36-40BC-B9C0-3019570C9B68}" dt="2026-08-31T08:22:36.467" v="32" actId="1076"/>
          <ac:spMkLst>
            <pc:docMk/>
            <pc:sldMk cId="0" sldId="278"/>
            <ac:spMk id="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2:33.870" v="31" actId="1076"/>
          <ac:spMkLst>
            <pc:docMk/>
            <pc:sldMk cId="0" sldId="278"/>
            <ac:spMk id="28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2:24.362" v="28" actId="1076"/>
          <ac:spMkLst>
            <pc:docMk/>
            <pc:sldMk cId="0" sldId="278"/>
            <ac:spMk id="29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2:19.222" v="27" actId="1076"/>
          <ac:spMkLst>
            <pc:docMk/>
            <pc:sldMk cId="0" sldId="278"/>
            <ac:spMk id="59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22:58.200" v="37" actId="1076"/>
        <pc:sldMkLst>
          <pc:docMk/>
          <pc:sldMk cId="0" sldId="279"/>
        </pc:sldMkLst>
        <pc:spChg chg="mod">
          <ac:chgData name="Rajeev Kumar" userId="afc1d97c678e6b9c" providerId="LiveId" clId="{E1C5B397-5F36-40BC-B9C0-3019570C9B68}" dt="2026-08-31T08:22:48.906" v="35" actId="1076"/>
          <ac:spMkLst>
            <pc:docMk/>
            <pc:sldMk cId="0" sldId="279"/>
            <ac:spMk id="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2:43.745" v="33" actId="1076"/>
          <ac:spMkLst>
            <pc:docMk/>
            <pc:sldMk cId="0" sldId="279"/>
            <ac:spMk id="28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2:53.415" v="36" actId="1076"/>
          <ac:spMkLst>
            <pc:docMk/>
            <pc:sldMk cId="0" sldId="279"/>
            <ac:spMk id="29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2:58.200" v="37" actId="1076"/>
          <ac:spMkLst>
            <pc:docMk/>
            <pc:sldMk cId="0" sldId="279"/>
            <ac:spMk id="49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24:28.272" v="41" actId="1076"/>
        <pc:sldMkLst>
          <pc:docMk/>
          <pc:sldMk cId="0" sldId="280"/>
        </pc:sldMkLst>
        <pc:spChg chg="mod">
          <ac:chgData name="Rajeev Kumar" userId="afc1d97c678e6b9c" providerId="LiveId" clId="{E1C5B397-5F36-40BC-B9C0-3019570C9B68}" dt="2026-08-31T08:24:17.410" v="39" actId="1076"/>
          <ac:spMkLst>
            <pc:docMk/>
            <pc:sldMk cId="0" sldId="280"/>
            <ac:spMk id="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4:20.218" v="40" actId="1076"/>
          <ac:spMkLst>
            <pc:docMk/>
            <pc:sldMk cId="0" sldId="280"/>
            <ac:spMk id="28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4:13.749" v="38" actId="1076"/>
          <ac:spMkLst>
            <pc:docMk/>
            <pc:sldMk cId="0" sldId="280"/>
            <ac:spMk id="29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4:28.272" v="41" actId="1076"/>
          <ac:spMkLst>
            <pc:docMk/>
            <pc:sldMk cId="0" sldId="280"/>
            <ac:spMk id="49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24:58.744" v="46" actId="1076"/>
        <pc:sldMkLst>
          <pc:docMk/>
          <pc:sldMk cId="0" sldId="281"/>
        </pc:sldMkLst>
        <pc:spChg chg="mod">
          <ac:chgData name="Rajeev Kumar" userId="afc1d97c678e6b9c" providerId="LiveId" clId="{E1C5B397-5F36-40BC-B9C0-3019570C9B68}" dt="2026-08-31T08:24:58.744" v="46" actId="1076"/>
          <ac:spMkLst>
            <pc:docMk/>
            <pc:sldMk cId="0" sldId="281"/>
            <ac:spMk id="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4:53.924" v="44" actId="1076"/>
          <ac:spMkLst>
            <pc:docMk/>
            <pc:sldMk cId="0" sldId="281"/>
            <ac:spMk id="33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4:40.716" v="42" actId="1076"/>
          <ac:spMkLst>
            <pc:docMk/>
            <pc:sldMk cId="0" sldId="281"/>
            <ac:spMk id="3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4:45.770" v="43" actId="1076"/>
          <ac:spMkLst>
            <pc:docMk/>
            <pc:sldMk cId="0" sldId="281"/>
            <ac:spMk id="59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25:24.165" v="49" actId="1076"/>
        <pc:sldMkLst>
          <pc:docMk/>
          <pc:sldMk cId="0" sldId="285"/>
        </pc:sldMkLst>
        <pc:spChg chg="mod">
          <ac:chgData name="Rajeev Kumar" userId="afc1d97c678e6b9c" providerId="LiveId" clId="{E1C5B397-5F36-40BC-B9C0-3019570C9B68}" dt="2026-08-31T08:25:11.550" v="47" actId="1076"/>
          <ac:spMkLst>
            <pc:docMk/>
            <pc:sldMk cId="0" sldId="285"/>
            <ac:spMk id="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5:16.654" v="48" actId="1076"/>
          <ac:spMkLst>
            <pc:docMk/>
            <pc:sldMk cId="0" sldId="285"/>
            <ac:spMk id="26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5:24.165" v="49" actId="1076"/>
          <ac:spMkLst>
            <pc:docMk/>
            <pc:sldMk cId="0" sldId="285"/>
            <ac:spMk id="55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25:46.626" v="54" actId="1076"/>
        <pc:sldMkLst>
          <pc:docMk/>
          <pc:sldMk cId="0" sldId="286"/>
        </pc:sldMkLst>
        <pc:spChg chg="mod">
          <ac:chgData name="Rajeev Kumar" userId="afc1d97c678e6b9c" providerId="LiveId" clId="{E1C5B397-5F36-40BC-B9C0-3019570C9B68}" dt="2026-08-31T08:25:34.147" v="51" actId="1076"/>
          <ac:spMkLst>
            <pc:docMk/>
            <pc:sldMk cId="0" sldId="286"/>
            <ac:spMk id="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5:46.626" v="54" actId="1076"/>
          <ac:spMkLst>
            <pc:docMk/>
            <pc:sldMk cId="0" sldId="286"/>
            <ac:spMk id="26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5:42.657" v="53" actId="1076"/>
          <ac:spMkLst>
            <pc:docMk/>
            <pc:sldMk cId="0" sldId="286"/>
            <ac:spMk id="55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26:07.569" v="58" actId="1076"/>
        <pc:sldMkLst>
          <pc:docMk/>
          <pc:sldMk cId="0" sldId="287"/>
        </pc:sldMkLst>
        <pc:spChg chg="mod">
          <ac:chgData name="Rajeev Kumar" userId="afc1d97c678e6b9c" providerId="LiveId" clId="{E1C5B397-5F36-40BC-B9C0-3019570C9B68}" dt="2026-08-31T08:25:53.013" v="55" actId="1076"/>
          <ac:spMkLst>
            <pc:docMk/>
            <pc:sldMk cId="0" sldId="287"/>
            <ac:spMk id="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6:07.569" v="58" actId="1076"/>
          <ac:spMkLst>
            <pc:docMk/>
            <pc:sldMk cId="0" sldId="287"/>
            <ac:spMk id="33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6:00.681" v="57" actId="1076"/>
          <ac:spMkLst>
            <pc:docMk/>
            <pc:sldMk cId="0" sldId="287"/>
            <ac:spMk id="69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26:18.366" v="60" actId="1076"/>
        <pc:sldMkLst>
          <pc:docMk/>
          <pc:sldMk cId="0" sldId="288"/>
        </pc:sldMkLst>
        <pc:spChg chg="mod">
          <ac:chgData name="Rajeev Kumar" userId="afc1d97c678e6b9c" providerId="LiveId" clId="{E1C5B397-5F36-40BC-B9C0-3019570C9B68}" dt="2026-08-31T08:26:14.396" v="59" actId="1076"/>
          <ac:spMkLst>
            <pc:docMk/>
            <pc:sldMk cId="0" sldId="288"/>
            <ac:spMk id="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6:18.366" v="60" actId="1076"/>
          <ac:spMkLst>
            <pc:docMk/>
            <pc:sldMk cId="0" sldId="288"/>
            <ac:spMk id="5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26:28.999" v="62" actId="1076"/>
        <pc:sldMkLst>
          <pc:docMk/>
          <pc:sldMk cId="0" sldId="289"/>
        </pc:sldMkLst>
        <pc:spChg chg="mod">
          <ac:chgData name="Rajeev Kumar" userId="afc1d97c678e6b9c" providerId="LiveId" clId="{E1C5B397-5F36-40BC-B9C0-3019570C9B68}" dt="2026-08-31T08:26:24.639" v="61" actId="1076"/>
          <ac:spMkLst>
            <pc:docMk/>
            <pc:sldMk cId="0" sldId="289"/>
            <ac:spMk id="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6:28.999" v="62" actId="1076"/>
          <ac:spMkLst>
            <pc:docMk/>
            <pc:sldMk cId="0" sldId="289"/>
            <ac:spMk id="5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26:49.325" v="66" actId="1076"/>
        <pc:sldMkLst>
          <pc:docMk/>
          <pc:sldMk cId="0" sldId="290"/>
        </pc:sldMkLst>
        <pc:spChg chg="mod">
          <ac:chgData name="Rajeev Kumar" userId="afc1d97c678e6b9c" providerId="LiveId" clId="{E1C5B397-5F36-40BC-B9C0-3019570C9B68}" dt="2026-08-31T08:26:37.353" v="64" actId="1076"/>
          <ac:spMkLst>
            <pc:docMk/>
            <pc:sldMk cId="0" sldId="290"/>
            <ac:spMk id="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6:42.083" v="65" actId="1076"/>
          <ac:spMkLst>
            <pc:docMk/>
            <pc:sldMk cId="0" sldId="290"/>
            <ac:spMk id="40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6:49.325" v="66" actId="1076"/>
          <ac:spMkLst>
            <pc:docMk/>
            <pc:sldMk cId="0" sldId="290"/>
            <ac:spMk id="69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27:44.334" v="73" actId="1076"/>
        <pc:sldMkLst>
          <pc:docMk/>
          <pc:sldMk cId="0" sldId="293"/>
        </pc:sldMkLst>
        <pc:spChg chg="mod">
          <ac:chgData name="Rajeev Kumar" userId="afc1d97c678e6b9c" providerId="LiveId" clId="{E1C5B397-5F36-40BC-B9C0-3019570C9B68}" dt="2026-08-31T08:27:05.064" v="67" actId="1076"/>
          <ac:spMkLst>
            <pc:docMk/>
            <pc:sldMk cId="0" sldId="293"/>
            <ac:spMk id="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7:22.306" v="69" actId="1076"/>
          <ac:spMkLst>
            <pc:docMk/>
            <pc:sldMk cId="0" sldId="293"/>
            <ac:spMk id="6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7:22.306" v="69" actId="1076"/>
          <ac:spMkLst>
            <pc:docMk/>
            <pc:sldMk cId="0" sldId="293"/>
            <ac:spMk id="10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7:22.306" v="69" actId="1076"/>
          <ac:spMkLst>
            <pc:docMk/>
            <pc:sldMk cId="0" sldId="293"/>
            <ac:spMk id="1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7:22.306" v="69" actId="1076"/>
          <ac:spMkLst>
            <pc:docMk/>
            <pc:sldMk cId="0" sldId="293"/>
            <ac:spMk id="20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7:22.306" v="69" actId="1076"/>
          <ac:spMkLst>
            <pc:docMk/>
            <pc:sldMk cId="0" sldId="293"/>
            <ac:spMk id="26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7:22.306" v="69" actId="1076"/>
          <ac:spMkLst>
            <pc:docMk/>
            <pc:sldMk cId="0" sldId="293"/>
            <ac:spMk id="30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7:44.334" v="73" actId="1076"/>
          <ac:spMkLst>
            <pc:docMk/>
            <pc:sldMk cId="0" sldId="293"/>
            <ac:spMk id="31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7:29.734" v="70" actId="1076"/>
          <ac:spMkLst>
            <pc:docMk/>
            <pc:sldMk cId="0" sldId="293"/>
            <ac:spMk id="32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7:22.306" v="69" actId="1076"/>
          <ac:spMkLst>
            <pc:docMk/>
            <pc:sldMk cId="0" sldId="293"/>
            <ac:spMk id="37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7:22.306" v="69" actId="1076"/>
          <ac:spMkLst>
            <pc:docMk/>
            <pc:sldMk cId="0" sldId="293"/>
            <ac:spMk id="48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7:22.306" v="69" actId="1076"/>
          <ac:spMkLst>
            <pc:docMk/>
            <pc:sldMk cId="0" sldId="293"/>
            <ac:spMk id="51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7:22.306" v="69" actId="1076"/>
          <ac:spMkLst>
            <pc:docMk/>
            <pc:sldMk cId="0" sldId="293"/>
            <ac:spMk id="52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7:16.435" v="68" actId="1076"/>
          <ac:spMkLst>
            <pc:docMk/>
            <pc:sldMk cId="0" sldId="293"/>
            <ac:spMk id="6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7:35.975" v="71" actId="1076"/>
          <ac:spMkLst>
            <pc:docMk/>
            <pc:sldMk cId="0" sldId="293"/>
            <ac:spMk id="67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28:04.061" v="76" actId="1076"/>
        <pc:sldMkLst>
          <pc:docMk/>
          <pc:sldMk cId="0" sldId="294"/>
        </pc:sldMkLst>
        <pc:spChg chg="mod">
          <ac:chgData name="Rajeev Kumar" userId="afc1d97c678e6b9c" providerId="LiveId" clId="{E1C5B397-5F36-40BC-B9C0-3019570C9B68}" dt="2026-08-31T08:27:56.975" v="74" actId="1076"/>
          <ac:spMkLst>
            <pc:docMk/>
            <pc:sldMk cId="0" sldId="294"/>
            <ac:spMk id="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8:00.650" v="75" actId="1076"/>
          <ac:spMkLst>
            <pc:docMk/>
            <pc:sldMk cId="0" sldId="294"/>
            <ac:spMk id="32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8:04.061" v="76" actId="1076"/>
          <ac:spMkLst>
            <pc:docMk/>
            <pc:sldMk cId="0" sldId="294"/>
            <ac:spMk id="67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28:20.406" v="79" actId="1076"/>
        <pc:sldMkLst>
          <pc:docMk/>
          <pc:sldMk cId="0" sldId="295"/>
        </pc:sldMkLst>
        <pc:spChg chg="mod">
          <ac:chgData name="Rajeev Kumar" userId="afc1d97c678e6b9c" providerId="LiveId" clId="{E1C5B397-5F36-40BC-B9C0-3019570C9B68}" dt="2026-08-31T08:28:15.451" v="78" actId="1076"/>
          <ac:spMkLst>
            <pc:docMk/>
            <pc:sldMk cId="0" sldId="295"/>
            <ac:spMk id="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8:20.406" v="79" actId="1076"/>
          <ac:spMkLst>
            <pc:docMk/>
            <pc:sldMk cId="0" sldId="295"/>
            <ac:spMk id="39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8:11.161" v="77" actId="1076"/>
          <ac:spMkLst>
            <pc:docMk/>
            <pc:sldMk cId="0" sldId="295"/>
            <ac:spMk id="40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28:38.536" v="82" actId="1076"/>
        <pc:sldMkLst>
          <pc:docMk/>
          <pc:sldMk cId="0" sldId="296"/>
        </pc:sldMkLst>
        <pc:spChg chg="mod">
          <ac:chgData name="Rajeev Kumar" userId="afc1d97c678e6b9c" providerId="LiveId" clId="{E1C5B397-5F36-40BC-B9C0-3019570C9B68}" dt="2026-08-31T08:28:38.536" v="82" actId="1076"/>
          <ac:spMkLst>
            <pc:docMk/>
            <pc:sldMk cId="0" sldId="296"/>
            <ac:spMk id="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8:33.850" v="81" actId="1076"/>
          <ac:spMkLst>
            <pc:docMk/>
            <pc:sldMk cId="0" sldId="296"/>
            <ac:spMk id="39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8:27.096" v="80" actId="1076"/>
          <ac:spMkLst>
            <pc:docMk/>
            <pc:sldMk cId="0" sldId="296"/>
            <ac:spMk id="40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28:54.962" v="85" actId="1076"/>
        <pc:sldMkLst>
          <pc:docMk/>
          <pc:sldMk cId="0" sldId="297"/>
        </pc:sldMkLst>
        <pc:spChg chg="mod">
          <ac:chgData name="Rajeev Kumar" userId="afc1d97c678e6b9c" providerId="LiveId" clId="{E1C5B397-5F36-40BC-B9C0-3019570C9B68}" dt="2026-08-31T08:28:44.858" v="83" actId="1076"/>
          <ac:spMkLst>
            <pc:docMk/>
            <pc:sldMk cId="0" sldId="297"/>
            <ac:spMk id="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8:50.197" v="84" actId="1076"/>
          <ac:spMkLst>
            <pc:docMk/>
            <pc:sldMk cId="0" sldId="297"/>
            <ac:spMk id="5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8:54.962" v="85" actId="1076"/>
          <ac:spMkLst>
            <pc:docMk/>
            <pc:sldMk cId="0" sldId="297"/>
            <ac:spMk id="40" creationId="{00000000-0000-0000-0000-000000000000}"/>
          </ac:spMkLst>
        </pc:spChg>
      </pc:sldChg>
      <pc:sldChg chg="modSp mod">
        <pc:chgData name="Rajeev Kumar" userId="afc1d97c678e6b9c" providerId="LiveId" clId="{E1C5B397-5F36-40BC-B9C0-3019570C9B68}" dt="2026-08-31T08:39:25.122" v="89" actId="1076"/>
        <pc:sldMkLst>
          <pc:docMk/>
          <pc:sldMk cId="0" sldId="298"/>
        </pc:sldMkLst>
        <pc:spChg chg="mod">
          <ac:chgData name="Rajeev Kumar" userId="afc1d97c678e6b9c" providerId="LiveId" clId="{E1C5B397-5F36-40BC-B9C0-3019570C9B68}" dt="2026-08-31T08:39:25.122" v="89" actId="1076"/>
          <ac:spMkLst>
            <pc:docMk/>
            <pc:sldMk cId="0" sldId="298"/>
            <ac:spMk id="4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9:01.607" v="86" actId="1076"/>
          <ac:spMkLst>
            <pc:docMk/>
            <pc:sldMk cId="0" sldId="298"/>
            <ac:spMk id="46" creationId="{00000000-0000-0000-0000-000000000000}"/>
          </ac:spMkLst>
        </pc:spChg>
        <pc:spChg chg="mod">
          <ac:chgData name="Rajeev Kumar" userId="afc1d97c678e6b9c" providerId="LiveId" clId="{E1C5B397-5F36-40BC-B9C0-3019570C9B68}" dt="2026-08-31T08:29:05.303" v="87" actId="1076"/>
          <ac:spMkLst>
            <pc:docMk/>
            <pc:sldMk cId="0" sldId="298"/>
            <ac:spMk id="8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2097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Start by asking students why arrays become inconvenient when the number of elements changes frequently. Use that question to motivate linked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“What happens if an array is full and we want to insert at the beginning?” Then contrast element shifting with pointer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the lecture roadmap. The deck intentionally repeats the same “before → pointer update → after” visual pattern for every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two fields on the board. Emphasize that the arrow represents an address stored in NEXT, not physical adjacency in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HEAD, then trace each NEXT arrow. Ask students what condition stops traversal: current pointer becomes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 to think in pointer assignments, not just memorized code. The diagrams later highlight exactly which links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heap allocation and memory leaks. Mention that `free()` releases the block, while assigning a pointer to NULL does not free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responds to a common beginner question: declaration and allocation are two separate ideas. Pause after each line and ask what value the pointer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the cursor moving one node at a time. Emphasize that updating HEAD during traversal would destroy access to the beginning of the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predict the output before running the function. Note that the parameter `ptr` is a local copy of the head pointer.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pointer tracing on the board. Search stops early when the key is found; worst case still visits all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short-circuit evaluation: `ptr != NULL` must be tested before `ptr-&gt;data` to avoid dereferencing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which assignment must happen first. If HEAD is updated before saving the old head in new-&gt;next, the existing list becomes disconnected.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optimization: maintaining a tail pointer turns append from O(n) into O(1), but tail must be kept correct on deletions.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order: first preserve the successor in `new-&gt;next`, then redirect `ptr-&gt;next`. Reversing these assignments can lose part of the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lifetime of TEMP: it exists only to remember the block that must be freed after HEAD moves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special one-node case. In that case there is no valid predecessor, so HEAD must become NULL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node is not deleted; its successor is. Ask students to identify which node TEMP points to before `free(temp)`.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complexity to pointer movement rather than memorization. Ask: “How many nodes must the algorithm visit before it can change the required link?”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 students that `while(ptr != NULL)` is wrong for a non-empty circular list; it never becomes NULL. Use a do-while loop or explicit return-to-HEAD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crucial invariant is that the last node must always point to the current HEAD. If HEAD changes, the last node’s link must be updated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 highlight the tail optimization. With a tail pointer, circular append is especially clean: new-&gt;next=head; tail-&gt;next=new; tail=new.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do-while search so the head node is checked exactly once. Avoid infinite loops by detecting a full return to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node’s next pointer must be redirected before the old head is freed. In the one-node case, HEAD becomes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with singly delete-last: the final assignment differs (`prev-&gt;next = head` instead of NULL).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operation can accidentally delete HEAD when the key node is last. Point out that circular edge cases often depend on whether the removed node equals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explain why a do-while loop is natural here: in a non-empty circular list, the head node must be processed before testing for return to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memory trade-off: each node uses an extra pointer but operations around a known node become easier because the predecessor is directly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compare the singly and doubly structs. The only structural addition is PREV, but every insertion/deletion must maintain both directions consistently.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symmetry: when the new node points forward to the old head, the old head must point backward to the new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new node’s PREV is what makes backward traversal possible immediately after insertion.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up to four directional links to maintain. A good teaching order is: connect NEW to both neighbors, then connect neighbors back to 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extra check after moving HEAD is essential: if the list had only one node, the new HEAD is NULL and cannot be dereferenced.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singly delete-last. In a doubly list, PREV removes the need to track a separate predecessor while traversing.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Deletion must repair both directions. After bypassing TEMP forward, also repair the successor’s PREV pointer.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useful for conceptual exam questions: “Why choose a doubly linked list?” Ask students to trade memory overhead against navigation convenience.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two circular invariants: last-&gt;next == head and head-&gt;prev == last. Almost every operation can be checked against these two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`last = head-&gt;prev` to avoid traversal. This is a key advantage of circular doubly lists: the tail is reachable in O(1) from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list’s HEAD need not change during append. The two circular invariants are restored by `last-&gt;next=new` and `head-&gt;prev=new`.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NULL check is needed for ptr-&gt;next in a non-empty circular list because every node has a successor; however, search failure must still be detected after a full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verify both invariants after deletion: last-&gt;next == head and head-&gt;prev ==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full traversal is required because the last node is `head-&gt;prev`. This makes delete-last O(1) once the list is non-empty.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circular version of doubly delete-after. Handle the case where the successor is HEAD, because the logical first node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word “sentinel.” A header node can reduce repeated special-case code for the first data node because the list always has a structural node at the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Relate the header node to sentinel nodes used in other data structures. It is not ordinary user data unless explicitly designed to store metadata.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pointers step by step: after each loop, FAST has moved twice as far as SLOW. For an odd-length list, SLOW lands on the exact middle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improves on a common beginner implementation that walks from HEAD to the last node for every insertion. Ask students to compare total time across n insertions.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complexities can change when auxiliary pointers such as TAIL are maintained. The table shows the usual HEAD-only implementation except where noted.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debugging checklist in labs. Encourage students to draw tiny 0-node, 1-node and 2-node examples before testing larger 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for student responses. Suggested answers: preserve old head; return to head; direct PREV; append/insert-end with tail; free releases allocated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105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B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CS-403 • Data Structures</a:t>
            </a:r>
            <a:endParaRPr lang="en-US" sz="920" dirty="0"/>
          </a:p>
        </p:txBody>
      </p:sp>
      <p:sp>
        <p:nvSpPr>
          <p:cNvPr id="4" name="Text 2"/>
          <p:cNvSpPr/>
          <p:nvPr/>
        </p:nvSpPr>
        <p:spPr>
          <a:xfrm>
            <a:off x="9052560" y="651052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6B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 Lists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12B8A6"/>
                </a:solidFill>
              </a:rPr>
              <a:t>DATA STRUCTURES • CS-403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117043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73D"/>
                </a:solidFill>
              </a:rPr>
              <a:t>Linked Lists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68" y="19202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6788A"/>
                </a:solidFill>
              </a:rPr>
              <a:t>From memory layout to insertion, deletion, circular and doubly linked lists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2816352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EEECFA"/>
          </a:solidFill>
          <a:ln w="12700">
            <a:solidFill>
              <a:srgbClr val="EEEC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8895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C7"/>
                </a:solidFill>
              </a:rPr>
              <a:t>TEACHING DECK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3364992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4B5A"/>
                </a:solidFill>
              </a:rPr>
              <a:t>Concept → Diagram → Algorithm → C code → Practice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903720" y="841248"/>
            <a:ext cx="4818888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33488" y="1225296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0273D"/>
                </a:solidFill>
              </a:rPr>
              <a:t>A linked list stores nodes anywhere in memory — links preserve the logical order.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7315200" y="210312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251192" y="2414016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60920" y="2487168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0920" y="2487168"/>
            <a:ext cx="36576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26680" y="2487168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97496" y="26517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74152" y="2770632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385048" y="2487168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5048" y="2487168"/>
            <a:ext cx="36576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50808" y="2487168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21624" y="26517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098280" y="2770632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409176" y="2487168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09176" y="2487168"/>
            <a:ext cx="36576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74936" y="2487168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45752" y="26517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122408" y="2770632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433304" y="2487168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33304" y="2487168"/>
            <a:ext cx="36576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99064" y="2487168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69880" y="26517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256264" y="26517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64B4B"/>
                </a:solidFill>
              </a:rPr>
              <a:t>NULL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1146536" y="2770632"/>
            <a:ext cx="91440" cy="0"/>
          </a:xfrm>
          <a:prstGeom prst="line">
            <a:avLst/>
          </a:prstGeom>
          <a:noFill/>
          <a:ln w="15240">
            <a:solidFill>
              <a:srgbClr val="D64B4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315200" y="3749040"/>
            <a:ext cx="3767328" cy="868680"/>
          </a:xfrm>
          <a:prstGeom prst="roundRect">
            <a:avLst>
              <a:gd name="adj" fmla="val 5263"/>
            </a:avLst>
          </a:prstGeom>
          <a:solidFill>
            <a:srgbClr val="DFF7F3"/>
          </a:solidFill>
          <a:ln w="12700">
            <a:solidFill>
              <a:srgbClr val="DFF7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62088" y="396849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B8A6"/>
                </a:solidFill>
              </a:rPr>
              <a:t>Each node = DATA + NEXT pointer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58368" y="5897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88A"/>
                </a:solidFill>
              </a:rPr>
              <a:t>Professional teaching edition</a:t>
            </a:r>
            <a:endParaRPr lang="en-US" sz="12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1 • FOUNDATIONS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Why do we need linked storage?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88A"/>
                </a:solidFill>
              </a:rPr>
              <a:t>A linked list trades direct indexing for flexible memory allocation and easy structural changes.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3401568" cy="1965960"/>
          </a:xfrm>
          <a:prstGeom prst="roundRect">
            <a:avLst>
              <a:gd name="adj" fmla="val 2791"/>
            </a:avLst>
          </a:prstGeom>
          <a:solidFill>
            <a:srgbClr val="FDEBEB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64008" cy="1965960"/>
          </a:xfrm>
          <a:prstGeom prst="rect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3911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Problem with sequential allocation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3090672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D3D"/>
                </a:solidFill>
              </a:rPr>
              <a:t>The final size may be unknown. Growing a fixed array may require a new block and data copying.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70832" y="1874520"/>
            <a:ext cx="3401568" cy="1965960"/>
          </a:xfrm>
          <a:prstGeom prst="roundRect">
            <a:avLst>
              <a:gd name="adj" fmla="val 2791"/>
            </a:avLst>
          </a:prstGeom>
          <a:solidFill>
            <a:srgbClr val="FFF3D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1874520"/>
            <a:ext cx="64008" cy="1965960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03911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Frequent insertions / deletions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53712" y="2423160"/>
            <a:ext cx="3090672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D3D"/>
                </a:solidFill>
              </a:rPr>
              <a:t>Shifting many array elements can be expensive. A linked structure changes links instead of shifting data.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01584" y="1874520"/>
            <a:ext cx="3401568" cy="1965960"/>
          </a:xfrm>
          <a:prstGeom prst="roundRect">
            <a:avLst>
              <a:gd name="adj" fmla="val 2791"/>
            </a:avLst>
          </a:prstGeom>
          <a:solidFill>
            <a:srgbClr val="DFF7F3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874520"/>
            <a:ext cx="64008" cy="1965960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203911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Idea: link addressing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84464" y="2423160"/>
            <a:ext cx="3090672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D3D"/>
                </a:solidFill>
              </a:rPr>
              <a:t>Each node stores data and the address of the next node, creating a one-way chain.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14400" y="4343400"/>
            <a:ext cx="10287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59028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73D"/>
                </a:solidFill>
              </a:rPr>
              <a:t>Key trade-off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77440" y="4535424"/>
            <a:ext cx="8458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F2D3D"/>
                </a:solidFill>
              </a:rPr>
              <a:t>Linked lists are excellent for dynamic growth and link-based updates, but they do not support O(1) random access like arrays.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1 • FOUNDATIONS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Learning outcomes &amp; lesson map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534924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</a:rPr>
              <a:t>Explain how nodes and pointers represent a linked list in memory.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</a:rPr>
              <a:t>Trace traversal and search using a temporary pointer.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</a:rPr>
              <a:t>Implement insertion and deletion safely in singly, circular, doubly and circular-doubly lists.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</a:rPr>
              <a:t>Compare variants using time complexity, pointer overhead and use cases.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D3D"/>
                </a:solidFill>
              </a:rPr>
              <a:t>Avoid common C pointer and memory-management errors.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12280" y="1783080"/>
            <a:ext cx="438912" cy="438912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12280" y="192024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01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031736" y="2221992"/>
            <a:ext cx="0" cy="228600"/>
          </a:xfrm>
          <a:prstGeom prst="line">
            <a:avLst/>
          </a:prstGeom>
          <a:noFill/>
          <a:ln w="25400">
            <a:solidFill>
              <a:srgbClr val="D7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52360" y="18653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D3D"/>
                </a:solidFill>
              </a:rPr>
              <a:t>Node &amp; memory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12280" y="2450592"/>
            <a:ext cx="438912" cy="438912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258775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02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031736" y="2889504"/>
            <a:ext cx="0" cy="228600"/>
          </a:xfrm>
          <a:prstGeom prst="line">
            <a:avLst/>
          </a:prstGeom>
          <a:noFill/>
          <a:ln w="25400">
            <a:solidFill>
              <a:srgbClr val="D7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25328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D3D"/>
                </a:solidFill>
              </a:rPr>
              <a:t>Singly list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812280" y="3118104"/>
            <a:ext cx="438912" cy="438912"/>
          </a:xfrm>
          <a:prstGeom prst="ellipse">
            <a:avLst/>
          </a:prstGeom>
          <a:solidFill>
            <a:srgbClr val="10273D"/>
          </a:solidFill>
          <a:ln w="12700">
            <a:solidFill>
              <a:srgbClr val="1027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325526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03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031736" y="3557016"/>
            <a:ext cx="0" cy="228600"/>
          </a:xfrm>
          <a:prstGeom prst="line">
            <a:avLst/>
          </a:prstGeom>
          <a:noFill/>
          <a:ln w="25400">
            <a:solidFill>
              <a:srgbClr val="D7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3200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D3D"/>
                </a:solidFill>
              </a:rPr>
              <a:t>Circular list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812280" y="3785616"/>
            <a:ext cx="438912" cy="438912"/>
          </a:xfrm>
          <a:prstGeom prst="ellipse">
            <a:avLst/>
          </a:prstGeom>
          <a:solidFill>
            <a:srgbClr val="10273D"/>
          </a:solidFill>
          <a:ln w="12700">
            <a:solidFill>
              <a:srgbClr val="1027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392277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04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031736" y="4224528"/>
            <a:ext cx="0" cy="228600"/>
          </a:xfrm>
          <a:prstGeom prst="line">
            <a:avLst/>
          </a:prstGeom>
          <a:noFill/>
          <a:ln w="25400">
            <a:solidFill>
              <a:srgbClr val="D7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38679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D3D"/>
                </a:solidFill>
              </a:rPr>
              <a:t>Doubly list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812280" y="4453128"/>
            <a:ext cx="438912" cy="438912"/>
          </a:xfrm>
          <a:prstGeom prst="ellipse">
            <a:avLst/>
          </a:prstGeom>
          <a:solidFill>
            <a:srgbClr val="10273D"/>
          </a:solidFill>
          <a:ln w="12700">
            <a:solidFill>
              <a:srgbClr val="1027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459028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05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7031736" y="4892040"/>
            <a:ext cx="0" cy="228600"/>
          </a:xfrm>
          <a:prstGeom prst="line">
            <a:avLst/>
          </a:prstGeom>
          <a:noFill/>
          <a:ln w="25400">
            <a:solidFill>
              <a:srgbClr val="D7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453542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D3D"/>
                </a:solidFill>
              </a:rPr>
              <a:t>Circular doubly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812280" y="5120640"/>
            <a:ext cx="438912" cy="438912"/>
          </a:xfrm>
          <a:prstGeom prst="ellipse">
            <a:avLst/>
          </a:prstGeom>
          <a:solidFill>
            <a:srgbClr val="10273D"/>
          </a:solidFill>
          <a:ln w="12700">
            <a:solidFill>
              <a:srgbClr val="1027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525780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06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7452360" y="520293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D3D"/>
                </a:solidFill>
              </a:rPr>
              <a:t>Practice</a:t>
            </a:r>
            <a:endParaRPr lang="en-US" sz="14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1 • FOUNDATIONS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Anatomy of a linked-list node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88A"/>
                </a:solidFill>
              </a:rPr>
              <a:t>A node is a user-defined structure containing data and one or more links.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48840"/>
            <a:ext cx="2240280" cy="1143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148840"/>
            <a:ext cx="1508760" cy="1143000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2148840"/>
            <a:ext cx="731520" cy="1143000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2313432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4290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2B8A6"/>
                </a:solidFill>
              </a:rPr>
              <a:t>DATA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2359152" y="34290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6C63C7"/>
                </a:solidFill>
              </a:rPr>
              <a:t>NEXT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1645920" y="3273552"/>
            <a:ext cx="0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15768" y="3273552"/>
            <a:ext cx="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023360" y="1874520"/>
            <a:ext cx="6903720" cy="2331720"/>
          </a:xfrm>
          <a:prstGeom prst="roundRect">
            <a:avLst>
              <a:gd name="adj" fmla="val 1961"/>
            </a:avLst>
          </a:prstGeom>
          <a:solidFill>
            <a:srgbClr val="0E1A27"/>
          </a:solidFill>
          <a:ln w="12700">
            <a:solidFill>
              <a:srgbClr val="0E1A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87952" y="19842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40" dirty="0">
                <a:solidFill>
                  <a:srgbClr val="91E9DB"/>
                </a:solidFill>
              </a:rPr>
              <a:t>Node definition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10424160" y="2002536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79608" y="2002536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35056" y="2002536"/>
            <a:ext cx="91440" cy="91440"/>
          </a:xfrm>
          <a:prstGeom prst="ellipse">
            <a:avLst/>
          </a:prstGeom>
          <a:solidFill>
            <a:srgbClr val="6BE28C"/>
          </a:solidFill>
          <a:ln w="12700">
            <a:solidFill>
              <a:srgbClr val="6BE2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87952" y="2313432"/>
            <a:ext cx="657453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{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data;          // value stored in the node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*next; // address of the next node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960120" y="4572000"/>
            <a:ext cx="4480560" cy="868680"/>
          </a:xfrm>
          <a:prstGeom prst="roundRect">
            <a:avLst>
              <a:gd name="adj" fmla="val 6316"/>
            </a:avLst>
          </a:prstGeom>
          <a:solidFill>
            <a:srgbClr val="FFF3DF"/>
          </a:solidFill>
          <a:ln w="12700">
            <a:solidFill>
              <a:srgbClr val="FFF3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46908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2A33A"/>
                </a:solidFill>
              </a:rPr>
              <a:t>IMPORTANT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06424" y="4937760"/>
            <a:ext cx="4187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The pointer stores an address — not the next data value. The last node of a normal singly list stores NULL.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5669280" y="4572000"/>
            <a:ext cx="5257800" cy="868680"/>
          </a:xfrm>
          <a:prstGeom prst="roundRect">
            <a:avLst>
              <a:gd name="adj" fmla="val 6316"/>
            </a:avLst>
          </a:prstGeom>
          <a:solidFill>
            <a:srgbClr val="DFF7F3"/>
          </a:solidFill>
          <a:ln w="12700">
            <a:solidFill>
              <a:srgbClr val="DFF7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15584" y="46908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2B8A6"/>
                </a:solidFill>
              </a:rPr>
              <a:t>MEMORY MODEL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15584" y="4937760"/>
            <a:ext cx="4965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Nodes need not be adjacent in RAM. Links create the logical sequence.</a:t>
            </a:r>
            <a:endParaRPr lang="en-US" sz="123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2 • SINGLY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Singly linked list: how the chain works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85623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216152" y="216712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325880" y="2240280"/>
            <a:ext cx="102412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2240280"/>
            <a:ext cx="67665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02536" y="224028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62456" y="240487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350008" y="2523744"/>
            <a:ext cx="37490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70632" y="2240280"/>
            <a:ext cx="102412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70632" y="2240280"/>
            <a:ext cx="67665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47288" y="224028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07208" y="240487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794760" y="2523744"/>
            <a:ext cx="37490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15384" y="2240280"/>
            <a:ext cx="102412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15384" y="2240280"/>
            <a:ext cx="67665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224028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240487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239512" y="2523744"/>
            <a:ext cx="37490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660136" y="2240280"/>
            <a:ext cx="102412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0136" y="2240280"/>
            <a:ext cx="67665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224028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96712" y="240487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84264" y="2523744"/>
            <a:ext cx="37490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104888" y="2240280"/>
            <a:ext cx="102412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04888" y="2240280"/>
            <a:ext cx="67665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81544" y="224028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41464" y="240487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50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38744" y="24048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64B4B"/>
                </a:solidFill>
              </a:rPr>
              <a:t>NULL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29016" y="2523744"/>
            <a:ext cx="91440" cy="0"/>
          </a:xfrm>
          <a:prstGeom prst="line">
            <a:avLst/>
          </a:prstGeom>
          <a:noFill/>
          <a:ln w="15240">
            <a:solidFill>
              <a:srgbClr val="D64B4B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051560" y="32461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2B8A6"/>
                </a:solidFill>
              </a:rPr>
              <a:t>HEAD stores the address of the first node</a:t>
            </a:r>
            <a:endParaRPr lang="en-US" sz="1330" dirty="0"/>
          </a:p>
        </p:txBody>
      </p:sp>
      <p:sp>
        <p:nvSpPr>
          <p:cNvPr id="34" name="Text 32"/>
          <p:cNvSpPr/>
          <p:nvPr/>
        </p:nvSpPr>
        <p:spPr>
          <a:xfrm>
            <a:off x="4526280" y="32461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0273D"/>
                </a:solidFill>
              </a:rPr>
              <a:t>Each NEXT points forward</a:t>
            </a:r>
            <a:endParaRPr lang="en-US" sz="1330" dirty="0"/>
          </a:p>
        </p:txBody>
      </p:sp>
      <p:sp>
        <p:nvSpPr>
          <p:cNvPr id="35" name="Text 33"/>
          <p:cNvSpPr/>
          <p:nvPr/>
        </p:nvSpPr>
        <p:spPr>
          <a:xfrm>
            <a:off x="8394192" y="32461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D64B4B"/>
                </a:solidFill>
              </a:rPr>
              <a:t>Last NEXT = NULL</a:t>
            </a:r>
            <a:endParaRPr lang="en-US" sz="1330" dirty="0"/>
          </a:p>
        </p:txBody>
      </p:sp>
      <p:sp>
        <p:nvSpPr>
          <p:cNvPr id="36" name="Shape 34"/>
          <p:cNvSpPr/>
          <p:nvPr/>
        </p:nvSpPr>
        <p:spPr>
          <a:xfrm>
            <a:off x="1005840" y="3931920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FDEBEB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5840" y="3931920"/>
            <a:ext cx="64008" cy="1024128"/>
          </a:xfrm>
          <a:prstGeom prst="rect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88720" y="4096512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Empty list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1188720" y="4480560"/>
            <a:ext cx="293522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</a:rPr>
              <a:t>head == NULL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480560" y="3931920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DFF7F3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80560" y="3931920"/>
            <a:ext cx="64008" cy="1024128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4096512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Logical order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4663440" y="4480560"/>
            <a:ext cx="293522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</a:rPr>
              <a:t>Follow NEXT from HEAD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955280" y="3931920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FFF3D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55280" y="3931920"/>
            <a:ext cx="64008" cy="1024128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38160" y="4096512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Random access</a:t>
            </a:r>
            <a:endParaRPr lang="en-US" sz="1550" dirty="0"/>
          </a:p>
        </p:txBody>
      </p:sp>
      <p:sp>
        <p:nvSpPr>
          <p:cNvPr id="47" name="Text 45"/>
          <p:cNvSpPr/>
          <p:nvPr/>
        </p:nvSpPr>
        <p:spPr>
          <a:xfrm>
            <a:off x="8138160" y="4480560"/>
            <a:ext cx="293522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D3D"/>
                </a:solidFill>
              </a:rPr>
              <a:t>No direct index; traverse to reach a node</a:t>
            </a:r>
            <a:endParaRPr lang="en-US" sz="132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2 • SINGLY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Core linked-list operations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88A"/>
                </a:solidFill>
              </a:rPr>
              <a:t>Most exams and lab programs revolve around six operation families.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74520"/>
            <a:ext cx="3429000" cy="1298448"/>
          </a:xfrm>
          <a:prstGeom prst="roundRect">
            <a:avLst>
              <a:gd name="adj" fmla="val 4225"/>
            </a:avLst>
          </a:prstGeom>
          <a:solidFill>
            <a:srgbClr val="DFF7F3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74520"/>
            <a:ext cx="64008" cy="1298448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3911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Create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311810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Allocate &amp; connect nodes</a:t>
            </a:r>
            <a:endParaRPr lang="en-US" sz="1310" dirty="0"/>
          </a:p>
        </p:txBody>
      </p:sp>
      <p:sp>
        <p:nvSpPr>
          <p:cNvPr id="10" name="Shape 8"/>
          <p:cNvSpPr/>
          <p:nvPr/>
        </p:nvSpPr>
        <p:spPr>
          <a:xfrm>
            <a:off x="4507992" y="1874520"/>
            <a:ext cx="3429000" cy="1298448"/>
          </a:xfrm>
          <a:prstGeom prst="roundRect">
            <a:avLst>
              <a:gd name="adj" fmla="val 4225"/>
            </a:avLst>
          </a:prstGeom>
          <a:solidFill>
            <a:srgbClr val="E8EEF5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7992" y="1874520"/>
            <a:ext cx="64008" cy="1298448"/>
          </a:xfrm>
          <a:prstGeom prst="rect">
            <a:avLst/>
          </a:prstGeom>
          <a:solidFill>
            <a:srgbClr val="10273D"/>
          </a:solidFill>
          <a:ln w="12700">
            <a:solidFill>
              <a:srgbClr val="1027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203911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Traverse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90872" y="2423160"/>
            <a:ext cx="311810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Visit every node</a:t>
            </a:r>
            <a:endParaRPr lang="en-US" sz="1310" dirty="0"/>
          </a:p>
        </p:txBody>
      </p:sp>
      <p:sp>
        <p:nvSpPr>
          <p:cNvPr id="14" name="Shape 12"/>
          <p:cNvSpPr/>
          <p:nvPr/>
        </p:nvSpPr>
        <p:spPr>
          <a:xfrm>
            <a:off x="8330184" y="1874520"/>
            <a:ext cx="3429000" cy="1298448"/>
          </a:xfrm>
          <a:prstGeom prst="roundRect">
            <a:avLst>
              <a:gd name="adj" fmla="val 4225"/>
            </a:avLst>
          </a:prstGeom>
          <a:solidFill>
            <a:srgbClr val="EEECFA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184" y="1874520"/>
            <a:ext cx="64008" cy="1298448"/>
          </a:xfrm>
          <a:prstGeom prst="rect">
            <a:avLst/>
          </a:prstGeom>
          <a:solidFill>
            <a:srgbClr val="6C63C7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13064" y="203911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Search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513064" y="2423160"/>
            <a:ext cx="311810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Locate a key value</a:t>
            </a:r>
            <a:endParaRPr lang="en-US" sz="1310" dirty="0"/>
          </a:p>
        </p:txBody>
      </p:sp>
      <p:sp>
        <p:nvSpPr>
          <p:cNvPr id="18" name="Shape 16"/>
          <p:cNvSpPr/>
          <p:nvPr/>
        </p:nvSpPr>
        <p:spPr>
          <a:xfrm>
            <a:off x="685800" y="3538728"/>
            <a:ext cx="3429000" cy="1298448"/>
          </a:xfrm>
          <a:prstGeom prst="roundRect">
            <a:avLst>
              <a:gd name="adj" fmla="val 4225"/>
            </a:avLst>
          </a:prstGeom>
          <a:solidFill>
            <a:srgbClr val="E6F6E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538728"/>
            <a:ext cx="64008" cy="1298448"/>
          </a:xfrm>
          <a:prstGeom prst="rect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70332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Insert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68680" y="4087368"/>
            <a:ext cx="311810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Beginning • end • after key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4507992" y="3538728"/>
            <a:ext cx="3429000" cy="1298448"/>
          </a:xfrm>
          <a:prstGeom prst="roundRect">
            <a:avLst>
              <a:gd name="adj" fmla="val 4225"/>
            </a:avLst>
          </a:prstGeom>
          <a:solidFill>
            <a:srgbClr val="FDEBEB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07992" y="3538728"/>
            <a:ext cx="64008" cy="1298448"/>
          </a:xfrm>
          <a:prstGeom prst="rect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872" y="370332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Delete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690872" y="4087368"/>
            <a:ext cx="311810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Beginning • end • after key</a:t>
            </a:r>
            <a:endParaRPr lang="en-US" sz="1310" dirty="0"/>
          </a:p>
        </p:txBody>
      </p:sp>
      <p:sp>
        <p:nvSpPr>
          <p:cNvPr id="26" name="Shape 24"/>
          <p:cNvSpPr/>
          <p:nvPr/>
        </p:nvSpPr>
        <p:spPr>
          <a:xfrm>
            <a:off x="8330184" y="3538728"/>
            <a:ext cx="3429000" cy="1298448"/>
          </a:xfrm>
          <a:prstGeom prst="roundRect">
            <a:avLst>
              <a:gd name="adj" fmla="val 4225"/>
            </a:avLst>
          </a:prstGeom>
          <a:solidFill>
            <a:srgbClr val="FFF3D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0184" y="3538728"/>
            <a:ext cx="64008" cy="1298448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13064" y="370332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Sort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513064" y="4087368"/>
            <a:ext cx="311810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Reorder data / links</a:t>
            </a:r>
            <a:endParaRPr lang="en-US" sz="1310" dirty="0"/>
          </a:p>
        </p:txBody>
      </p:sp>
      <p:sp>
        <p:nvSpPr>
          <p:cNvPr id="30" name="Shape 28"/>
          <p:cNvSpPr/>
          <p:nvPr/>
        </p:nvSpPr>
        <p:spPr>
          <a:xfrm>
            <a:off x="685800" y="534924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DFF7F3"/>
          </a:solidFill>
          <a:ln w="12700">
            <a:solidFill>
              <a:srgbClr val="DFF7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" y="54681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2B8A6"/>
                </a:solidFill>
              </a:rPr>
              <a:t>TEACHING FOCUS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2104" y="5715000"/>
            <a:ext cx="10771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For each operation, identify exactly which pointer(s) change and in what order.</a:t>
            </a:r>
            <a:endParaRPr lang="en-US" sz="123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2 • SINGLY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Creating nodes dynamically with malloc()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88A"/>
                </a:solidFill>
              </a:rPr>
              <a:t>Dynamic allocation is the usual approach for linked lists in C.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83664"/>
            <a:ext cx="384048" cy="384048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5681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71016" y="1874520"/>
            <a:ext cx="4169664" cy="6272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1F2D3D"/>
                </a:solidFill>
              </a:rPr>
              <a:t>Declare a pointer that can point to struct node.</a:t>
            </a:r>
            <a:endParaRPr lang="en-US" sz="1390" dirty="0"/>
          </a:p>
        </p:txBody>
      </p:sp>
      <p:sp>
        <p:nvSpPr>
          <p:cNvPr id="9" name="Shape 7"/>
          <p:cNvSpPr/>
          <p:nvPr/>
        </p:nvSpPr>
        <p:spPr>
          <a:xfrm>
            <a:off x="777240" y="2584094"/>
            <a:ext cx="384048" cy="384048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5724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71016" y="2574950"/>
            <a:ext cx="4169664" cy="6272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1F2D3D"/>
                </a:solidFill>
              </a:rPr>
              <a:t>Request enough heap memory for one complete node.</a:t>
            </a:r>
            <a:endParaRPr lang="en-US" sz="1390" dirty="0"/>
          </a:p>
        </p:txBody>
      </p:sp>
      <p:sp>
        <p:nvSpPr>
          <p:cNvPr id="12" name="Shape 10"/>
          <p:cNvSpPr/>
          <p:nvPr/>
        </p:nvSpPr>
        <p:spPr>
          <a:xfrm>
            <a:off x="777240" y="3284525"/>
            <a:ext cx="384048" cy="384048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57677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71016" y="3275381"/>
            <a:ext cx="4169664" cy="6272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1F2D3D"/>
                </a:solidFill>
              </a:rPr>
              <a:t>Check whether allocation succeeded.</a:t>
            </a:r>
            <a:endParaRPr lang="en-US" sz="1390" dirty="0"/>
          </a:p>
        </p:txBody>
      </p:sp>
      <p:sp>
        <p:nvSpPr>
          <p:cNvPr id="15" name="Shape 13"/>
          <p:cNvSpPr/>
          <p:nvPr/>
        </p:nvSpPr>
        <p:spPr>
          <a:xfrm>
            <a:off x="777240" y="3984955"/>
            <a:ext cx="384048" cy="384048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058107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71016" y="3975811"/>
            <a:ext cx="4169664" cy="6272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1F2D3D"/>
                </a:solidFill>
              </a:rPr>
              <a:t>Fill the data field and initialize the link.</a:t>
            </a:r>
            <a:endParaRPr lang="en-US" sz="1390" dirty="0"/>
          </a:p>
        </p:txBody>
      </p:sp>
      <p:sp>
        <p:nvSpPr>
          <p:cNvPr id="18" name="Shape 16"/>
          <p:cNvSpPr/>
          <p:nvPr/>
        </p:nvSpPr>
        <p:spPr>
          <a:xfrm>
            <a:off x="777240" y="4685386"/>
            <a:ext cx="384048" cy="384048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75853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71016" y="4676242"/>
            <a:ext cx="4169664" cy="6272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1F2D3D"/>
                </a:solidFill>
              </a:rPr>
              <a:t>free() the node when it is removed.</a:t>
            </a:r>
            <a:endParaRPr lang="en-US" sz="1390" dirty="0"/>
          </a:p>
        </p:txBody>
      </p:sp>
      <p:sp>
        <p:nvSpPr>
          <p:cNvPr id="21" name="Shape 19"/>
          <p:cNvSpPr/>
          <p:nvPr/>
        </p:nvSpPr>
        <p:spPr>
          <a:xfrm>
            <a:off x="5806440" y="1847088"/>
            <a:ext cx="5440680" cy="3520440"/>
          </a:xfrm>
          <a:prstGeom prst="roundRect">
            <a:avLst>
              <a:gd name="adj" fmla="val 1299"/>
            </a:avLst>
          </a:prstGeom>
          <a:solidFill>
            <a:srgbClr val="0E1A27"/>
          </a:solidFill>
          <a:ln w="12700">
            <a:solidFill>
              <a:srgbClr val="0E1A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71032" y="19568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40" dirty="0">
                <a:solidFill>
                  <a:srgbClr val="91E9DB"/>
                </a:solidFill>
              </a:rPr>
              <a:t>Safe allocation pattern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10744200" y="1975104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99648" y="1975104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55096" y="1975104"/>
            <a:ext cx="91440" cy="91440"/>
          </a:xfrm>
          <a:prstGeom prst="ellipse">
            <a:avLst/>
          </a:prstGeom>
          <a:solidFill>
            <a:srgbClr val="6BE28C"/>
          </a:solidFill>
          <a:ln w="12700">
            <a:solidFill>
              <a:srgbClr val="6BE2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71032" y="2286000"/>
            <a:ext cx="5111496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*np;                 // 1) node pointer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 = malloc(sizeof *np);          // 2) allocate one node</a:t>
            </a:r>
            <a:endParaRPr lang="en-US" sz="1180" dirty="0"/>
          </a:p>
          <a:p>
            <a:pPr marL="0" indent="0">
              <a:buNone/>
            </a:pP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(np == NULL) {                 // 3) allocation failed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printf("Out of memory\n");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80" dirty="0"/>
          </a:p>
          <a:p>
            <a:pPr marL="0" indent="0">
              <a:buNone/>
            </a:pP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np-&gt;data = 10;                    // 4) store data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np-&gt;next = NULL;                  //    no next node yet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777240" y="5504688"/>
            <a:ext cx="10469880" cy="566928"/>
          </a:xfrm>
          <a:prstGeom prst="roundRect">
            <a:avLst>
              <a:gd name="adj" fmla="val 9677"/>
            </a:avLst>
          </a:prstGeom>
          <a:solidFill>
            <a:srgbClr val="FFF3DF"/>
          </a:solidFill>
          <a:ln w="12700">
            <a:solidFill>
              <a:srgbClr val="FFF3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56235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2A33A"/>
                </a:solidFill>
              </a:rPr>
              <a:t>NOTE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23544" y="5870448"/>
            <a:ext cx="10177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In C, the explicit cast on malloc() is not required. `malloc(sizeof *np)` is concise and less error-prone.</a:t>
            </a:r>
            <a:endParaRPr lang="en-US" sz="123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2 • SINGLY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Create one node: two-line version with comments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6675120" cy="2423160"/>
          </a:xfrm>
          <a:prstGeom prst="roundRect">
            <a:avLst>
              <a:gd name="adj" fmla="val 1887"/>
            </a:avLst>
          </a:prstGeom>
          <a:solidFill>
            <a:srgbClr val="0E1A27"/>
          </a:solidFill>
          <a:ln w="12700">
            <a:solidFill>
              <a:srgbClr val="0E1A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9842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40" dirty="0">
                <a:solidFill>
                  <a:srgbClr val="91E9DB"/>
                </a:solidFill>
              </a:rPr>
              <a:t>Minimal code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7040880" y="2002536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96328" y="2002536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1776" y="2002536"/>
            <a:ext cx="91440" cy="91440"/>
          </a:xfrm>
          <a:prstGeom prst="ellipse">
            <a:avLst/>
          </a:prstGeom>
          <a:solidFill>
            <a:srgbClr val="6BE28C"/>
          </a:solidFill>
          <a:ln w="12700">
            <a:solidFill>
              <a:srgbClr val="6BE2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313432"/>
            <a:ext cx="634593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*np;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Declare a pointer that can store the address of a node.</a:t>
            </a:r>
            <a:endParaRPr lang="en-US" sz="1180" dirty="0"/>
          </a:p>
          <a:p>
            <a:pPr marL="0" indent="0">
              <a:buNone/>
            </a:pP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 = malloc(sizeof *np);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Allocate enough heap memory for one complete node.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8366760" y="2212848"/>
            <a:ext cx="1554480" cy="868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66760" y="2212848"/>
            <a:ext cx="1024128" cy="868680"/>
          </a:xfrm>
          <a:prstGeom prst="rect">
            <a:avLst/>
          </a:prstGeom>
          <a:solidFill>
            <a:srgbClr val="FFF3DF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90888" y="2212848"/>
            <a:ext cx="530352" cy="868680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3336" y="237744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63840" y="2651760"/>
            <a:ext cx="502920" cy="0"/>
          </a:xfrm>
          <a:prstGeom prst="line">
            <a:avLst/>
          </a:prstGeom>
          <a:noFill/>
          <a:ln w="2032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388352" y="25146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12B8A6"/>
                </a:solidFill>
              </a:rPr>
              <a:t>np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73568" y="3456432"/>
            <a:ext cx="2743200" cy="987552"/>
          </a:xfrm>
          <a:prstGeom prst="roundRect">
            <a:avLst>
              <a:gd name="adj" fmla="val 5556"/>
            </a:avLst>
          </a:prstGeom>
          <a:solidFill>
            <a:srgbClr val="DFF7F3"/>
          </a:solidFill>
          <a:ln w="12700">
            <a:solidFill>
              <a:srgbClr val="DFF7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9872" y="35753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2B8A6"/>
                </a:solidFill>
              </a:rPr>
              <a:t>AFTER malloc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19872" y="3822192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`np` contains the starting address of the newly allocated node.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868680" y="4754880"/>
            <a:ext cx="10744200" cy="804672"/>
          </a:xfrm>
          <a:prstGeom prst="roundRect">
            <a:avLst>
              <a:gd name="adj" fmla="val 6818"/>
            </a:avLst>
          </a:prstGeom>
          <a:solidFill>
            <a:srgbClr val="EEECFA"/>
          </a:solidFill>
          <a:ln w="12700">
            <a:solidFill>
              <a:srgbClr val="EEEC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" y="4873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6C63C7"/>
                </a:solidFill>
              </a:rPr>
              <a:t>NEXT STEP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14984" y="5120640"/>
            <a:ext cx="10451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Assign np-&gt;data, set np-&gt;next, and connect the node to the list.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2 • SINGLY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Traversal: visiting every node once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88A"/>
                </a:solidFill>
              </a:rPr>
              <a:t>Use a temporary pointer so HEAD itself is not lost.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79222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216152" y="2103120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325880" y="2176272"/>
            <a:ext cx="96012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2176272"/>
            <a:ext cx="61264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38528" y="2176272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62456" y="2340864"/>
            <a:ext cx="539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86000" y="2459736"/>
            <a:ext cx="393192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24912" y="2176272"/>
            <a:ext cx="96012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24912" y="2176272"/>
            <a:ext cx="61264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2176272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61488" y="2340864"/>
            <a:ext cx="539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85032" y="2459736"/>
            <a:ext cx="393192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123944" y="2176272"/>
            <a:ext cx="96012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23944" y="2176272"/>
            <a:ext cx="61264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36592" y="2176272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2340864"/>
            <a:ext cx="539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84064" y="2459736"/>
            <a:ext cx="393192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522976" y="2176272"/>
            <a:ext cx="96012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22976" y="2176272"/>
            <a:ext cx="61264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35624" y="2176272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9552" y="2340864"/>
            <a:ext cx="539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92824" y="23408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64B4B"/>
                </a:solidFill>
              </a:rPr>
              <a:t>NULL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83096" y="2459736"/>
            <a:ext cx="91440" cy="0"/>
          </a:xfrm>
          <a:prstGeom prst="line">
            <a:avLst/>
          </a:prstGeom>
          <a:noFill/>
          <a:ln w="15240">
            <a:solidFill>
              <a:srgbClr val="D64B4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435608" y="3154680"/>
            <a:ext cx="960120" cy="365760"/>
          </a:xfrm>
          <a:prstGeom prst="roundRect">
            <a:avLst>
              <a:gd name="adj" fmla="val 7500"/>
            </a:avLst>
          </a:prstGeom>
          <a:solidFill>
            <a:srgbClr val="EEECFA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35608" y="324612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C63C7"/>
                </a:solidFill>
              </a:rPr>
              <a:t>ptr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920240" y="3154680"/>
            <a:ext cx="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995160" y="1837944"/>
            <a:ext cx="384048" cy="384048"/>
          </a:xfrm>
          <a:prstGeom prst="ellipse">
            <a:avLst/>
          </a:prstGeom>
          <a:solidFill>
            <a:srgbClr val="6C63C7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191109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88936" y="1828800"/>
            <a:ext cx="3300984" cy="5966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F2D3D"/>
                </a:solidFill>
              </a:rPr>
              <a:t>Initialize: ptr = head</a:t>
            </a:r>
            <a:endParaRPr lang="en-US" sz="1340" dirty="0"/>
          </a:p>
        </p:txBody>
      </p:sp>
      <p:sp>
        <p:nvSpPr>
          <p:cNvPr id="35" name="Shape 33"/>
          <p:cNvSpPr/>
          <p:nvPr/>
        </p:nvSpPr>
        <p:spPr>
          <a:xfrm>
            <a:off x="6995160" y="2507742"/>
            <a:ext cx="384048" cy="384048"/>
          </a:xfrm>
          <a:prstGeom prst="ellipse">
            <a:avLst/>
          </a:prstGeom>
          <a:solidFill>
            <a:srgbClr val="6C63C7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258089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488936" y="2498598"/>
            <a:ext cx="3300984" cy="5966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F2D3D"/>
                </a:solidFill>
              </a:rPr>
              <a:t>Process ptr-&gt;data</a:t>
            </a:r>
            <a:endParaRPr lang="en-US" sz="1340" dirty="0"/>
          </a:p>
        </p:txBody>
      </p:sp>
      <p:sp>
        <p:nvSpPr>
          <p:cNvPr id="38" name="Shape 36"/>
          <p:cNvSpPr/>
          <p:nvPr/>
        </p:nvSpPr>
        <p:spPr>
          <a:xfrm>
            <a:off x="6995160" y="3177540"/>
            <a:ext cx="384048" cy="384048"/>
          </a:xfrm>
          <a:prstGeom prst="ellipse">
            <a:avLst/>
          </a:prstGeom>
          <a:solidFill>
            <a:srgbClr val="6C63C7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32506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488936" y="3168396"/>
            <a:ext cx="3300984" cy="5966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F2D3D"/>
                </a:solidFill>
              </a:rPr>
              <a:t>Move: ptr = ptr-&gt;next</a:t>
            </a:r>
            <a:endParaRPr lang="en-US" sz="1340" dirty="0"/>
          </a:p>
        </p:txBody>
      </p:sp>
      <p:sp>
        <p:nvSpPr>
          <p:cNvPr id="41" name="Shape 39"/>
          <p:cNvSpPr/>
          <p:nvPr/>
        </p:nvSpPr>
        <p:spPr>
          <a:xfrm>
            <a:off x="6995160" y="3847338"/>
            <a:ext cx="384048" cy="384048"/>
          </a:xfrm>
          <a:prstGeom prst="ellipse">
            <a:avLst/>
          </a:prstGeom>
          <a:solidFill>
            <a:srgbClr val="6C63C7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95160" y="392049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488936" y="3838194"/>
            <a:ext cx="3300984" cy="5966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F2D3D"/>
                </a:solidFill>
              </a:rPr>
              <a:t>Stop when ptr == NULL</a:t>
            </a:r>
            <a:endParaRPr lang="en-US" sz="1340" dirty="0"/>
          </a:p>
        </p:txBody>
      </p:sp>
      <p:sp>
        <p:nvSpPr>
          <p:cNvPr id="44" name="Shape 42"/>
          <p:cNvSpPr/>
          <p:nvPr/>
        </p:nvSpPr>
        <p:spPr>
          <a:xfrm>
            <a:off x="960120" y="4709160"/>
            <a:ext cx="9921240" cy="868680"/>
          </a:xfrm>
          <a:prstGeom prst="roundRect">
            <a:avLst>
              <a:gd name="adj" fmla="val 6316"/>
            </a:avLst>
          </a:prstGeom>
          <a:solidFill>
            <a:srgbClr val="DFF7F3"/>
          </a:solidFill>
          <a:ln w="12700">
            <a:solidFill>
              <a:srgbClr val="DFF7F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06424" y="48280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2B8A6"/>
                </a:solidFill>
              </a:rPr>
              <a:t>INVARIANT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106424" y="5074920"/>
            <a:ext cx="9628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At each iteration, `ptr` points to the node currently being processed.</a:t>
            </a:r>
            <a:endParaRPr lang="en-US" sz="123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2 • SINGLY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Traversal algorithm + C function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56232"/>
            <a:ext cx="384048" cy="384048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938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71016" y="1847088"/>
            <a:ext cx="3392424" cy="6089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F2D3D"/>
                </a:solidFill>
              </a:rPr>
              <a:t>SET ptr = head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777240" y="2538374"/>
            <a:ext cx="384048" cy="384048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1152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71016" y="2529230"/>
            <a:ext cx="3392424" cy="6089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F2D3D"/>
                </a:solidFill>
              </a:rPr>
              <a:t>WHILE ptr != NULL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777240" y="3220517"/>
            <a:ext cx="384048" cy="384048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93669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71016" y="3211373"/>
            <a:ext cx="3392424" cy="6089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F2D3D"/>
                </a:solidFill>
              </a:rPr>
              <a:t>Process ptr-&gt;data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777240" y="3902659"/>
            <a:ext cx="384048" cy="384048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75811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71016" y="3893515"/>
            <a:ext cx="3392424" cy="6089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F2D3D"/>
                </a:solidFill>
              </a:rPr>
              <a:t>SET ptr = ptr-&gt;next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777240" y="4584802"/>
            <a:ext cx="384048" cy="384048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65795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271016" y="4575658"/>
            <a:ext cx="3392424" cy="6089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F2D3D"/>
                </a:solidFill>
              </a:rPr>
              <a:t>End when ptr becomes NULL</a:t>
            </a:r>
            <a:endParaRPr lang="en-US" sz="1380" dirty="0"/>
          </a:p>
        </p:txBody>
      </p:sp>
      <p:sp>
        <p:nvSpPr>
          <p:cNvPr id="20" name="Shape 18"/>
          <p:cNvSpPr/>
          <p:nvPr/>
        </p:nvSpPr>
        <p:spPr>
          <a:xfrm>
            <a:off x="4983480" y="1847088"/>
            <a:ext cx="6263640" cy="3337560"/>
          </a:xfrm>
          <a:prstGeom prst="roundRect">
            <a:avLst>
              <a:gd name="adj" fmla="val 1370"/>
            </a:avLst>
          </a:prstGeom>
          <a:solidFill>
            <a:srgbClr val="0E1A27"/>
          </a:solidFill>
          <a:ln w="12700">
            <a:solidFill>
              <a:srgbClr val="0E1A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8072" y="19568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40" dirty="0">
                <a:solidFill>
                  <a:srgbClr val="91E9DB"/>
                </a:solidFill>
              </a:rPr>
              <a:t>Traversal in C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10744200" y="1975104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99648" y="1975104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55096" y="1975104"/>
            <a:ext cx="91440" cy="91440"/>
          </a:xfrm>
          <a:prstGeom prst="ellipse">
            <a:avLst/>
          </a:prstGeom>
          <a:solidFill>
            <a:srgbClr val="6BE28C"/>
          </a:solidFill>
          <a:ln w="12700">
            <a:solidFill>
              <a:srgbClr val="6BE2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8072" y="2286000"/>
            <a:ext cx="5934456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display(struct node *ptr) {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(ptr != NULL) {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printf("%d ", ptr-&gt;data); // process current node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ptr = ptr-&gt;next;          // move to next node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80" dirty="0"/>
          </a:p>
          <a:p>
            <a:pPr marL="0" indent="0">
              <a:buNone/>
            </a:pP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display(head);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777240" y="5440680"/>
            <a:ext cx="10469880" cy="566928"/>
          </a:xfrm>
          <a:prstGeom prst="roundRect">
            <a:avLst>
              <a:gd name="adj" fmla="val 9677"/>
            </a:avLst>
          </a:prstGeom>
          <a:solidFill>
            <a:srgbClr val="DFF7F3"/>
          </a:solidFill>
          <a:ln w="12700">
            <a:solidFill>
              <a:srgbClr val="DFF7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" y="55595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2B8A6"/>
                </a:solidFill>
              </a:rPr>
              <a:t>COMPLEXITY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23544" y="5806440"/>
            <a:ext cx="10177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Time: O(n) • Extra space: O(1)</a:t>
            </a:r>
            <a:endParaRPr lang="en-US" sz="123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2 • SINGLY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Searching for key = 40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88A"/>
                </a:solidFill>
              </a:rPr>
              <a:t>Search is traversal with a stopping condition.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58952" y="2048256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68680" y="2121408"/>
            <a:ext cx="82296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121408"/>
            <a:ext cx="47548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44168" y="2121408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228600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691640" y="2404872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002536" y="2121408"/>
            <a:ext cx="82296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02536" y="2121408"/>
            <a:ext cx="47548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78024" y="2121408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39112" y="228600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70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825496" y="2404872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136392" y="2121408"/>
            <a:ext cx="82296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36392" y="2121408"/>
            <a:ext cx="47548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11880" y="2121408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72968" y="228600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959352" y="2404872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270248" y="2121408"/>
            <a:ext cx="82296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70248" y="2121408"/>
            <a:ext cx="47548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45736" y="2121408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06824" y="228600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93208" y="2404872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04104" y="2121408"/>
            <a:ext cx="82296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04104" y="2121408"/>
            <a:ext cx="47548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79592" y="2121408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228600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27064" y="2404872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537960" y="2121408"/>
            <a:ext cx="82296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7960" y="2121408"/>
            <a:ext cx="47548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13448" y="2121408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74536" y="228600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60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470648" y="22860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64B4B"/>
                </a:solidFill>
              </a:rPr>
              <a:t>NULL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360920" y="2404872"/>
            <a:ext cx="91440" cy="0"/>
          </a:xfrm>
          <a:prstGeom prst="line">
            <a:avLst/>
          </a:prstGeom>
          <a:noFill/>
          <a:ln w="15240">
            <a:solidFill>
              <a:srgbClr val="D64B4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86968" y="2999232"/>
            <a:ext cx="786384" cy="329184"/>
          </a:xfrm>
          <a:prstGeom prst="roundRect">
            <a:avLst>
              <a:gd name="adj" fmla="val 8333"/>
            </a:avLst>
          </a:prstGeom>
          <a:solidFill>
            <a:srgbClr val="EEECFA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6968" y="3099816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6C63C7"/>
                </a:solidFill>
              </a:rPr>
              <a:t>step 1</a:t>
            </a:r>
            <a:endParaRPr lang="en-US" sz="970" dirty="0"/>
          </a:p>
        </p:txBody>
      </p:sp>
      <p:sp>
        <p:nvSpPr>
          <p:cNvPr id="41" name="Shape 39"/>
          <p:cNvSpPr/>
          <p:nvPr/>
        </p:nvSpPr>
        <p:spPr>
          <a:xfrm>
            <a:off x="2020824" y="2999232"/>
            <a:ext cx="786384" cy="329184"/>
          </a:xfrm>
          <a:prstGeom prst="roundRect">
            <a:avLst>
              <a:gd name="adj" fmla="val 8333"/>
            </a:avLst>
          </a:prstGeom>
          <a:solidFill>
            <a:srgbClr val="EEECFA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20824" y="3099816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6C63C7"/>
                </a:solidFill>
              </a:rPr>
              <a:t>step 2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3154680" y="2999232"/>
            <a:ext cx="786384" cy="329184"/>
          </a:xfrm>
          <a:prstGeom prst="roundRect">
            <a:avLst>
              <a:gd name="adj" fmla="val 8333"/>
            </a:avLst>
          </a:prstGeom>
          <a:solidFill>
            <a:srgbClr val="EEECFA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54680" y="3099816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6C63C7"/>
                </a:solidFill>
              </a:rPr>
              <a:t>step 3</a:t>
            </a:r>
            <a:endParaRPr lang="en-US" sz="970" dirty="0"/>
          </a:p>
        </p:txBody>
      </p:sp>
      <p:sp>
        <p:nvSpPr>
          <p:cNvPr id="45" name="Shape 43"/>
          <p:cNvSpPr/>
          <p:nvPr/>
        </p:nvSpPr>
        <p:spPr>
          <a:xfrm>
            <a:off x="4288536" y="2999232"/>
            <a:ext cx="786384" cy="329184"/>
          </a:xfrm>
          <a:prstGeom prst="roundRect">
            <a:avLst>
              <a:gd name="adj" fmla="val 8333"/>
            </a:avLst>
          </a:prstGeom>
          <a:solidFill>
            <a:srgbClr val="E6F6EF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88536" y="3099816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2C9A6B"/>
                </a:solidFill>
              </a:rPr>
              <a:t>step 4</a:t>
            </a:r>
            <a:endParaRPr lang="en-US" sz="970" dirty="0"/>
          </a:p>
        </p:txBody>
      </p:sp>
      <p:sp>
        <p:nvSpPr>
          <p:cNvPr id="47" name="Shape 45"/>
          <p:cNvSpPr/>
          <p:nvPr/>
        </p:nvSpPr>
        <p:spPr>
          <a:xfrm>
            <a:off x="7543800" y="1837944"/>
            <a:ext cx="384048" cy="384048"/>
          </a:xfrm>
          <a:prstGeom prst="ellipse">
            <a:avLst/>
          </a:prstGeom>
          <a:solidFill>
            <a:srgbClr val="6C63C7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43800" y="191109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037576" y="1828800"/>
            <a:ext cx="2843784" cy="5966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D3D"/>
                </a:solidFill>
              </a:rPr>
              <a:t>Compare current data with 40</a:t>
            </a:r>
            <a:endParaRPr lang="en-US" sz="1320" dirty="0"/>
          </a:p>
        </p:txBody>
      </p:sp>
      <p:sp>
        <p:nvSpPr>
          <p:cNvPr id="50" name="Shape 48"/>
          <p:cNvSpPr/>
          <p:nvPr/>
        </p:nvSpPr>
        <p:spPr>
          <a:xfrm>
            <a:off x="7543800" y="2507742"/>
            <a:ext cx="384048" cy="384048"/>
          </a:xfrm>
          <a:prstGeom prst="ellipse">
            <a:avLst/>
          </a:prstGeom>
          <a:solidFill>
            <a:srgbClr val="6C63C7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43800" y="258089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037576" y="2498598"/>
            <a:ext cx="2843784" cy="5966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D3D"/>
                </a:solidFill>
              </a:rPr>
              <a:t>If equal → return current node</a:t>
            </a:r>
            <a:endParaRPr lang="en-US" sz="1320" dirty="0"/>
          </a:p>
        </p:txBody>
      </p:sp>
      <p:sp>
        <p:nvSpPr>
          <p:cNvPr id="53" name="Shape 51"/>
          <p:cNvSpPr/>
          <p:nvPr/>
        </p:nvSpPr>
        <p:spPr>
          <a:xfrm>
            <a:off x="7543800" y="3177540"/>
            <a:ext cx="384048" cy="384048"/>
          </a:xfrm>
          <a:prstGeom prst="ellipse">
            <a:avLst/>
          </a:prstGeom>
          <a:solidFill>
            <a:srgbClr val="6C63C7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43800" y="32506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037576" y="3168396"/>
            <a:ext cx="2843784" cy="5966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D3D"/>
                </a:solidFill>
              </a:rPr>
              <a:t>Otherwise move to next</a:t>
            </a:r>
            <a:endParaRPr lang="en-US" sz="1320" dirty="0"/>
          </a:p>
        </p:txBody>
      </p:sp>
      <p:sp>
        <p:nvSpPr>
          <p:cNvPr id="56" name="Shape 54"/>
          <p:cNvSpPr/>
          <p:nvPr/>
        </p:nvSpPr>
        <p:spPr>
          <a:xfrm>
            <a:off x="7543800" y="3847338"/>
            <a:ext cx="384048" cy="384048"/>
          </a:xfrm>
          <a:prstGeom prst="ellipse">
            <a:avLst/>
          </a:prstGeom>
          <a:solidFill>
            <a:srgbClr val="6C63C7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43800" y="392049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037576" y="3838194"/>
            <a:ext cx="2843784" cy="5966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D3D"/>
                </a:solidFill>
              </a:rPr>
              <a:t>If ptr becomes NULL → not found</a:t>
            </a:r>
            <a:endParaRPr lang="en-US" sz="1320" dirty="0"/>
          </a:p>
        </p:txBody>
      </p:sp>
      <p:sp>
        <p:nvSpPr>
          <p:cNvPr id="59" name="Shape 57"/>
          <p:cNvSpPr/>
          <p:nvPr/>
        </p:nvSpPr>
        <p:spPr>
          <a:xfrm>
            <a:off x="914400" y="4370832"/>
            <a:ext cx="9966960" cy="1024128"/>
          </a:xfrm>
          <a:prstGeom prst="roundRect">
            <a:avLst>
              <a:gd name="adj" fmla="val 5357"/>
            </a:avLst>
          </a:prstGeom>
          <a:solidFill>
            <a:srgbClr val="E6F6EF"/>
          </a:solidFill>
          <a:ln w="12700">
            <a:solidFill>
              <a:srgbClr val="E6F6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60704" y="44897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2C9A6B"/>
                </a:solidFill>
              </a:rPr>
              <a:t>TRACE RESULT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1060704" y="4736592"/>
            <a:ext cx="9674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10 ✗  →  70 ✗  →  30 ✗  →  40 ✓   The matching node address is returned.</a:t>
            </a:r>
            <a:endParaRPr lang="en-US" sz="1230" dirty="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2 • SINGLY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Search algorithm + C function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6720840" cy="3429000"/>
          </a:xfrm>
          <a:prstGeom prst="roundRect">
            <a:avLst>
              <a:gd name="adj" fmla="val 1333"/>
            </a:avLst>
          </a:prstGeom>
          <a:solidFill>
            <a:srgbClr val="0E1A27"/>
          </a:solidFill>
          <a:ln w="12700">
            <a:solidFill>
              <a:srgbClr val="0E1A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9385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40" dirty="0">
                <a:solidFill>
                  <a:srgbClr val="91E9DB"/>
                </a:solidFill>
              </a:rPr>
              <a:t>Search in C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995160" y="1956816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50608" y="1956816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06056" y="1956816"/>
            <a:ext cx="91440" cy="91440"/>
          </a:xfrm>
          <a:prstGeom prst="ellipse">
            <a:avLst/>
          </a:prstGeom>
          <a:solidFill>
            <a:srgbClr val="6BE28C"/>
          </a:solidFill>
          <a:ln w="12700">
            <a:solidFill>
              <a:srgbClr val="6BE2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267712"/>
            <a:ext cx="6391656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*search(struct node *ptr, int key) {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(ptr != NULL &amp;&amp; ptr-&gt;data != key) {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ptr = ptr-&gt;next;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ptr;  // node address if found, otherwise NULL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80" dirty="0"/>
          </a:p>
          <a:p>
            <a:pPr marL="0" indent="0">
              <a:buNone/>
            </a:pP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*pos = search(head, 40);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7818120" y="1828800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E6F6E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1828800"/>
            <a:ext cx="64008" cy="1207008"/>
          </a:xfrm>
          <a:prstGeom prst="rect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1993392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Found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001000" y="2377440"/>
            <a:ext cx="293522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Return a non-NULL node pointer.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18120" y="3246120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FDEBEB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18120" y="3246120"/>
            <a:ext cx="64008" cy="1207008"/>
          </a:xfrm>
          <a:prstGeom prst="rect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3410712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Not found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001000" y="3794760"/>
            <a:ext cx="293522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Return NULL after reaching the end.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18120" y="4663440"/>
            <a:ext cx="3246120" cy="868680"/>
          </a:xfrm>
          <a:prstGeom prst="roundRect">
            <a:avLst>
              <a:gd name="adj" fmla="val 6316"/>
            </a:avLst>
          </a:prstGeom>
          <a:solidFill>
            <a:srgbClr val="DFF7F3"/>
          </a:solidFill>
          <a:ln w="12700">
            <a:solidFill>
              <a:srgbClr val="DFF7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64424" y="47823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2B8A6"/>
                </a:solidFill>
              </a:rPr>
              <a:t>COMPLEXITY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64424" y="5029200"/>
            <a:ext cx="2953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Worst-case time O(n); extra space O(1).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2 • SINGLY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Insertion at the beginning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88A"/>
                </a:solidFill>
              </a:rPr>
              <a:t>Two pointer assignments are enough — no traversal required.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910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88A"/>
                </a:solidFill>
              </a:rPr>
              <a:t>Before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07592" y="1865376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417320" y="1938528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1938528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11096" y="1938528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53896" y="210312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258568" y="2221992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87752" y="1938528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87752" y="1938528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81528" y="1938528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4328" y="210312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29000" y="2221992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758184" y="1938528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58184" y="1938528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51960" y="1938528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210312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99432" y="2221992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928616" y="1938528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28616" y="1938528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22392" y="1938528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10312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79592" y="21031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64B4B"/>
                </a:solidFill>
              </a:rPr>
              <a:t>NULL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69864" y="2221992"/>
            <a:ext cx="91440" cy="0"/>
          </a:xfrm>
          <a:prstGeom prst="line">
            <a:avLst/>
          </a:prstGeom>
          <a:noFill/>
          <a:ln w="15240">
            <a:solidFill>
              <a:srgbClr val="D64B4B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713232" y="30540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88A"/>
                </a:solidFill>
              </a:rPr>
              <a:t>After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71600" y="301752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307592" y="3328416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417320" y="3401568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17320" y="3401568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11096" y="3401568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53896" y="3566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5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2258568" y="3685032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587752" y="3401568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87752" y="3401568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81528" y="3401568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24328" y="3566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3429000" y="3685032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758184" y="3401568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58184" y="3401568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51960" y="3401568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94760" y="3566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599432" y="3685032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928616" y="3401568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28616" y="3401568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22392" y="3401568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65192" y="3566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5769864" y="3685032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6099048" y="3401568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99048" y="3401568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92824" y="3401568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35624" y="3566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7050024" y="3566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64B4B"/>
                </a:solidFill>
              </a:rPr>
              <a:t>NULL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958584" y="4416552"/>
            <a:ext cx="91440" cy="0"/>
          </a:xfrm>
          <a:prstGeom prst="line">
            <a:avLst/>
          </a:prstGeom>
          <a:noFill/>
          <a:ln w="15240">
            <a:solidFill>
              <a:srgbClr val="D64B4B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7635240" y="2020824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35240" y="209397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129016" y="2011680"/>
            <a:ext cx="238658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</a:rPr>
              <a:t>new-&gt;next = head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7635240" y="2734056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35240" y="280720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129016" y="2724912"/>
            <a:ext cx="238658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</a:rPr>
              <a:t>head = new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6556248" y="4480560"/>
            <a:ext cx="4892040" cy="1938528"/>
          </a:xfrm>
          <a:prstGeom prst="roundRect">
            <a:avLst>
              <a:gd name="adj" fmla="val 2358"/>
            </a:avLst>
          </a:prstGeom>
          <a:solidFill>
            <a:srgbClr val="0E1A27"/>
          </a:solidFill>
          <a:ln w="12700">
            <a:solidFill>
              <a:srgbClr val="0E1A2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6" name="Text 64"/>
          <p:cNvSpPr/>
          <p:nvPr/>
        </p:nvSpPr>
        <p:spPr>
          <a:xfrm>
            <a:off x="6720840" y="45902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40" dirty="0">
                <a:solidFill>
                  <a:srgbClr val="91E9DB"/>
                </a:solidFill>
              </a:rPr>
              <a:t>C implementation</a:t>
            </a:r>
            <a:endParaRPr lang="en-US" sz="920" dirty="0"/>
          </a:p>
        </p:txBody>
      </p:sp>
      <p:sp>
        <p:nvSpPr>
          <p:cNvPr id="67" name="Shape 65"/>
          <p:cNvSpPr/>
          <p:nvPr/>
        </p:nvSpPr>
        <p:spPr>
          <a:xfrm>
            <a:off x="10945368" y="4608576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100816" y="4608576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256264" y="4608576"/>
            <a:ext cx="91440" cy="91440"/>
          </a:xfrm>
          <a:prstGeom prst="ellipse">
            <a:avLst/>
          </a:prstGeom>
          <a:solidFill>
            <a:srgbClr val="6BE28C"/>
          </a:solidFill>
          <a:ln w="12700">
            <a:solidFill>
              <a:srgbClr val="6BE28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720840" y="4919472"/>
            <a:ext cx="45628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push_front(struct node **head, int value) {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*new = malloc(sizeof *new);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(new == NULL) return;</a:t>
            </a:r>
            <a:endParaRPr lang="en-US" sz="1180" dirty="0"/>
          </a:p>
          <a:p>
            <a:pPr marL="0" indent="0">
              <a:buNone/>
            </a:pP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new-&gt;data = value;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new-&gt;next = *head; // old first node becomes second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*head = new;       // new node becomes first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80" dirty="0"/>
          </a:p>
        </p:txBody>
      </p:sp>
      <p:sp>
        <p:nvSpPr>
          <p:cNvPr id="7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2 • SINGLY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Insertion at the end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88A"/>
                </a:solidFill>
              </a:rPr>
              <a:t>Find the last node, then connect its NEXT to the new node.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9496" y="1426711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270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88A"/>
                </a:solidFill>
              </a:rPr>
              <a:t>Before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49047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07592" y="180136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417320" y="18745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1874520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11096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53896" y="20391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258568" y="215798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87752" y="18745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87752" y="1874520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81528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4328" y="20391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29000" y="215798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758184" y="18745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58184" y="1874520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51960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20391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09160" y="20391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64B4B"/>
                </a:solidFill>
              </a:rPr>
              <a:t>NULL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99432" y="2157984"/>
            <a:ext cx="91440" cy="0"/>
          </a:xfrm>
          <a:prstGeom prst="line">
            <a:avLst/>
          </a:prstGeom>
          <a:noFill/>
          <a:ln w="15240">
            <a:solidFill>
              <a:srgbClr val="D64B4B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13232" y="28986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88A"/>
                </a:solidFill>
              </a:rPr>
              <a:t>After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71600" y="286207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307592" y="317296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417320" y="32461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17320" y="32461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11096" y="32461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53896" y="34107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2258568" y="352958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587752" y="32461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87752" y="32461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81528" y="32461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24328" y="34107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429000" y="352958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758184" y="32461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58184" y="32461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51960" y="32461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94760" y="34107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599432" y="352958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928616" y="32461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28616" y="32461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22392" y="32461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65192" y="34107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879592" y="34107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64B4B"/>
                </a:solidFill>
              </a:rPr>
              <a:t>NULL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769864" y="3529584"/>
            <a:ext cx="91440" cy="0"/>
          </a:xfrm>
          <a:prstGeom prst="line">
            <a:avLst/>
          </a:prstGeom>
          <a:noFill/>
          <a:ln w="15240">
            <a:solidFill>
              <a:srgbClr val="D64B4B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406640" y="1792224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06640" y="186537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900416" y="1783080"/>
            <a:ext cx="320954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1F2D3D"/>
                </a:solidFill>
              </a:rPr>
              <a:t>Create new; new-&gt;next = NULL</a:t>
            </a:r>
            <a:endParaRPr lang="en-US" sz="1290" dirty="0"/>
          </a:p>
        </p:txBody>
      </p:sp>
      <p:sp>
        <p:nvSpPr>
          <p:cNvPr id="52" name="Shape 50"/>
          <p:cNvSpPr/>
          <p:nvPr/>
        </p:nvSpPr>
        <p:spPr>
          <a:xfrm>
            <a:off x="7406640" y="2496312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06640" y="25694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900416" y="2487168"/>
            <a:ext cx="320954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1F2D3D"/>
                </a:solidFill>
              </a:rPr>
              <a:t>If list empty → head = new</a:t>
            </a:r>
            <a:endParaRPr lang="en-US" sz="1290" dirty="0"/>
          </a:p>
        </p:txBody>
      </p:sp>
      <p:sp>
        <p:nvSpPr>
          <p:cNvPr id="55" name="Shape 53"/>
          <p:cNvSpPr/>
          <p:nvPr/>
        </p:nvSpPr>
        <p:spPr>
          <a:xfrm>
            <a:off x="7406640" y="3200400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06640" y="32735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900416" y="3191256"/>
            <a:ext cx="320954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1F2D3D"/>
                </a:solidFill>
              </a:rPr>
              <a:t>Traverse until ptr-&gt;next == NULL</a:t>
            </a:r>
            <a:endParaRPr lang="en-US" sz="1290" dirty="0"/>
          </a:p>
        </p:txBody>
      </p:sp>
      <p:sp>
        <p:nvSpPr>
          <p:cNvPr id="58" name="Shape 56"/>
          <p:cNvSpPr/>
          <p:nvPr/>
        </p:nvSpPr>
        <p:spPr>
          <a:xfrm>
            <a:off x="7406640" y="3904488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06640" y="397764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900416" y="3895344"/>
            <a:ext cx="320954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1F2D3D"/>
                </a:solidFill>
              </a:rPr>
              <a:t>Set ptr-&gt;next = new</a:t>
            </a:r>
            <a:endParaRPr lang="en-US" sz="1290" dirty="0"/>
          </a:p>
        </p:txBody>
      </p:sp>
      <p:sp>
        <p:nvSpPr>
          <p:cNvPr id="61" name="Shape 59"/>
          <p:cNvSpPr/>
          <p:nvPr/>
        </p:nvSpPr>
        <p:spPr>
          <a:xfrm>
            <a:off x="7132320" y="4800600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3DF"/>
          </a:solidFill>
          <a:ln w="12700">
            <a:solidFill>
              <a:srgbClr val="FFF3D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78624" y="4919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2A33A"/>
                </a:solidFill>
              </a:rPr>
              <a:t>COMPLEXITY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278624" y="5166360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Without a tail pointer: O(n). With a maintained tail: O(1).</a:t>
            </a:r>
            <a:endParaRPr lang="en-US" sz="123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2 • SINGLY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Insertion after a node with key = 30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30352" y="1160382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270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88A"/>
                </a:solidFill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26696" y="154735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307592" y="180136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17320" y="18745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874520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11096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3896" y="20391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58568" y="215798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87752" y="18745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87752" y="1874520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81528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4328" y="20391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429000" y="215798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758184" y="18745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58184" y="1874520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51960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0391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99432" y="215798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928616" y="18745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28616" y="1874520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22392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20391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79592" y="20391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64B4B"/>
                </a:solidFill>
              </a:rPr>
              <a:t>NULL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769864" y="2157984"/>
            <a:ext cx="91440" cy="0"/>
          </a:xfrm>
          <a:prstGeom prst="line">
            <a:avLst/>
          </a:prstGeom>
          <a:noFill/>
          <a:ln w="15240">
            <a:solidFill>
              <a:srgbClr val="D64B4B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13232" y="28986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88A"/>
                </a:solidFill>
              </a:rPr>
              <a:t>After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10138" y="293522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307592" y="317296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417320" y="32461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17320" y="32461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11096" y="32461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53896" y="34107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2258568" y="352958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587752" y="32461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87752" y="32461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81528" y="32461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24328" y="34107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3429000" y="352958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758184" y="32461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58184" y="32461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51960" y="32461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94760" y="34107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4599432" y="352958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4928616" y="32461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28616" y="32461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22392" y="32461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65192" y="34107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35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5769864" y="352958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099048" y="32461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99048" y="32461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92824" y="32461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35624" y="34107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7050024" y="34107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64B4B"/>
                </a:solidFill>
              </a:rPr>
              <a:t>NULL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940296" y="3529584"/>
            <a:ext cx="91440" cy="0"/>
          </a:xfrm>
          <a:prstGeom prst="line">
            <a:avLst/>
          </a:prstGeom>
          <a:noFill/>
          <a:ln w="15240">
            <a:solidFill>
              <a:srgbClr val="D64B4B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452360" y="1883664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52360" y="195681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946136" y="1874520"/>
            <a:ext cx="3118104" cy="637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F2D3D"/>
                </a:solidFill>
              </a:rPr>
              <a:t>Search for node containing 30</a:t>
            </a:r>
            <a:endParaRPr lang="en-US" sz="1360" dirty="0"/>
          </a:p>
        </p:txBody>
      </p:sp>
      <p:sp>
        <p:nvSpPr>
          <p:cNvPr id="61" name="Shape 59"/>
          <p:cNvSpPr/>
          <p:nvPr/>
        </p:nvSpPr>
        <p:spPr>
          <a:xfrm>
            <a:off x="7452360" y="2593848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52360" y="26670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946136" y="2584704"/>
            <a:ext cx="3118104" cy="637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F2D3D"/>
                </a:solidFill>
              </a:rPr>
              <a:t>new-&gt;next = ptr-&gt;next</a:t>
            </a:r>
            <a:endParaRPr lang="en-US" sz="1360" dirty="0"/>
          </a:p>
        </p:txBody>
      </p:sp>
      <p:sp>
        <p:nvSpPr>
          <p:cNvPr id="64" name="Shape 62"/>
          <p:cNvSpPr/>
          <p:nvPr/>
        </p:nvSpPr>
        <p:spPr>
          <a:xfrm>
            <a:off x="7452360" y="3304032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52360" y="337718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7946136" y="3294888"/>
            <a:ext cx="3118104" cy="637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F2D3D"/>
                </a:solidFill>
              </a:rPr>
              <a:t>ptr-&gt;next = new</a:t>
            </a:r>
            <a:endParaRPr lang="en-US" sz="1360" dirty="0"/>
          </a:p>
        </p:txBody>
      </p:sp>
      <p:sp>
        <p:nvSpPr>
          <p:cNvPr id="67" name="Shape 65"/>
          <p:cNvSpPr/>
          <p:nvPr/>
        </p:nvSpPr>
        <p:spPr>
          <a:xfrm>
            <a:off x="7178040" y="4343400"/>
            <a:ext cx="3886200" cy="1051560"/>
          </a:xfrm>
          <a:prstGeom prst="roundRect">
            <a:avLst>
              <a:gd name="adj" fmla="val 5217"/>
            </a:avLst>
          </a:prstGeom>
          <a:solidFill>
            <a:srgbClr val="EEECFA"/>
          </a:solidFill>
          <a:ln w="12700">
            <a:solidFill>
              <a:srgbClr val="EEECF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24344" y="4462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6C63C7"/>
                </a:solidFill>
              </a:rPr>
              <a:t>EDGE CASE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7324344" y="4709160"/>
            <a:ext cx="3593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If the key is absent, do not insert. If ptr is the last node, new-&gt;next naturally becomes NULL.</a:t>
            </a:r>
            <a:endParaRPr lang="en-US" sz="1230" dirty="0"/>
          </a:p>
        </p:txBody>
      </p:sp>
      <p:sp>
        <p:nvSpPr>
          <p:cNvPr id="7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2 • SINGLY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Deleting the first node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88A"/>
                </a:solidFill>
              </a:rPr>
              <a:t>Save the old head, advance HEAD, then free the old node.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9267" y="1453896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727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88A"/>
                </a:solidFill>
              </a:rPr>
              <a:t>Before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9304" y="165506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07592" y="184708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417320" y="192024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1920240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11096" y="192024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53896" y="20848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258568" y="220370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87752" y="192024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87752" y="1920240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81528" y="192024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4328" y="20848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29000" y="220370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758184" y="192024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58184" y="1920240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51960" y="192024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20848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99432" y="220370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928616" y="192024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28616" y="1920240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22392" y="192024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0848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79592" y="20848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64B4B"/>
                </a:solidFill>
              </a:rPr>
              <a:t>NULL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69864" y="2203704"/>
            <a:ext cx="91440" cy="0"/>
          </a:xfrm>
          <a:prstGeom prst="line">
            <a:avLst/>
          </a:prstGeom>
          <a:noFill/>
          <a:ln w="15240">
            <a:solidFill>
              <a:srgbClr val="D64B4B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713232" y="29900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88A"/>
                </a:solidFill>
              </a:rPr>
              <a:t>After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71600" y="305866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307592" y="326440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417320" y="333756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17320" y="333756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11096" y="33375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53896" y="35021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2258568" y="362102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587752" y="333756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87752" y="333756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81528" y="33375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24328" y="35021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3429000" y="362102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758184" y="333756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58184" y="333756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51960" y="33375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94760" y="35021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709160" y="35021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64B4B"/>
                </a:solidFill>
              </a:rPr>
              <a:t>NULL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99432" y="3621024"/>
            <a:ext cx="91440" cy="0"/>
          </a:xfrm>
          <a:prstGeom prst="line">
            <a:avLst/>
          </a:prstGeom>
          <a:noFill/>
          <a:ln w="15240">
            <a:solidFill>
              <a:srgbClr val="D64B4B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498080" y="1792224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8080" y="186537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991856" y="1783080"/>
            <a:ext cx="2980944" cy="5737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D3D"/>
                </a:solidFill>
              </a:rPr>
              <a:t>If head == NULL → underflow</a:t>
            </a:r>
            <a:endParaRPr lang="en-US" sz="1320" dirty="0"/>
          </a:p>
        </p:txBody>
      </p:sp>
      <p:sp>
        <p:nvSpPr>
          <p:cNvPr id="52" name="Shape 50"/>
          <p:cNvSpPr/>
          <p:nvPr/>
        </p:nvSpPr>
        <p:spPr>
          <a:xfrm>
            <a:off x="7498080" y="2439162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98080" y="251231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991856" y="2430018"/>
            <a:ext cx="2980944" cy="5737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D3D"/>
                </a:solidFill>
              </a:rPr>
              <a:t>temp = head</a:t>
            </a:r>
            <a:endParaRPr lang="en-US" sz="1320" dirty="0"/>
          </a:p>
        </p:txBody>
      </p:sp>
      <p:sp>
        <p:nvSpPr>
          <p:cNvPr id="55" name="Shape 53"/>
          <p:cNvSpPr/>
          <p:nvPr/>
        </p:nvSpPr>
        <p:spPr>
          <a:xfrm>
            <a:off x="7498080" y="3086100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98080" y="31592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991856" y="3076956"/>
            <a:ext cx="2980944" cy="5737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D3D"/>
                </a:solidFill>
              </a:rPr>
              <a:t>head = head-&gt;next</a:t>
            </a:r>
            <a:endParaRPr lang="en-US" sz="1320" dirty="0"/>
          </a:p>
        </p:txBody>
      </p:sp>
      <p:sp>
        <p:nvSpPr>
          <p:cNvPr id="58" name="Shape 56"/>
          <p:cNvSpPr/>
          <p:nvPr/>
        </p:nvSpPr>
        <p:spPr>
          <a:xfrm>
            <a:off x="7498080" y="3733038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0" y="380619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991856" y="3723894"/>
            <a:ext cx="2980944" cy="5737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D3D"/>
                </a:solidFill>
              </a:rPr>
              <a:t>free(temp)</a:t>
            </a:r>
            <a:endParaRPr lang="en-US" sz="1320" dirty="0"/>
          </a:p>
        </p:txBody>
      </p:sp>
      <p:sp>
        <p:nvSpPr>
          <p:cNvPr id="61" name="Shape 59"/>
          <p:cNvSpPr/>
          <p:nvPr/>
        </p:nvSpPr>
        <p:spPr>
          <a:xfrm>
            <a:off x="7269480" y="4526280"/>
            <a:ext cx="3749040" cy="914400"/>
          </a:xfrm>
          <a:prstGeom prst="roundRect">
            <a:avLst>
              <a:gd name="adj" fmla="val 6000"/>
            </a:avLst>
          </a:prstGeom>
          <a:solidFill>
            <a:srgbClr val="FDEBEB"/>
          </a:solidFill>
          <a:ln w="12700">
            <a:solidFill>
              <a:srgbClr val="FDEB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15784" y="46451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64B4B"/>
                </a:solidFill>
              </a:rPr>
              <a:t>DO NOT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415784" y="4892040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Do not call free(head) before moving HEAD to the second node — you would lose the next address.</a:t>
            </a:r>
            <a:endParaRPr lang="en-US" sz="123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2 • SINGLY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Deleting the last node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88A"/>
                </a:solidFill>
              </a:rPr>
              <a:t>You need both the last node and the node immediately before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88A"/>
                </a:solidFill>
              </a:rPr>
              <a:t>Before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7488" y="1591057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07592" y="1828800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417320" y="1901952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1901952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11096" y="1901952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53896" y="206654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258568" y="2185416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87752" y="1901952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87752" y="1901952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81528" y="1901952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4328" y="206654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29000" y="2185416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758184" y="1901952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58184" y="1901952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51960" y="1901952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206654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99432" y="2185416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928616" y="1901952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28616" y="1901952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22392" y="1901952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06654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79592" y="20665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64B4B"/>
                </a:solidFill>
              </a:rPr>
              <a:t>NULL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69864" y="2185416"/>
            <a:ext cx="91440" cy="0"/>
          </a:xfrm>
          <a:prstGeom prst="line">
            <a:avLst/>
          </a:prstGeom>
          <a:noFill/>
          <a:ln w="15240">
            <a:solidFill>
              <a:srgbClr val="D64B4B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713232" y="28986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88A"/>
                </a:solidFill>
              </a:rPr>
              <a:t>After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0" y="2918765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307592" y="317296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417320" y="32461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17320" y="32461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11096" y="32461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53896" y="34107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2258568" y="352958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587752" y="32461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87752" y="32461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81528" y="32461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24328" y="34107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3429000" y="352958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758184" y="32461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58184" y="32461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51960" y="32461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94760" y="34107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709160" y="34107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64B4B"/>
                </a:solidFill>
              </a:rPr>
              <a:t>NULL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99432" y="3529584"/>
            <a:ext cx="91440" cy="0"/>
          </a:xfrm>
          <a:prstGeom prst="line">
            <a:avLst/>
          </a:prstGeom>
          <a:noFill/>
          <a:ln w="15240">
            <a:solidFill>
              <a:srgbClr val="D64B4B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315200" y="1764792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0" y="183794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808976" y="1755648"/>
            <a:ext cx="3300984" cy="50840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D3D"/>
                </a:solidFill>
              </a:rPr>
              <a:t>Handle empty list</a:t>
            </a:r>
            <a:endParaRPr lang="en-US" sz="1280" dirty="0"/>
          </a:p>
        </p:txBody>
      </p:sp>
      <p:sp>
        <p:nvSpPr>
          <p:cNvPr id="52" name="Shape 50"/>
          <p:cNvSpPr/>
          <p:nvPr/>
        </p:nvSpPr>
        <p:spPr>
          <a:xfrm>
            <a:off x="7315200" y="2346350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0" y="241950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808976" y="2337206"/>
            <a:ext cx="3300984" cy="50840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D3D"/>
                </a:solidFill>
              </a:rPr>
              <a:t>Handle one-node list separately</a:t>
            </a:r>
            <a:endParaRPr lang="en-US" sz="1280" dirty="0"/>
          </a:p>
        </p:txBody>
      </p:sp>
      <p:sp>
        <p:nvSpPr>
          <p:cNvPr id="55" name="Shape 53"/>
          <p:cNvSpPr/>
          <p:nvPr/>
        </p:nvSpPr>
        <p:spPr>
          <a:xfrm>
            <a:off x="7315200" y="2927909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0" y="3001061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808976" y="2918765"/>
            <a:ext cx="3300984" cy="50840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D3D"/>
                </a:solidFill>
              </a:rPr>
              <a:t>Move prev and ptr until ptr is last</a:t>
            </a:r>
            <a:endParaRPr lang="en-US" sz="1280" dirty="0"/>
          </a:p>
        </p:txBody>
      </p:sp>
      <p:sp>
        <p:nvSpPr>
          <p:cNvPr id="58" name="Shape 56"/>
          <p:cNvSpPr/>
          <p:nvPr/>
        </p:nvSpPr>
        <p:spPr>
          <a:xfrm>
            <a:off x="7315200" y="3509467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0" y="3582619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500323"/>
            <a:ext cx="3300984" cy="50840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D3D"/>
                </a:solidFill>
              </a:rPr>
              <a:t>prev-&gt;next = NULL</a:t>
            </a:r>
            <a:endParaRPr lang="en-US" sz="1280" dirty="0"/>
          </a:p>
        </p:txBody>
      </p:sp>
      <p:sp>
        <p:nvSpPr>
          <p:cNvPr id="61" name="Shape 59"/>
          <p:cNvSpPr/>
          <p:nvPr/>
        </p:nvSpPr>
        <p:spPr>
          <a:xfrm>
            <a:off x="7315200" y="4091026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0" y="416417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808976" y="4081882"/>
            <a:ext cx="3300984" cy="50840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D3D"/>
                </a:solidFill>
              </a:rPr>
              <a:t>free(ptr)</a:t>
            </a:r>
            <a:endParaRPr lang="en-US" sz="1280" dirty="0"/>
          </a:p>
        </p:txBody>
      </p:sp>
      <p:sp>
        <p:nvSpPr>
          <p:cNvPr id="64" name="Shape 62"/>
          <p:cNvSpPr/>
          <p:nvPr/>
        </p:nvSpPr>
        <p:spPr>
          <a:xfrm>
            <a:off x="7178040" y="4709160"/>
            <a:ext cx="3931920" cy="804672"/>
          </a:xfrm>
          <a:prstGeom prst="roundRect">
            <a:avLst>
              <a:gd name="adj" fmla="val 6818"/>
            </a:avLst>
          </a:prstGeom>
          <a:solidFill>
            <a:srgbClr val="FFF3DF"/>
          </a:solidFill>
          <a:ln w="12700">
            <a:solidFill>
              <a:srgbClr val="FFF3D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24344" y="48280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2A33A"/>
                </a:solidFill>
              </a:rPr>
              <a:t>WHY PREV?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7324344" y="5074920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In a singly list, the last node cannot move backward to its predecessor.</a:t>
            </a:r>
            <a:endParaRPr lang="en-US" sz="1230" dirty="0"/>
          </a:p>
        </p:txBody>
      </p:sp>
      <p:sp>
        <p:nvSpPr>
          <p:cNvPr id="6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2 • SINGLY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Deleting the node after key = 20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39496" y="1187237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88A"/>
                </a:solidFill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51790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307592" y="1828800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17320" y="1901952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901952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11096" y="1901952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3896" y="206654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58568" y="2185416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87752" y="1901952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87752" y="1901952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81528" y="1901952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4328" y="206654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429000" y="2185416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758184" y="1901952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58184" y="1901952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51960" y="1901952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06654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99432" y="2185416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928616" y="1901952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28616" y="1901952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22392" y="1901952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206654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769864" y="2185416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099048" y="1901952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99048" y="1901952"/>
            <a:ext cx="493776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92824" y="1901952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35624" y="206654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50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50024" y="20665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64B4B"/>
                </a:solidFill>
              </a:rPr>
              <a:t>NULL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940296" y="2185416"/>
            <a:ext cx="91440" cy="0"/>
          </a:xfrm>
          <a:prstGeom prst="line">
            <a:avLst/>
          </a:prstGeom>
          <a:noFill/>
          <a:ln w="15240">
            <a:solidFill>
              <a:srgbClr val="D64B4B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13232" y="28986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88A"/>
                </a:solidFill>
              </a:rPr>
              <a:t>After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371600" y="286207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307592" y="317296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417320" y="32461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17320" y="32461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11096" y="32461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53896" y="34107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2258568" y="352958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587752" y="32461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87752" y="32461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81528" y="32461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24328" y="34107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3429000" y="352958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3758184" y="32461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58184" y="32461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51960" y="32461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94760" y="34107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4599432" y="3529584"/>
            <a:ext cx="28346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928616" y="32461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28616" y="32461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22392" y="32461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65192" y="34107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50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5879592" y="34107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64B4B"/>
                </a:solidFill>
              </a:rPr>
              <a:t>NULL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769864" y="3529584"/>
            <a:ext cx="91440" cy="0"/>
          </a:xfrm>
          <a:prstGeom prst="line">
            <a:avLst/>
          </a:prstGeom>
          <a:noFill/>
          <a:ln w="15240">
            <a:solidFill>
              <a:srgbClr val="D64B4B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269480" y="1728216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69480" y="180136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763256" y="1719072"/>
            <a:ext cx="3300984" cy="5193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D3D"/>
                </a:solidFill>
              </a:rPr>
              <a:t>Find ptr where ptr-&gt;data == 20</a:t>
            </a:r>
            <a:endParaRPr lang="en-US" sz="1270" dirty="0"/>
          </a:p>
        </p:txBody>
      </p:sp>
      <p:sp>
        <p:nvSpPr>
          <p:cNvPr id="61" name="Shape 59"/>
          <p:cNvSpPr/>
          <p:nvPr/>
        </p:nvSpPr>
        <p:spPr>
          <a:xfrm>
            <a:off x="7269480" y="2320747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69480" y="2393899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763256" y="2311603"/>
            <a:ext cx="3300984" cy="5193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D3D"/>
                </a:solidFill>
              </a:rPr>
              <a:t>Check ptr-&gt;next != NULL</a:t>
            </a:r>
            <a:endParaRPr lang="en-US" sz="1270" dirty="0"/>
          </a:p>
        </p:txBody>
      </p:sp>
      <p:sp>
        <p:nvSpPr>
          <p:cNvPr id="64" name="Shape 62"/>
          <p:cNvSpPr/>
          <p:nvPr/>
        </p:nvSpPr>
        <p:spPr>
          <a:xfrm>
            <a:off x="7269480" y="2913278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69480" y="298643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7763256" y="2904134"/>
            <a:ext cx="3300984" cy="5193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D3D"/>
                </a:solidFill>
              </a:rPr>
              <a:t>temp = ptr-&gt;next</a:t>
            </a:r>
            <a:endParaRPr lang="en-US" sz="1270" dirty="0"/>
          </a:p>
        </p:txBody>
      </p:sp>
      <p:sp>
        <p:nvSpPr>
          <p:cNvPr id="67" name="Shape 65"/>
          <p:cNvSpPr/>
          <p:nvPr/>
        </p:nvSpPr>
        <p:spPr>
          <a:xfrm>
            <a:off x="7269480" y="3505810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269480" y="357896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7763256" y="3496666"/>
            <a:ext cx="3300984" cy="5193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D3D"/>
                </a:solidFill>
              </a:rPr>
              <a:t>ptr-&gt;next = temp-&gt;next</a:t>
            </a:r>
            <a:endParaRPr lang="en-US" sz="1270" dirty="0"/>
          </a:p>
        </p:txBody>
      </p:sp>
      <p:sp>
        <p:nvSpPr>
          <p:cNvPr id="70" name="Shape 68"/>
          <p:cNvSpPr/>
          <p:nvPr/>
        </p:nvSpPr>
        <p:spPr>
          <a:xfrm>
            <a:off x="7269480" y="4098341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69480" y="4171493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7763256" y="4089197"/>
            <a:ext cx="3300984" cy="5193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D3D"/>
                </a:solidFill>
              </a:rPr>
              <a:t>free(temp)</a:t>
            </a:r>
            <a:endParaRPr lang="en-US" sz="1270" dirty="0"/>
          </a:p>
        </p:txBody>
      </p:sp>
      <p:sp>
        <p:nvSpPr>
          <p:cNvPr id="73" name="Shape 71"/>
          <p:cNvSpPr/>
          <p:nvPr/>
        </p:nvSpPr>
        <p:spPr>
          <a:xfrm>
            <a:off x="7132320" y="4754880"/>
            <a:ext cx="3931920" cy="777240"/>
          </a:xfrm>
          <a:prstGeom prst="roundRect">
            <a:avLst>
              <a:gd name="adj" fmla="val 7059"/>
            </a:avLst>
          </a:prstGeom>
          <a:solidFill>
            <a:srgbClr val="EEECFA"/>
          </a:solidFill>
          <a:ln w="12700">
            <a:solidFill>
              <a:srgbClr val="EEECF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78624" y="4873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6C63C7"/>
                </a:solidFill>
              </a:rPr>
              <a:t>EDGE CASE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7278624" y="5120640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If key is the last node, there is no node after it to delete.</a:t>
            </a:r>
            <a:endParaRPr lang="en-US" sz="1230" dirty="0"/>
          </a:p>
        </p:txBody>
      </p:sp>
      <p:sp>
        <p:nvSpPr>
          <p:cNvPr id="7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2 • SINGLY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Singly linked list: complexity snapshot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47088"/>
            <a:ext cx="2926080" cy="438912"/>
          </a:xfrm>
          <a:prstGeom prst="rect">
            <a:avLst/>
          </a:prstGeom>
          <a:solidFill>
            <a:srgbClr val="10273D"/>
          </a:solidFill>
          <a:ln w="12700">
            <a:solidFill>
              <a:srgbClr val="1027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965960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94760" y="1847088"/>
            <a:ext cx="1828800" cy="438912"/>
          </a:xfrm>
          <a:prstGeom prst="rect">
            <a:avLst/>
          </a:prstGeom>
          <a:solidFill>
            <a:srgbClr val="10273D"/>
          </a:solidFill>
          <a:ln w="12700">
            <a:solidFill>
              <a:srgbClr val="1027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67912" y="196596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23560" y="1847088"/>
            <a:ext cx="5669280" cy="438912"/>
          </a:xfrm>
          <a:prstGeom prst="rect">
            <a:avLst/>
          </a:prstGeom>
          <a:solidFill>
            <a:srgbClr val="10273D"/>
          </a:solidFill>
          <a:ln w="12700">
            <a:solidFill>
              <a:srgbClr val="1027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96712" y="1965960"/>
            <a:ext cx="5522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Reason / note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2286000"/>
            <a:ext cx="2926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441448"/>
            <a:ext cx="2779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1F2D3D"/>
                </a:solidFill>
              </a:rPr>
              <a:t>Access by index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3794760" y="2286000"/>
            <a:ext cx="1828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67912" y="244144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2B8A6"/>
                </a:solidFill>
              </a:rPr>
              <a:t>O(n)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5623560" y="2286000"/>
            <a:ext cx="5669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96712" y="2441448"/>
            <a:ext cx="5522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1F2D3D"/>
                </a:solidFill>
              </a:rPr>
              <a:t>Follow NEXT repeatedly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868680" y="2816352"/>
            <a:ext cx="292608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2971800"/>
            <a:ext cx="2779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1F2D3D"/>
                </a:solidFill>
              </a:rPr>
              <a:t>Search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3794760" y="2816352"/>
            <a:ext cx="182880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67912" y="297180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2B8A6"/>
                </a:solidFill>
              </a:rPr>
              <a:t>O(n)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5623560" y="2816352"/>
            <a:ext cx="566928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96712" y="2971800"/>
            <a:ext cx="5522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1F2D3D"/>
                </a:solidFill>
              </a:rPr>
              <a:t>May inspect every node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868680" y="3346704"/>
            <a:ext cx="2926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3502152"/>
            <a:ext cx="2779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1F2D3D"/>
                </a:solidFill>
              </a:rPr>
              <a:t>Insert at beginning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3794760" y="3346704"/>
            <a:ext cx="1828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67912" y="350215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2B8A6"/>
                </a:solidFill>
              </a:rPr>
              <a:t>O(1)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5623560" y="3346704"/>
            <a:ext cx="5669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96712" y="3502152"/>
            <a:ext cx="5522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1F2D3D"/>
                </a:solidFill>
              </a:rPr>
              <a:t>No traversal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868680" y="3877056"/>
            <a:ext cx="292608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4032504"/>
            <a:ext cx="2779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1F2D3D"/>
                </a:solidFill>
              </a:rPr>
              <a:t>Insert at end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3794760" y="3877056"/>
            <a:ext cx="182880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67912" y="403250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2B8A6"/>
                </a:solidFill>
              </a:rPr>
              <a:t>O(n)*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5623560" y="3877056"/>
            <a:ext cx="566928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96712" y="4032504"/>
            <a:ext cx="5522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1F2D3D"/>
                </a:solidFill>
              </a:rPr>
              <a:t>*O(1) if a tail pointer is maintained</a:t>
            </a:r>
            <a:endParaRPr lang="en-US" sz="1130" dirty="0"/>
          </a:p>
        </p:txBody>
      </p:sp>
      <p:sp>
        <p:nvSpPr>
          <p:cNvPr id="35" name="Shape 33"/>
          <p:cNvSpPr/>
          <p:nvPr/>
        </p:nvSpPr>
        <p:spPr>
          <a:xfrm>
            <a:off x="868680" y="4407408"/>
            <a:ext cx="2926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" y="4562856"/>
            <a:ext cx="2779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1F2D3D"/>
                </a:solidFill>
              </a:rPr>
              <a:t>Delete first</a:t>
            </a:r>
            <a:endParaRPr lang="en-US" sz="1130" dirty="0"/>
          </a:p>
        </p:txBody>
      </p:sp>
      <p:sp>
        <p:nvSpPr>
          <p:cNvPr id="37" name="Shape 35"/>
          <p:cNvSpPr/>
          <p:nvPr/>
        </p:nvSpPr>
        <p:spPr>
          <a:xfrm>
            <a:off x="3794760" y="4407408"/>
            <a:ext cx="1828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67912" y="456285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2B8A6"/>
                </a:solidFill>
              </a:rPr>
              <a:t>O(1)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5623560" y="4407408"/>
            <a:ext cx="5669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96712" y="4562856"/>
            <a:ext cx="5522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1F2D3D"/>
                </a:solidFill>
              </a:rPr>
              <a:t>Advance HEAD</a:t>
            </a:r>
            <a:endParaRPr lang="en-US" sz="1130" dirty="0"/>
          </a:p>
        </p:txBody>
      </p:sp>
      <p:sp>
        <p:nvSpPr>
          <p:cNvPr id="41" name="Shape 39"/>
          <p:cNvSpPr/>
          <p:nvPr/>
        </p:nvSpPr>
        <p:spPr>
          <a:xfrm>
            <a:off x="868680" y="4937760"/>
            <a:ext cx="292608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1832" y="5093208"/>
            <a:ext cx="2779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1F2D3D"/>
                </a:solidFill>
              </a:rPr>
              <a:t>Delete last</a:t>
            </a:r>
            <a:endParaRPr lang="en-US" sz="1130" dirty="0"/>
          </a:p>
        </p:txBody>
      </p:sp>
      <p:sp>
        <p:nvSpPr>
          <p:cNvPr id="43" name="Shape 41"/>
          <p:cNvSpPr/>
          <p:nvPr/>
        </p:nvSpPr>
        <p:spPr>
          <a:xfrm>
            <a:off x="3794760" y="4937760"/>
            <a:ext cx="182880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67912" y="509320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2B8A6"/>
                </a:solidFill>
              </a:rPr>
              <a:t>O(n)</a:t>
            </a:r>
            <a:endParaRPr lang="en-US" sz="1130" dirty="0"/>
          </a:p>
        </p:txBody>
      </p:sp>
      <p:sp>
        <p:nvSpPr>
          <p:cNvPr id="45" name="Shape 43"/>
          <p:cNvSpPr/>
          <p:nvPr/>
        </p:nvSpPr>
        <p:spPr>
          <a:xfrm>
            <a:off x="5623560" y="4937760"/>
            <a:ext cx="566928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96712" y="5093208"/>
            <a:ext cx="5522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1F2D3D"/>
                </a:solidFill>
              </a:rPr>
              <a:t>Find predecessor of last node</a:t>
            </a:r>
            <a:endParaRPr lang="en-US" sz="1130" dirty="0"/>
          </a:p>
        </p:txBody>
      </p:sp>
      <p:sp>
        <p:nvSpPr>
          <p:cNvPr id="47" name="Shape 45"/>
          <p:cNvSpPr/>
          <p:nvPr/>
        </p:nvSpPr>
        <p:spPr>
          <a:xfrm>
            <a:off x="868680" y="5687568"/>
            <a:ext cx="10424160" cy="502920"/>
          </a:xfrm>
          <a:prstGeom prst="roundRect">
            <a:avLst>
              <a:gd name="adj" fmla="val 10909"/>
            </a:avLst>
          </a:prstGeom>
          <a:solidFill>
            <a:srgbClr val="DFF7F3"/>
          </a:solidFill>
          <a:ln w="12700">
            <a:solidFill>
              <a:srgbClr val="DFF7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4984" y="58064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2B8A6"/>
                </a:solidFill>
              </a:rPr>
              <a:t>EXAM TIP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014984" y="6053328"/>
            <a:ext cx="10131552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Know what makes an operation O(1) versus O(n): the deciding factor is usually whether traversal is needed.</a:t>
            </a:r>
            <a:endParaRPr lang="en-US" sz="123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3 • CIRCULAR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Circular singly linked list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88A"/>
                </a:solidFill>
              </a:rPr>
              <a:t>The last node points back to HEAD instead of storing NULL.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194767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536192" y="225856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645920" y="2331720"/>
            <a:ext cx="100584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2331720"/>
            <a:ext cx="65836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04288" y="23317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2496" y="2496312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651760" y="2615184"/>
            <a:ext cx="393192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090672" y="2331720"/>
            <a:ext cx="100584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90672" y="2331720"/>
            <a:ext cx="65836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23317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7248" y="2496312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096512" y="2615184"/>
            <a:ext cx="393192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35424" y="2331720"/>
            <a:ext cx="100584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35424" y="2331720"/>
            <a:ext cx="65836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93792" y="23317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496312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541264" y="2615184"/>
            <a:ext cx="393192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980176" y="2331720"/>
            <a:ext cx="100584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0176" y="2331720"/>
            <a:ext cx="65836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8544" y="23317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6752" y="2496312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48856" y="2615184"/>
            <a:ext cx="32004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68896" y="2615184"/>
            <a:ext cx="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73936" y="1792224"/>
            <a:ext cx="539496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1005840" y="4160520"/>
            <a:ext cx="3154680" cy="1051560"/>
          </a:xfrm>
          <a:prstGeom prst="roundRect">
            <a:avLst>
              <a:gd name="adj" fmla="val 5217"/>
            </a:avLst>
          </a:prstGeom>
          <a:solidFill>
            <a:srgbClr val="EEECFA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4160520"/>
            <a:ext cx="64008" cy="1051560"/>
          </a:xfrm>
          <a:prstGeom prst="rect">
            <a:avLst/>
          </a:prstGeom>
          <a:solidFill>
            <a:srgbClr val="6C63C7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432511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Termination condition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188720" y="4709160"/>
            <a:ext cx="28437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D3D"/>
                </a:solidFill>
              </a:rPr>
              <a:t>Stop when ptr returns to HEAD.</a:t>
            </a:r>
            <a:endParaRPr lang="en-US" sz="1320" dirty="0"/>
          </a:p>
        </p:txBody>
      </p:sp>
      <p:sp>
        <p:nvSpPr>
          <p:cNvPr id="34" name="Shape 32"/>
          <p:cNvSpPr/>
          <p:nvPr/>
        </p:nvSpPr>
        <p:spPr>
          <a:xfrm>
            <a:off x="4462272" y="4160520"/>
            <a:ext cx="3154680" cy="1051560"/>
          </a:xfrm>
          <a:prstGeom prst="roundRect">
            <a:avLst>
              <a:gd name="adj" fmla="val 5217"/>
            </a:avLst>
          </a:prstGeom>
          <a:solidFill>
            <a:srgbClr val="FFF3D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62272" y="4160520"/>
            <a:ext cx="64008" cy="1051560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45152" y="432511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No natural end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4645152" y="4709160"/>
            <a:ext cx="28437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D3D"/>
                </a:solidFill>
              </a:rPr>
              <a:t>There is no NULL link in a non-empty circular list.</a:t>
            </a:r>
            <a:endParaRPr lang="en-US" sz="1320" dirty="0"/>
          </a:p>
        </p:txBody>
      </p:sp>
      <p:sp>
        <p:nvSpPr>
          <p:cNvPr id="38" name="Shape 36"/>
          <p:cNvSpPr/>
          <p:nvPr/>
        </p:nvSpPr>
        <p:spPr>
          <a:xfrm>
            <a:off x="7918704" y="4160520"/>
            <a:ext cx="3154680" cy="1051560"/>
          </a:xfrm>
          <a:prstGeom prst="roundRect">
            <a:avLst>
              <a:gd name="adj" fmla="val 5217"/>
            </a:avLst>
          </a:prstGeom>
          <a:solidFill>
            <a:srgbClr val="DFF7F3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18704" y="4160520"/>
            <a:ext cx="64008" cy="1051560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01584" y="432511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Useful for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8101584" y="4709160"/>
            <a:ext cx="28437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D3D"/>
                </a:solidFill>
              </a:rPr>
              <a:t>Round-robin scheduling, cyclic buffers and repeating sequences.</a:t>
            </a:r>
            <a:endParaRPr lang="en-US" sz="128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3 • CIRCULAR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Circular list: insert at beginning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38755" y="1350429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3710" y="157276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50392" y="180136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60120" y="18745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8745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53896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20391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01368" y="2157984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12264" y="18745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12264" y="18745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0391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953512" y="2157984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64408" y="18745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64408" y="18745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58184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00984" y="20391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968496" y="2157984"/>
            <a:ext cx="32004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88536" y="2157984"/>
            <a:ext cx="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8136" y="1236170"/>
            <a:ext cx="320040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24" name="Text 22"/>
          <p:cNvSpPr/>
          <p:nvPr/>
        </p:nvSpPr>
        <p:spPr>
          <a:xfrm>
            <a:off x="394222" y="1527047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Before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782842" y="34655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50392" y="372160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0120" y="379476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379476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53896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6696" y="39593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5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801368" y="4078224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112264" y="379476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12264" y="379476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06040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48840" y="39593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2953512" y="4078224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264408" y="379476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64408" y="379476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58184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00984" y="39593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105656" y="4078224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416552" y="379476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16552" y="379476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10328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53128" y="39593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5120640" y="4078224"/>
            <a:ext cx="32004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40680" y="4078224"/>
            <a:ext cx="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88136" y="3255264"/>
            <a:ext cx="4352544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49" name="Text 47"/>
          <p:cNvSpPr/>
          <p:nvPr/>
        </p:nvSpPr>
        <p:spPr>
          <a:xfrm>
            <a:off x="342900" y="3328417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After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6629400" y="1700784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29400" y="177393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123176" y="1691640"/>
            <a:ext cx="3712464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1F2D3D"/>
                </a:solidFill>
              </a:rPr>
              <a:t>If empty: new-&gt;next = new; head = new</a:t>
            </a:r>
            <a:endParaRPr lang="en-US" sz="1290" dirty="0"/>
          </a:p>
        </p:txBody>
      </p:sp>
      <p:sp>
        <p:nvSpPr>
          <p:cNvPr id="53" name="Shape 51"/>
          <p:cNvSpPr/>
          <p:nvPr/>
        </p:nvSpPr>
        <p:spPr>
          <a:xfrm>
            <a:off x="6629400" y="2328062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29400" y="240121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123176" y="2318918"/>
            <a:ext cx="3712464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1F2D3D"/>
                </a:solidFill>
              </a:rPr>
              <a:t>Else find last node</a:t>
            </a:r>
            <a:endParaRPr lang="en-US" sz="1290" dirty="0"/>
          </a:p>
        </p:txBody>
      </p:sp>
      <p:sp>
        <p:nvSpPr>
          <p:cNvPr id="56" name="Shape 54"/>
          <p:cNvSpPr/>
          <p:nvPr/>
        </p:nvSpPr>
        <p:spPr>
          <a:xfrm>
            <a:off x="6629400" y="2955341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29400" y="3028493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123176" y="2946197"/>
            <a:ext cx="3712464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1F2D3D"/>
                </a:solidFill>
              </a:rPr>
              <a:t>new-&gt;next = head</a:t>
            </a:r>
            <a:endParaRPr lang="en-US" sz="1290" dirty="0"/>
          </a:p>
        </p:txBody>
      </p:sp>
      <p:sp>
        <p:nvSpPr>
          <p:cNvPr id="59" name="Shape 57"/>
          <p:cNvSpPr/>
          <p:nvPr/>
        </p:nvSpPr>
        <p:spPr>
          <a:xfrm>
            <a:off x="6629400" y="3582619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29400" y="3655771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123176" y="3573475"/>
            <a:ext cx="3712464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1F2D3D"/>
                </a:solidFill>
              </a:rPr>
              <a:t>last-&gt;next = new</a:t>
            </a:r>
            <a:endParaRPr lang="en-US" sz="1290" dirty="0"/>
          </a:p>
        </p:txBody>
      </p:sp>
      <p:sp>
        <p:nvSpPr>
          <p:cNvPr id="62" name="Shape 60"/>
          <p:cNvSpPr/>
          <p:nvPr/>
        </p:nvSpPr>
        <p:spPr>
          <a:xfrm>
            <a:off x="6629400" y="4209898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29400" y="428305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123176" y="4200754"/>
            <a:ext cx="3712464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1F2D3D"/>
                </a:solidFill>
              </a:rPr>
              <a:t>head = new</a:t>
            </a:r>
            <a:endParaRPr lang="en-US" sz="1290" dirty="0"/>
          </a:p>
        </p:txBody>
      </p:sp>
      <p:sp>
        <p:nvSpPr>
          <p:cNvPr id="65" name="Shape 63"/>
          <p:cNvSpPr/>
          <p:nvPr/>
        </p:nvSpPr>
        <p:spPr>
          <a:xfrm>
            <a:off x="6629400" y="4983480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FFF3DF"/>
          </a:solidFill>
          <a:ln w="12700">
            <a:solidFill>
              <a:srgbClr val="FFF3D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75704" y="51023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2A33A"/>
                </a:solidFill>
              </a:rPr>
              <a:t>TIP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775704" y="5349240"/>
            <a:ext cx="3913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Maintaining a tail pointer avoids scanning for the last node.</a:t>
            </a:r>
            <a:endParaRPr lang="en-US" sz="1230" dirty="0"/>
          </a:p>
        </p:txBody>
      </p:sp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3 • CIRCULAR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Circular list: insert at end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66928" y="1361879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8819" y="1614287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50392" y="180136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60120" y="18745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8745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53896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20391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01368" y="2157984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12264" y="18745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12264" y="18745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0391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953512" y="2157984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64408" y="187452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64408" y="187452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58184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00984" y="20391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968496" y="2157984"/>
            <a:ext cx="32004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88536" y="2157984"/>
            <a:ext cx="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9848" y="1224060"/>
            <a:ext cx="320040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  <a:headEnd type="triangle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237826" y="16413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Before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914400" y="34107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50392" y="372160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0120" y="379476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379476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53896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6696" y="39593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801368" y="4078224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112264" y="379476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12264" y="379476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06040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48840" y="39593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2953512" y="4078224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264408" y="379476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64408" y="379476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58184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00984" y="39593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105656" y="4078224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416552" y="3794760"/>
            <a:ext cx="84124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16552" y="3794760"/>
            <a:ext cx="493776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10328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53128" y="39593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5120640" y="4078224"/>
            <a:ext cx="32004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40680" y="4078224"/>
            <a:ext cx="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88136" y="3255264"/>
            <a:ext cx="4352544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49" name="Text 47"/>
          <p:cNvSpPr/>
          <p:nvPr/>
        </p:nvSpPr>
        <p:spPr>
          <a:xfrm>
            <a:off x="416052" y="35112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After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6629400" y="1837944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29400" y="191109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123176" y="1828800"/>
            <a:ext cx="362102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D3D"/>
                </a:solidFill>
              </a:rPr>
              <a:t>If empty: new points to itself</a:t>
            </a:r>
            <a:endParaRPr lang="en-US" sz="1330" dirty="0"/>
          </a:p>
        </p:txBody>
      </p:sp>
      <p:sp>
        <p:nvSpPr>
          <p:cNvPr id="53" name="Shape 51"/>
          <p:cNvSpPr/>
          <p:nvPr/>
        </p:nvSpPr>
        <p:spPr>
          <a:xfrm>
            <a:off x="6629400" y="2496312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29400" y="25694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123176" y="2487168"/>
            <a:ext cx="362102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D3D"/>
                </a:solidFill>
              </a:rPr>
              <a:t>Otherwise find last node</a:t>
            </a:r>
            <a:endParaRPr lang="en-US" sz="1330" dirty="0"/>
          </a:p>
        </p:txBody>
      </p:sp>
      <p:sp>
        <p:nvSpPr>
          <p:cNvPr id="56" name="Shape 54"/>
          <p:cNvSpPr/>
          <p:nvPr/>
        </p:nvSpPr>
        <p:spPr>
          <a:xfrm>
            <a:off x="6629400" y="3154680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29400" y="32278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123176" y="3145536"/>
            <a:ext cx="362102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D3D"/>
                </a:solidFill>
              </a:rPr>
              <a:t>new-&gt;next = head</a:t>
            </a:r>
            <a:endParaRPr lang="en-US" sz="1330" dirty="0"/>
          </a:p>
        </p:txBody>
      </p:sp>
      <p:sp>
        <p:nvSpPr>
          <p:cNvPr id="59" name="Shape 57"/>
          <p:cNvSpPr/>
          <p:nvPr/>
        </p:nvSpPr>
        <p:spPr>
          <a:xfrm>
            <a:off x="6629400" y="3813048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29400" y="38862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123176" y="3803904"/>
            <a:ext cx="362102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D3D"/>
                </a:solidFill>
              </a:rPr>
              <a:t>last-&gt;next = new</a:t>
            </a:r>
            <a:endParaRPr lang="en-US" sz="1330" dirty="0"/>
          </a:p>
        </p:txBody>
      </p:sp>
      <p:sp>
        <p:nvSpPr>
          <p:cNvPr id="62" name="Shape 60"/>
          <p:cNvSpPr/>
          <p:nvPr/>
        </p:nvSpPr>
        <p:spPr>
          <a:xfrm>
            <a:off x="6629400" y="4663440"/>
            <a:ext cx="4114800" cy="868680"/>
          </a:xfrm>
          <a:prstGeom prst="roundRect">
            <a:avLst>
              <a:gd name="adj" fmla="val 6316"/>
            </a:avLst>
          </a:prstGeom>
          <a:solidFill>
            <a:srgbClr val="DFF7F3"/>
          </a:solidFill>
          <a:ln w="12700">
            <a:solidFill>
              <a:srgbClr val="DFF7F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75704" y="47823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2B8A6"/>
                </a:solidFill>
              </a:rPr>
              <a:t>POINTER CHECK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775704" y="5029200"/>
            <a:ext cx="3822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After insertion: exactly one link must point from the new last node back to HEAD.</a:t>
            </a:r>
            <a:endParaRPr lang="en-US" sz="123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3 • CIRCULAR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Circular list: insert after key = 20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53212" y="1385522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9047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58952" y="180136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68680" y="1874520"/>
            <a:ext cx="80467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74520"/>
            <a:ext cx="45720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20391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673352" y="2157984"/>
            <a:ext cx="228600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947672" y="1874520"/>
            <a:ext cx="80467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47672" y="1874520"/>
            <a:ext cx="45720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04872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84248" y="20391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52344" y="2157984"/>
            <a:ext cx="228600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026664" y="1874520"/>
            <a:ext cx="80467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26664" y="1874520"/>
            <a:ext cx="45720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3864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20391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831336" y="2157984"/>
            <a:ext cx="228600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105656" y="1874520"/>
            <a:ext cx="80467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05656" y="1874520"/>
            <a:ext cx="45720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62856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42232" y="20391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73168" y="2157984"/>
            <a:ext cx="32004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93208" y="2157984"/>
            <a:ext cx="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6696" y="1244408"/>
            <a:ext cx="4096512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  <a:headEnd type="triangle"/>
          </a:ln>
        </p:spPr>
        <p:txBody>
          <a:bodyPr/>
          <a:lstStyle/>
          <a:p>
            <a:endParaRPr lang="en-IN" dirty="0"/>
          </a:p>
        </p:txBody>
      </p:sp>
      <p:sp>
        <p:nvSpPr>
          <p:cNvPr id="29" name="Text 27"/>
          <p:cNvSpPr/>
          <p:nvPr/>
        </p:nvSpPr>
        <p:spPr>
          <a:xfrm>
            <a:off x="235108" y="160876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Before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822960" y="34107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" y="372160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68680" y="3794760"/>
            <a:ext cx="768096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680" y="3794760"/>
            <a:ext cx="420624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89304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256" y="395935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636776" y="4078224"/>
            <a:ext cx="19202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874520" y="3794760"/>
            <a:ext cx="768096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74520" y="3794760"/>
            <a:ext cx="420624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95144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11096" y="395935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2642616" y="4078224"/>
            <a:ext cx="19202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880360" y="3794760"/>
            <a:ext cx="768096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80360" y="3794760"/>
            <a:ext cx="420624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00984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16936" y="395935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25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3648456" y="4078224"/>
            <a:ext cx="19202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3886200" y="3794760"/>
            <a:ext cx="768096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86200" y="3794760"/>
            <a:ext cx="420624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06824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22776" y="395935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4654296" y="4078224"/>
            <a:ext cx="192024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892040" y="3794760"/>
            <a:ext cx="768096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92040" y="3794760"/>
            <a:ext cx="420624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12664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28616" y="395935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5522976" y="4078224"/>
            <a:ext cx="32004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43016" y="4078224"/>
            <a:ext cx="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96696" y="3255264"/>
            <a:ext cx="484632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59" name="Text 57"/>
          <p:cNvSpPr/>
          <p:nvPr/>
        </p:nvSpPr>
        <p:spPr>
          <a:xfrm>
            <a:off x="235108" y="348386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After</a:t>
            </a:r>
            <a:endParaRPr lang="en-US" sz="1080" dirty="0"/>
          </a:p>
        </p:txBody>
      </p:sp>
      <p:sp>
        <p:nvSpPr>
          <p:cNvPr id="60" name="Shape 58"/>
          <p:cNvSpPr/>
          <p:nvPr/>
        </p:nvSpPr>
        <p:spPr>
          <a:xfrm>
            <a:off x="6675120" y="1883664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75120" y="195681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7168896" y="1874520"/>
            <a:ext cx="3483864" cy="652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D3D"/>
                </a:solidFill>
              </a:rPr>
              <a:t>Search until key found or ptr returns to head</a:t>
            </a:r>
            <a:endParaRPr lang="en-US" sz="1330" dirty="0"/>
          </a:p>
        </p:txBody>
      </p:sp>
      <p:sp>
        <p:nvSpPr>
          <p:cNvPr id="63" name="Shape 61"/>
          <p:cNvSpPr/>
          <p:nvPr/>
        </p:nvSpPr>
        <p:spPr>
          <a:xfrm>
            <a:off x="6675120" y="2609088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75120" y="268224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7168896" y="2599944"/>
            <a:ext cx="3483864" cy="652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D3D"/>
                </a:solidFill>
              </a:rPr>
              <a:t>new-&gt;next = ptr-&gt;next</a:t>
            </a:r>
            <a:endParaRPr lang="en-US" sz="1330" dirty="0"/>
          </a:p>
        </p:txBody>
      </p:sp>
      <p:sp>
        <p:nvSpPr>
          <p:cNvPr id="66" name="Shape 64"/>
          <p:cNvSpPr/>
          <p:nvPr/>
        </p:nvSpPr>
        <p:spPr>
          <a:xfrm>
            <a:off x="6675120" y="3334512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75120" y="34076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7168896" y="3325368"/>
            <a:ext cx="3483864" cy="652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D3D"/>
                </a:solidFill>
              </a:rPr>
              <a:t>ptr-&gt;next = new</a:t>
            </a:r>
            <a:endParaRPr lang="en-US" sz="1330" dirty="0"/>
          </a:p>
        </p:txBody>
      </p:sp>
      <p:sp>
        <p:nvSpPr>
          <p:cNvPr id="69" name="Shape 67"/>
          <p:cNvSpPr/>
          <p:nvPr/>
        </p:nvSpPr>
        <p:spPr>
          <a:xfrm>
            <a:off x="6629400" y="4343400"/>
            <a:ext cx="4023360" cy="1024128"/>
          </a:xfrm>
          <a:prstGeom prst="roundRect">
            <a:avLst>
              <a:gd name="adj" fmla="val 5357"/>
            </a:avLst>
          </a:prstGeom>
          <a:solidFill>
            <a:srgbClr val="EEECFA"/>
          </a:solidFill>
          <a:ln w="12700">
            <a:solidFill>
              <a:srgbClr val="EEECF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775704" y="4462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6C63C7"/>
                </a:solidFill>
              </a:rPr>
              <a:t>SEARCH CONDITION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6775704" y="4709160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In a circular list, “not found” means one full cycle has been completed.</a:t>
            </a:r>
            <a:endParaRPr lang="en-US" sz="1230" dirty="0"/>
          </a:p>
        </p:txBody>
      </p:sp>
      <p:sp>
        <p:nvSpPr>
          <p:cNvPr id="7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3 • CIRCULAR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Circular list: delete first node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32988" y="1295483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822960" y="149047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58952" y="180136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68680" y="1874520"/>
            <a:ext cx="80467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74520"/>
            <a:ext cx="45720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20391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673352" y="2157984"/>
            <a:ext cx="228600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947672" y="1874520"/>
            <a:ext cx="80467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47672" y="1874520"/>
            <a:ext cx="45720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04872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84248" y="20391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52344" y="2157984"/>
            <a:ext cx="228600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026664" y="1874520"/>
            <a:ext cx="80467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26664" y="1874520"/>
            <a:ext cx="45720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3864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20391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831336" y="2157984"/>
            <a:ext cx="228600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105656" y="1874520"/>
            <a:ext cx="80467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05656" y="1874520"/>
            <a:ext cx="45720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62856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42232" y="20391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73168" y="2157984"/>
            <a:ext cx="32004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93208" y="2157984"/>
            <a:ext cx="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8408" y="1160876"/>
            <a:ext cx="4096512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29" name="Text 27"/>
          <p:cNvSpPr/>
          <p:nvPr/>
        </p:nvSpPr>
        <p:spPr>
          <a:xfrm>
            <a:off x="288160" y="1481895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Before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822960" y="34107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" y="372160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68680" y="3794760"/>
            <a:ext cx="80467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680" y="3794760"/>
            <a:ext cx="45720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25880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256" y="395935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673352" y="4078224"/>
            <a:ext cx="228600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947672" y="3794760"/>
            <a:ext cx="80467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47672" y="3794760"/>
            <a:ext cx="45720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04872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84248" y="395935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2752344" y="4078224"/>
            <a:ext cx="228600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026664" y="3794760"/>
            <a:ext cx="80467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26664" y="3794760"/>
            <a:ext cx="45720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83864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63240" y="395935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3694176" y="4078224"/>
            <a:ext cx="32004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14216" y="4078224"/>
            <a:ext cx="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6696" y="3255264"/>
            <a:ext cx="301752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49" name="Text 47"/>
          <p:cNvSpPr/>
          <p:nvPr/>
        </p:nvSpPr>
        <p:spPr>
          <a:xfrm>
            <a:off x="434340" y="3405441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After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6492240" y="1673352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0" y="174650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986016" y="1664208"/>
            <a:ext cx="3849624" cy="5724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D3D"/>
                </a:solidFill>
              </a:rPr>
              <a:t>Handle empty list</a:t>
            </a:r>
            <a:endParaRPr lang="en-US" sz="1260" dirty="0"/>
          </a:p>
        </p:txBody>
      </p:sp>
      <p:sp>
        <p:nvSpPr>
          <p:cNvPr id="53" name="Shape 51"/>
          <p:cNvSpPr/>
          <p:nvPr/>
        </p:nvSpPr>
        <p:spPr>
          <a:xfrm>
            <a:off x="6492240" y="2318918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92240" y="239207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986016" y="2309774"/>
            <a:ext cx="3849624" cy="5724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D3D"/>
                </a:solidFill>
              </a:rPr>
              <a:t>Handle one-node list</a:t>
            </a:r>
            <a:endParaRPr lang="en-US" sz="1260" dirty="0"/>
          </a:p>
        </p:txBody>
      </p:sp>
      <p:sp>
        <p:nvSpPr>
          <p:cNvPr id="56" name="Shape 54"/>
          <p:cNvSpPr/>
          <p:nvPr/>
        </p:nvSpPr>
        <p:spPr>
          <a:xfrm>
            <a:off x="6492240" y="2964485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92240" y="3037637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986016" y="2955341"/>
            <a:ext cx="3849624" cy="5724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D3D"/>
                </a:solidFill>
              </a:rPr>
              <a:t>Find last node</a:t>
            </a:r>
            <a:endParaRPr lang="en-US" sz="1260" dirty="0"/>
          </a:p>
        </p:txBody>
      </p:sp>
      <p:sp>
        <p:nvSpPr>
          <p:cNvPr id="59" name="Shape 57"/>
          <p:cNvSpPr/>
          <p:nvPr/>
        </p:nvSpPr>
        <p:spPr>
          <a:xfrm>
            <a:off x="6492240" y="3610051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92240" y="3683203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986016" y="3600907"/>
            <a:ext cx="3849624" cy="5724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D3D"/>
                </a:solidFill>
              </a:rPr>
              <a:t>last-&gt;next = head-&gt;next</a:t>
            </a:r>
            <a:endParaRPr lang="en-US" sz="1260" dirty="0"/>
          </a:p>
        </p:txBody>
      </p:sp>
      <p:sp>
        <p:nvSpPr>
          <p:cNvPr id="62" name="Shape 60"/>
          <p:cNvSpPr/>
          <p:nvPr/>
        </p:nvSpPr>
        <p:spPr>
          <a:xfrm>
            <a:off x="6492240" y="4255618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92240" y="432877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986016" y="4246474"/>
            <a:ext cx="3849624" cy="5724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D3D"/>
                </a:solidFill>
              </a:rPr>
              <a:t>temp = head; head = head-&gt;next; free(temp)</a:t>
            </a:r>
            <a:endParaRPr lang="en-US" sz="126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3 • CIRCULAR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Circular list: delete last node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66928" y="140257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9047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58952" y="180136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68680" y="1874520"/>
            <a:ext cx="80467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74520"/>
            <a:ext cx="45720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20391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673352" y="2157984"/>
            <a:ext cx="228600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947672" y="1874520"/>
            <a:ext cx="80467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47672" y="1874520"/>
            <a:ext cx="45720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04872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84248" y="20391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52344" y="2157984"/>
            <a:ext cx="228600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026664" y="1874520"/>
            <a:ext cx="80467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26664" y="1874520"/>
            <a:ext cx="45720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3864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20391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831336" y="2157984"/>
            <a:ext cx="228600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105656" y="1874520"/>
            <a:ext cx="80467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05656" y="1874520"/>
            <a:ext cx="45720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62856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42232" y="20391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73168" y="2157984"/>
            <a:ext cx="32004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93208" y="2157984"/>
            <a:ext cx="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8408" y="1152144"/>
            <a:ext cx="4096512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29" name="Text 27"/>
          <p:cNvSpPr/>
          <p:nvPr/>
        </p:nvSpPr>
        <p:spPr>
          <a:xfrm>
            <a:off x="190500" y="149994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Before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822960" y="34107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" y="372160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68680" y="3794760"/>
            <a:ext cx="80467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680" y="3794760"/>
            <a:ext cx="45720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25880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256" y="395935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673352" y="4078224"/>
            <a:ext cx="228600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947672" y="3794760"/>
            <a:ext cx="80467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47672" y="3794760"/>
            <a:ext cx="45720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04872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84248" y="395935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2752344" y="4078224"/>
            <a:ext cx="228600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026664" y="3794760"/>
            <a:ext cx="80467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26664" y="3794760"/>
            <a:ext cx="457200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83864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63240" y="395935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3694176" y="4078224"/>
            <a:ext cx="32004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14216" y="4078224"/>
            <a:ext cx="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6696" y="3255264"/>
            <a:ext cx="301752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49" name="Text 47"/>
          <p:cNvSpPr/>
          <p:nvPr/>
        </p:nvSpPr>
        <p:spPr>
          <a:xfrm>
            <a:off x="201168" y="338328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After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6629400" y="1837944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29400" y="191109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123176" y="1828800"/>
            <a:ext cx="366674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Handle empty / one-node cases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629400" y="2496312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29400" y="25694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123176" y="2487168"/>
            <a:ext cx="366674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Move prev and ptr until ptr-&gt;next == head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629400" y="3154680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29400" y="32278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123176" y="3145536"/>
            <a:ext cx="366674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prev-&gt;next = head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629400" y="3813048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29400" y="38862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123176" y="3803904"/>
            <a:ext cx="366674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free(ptr)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629400" y="466344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DFF7F3"/>
          </a:solidFill>
          <a:ln w="12700">
            <a:solidFill>
              <a:srgbClr val="DFF7F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75704" y="47823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2B8A6"/>
                </a:solidFill>
              </a:rPr>
              <a:t>INVARIANT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775704" y="5029200"/>
            <a:ext cx="3867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The new last node must point to HEAD — never to NULL.</a:t>
            </a:r>
            <a:endParaRPr lang="en-US" sz="123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3 • CIRCULAR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Circular list: delete node after key = 20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66928" y="1361385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777240" y="149047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13232" y="180136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22960" y="1874520"/>
            <a:ext cx="73152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874520"/>
            <a:ext cx="38404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7008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03911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54480" y="2157984"/>
            <a:ext cx="182880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783080" y="1874520"/>
            <a:ext cx="73152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1874520"/>
            <a:ext cx="38404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67128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19656" y="203911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514600" y="2157984"/>
            <a:ext cx="182880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743200" y="1874520"/>
            <a:ext cx="73152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1874520"/>
            <a:ext cx="38404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27248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79776" y="203911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474720" y="2157984"/>
            <a:ext cx="182880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703320" y="1874520"/>
            <a:ext cx="73152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03320" y="1874520"/>
            <a:ext cx="38404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87368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9896" y="203911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434840" y="2157984"/>
            <a:ext cx="182880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663440" y="1874520"/>
            <a:ext cx="73152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874520"/>
            <a:ext cx="38404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47488" y="187452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0016" y="203911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50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257800" y="2157984"/>
            <a:ext cx="32004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7840" y="2157984"/>
            <a:ext cx="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1152638"/>
            <a:ext cx="4626864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34" name="Text 32"/>
          <p:cNvSpPr/>
          <p:nvPr/>
        </p:nvSpPr>
        <p:spPr>
          <a:xfrm>
            <a:off x="190500" y="1517903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Before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777240" y="34107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13232" y="372160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22960" y="3794760"/>
            <a:ext cx="768096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3794760"/>
            <a:ext cx="420624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43584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" y="395935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591056" y="4078224"/>
            <a:ext cx="201168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837944" y="3794760"/>
            <a:ext cx="768096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37944" y="3794760"/>
            <a:ext cx="420624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58568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74520" y="395935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2606040" y="4078224"/>
            <a:ext cx="201168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852928" y="3794760"/>
            <a:ext cx="768096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52928" y="3794760"/>
            <a:ext cx="420624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73552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89504" y="395935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3621024" y="4078224"/>
            <a:ext cx="201168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3867912" y="3794760"/>
            <a:ext cx="768096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67912" y="3794760"/>
            <a:ext cx="420624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88536" y="37947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04488" y="395935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50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4498848" y="4078224"/>
            <a:ext cx="32004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18888" y="4078224"/>
            <a:ext cx="0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50976" y="3255264"/>
            <a:ext cx="3867912" cy="0"/>
          </a:xfrm>
          <a:prstGeom prst="line">
            <a:avLst/>
          </a:prstGeom>
          <a:noFill/>
          <a:ln w="1905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59" name="Text 57"/>
          <p:cNvSpPr/>
          <p:nvPr/>
        </p:nvSpPr>
        <p:spPr>
          <a:xfrm>
            <a:off x="201333" y="344020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After</a:t>
            </a:r>
            <a:endParaRPr lang="en-US" sz="1080" dirty="0"/>
          </a:p>
        </p:txBody>
      </p:sp>
      <p:sp>
        <p:nvSpPr>
          <p:cNvPr id="60" name="Shape 58"/>
          <p:cNvSpPr/>
          <p:nvPr/>
        </p:nvSpPr>
        <p:spPr>
          <a:xfrm>
            <a:off x="6537960" y="1700784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37960" y="177393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7031736" y="1691640"/>
            <a:ext cx="3758184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D3D"/>
                </a:solidFill>
              </a:rPr>
              <a:t>Search for key node ptr</a:t>
            </a:r>
            <a:endParaRPr lang="en-US" sz="1270" dirty="0"/>
          </a:p>
        </p:txBody>
      </p:sp>
      <p:sp>
        <p:nvSpPr>
          <p:cNvPr id="63" name="Shape 61"/>
          <p:cNvSpPr/>
          <p:nvPr/>
        </p:nvSpPr>
        <p:spPr>
          <a:xfrm>
            <a:off x="6537960" y="2328062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240121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7031736" y="2318918"/>
            <a:ext cx="3758184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D3D"/>
                </a:solidFill>
              </a:rPr>
              <a:t>temp = ptr-&gt;next</a:t>
            </a:r>
            <a:endParaRPr lang="en-US" sz="1270" dirty="0"/>
          </a:p>
        </p:txBody>
      </p:sp>
      <p:sp>
        <p:nvSpPr>
          <p:cNvPr id="66" name="Shape 64"/>
          <p:cNvSpPr/>
          <p:nvPr/>
        </p:nvSpPr>
        <p:spPr>
          <a:xfrm>
            <a:off x="6537960" y="2955341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3028493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7031736" y="2946197"/>
            <a:ext cx="3758184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D3D"/>
                </a:solidFill>
              </a:rPr>
              <a:t>If temp == head, deletion changes HEAD</a:t>
            </a:r>
            <a:endParaRPr lang="en-US" sz="1270" dirty="0"/>
          </a:p>
        </p:txBody>
      </p:sp>
      <p:sp>
        <p:nvSpPr>
          <p:cNvPr id="69" name="Shape 67"/>
          <p:cNvSpPr/>
          <p:nvPr/>
        </p:nvSpPr>
        <p:spPr>
          <a:xfrm>
            <a:off x="6537960" y="3582619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37960" y="3655771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7031736" y="3573475"/>
            <a:ext cx="3758184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D3D"/>
                </a:solidFill>
              </a:rPr>
              <a:t>ptr-&gt;next = temp-&gt;next</a:t>
            </a:r>
            <a:endParaRPr lang="en-US" sz="1270" dirty="0"/>
          </a:p>
        </p:txBody>
      </p:sp>
      <p:sp>
        <p:nvSpPr>
          <p:cNvPr id="72" name="Shape 70"/>
          <p:cNvSpPr/>
          <p:nvPr/>
        </p:nvSpPr>
        <p:spPr>
          <a:xfrm>
            <a:off x="6537960" y="4209898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37960" y="428305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031736" y="4200754"/>
            <a:ext cx="3758184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D3D"/>
                </a:solidFill>
              </a:rPr>
              <a:t>free(temp)</a:t>
            </a:r>
            <a:endParaRPr lang="en-US" sz="1270" dirty="0"/>
          </a:p>
        </p:txBody>
      </p:sp>
      <p:sp>
        <p:nvSpPr>
          <p:cNvPr id="7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3 • CIRCULAR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Circular linked list: common pitfalls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DEBEB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64008" cy="1325880"/>
          </a:xfrm>
          <a:prstGeom prst="rect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39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❶ Wrong stop condition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30266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Using ptr != NULL causes an infinite loop in a valid non-empty circular list.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8745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3D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874520"/>
            <a:ext cx="64008" cy="1325880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039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❷ Broken last link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17720" y="2423160"/>
            <a:ext cx="30266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After changing HEAD, the last node may still point to the old head.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2440" y="18745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EEECFA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874520"/>
            <a:ext cx="64008" cy="1325880"/>
          </a:xfrm>
          <a:prstGeom prst="rect">
            <a:avLst/>
          </a:prstGeom>
          <a:solidFill>
            <a:srgbClr val="6C63C7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039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❸ One-node case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75320" y="2423160"/>
            <a:ext cx="30266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Deleting the only node must set HEAD = NULL.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48840" y="3794760"/>
            <a:ext cx="7909560" cy="1691640"/>
          </a:xfrm>
          <a:prstGeom prst="roundRect">
            <a:avLst>
              <a:gd name="adj" fmla="val 2703"/>
            </a:avLst>
          </a:prstGeom>
          <a:solidFill>
            <a:srgbClr val="0E1A27"/>
          </a:solidFill>
          <a:ln w="12700">
            <a:solidFill>
              <a:srgbClr val="0E1A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13432" y="39044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40" dirty="0">
                <a:solidFill>
                  <a:srgbClr val="91E9DB"/>
                </a:solidFill>
              </a:rPr>
              <a:t>Safe circular traversal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9555480" y="3922776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10928" y="3922776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66376" y="3922776"/>
            <a:ext cx="91440" cy="91440"/>
          </a:xfrm>
          <a:prstGeom prst="ellipse">
            <a:avLst/>
          </a:prstGeom>
          <a:solidFill>
            <a:srgbClr val="6BE28C"/>
          </a:solidFill>
          <a:ln w="12700">
            <a:solidFill>
              <a:srgbClr val="6BE2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13432" y="4233672"/>
            <a:ext cx="758037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*ptr = head;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(ptr != NULL) {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 {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printf("%d ", ptr-&gt;data);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ptr = ptr-&gt;next;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while (ptr != head);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4 • DOUBLY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Doubly linked list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88A"/>
                </a:solidFill>
              </a:rPr>
              <a:t>Each node can move both forward and backward.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85623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307592" y="216712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17320" y="2240280"/>
            <a:ext cx="118872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224028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1640" y="2240280"/>
            <a:ext cx="64008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224028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24048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587752" y="2459736"/>
            <a:ext cx="475488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63240" y="267919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108960" y="2240280"/>
            <a:ext cx="118872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224028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2240280"/>
            <a:ext cx="64008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224028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4048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79392" y="2459736"/>
            <a:ext cx="475488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54880" y="267919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00600" y="2240280"/>
            <a:ext cx="118872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24028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74920" y="2240280"/>
            <a:ext cx="64008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5000" y="224028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4048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971032" y="2459736"/>
            <a:ext cx="475488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46520" y="267919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92240" y="2240280"/>
            <a:ext cx="118872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224028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0" y="2240280"/>
            <a:ext cx="64008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224028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24048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60120" y="4069080"/>
            <a:ext cx="3063240" cy="1143000"/>
          </a:xfrm>
          <a:prstGeom prst="roundRect">
            <a:avLst>
              <a:gd name="adj" fmla="val 4800"/>
            </a:avLst>
          </a:prstGeom>
          <a:solidFill>
            <a:srgbClr val="EEECFA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0120" y="4069080"/>
            <a:ext cx="64008" cy="1143000"/>
          </a:xfrm>
          <a:prstGeom prst="rect">
            <a:avLst/>
          </a:prstGeom>
          <a:solidFill>
            <a:srgbClr val="6C63C7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4233672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PREV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1143000" y="4617720"/>
            <a:ext cx="27523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Address of the preceding node.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26280" y="4069080"/>
            <a:ext cx="3063240" cy="1143000"/>
          </a:xfrm>
          <a:prstGeom prst="roundRect">
            <a:avLst>
              <a:gd name="adj" fmla="val 4800"/>
            </a:avLst>
          </a:prstGeom>
          <a:solidFill>
            <a:srgbClr val="DFF7F3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26280" y="4069080"/>
            <a:ext cx="64008" cy="1143000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233672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DATA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4709160" y="4617720"/>
            <a:ext cx="27523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Value stored in the node.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092440" y="4069080"/>
            <a:ext cx="3063240" cy="1143000"/>
          </a:xfrm>
          <a:prstGeom prst="roundRect">
            <a:avLst>
              <a:gd name="adj" fmla="val 4800"/>
            </a:avLst>
          </a:prstGeom>
          <a:solidFill>
            <a:srgbClr val="E8EEF5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92440" y="4069080"/>
            <a:ext cx="64008" cy="1143000"/>
          </a:xfrm>
          <a:prstGeom prst="rect">
            <a:avLst/>
          </a:prstGeom>
          <a:solidFill>
            <a:srgbClr val="10273D"/>
          </a:solidFill>
          <a:ln w="12700">
            <a:solidFill>
              <a:srgbClr val="1027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75320" y="4233672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NEXT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8275320" y="4617720"/>
            <a:ext cx="27523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Address of the succeeding node.</a:t>
            </a:r>
            <a:endParaRPr lang="en-US" sz="13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4 • DOUBLY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Doubly linked node in C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5669280" cy="2423160"/>
          </a:xfrm>
          <a:prstGeom prst="roundRect">
            <a:avLst>
              <a:gd name="adj" fmla="val 1887"/>
            </a:avLst>
          </a:prstGeom>
          <a:solidFill>
            <a:srgbClr val="0E1A27"/>
          </a:solidFill>
          <a:ln w="12700">
            <a:solidFill>
              <a:srgbClr val="0E1A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9842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40" dirty="0">
                <a:solidFill>
                  <a:srgbClr val="91E9DB"/>
                </a:solidFill>
              </a:rPr>
              <a:t>Node definition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035040" y="2002536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0488" y="2002536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45936" y="2002536"/>
            <a:ext cx="91440" cy="91440"/>
          </a:xfrm>
          <a:prstGeom prst="ellipse">
            <a:avLst/>
          </a:prstGeom>
          <a:solidFill>
            <a:srgbClr val="6BE28C"/>
          </a:solidFill>
          <a:ln w="12700">
            <a:solidFill>
              <a:srgbClr val="6BE2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313432"/>
            <a:ext cx="534009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{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*prev; // previous node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data;          // stored value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*next; // next node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7498080" y="2240280"/>
            <a:ext cx="233172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2240280"/>
            <a:ext cx="274320" cy="960120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2240280"/>
            <a:ext cx="1783080" cy="960120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2240280"/>
            <a:ext cx="274320" cy="960120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24048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43216" y="34564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6C63C7"/>
                </a:solidFill>
              </a:rPr>
              <a:t>PREV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8348472" y="34564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2B8A6"/>
                </a:solidFill>
              </a:rPr>
              <a:t>DATA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9738360" y="34564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0273D"/>
                </a:solidFill>
              </a:rPr>
              <a:t>NEXT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868680" y="4617720"/>
            <a:ext cx="4983480" cy="868680"/>
          </a:xfrm>
          <a:prstGeom prst="roundRect">
            <a:avLst>
              <a:gd name="adj" fmla="val 6316"/>
            </a:avLst>
          </a:prstGeom>
          <a:solidFill>
            <a:srgbClr val="EEECFA"/>
          </a:solidFill>
          <a:ln w="12700">
            <a:solidFill>
              <a:srgbClr val="EEEC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984" y="47365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6C63C7"/>
                </a:solidFill>
              </a:rPr>
              <a:t>FIRST NODE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14984" y="4983480"/>
            <a:ext cx="4690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head-&gt;prev == NULL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6126480" y="4617720"/>
            <a:ext cx="4983480" cy="868680"/>
          </a:xfrm>
          <a:prstGeom prst="roundRect">
            <a:avLst>
              <a:gd name="adj" fmla="val 6316"/>
            </a:avLst>
          </a:prstGeom>
          <a:solidFill>
            <a:srgbClr val="FDEBEB"/>
          </a:solidFill>
          <a:ln w="12700">
            <a:solidFill>
              <a:srgbClr val="FD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47365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64B4B"/>
                </a:solidFill>
              </a:rPr>
              <a:t>LAST NODE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72784" y="4983480"/>
            <a:ext cx="4690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last-&gt;next == NULL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4 • DOUBLY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Doubly list: insert at beginning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66928" y="1229579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6304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41832" y="1773936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051560" y="1847088"/>
            <a:ext cx="96012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847088"/>
            <a:ext cx="41148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201168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993392" y="2066544"/>
            <a:ext cx="338328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331720" y="2286000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77440" y="1847088"/>
            <a:ext cx="96012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1760" y="1847088"/>
            <a:ext cx="41148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201168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319272" y="2066544"/>
            <a:ext cx="338328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657600" y="2286000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703320" y="1847088"/>
            <a:ext cx="96012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0332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77640" y="1847088"/>
            <a:ext cx="41148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77640" y="201168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74320" y="14767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Before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1005840" y="34107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1832" y="372160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51560" y="3794760"/>
            <a:ext cx="9144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156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25880" y="3794760"/>
            <a:ext cx="36576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9164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25880" y="39593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5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947672" y="4014216"/>
            <a:ext cx="30175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249424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295144" y="3794760"/>
            <a:ext cx="9144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95144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9464" y="3794760"/>
            <a:ext cx="36576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35224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9464" y="39593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3191256" y="4014216"/>
            <a:ext cx="30175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493008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538728" y="3794760"/>
            <a:ext cx="9144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38728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13048" y="3794760"/>
            <a:ext cx="36576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78808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13048" y="39593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4434840" y="4014216"/>
            <a:ext cx="30175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736592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4782312" y="3794760"/>
            <a:ext cx="9144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8231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56632" y="3794760"/>
            <a:ext cx="36576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2239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56632" y="39593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320040" y="34564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After</a:t>
            </a:r>
            <a:endParaRPr lang="en-US" sz="1080" dirty="0"/>
          </a:p>
        </p:txBody>
      </p:sp>
      <p:sp>
        <p:nvSpPr>
          <p:cNvPr id="56" name="Shape 54"/>
          <p:cNvSpPr/>
          <p:nvPr/>
        </p:nvSpPr>
        <p:spPr>
          <a:xfrm>
            <a:off x="6812280" y="1792224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12280" y="186537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306056" y="1783080"/>
            <a:ext cx="3438144" cy="5966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new-&gt;prev = NULL</a:t>
            </a:r>
            <a:endParaRPr lang="en-US" sz="1310" dirty="0"/>
          </a:p>
        </p:txBody>
      </p:sp>
      <p:sp>
        <p:nvSpPr>
          <p:cNvPr id="59" name="Shape 57"/>
          <p:cNvSpPr/>
          <p:nvPr/>
        </p:nvSpPr>
        <p:spPr>
          <a:xfrm>
            <a:off x="6812280" y="2462022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12280" y="253517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306056" y="2452878"/>
            <a:ext cx="3438144" cy="5966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new-&gt;next = head</a:t>
            </a:r>
            <a:endParaRPr lang="en-US" sz="1310" dirty="0"/>
          </a:p>
        </p:txBody>
      </p:sp>
      <p:sp>
        <p:nvSpPr>
          <p:cNvPr id="62" name="Shape 60"/>
          <p:cNvSpPr/>
          <p:nvPr/>
        </p:nvSpPr>
        <p:spPr>
          <a:xfrm>
            <a:off x="6812280" y="3131820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12280" y="320497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306056" y="3122676"/>
            <a:ext cx="3438144" cy="5966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If head != NULL: head-&gt;prev = new</a:t>
            </a:r>
            <a:endParaRPr lang="en-US" sz="1310" dirty="0"/>
          </a:p>
        </p:txBody>
      </p:sp>
      <p:sp>
        <p:nvSpPr>
          <p:cNvPr id="65" name="Shape 63"/>
          <p:cNvSpPr/>
          <p:nvPr/>
        </p:nvSpPr>
        <p:spPr>
          <a:xfrm>
            <a:off x="6812280" y="3801618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12280" y="387477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306056" y="3792474"/>
            <a:ext cx="3438144" cy="5966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head = new</a:t>
            </a:r>
            <a:endParaRPr lang="en-US" sz="1310" dirty="0"/>
          </a:p>
        </p:txBody>
      </p:sp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4 • DOUBLY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Doubly list: insert at end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39496" y="115214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1005840" y="146304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41832" y="1773936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051560" y="1847088"/>
            <a:ext cx="96012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847088"/>
            <a:ext cx="41148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201168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993392" y="2066544"/>
            <a:ext cx="338328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331720" y="2286000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77440" y="1847088"/>
            <a:ext cx="96012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1760" y="1847088"/>
            <a:ext cx="41148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201168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319272" y="2066544"/>
            <a:ext cx="338328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657600" y="2286000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703320" y="1847088"/>
            <a:ext cx="96012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0332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77640" y="1847088"/>
            <a:ext cx="41148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77640" y="201168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06455" y="151732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Before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1005840" y="34107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1832" y="372160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51560" y="3794760"/>
            <a:ext cx="9144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156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25880" y="3794760"/>
            <a:ext cx="36576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9164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25880" y="39593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947672" y="4014216"/>
            <a:ext cx="30175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249424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295144" y="3794760"/>
            <a:ext cx="9144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95144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9464" y="3794760"/>
            <a:ext cx="36576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35224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9464" y="39593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3191256" y="4014216"/>
            <a:ext cx="30175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493008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538728" y="3794760"/>
            <a:ext cx="9144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38728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13048" y="3794760"/>
            <a:ext cx="36576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78808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13048" y="39593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4434840" y="4014216"/>
            <a:ext cx="30175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736592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4782312" y="3794760"/>
            <a:ext cx="9144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8231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56632" y="3794760"/>
            <a:ext cx="36576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2239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56632" y="39593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429768" y="3439281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After</a:t>
            </a:r>
            <a:endParaRPr lang="en-US" sz="1080" dirty="0"/>
          </a:p>
        </p:txBody>
      </p:sp>
      <p:sp>
        <p:nvSpPr>
          <p:cNvPr id="56" name="Shape 54"/>
          <p:cNvSpPr/>
          <p:nvPr/>
        </p:nvSpPr>
        <p:spPr>
          <a:xfrm>
            <a:off x="6675120" y="1673352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75120" y="174650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168896" y="1664208"/>
            <a:ext cx="3621024" cy="5449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D3D"/>
                </a:solidFill>
              </a:rPr>
              <a:t>new-&gt;next = NULL</a:t>
            </a:r>
            <a:endParaRPr lang="en-US" sz="1280" dirty="0"/>
          </a:p>
        </p:txBody>
      </p:sp>
      <p:sp>
        <p:nvSpPr>
          <p:cNvPr id="59" name="Shape 57"/>
          <p:cNvSpPr/>
          <p:nvPr/>
        </p:nvSpPr>
        <p:spPr>
          <a:xfrm>
            <a:off x="6675120" y="2291486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75120" y="236463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168896" y="2282342"/>
            <a:ext cx="3621024" cy="5449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D3D"/>
                </a:solidFill>
              </a:rPr>
              <a:t>If empty: new-&gt;prev = NULL; head = new</a:t>
            </a:r>
            <a:endParaRPr lang="en-US" sz="1280" dirty="0"/>
          </a:p>
        </p:txBody>
      </p:sp>
      <p:sp>
        <p:nvSpPr>
          <p:cNvPr id="62" name="Shape 60"/>
          <p:cNvSpPr/>
          <p:nvPr/>
        </p:nvSpPr>
        <p:spPr>
          <a:xfrm>
            <a:off x="6675120" y="2909621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75120" y="2982773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168896" y="2900477"/>
            <a:ext cx="3621024" cy="5449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D3D"/>
                </a:solidFill>
              </a:rPr>
              <a:t>Otherwise find last</a:t>
            </a:r>
            <a:endParaRPr lang="en-US" sz="1280" dirty="0"/>
          </a:p>
        </p:txBody>
      </p:sp>
      <p:sp>
        <p:nvSpPr>
          <p:cNvPr id="65" name="Shape 63"/>
          <p:cNvSpPr/>
          <p:nvPr/>
        </p:nvSpPr>
        <p:spPr>
          <a:xfrm>
            <a:off x="6675120" y="3527755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75120" y="3600907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168896" y="3518611"/>
            <a:ext cx="3621024" cy="5449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D3D"/>
                </a:solidFill>
              </a:rPr>
              <a:t>last-&gt;next = new</a:t>
            </a:r>
            <a:endParaRPr lang="en-US" sz="1280" dirty="0"/>
          </a:p>
        </p:txBody>
      </p:sp>
      <p:sp>
        <p:nvSpPr>
          <p:cNvPr id="68" name="Shape 66"/>
          <p:cNvSpPr/>
          <p:nvPr/>
        </p:nvSpPr>
        <p:spPr>
          <a:xfrm>
            <a:off x="6675120" y="4145890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75120" y="421904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7168896" y="4136746"/>
            <a:ext cx="3621024" cy="5449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D3D"/>
                </a:solidFill>
              </a:rPr>
              <a:t>new-&gt;prev = last</a:t>
            </a:r>
            <a:endParaRPr lang="en-US" sz="1280" dirty="0"/>
          </a:p>
        </p:txBody>
      </p:sp>
      <p:sp>
        <p:nvSpPr>
          <p:cNvPr id="7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4 • DOUBLY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Doubly list: insert after key = 20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21043" y="1228426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58952" y="1773936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68680" y="1847088"/>
            <a:ext cx="86868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847088"/>
            <a:ext cx="32004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01168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719072" y="2066544"/>
            <a:ext cx="246888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965960" y="2286000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011680" y="1847088"/>
            <a:ext cx="86868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1847088"/>
            <a:ext cx="32004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0604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201168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862072" y="2066544"/>
            <a:ext cx="246888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108960" y="2286000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154680" y="1847088"/>
            <a:ext cx="86868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29000" y="1847088"/>
            <a:ext cx="32004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4904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201168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005072" y="2066544"/>
            <a:ext cx="246888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251960" y="2286000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97680" y="1847088"/>
            <a:ext cx="86868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9768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1847088"/>
            <a:ext cx="32004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201168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09331" y="14606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Before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822960" y="34107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8952" y="372160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68680" y="3794760"/>
            <a:ext cx="786384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43000" y="3794760"/>
            <a:ext cx="237744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80744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3000" y="395935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636776" y="4014216"/>
            <a:ext cx="192024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828800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874520" y="3794760"/>
            <a:ext cx="786384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7452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48840" y="3794760"/>
            <a:ext cx="237744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86584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48840" y="395935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2642616" y="4014216"/>
            <a:ext cx="192024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834640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2880360" y="3794760"/>
            <a:ext cx="786384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88036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154680" y="3794760"/>
            <a:ext cx="237744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92424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54680" y="395935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25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3648456" y="4014216"/>
            <a:ext cx="192024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3840480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3886200" y="3794760"/>
            <a:ext cx="786384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8620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60520" y="3794760"/>
            <a:ext cx="237744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398264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60520" y="395935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4654296" y="4014216"/>
            <a:ext cx="192024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4846320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892040" y="3794760"/>
            <a:ext cx="786384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9204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66360" y="3794760"/>
            <a:ext cx="237744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04104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66360" y="395935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283629" y="34564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After</a:t>
            </a:r>
            <a:endParaRPr lang="en-US" sz="1080" dirty="0"/>
          </a:p>
        </p:txBody>
      </p:sp>
      <p:sp>
        <p:nvSpPr>
          <p:cNvPr id="70" name="Shape 68"/>
          <p:cNvSpPr/>
          <p:nvPr/>
        </p:nvSpPr>
        <p:spPr>
          <a:xfrm>
            <a:off x="6812280" y="1636776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12280" y="170992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7306056" y="1627632"/>
            <a:ext cx="3483864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</a:rPr>
              <a:t>Find ptr with key 20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6812280" y="2264054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12280" y="233720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7306056" y="2254910"/>
            <a:ext cx="3483864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</a:rPr>
              <a:t>new-&gt;next = ptr-&gt;next</a:t>
            </a:r>
            <a:endParaRPr lang="en-US" sz="1250" dirty="0"/>
          </a:p>
        </p:txBody>
      </p:sp>
      <p:sp>
        <p:nvSpPr>
          <p:cNvPr id="76" name="Shape 74"/>
          <p:cNvSpPr/>
          <p:nvPr/>
        </p:nvSpPr>
        <p:spPr>
          <a:xfrm>
            <a:off x="6812280" y="2891333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12280" y="2964485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7306056" y="2882189"/>
            <a:ext cx="3483864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</a:rPr>
              <a:t>new-&gt;prev = ptr</a:t>
            </a:r>
            <a:endParaRPr lang="en-US" sz="1250" dirty="0"/>
          </a:p>
        </p:txBody>
      </p:sp>
      <p:sp>
        <p:nvSpPr>
          <p:cNvPr id="79" name="Shape 77"/>
          <p:cNvSpPr/>
          <p:nvPr/>
        </p:nvSpPr>
        <p:spPr>
          <a:xfrm>
            <a:off x="6812280" y="3518611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812280" y="3591763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306056" y="3509467"/>
            <a:ext cx="3483864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</a:rPr>
              <a:t>If successor exists: successor-&gt;prev = new</a:t>
            </a:r>
            <a:endParaRPr lang="en-US" sz="1250" dirty="0"/>
          </a:p>
        </p:txBody>
      </p:sp>
      <p:sp>
        <p:nvSpPr>
          <p:cNvPr id="82" name="Shape 80"/>
          <p:cNvSpPr/>
          <p:nvPr/>
        </p:nvSpPr>
        <p:spPr>
          <a:xfrm>
            <a:off x="6812280" y="4145890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812280" y="421904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7306056" y="4136746"/>
            <a:ext cx="3483864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</a:rPr>
              <a:t>ptr-&gt;next = new</a:t>
            </a:r>
            <a:endParaRPr lang="en-US" sz="1250" dirty="0"/>
          </a:p>
        </p:txBody>
      </p:sp>
      <p:sp>
        <p:nvSpPr>
          <p:cNvPr id="8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4 • DOUBLY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Doubly list: delete first node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39496" y="115214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96711" y="146304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41832" y="1773936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051560" y="1847088"/>
            <a:ext cx="89611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847088"/>
            <a:ext cx="34747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73352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201168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929384" y="2066544"/>
            <a:ext cx="265176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194560" y="2286000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40280" y="1847088"/>
            <a:ext cx="89611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028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1847088"/>
            <a:ext cx="34747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62072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01168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118104" y="2066544"/>
            <a:ext cx="265176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83280" y="2286000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429000" y="1847088"/>
            <a:ext cx="89611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03320" y="1847088"/>
            <a:ext cx="34747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50792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201168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306824" y="2066544"/>
            <a:ext cx="265176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72000" y="2286000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617720" y="1847088"/>
            <a:ext cx="89611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1847088"/>
            <a:ext cx="34747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39512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01168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5800" y="1508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Before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1005840" y="34107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41832" y="372160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51560" y="3794760"/>
            <a:ext cx="932688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5156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25880" y="3794760"/>
            <a:ext cx="384048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09928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25880" y="395935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965960" y="4014216"/>
            <a:ext cx="30175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267712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313432" y="3794760"/>
            <a:ext cx="932688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1343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87752" y="3794760"/>
            <a:ext cx="384048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7180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87752" y="395935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3227832" y="4014216"/>
            <a:ext cx="30175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529584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575304" y="3794760"/>
            <a:ext cx="932688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75304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49624" y="3794760"/>
            <a:ext cx="384048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3367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9624" y="395935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685800" y="34564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After</a:t>
            </a:r>
            <a:endParaRPr lang="en-US" sz="1080" dirty="0"/>
          </a:p>
        </p:txBody>
      </p:sp>
      <p:sp>
        <p:nvSpPr>
          <p:cNvPr id="56" name="Shape 54"/>
          <p:cNvSpPr/>
          <p:nvPr/>
        </p:nvSpPr>
        <p:spPr>
          <a:xfrm>
            <a:off x="6629400" y="1673352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29400" y="174650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123176" y="1664208"/>
            <a:ext cx="3666744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D3D"/>
                </a:solidFill>
              </a:rPr>
              <a:t>If empty → underflow</a:t>
            </a:r>
            <a:endParaRPr lang="en-US" sz="1280" dirty="0"/>
          </a:p>
        </p:txBody>
      </p:sp>
      <p:sp>
        <p:nvSpPr>
          <p:cNvPr id="59" name="Shape 57"/>
          <p:cNvSpPr/>
          <p:nvPr/>
        </p:nvSpPr>
        <p:spPr>
          <a:xfrm>
            <a:off x="6629400" y="2300630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29400" y="237378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123176" y="2291486"/>
            <a:ext cx="3666744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D3D"/>
                </a:solidFill>
              </a:rPr>
              <a:t>temp = head</a:t>
            </a:r>
            <a:endParaRPr lang="en-US" sz="1280" dirty="0"/>
          </a:p>
        </p:txBody>
      </p:sp>
      <p:sp>
        <p:nvSpPr>
          <p:cNvPr id="62" name="Shape 60"/>
          <p:cNvSpPr/>
          <p:nvPr/>
        </p:nvSpPr>
        <p:spPr>
          <a:xfrm>
            <a:off x="6629400" y="2927909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29400" y="3001061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123176" y="2918765"/>
            <a:ext cx="3666744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D3D"/>
                </a:solidFill>
              </a:rPr>
              <a:t>head = head-&gt;next</a:t>
            </a:r>
            <a:endParaRPr lang="en-US" sz="1280" dirty="0"/>
          </a:p>
        </p:txBody>
      </p:sp>
      <p:sp>
        <p:nvSpPr>
          <p:cNvPr id="65" name="Shape 63"/>
          <p:cNvSpPr/>
          <p:nvPr/>
        </p:nvSpPr>
        <p:spPr>
          <a:xfrm>
            <a:off x="6629400" y="3555187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29400" y="3628339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123176" y="3546043"/>
            <a:ext cx="3666744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D3D"/>
                </a:solidFill>
              </a:rPr>
              <a:t>If head != NULL: head-&gt;prev = NULL</a:t>
            </a:r>
            <a:endParaRPr lang="en-US" sz="1280" dirty="0"/>
          </a:p>
        </p:txBody>
      </p:sp>
      <p:sp>
        <p:nvSpPr>
          <p:cNvPr id="68" name="Shape 66"/>
          <p:cNvSpPr/>
          <p:nvPr/>
        </p:nvSpPr>
        <p:spPr>
          <a:xfrm>
            <a:off x="6629400" y="4182466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29400" y="425561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7123176" y="4173322"/>
            <a:ext cx="3666744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D3D"/>
                </a:solidFill>
              </a:rPr>
              <a:t>free(temp)</a:t>
            </a:r>
            <a:endParaRPr lang="en-US" sz="1280" dirty="0"/>
          </a:p>
        </p:txBody>
      </p:sp>
      <p:sp>
        <p:nvSpPr>
          <p:cNvPr id="7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4 • DOUBLY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Doubly list: delete last node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66928" y="123666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" y="14081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41832" y="1773936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051560" y="1847088"/>
            <a:ext cx="89611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847088"/>
            <a:ext cx="34747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73352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201168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929384" y="2066544"/>
            <a:ext cx="265176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194560" y="2286000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40280" y="1847088"/>
            <a:ext cx="89611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028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1847088"/>
            <a:ext cx="34747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62072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01168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118104" y="2066544"/>
            <a:ext cx="265176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83280" y="2286000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429000" y="1847088"/>
            <a:ext cx="89611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03320" y="1847088"/>
            <a:ext cx="34747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50792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201168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306824" y="2066544"/>
            <a:ext cx="265176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72000" y="2286000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617720" y="1847088"/>
            <a:ext cx="89611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1847088"/>
            <a:ext cx="34747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39512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01168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5800" y="1508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Before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1005840" y="34107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41832" y="372160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51560" y="3794760"/>
            <a:ext cx="932688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5156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25880" y="3794760"/>
            <a:ext cx="384048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09928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25880" y="395935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965960" y="4014216"/>
            <a:ext cx="30175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267712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313432" y="3794760"/>
            <a:ext cx="932688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1343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87752" y="3794760"/>
            <a:ext cx="384048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7180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87752" y="395935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3227832" y="4014216"/>
            <a:ext cx="30175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529584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575304" y="3794760"/>
            <a:ext cx="932688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75304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49624" y="3794760"/>
            <a:ext cx="384048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3367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9624" y="395935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685800" y="34564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After</a:t>
            </a:r>
            <a:endParaRPr lang="en-US" sz="1080" dirty="0"/>
          </a:p>
        </p:txBody>
      </p:sp>
      <p:sp>
        <p:nvSpPr>
          <p:cNvPr id="56" name="Shape 54"/>
          <p:cNvSpPr/>
          <p:nvPr/>
        </p:nvSpPr>
        <p:spPr>
          <a:xfrm>
            <a:off x="6720840" y="1792224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20840" y="186537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214616" y="1783080"/>
            <a:ext cx="3483864" cy="5966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Find last node ptr (or use tail)</a:t>
            </a:r>
            <a:endParaRPr lang="en-US" sz="1310" dirty="0"/>
          </a:p>
        </p:txBody>
      </p:sp>
      <p:sp>
        <p:nvSpPr>
          <p:cNvPr id="59" name="Shape 57"/>
          <p:cNvSpPr/>
          <p:nvPr/>
        </p:nvSpPr>
        <p:spPr>
          <a:xfrm>
            <a:off x="6720840" y="2462022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0840" y="253517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214616" y="2452878"/>
            <a:ext cx="3483864" cy="5966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If ptr-&gt;prev == NULL: list becomes empty</a:t>
            </a:r>
            <a:endParaRPr lang="en-US" sz="1310" dirty="0"/>
          </a:p>
        </p:txBody>
      </p:sp>
      <p:sp>
        <p:nvSpPr>
          <p:cNvPr id="62" name="Shape 60"/>
          <p:cNvSpPr/>
          <p:nvPr/>
        </p:nvSpPr>
        <p:spPr>
          <a:xfrm>
            <a:off x="6720840" y="3131820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20840" y="320497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214616" y="3122676"/>
            <a:ext cx="3483864" cy="5966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Else ptr-&gt;prev-&gt;next = NULL</a:t>
            </a:r>
            <a:endParaRPr lang="en-US" sz="1310" dirty="0"/>
          </a:p>
        </p:txBody>
      </p:sp>
      <p:sp>
        <p:nvSpPr>
          <p:cNvPr id="65" name="Shape 63"/>
          <p:cNvSpPr/>
          <p:nvPr/>
        </p:nvSpPr>
        <p:spPr>
          <a:xfrm>
            <a:off x="6720840" y="3801618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20840" y="387477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214616" y="3792474"/>
            <a:ext cx="3483864" cy="5966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free(ptr)</a:t>
            </a:r>
            <a:endParaRPr lang="en-US" sz="1310" dirty="0"/>
          </a:p>
        </p:txBody>
      </p:sp>
      <p:sp>
        <p:nvSpPr>
          <p:cNvPr id="68" name="Shape 66"/>
          <p:cNvSpPr/>
          <p:nvPr/>
        </p:nvSpPr>
        <p:spPr>
          <a:xfrm>
            <a:off x="6629400" y="4709160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DFF7F3"/>
          </a:solidFill>
          <a:ln w="12700">
            <a:solidFill>
              <a:srgbClr val="DFF7F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75704" y="48280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2B8A6"/>
                </a:solidFill>
              </a:rPr>
              <a:t>ADVANTAGE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6775704" y="5074920"/>
            <a:ext cx="3867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Once the last node is known, its predecessor is available directly through PREV.</a:t>
            </a:r>
            <a:endParaRPr lang="en-US" sz="1230" dirty="0"/>
          </a:p>
        </p:txBody>
      </p:sp>
      <p:sp>
        <p:nvSpPr>
          <p:cNvPr id="7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4 • DOUBLY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Doubly list: delete node after key = 20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66928" y="115214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13232" y="1773936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22960" y="1847088"/>
            <a:ext cx="786384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847088"/>
            <a:ext cx="237744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35024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01168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591056" y="2066544"/>
            <a:ext cx="192024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783080" y="2286000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828800" y="1847088"/>
            <a:ext cx="786384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1847088"/>
            <a:ext cx="237744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40864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201168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596896" y="2066544"/>
            <a:ext cx="192024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788920" y="2286000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834640" y="1847088"/>
            <a:ext cx="786384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464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0" y="1847088"/>
            <a:ext cx="237744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46704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201168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602736" y="2066544"/>
            <a:ext cx="192024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794760" y="2286000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840480" y="1847088"/>
            <a:ext cx="786384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1847088"/>
            <a:ext cx="237744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52544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0" y="201168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608576" y="2066544"/>
            <a:ext cx="192024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800600" y="2286000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846320" y="1847088"/>
            <a:ext cx="786384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20640" y="1847088"/>
            <a:ext cx="237744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58384" y="1847088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201168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50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331079" y="15727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Before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777240" y="34107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13232" y="372160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22960" y="3794760"/>
            <a:ext cx="82296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296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7280" y="3794760"/>
            <a:ext cx="27432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7160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7280" y="395935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1627632" y="4014216"/>
            <a:ext cx="21031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837944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883664" y="3794760"/>
            <a:ext cx="82296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83664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157984" y="3794760"/>
            <a:ext cx="27432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32304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57984" y="395935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2688336" y="4014216"/>
            <a:ext cx="21031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2898648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2944368" y="3794760"/>
            <a:ext cx="82296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44368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18688" y="3794760"/>
            <a:ext cx="27432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93008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18688" y="395935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3749040" y="4014216"/>
            <a:ext cx="21031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3959352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005072" y="3794760"/>
            <a:ext cx="82296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00507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79392" y="3794760"/>
            <a:ext cx="27432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5371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79392" y="395935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50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274320" y="343377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After</a:t>
            </a:r>
            <a:endParaRPr lang="en-US" sz="1080" dirty="0"/>
          </a:p>
        </p:txBody>
      </p:sp>
      <p:sp>
        <p:nvSpPr>
          <p:cNvPr id="70" name="Shape 68"/>
          <p:cNvSpPr/>
          <p:nvPr/>
        </p:nvSpPr>
        <p:spPr>
          <a:xfrm>
            <a:off x="6766560" y="1636776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66560" y="170992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7260336" y="1627632"/>
            <a:ext cx="3511296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</a:rPr>
              <a:t>Find ptr with key 20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6766560" y="2264054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66560" y="233720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7260336" y="2254910"/>
            <a:ext cx="3511296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</a:rPr>
              <a:t>temp = ptr-&gt;next</a:t>
            </a:r>
            <a:endParaRPr lang="en-US" sz="1250" dirty="0"/>
          </a:p>
        </p:txBody>
      </p:sp>
      <p:sp>
        <p:nvSpPr>
          <p:cNvPr id="76" name="Shape 74"/>
          <p:cNvSpPr/>
          <p:nvPr/>
        </p:nvSpPr>
        <p:spPr>
          <a:xfrm>
            <a:off x="6766560" y="2891333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766560" y="2964485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7260336" y="2882189"/>
            <a:ext cx="3511296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</a:rPr>
              <a:t>ptr-&gt;next = temp-&gt;next</a:t>
            </a:r>
            <a:endParaRPr lang="en-US" sz="1250" dirty="0"/>
          </a:p>
        </p:txBody>
      </p:sp>
      <p:sp>
        <p:nvSpPr>
          <p:cNvPr id="79" name="Shape 77"/>
          <p:cNvSpPr/>
          <p:nvPr/>
        </p:nvSpPr>
        <p:spPr>
          <a:xfrm>
            <a:off x="6766560" y="3518611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766560" y="3591763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260336" y="3509467"/>
            <a:ext cx="3511296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</a:rPr>
              <a:t>If temp-&gt;next != NULL: temp-&gt;next-&gt;prev = ptr</a:t>
            </a:r>
            <a:endParaRPr lang="en-US" sz="1250" dirty="0"/>
          </a:p>
        </p:txBody>
      </p:sp>
      <p:sp>
        <p:nvSpPr>
          <p:cNvPr id="82" name="Shape 80"/>
          <p:cNvSpPr/>
          <p:nvPr/>
        </p:nvSpPr>
        <p:spPr>
          <a:xfrm>
            <a:off x="6766560" y="4145890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766560" y="421904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7260336" y="4136746"/>
            <a:ext cx="3511296" cy="5541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</a:rPr>
              <a:t>free(temp)</a:t>
            </a:r>
            <a:endParaRPr lang="en-US" sz="1250" dirty="0"/>
          </a:p>
        </p:txBody>
      </p:sp>
      <p:sp>
        <p:nvSpPr>
          <p:cNvPr id="8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4 • DOUBLY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When is a doubly linked list worth it?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DFF7F3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64008" cy="1417320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39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Better navigation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302666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Move forward with NEXT and backward with PREV.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874520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E6F6E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874520"/>
            <a:ext cx="64008" cy="1417320"/>
          </a:xfrm>
          <a:prstGeom prst="rect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039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Simpler local deletion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17720" y="2423160"/>
            <a:ext cx="302666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Given a node pointer, its predecessor is available directly.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2440" y="1874520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FF3D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874520"/>
            <a:ext cx="64008" cy="1417320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039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Higher memory cost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75320" y="2423160"/>
            <a:ext cx="302666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Every node stores one extra pointer and updates become more error-prone.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3913632"/>
            <a:ext cx="10104120" cy="914400"/>
          </a:xfrm>
          <a:prstGeom prst="roundRect">
            <a:avLst>
              <a:gd name="adj" fmla="val 6000"/>
            </a:avLst>
          </a:prstGeom>
          <a:solidFill>
            <a:srgbClr val="EEECFA"/>
          </a:solidFill>
          <a:ln w="12700">
            <a:solidFill>
              <a:srgbClr val="EEEC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52144" y="40325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6C63C7"/>
                </a:solidFill>
              </a:rPr>
              <a:t>GOOD USE CASES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52144" y="4279392"/>
            <a:ext cx="9811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Browser back/forward history • Undo/redo • Deques • Navigable playlists • LRU cache lists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1005840" y="5074920"/>
            <a:ext cx="10104120" cy="640080"/>
          </a:xfrm>
          <a:prstGeom prst="roundRect">
            <a:avLst>
              <a:gd name="adj" fmla="val 8571"/>
            </a:avLst>
          </a:prstGeom>
          <a:solidFill>
            <a:srgbClr val="DFF7F3"/>
          </a:solidFill>
          <a:ln w="12700">
            <a:solidFill>
              <a:srgbClr val="DFF7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2144" y="5193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2B8A6"/>
                </a:solidFill>
              </a:rPr>
              <a:t>RULE OF THUMB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52144" y="5440680"/>
            <a:ext cx="9811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Use doubly linked lists when backward movement or deletion around a known node matters enough to justify the extra pointer.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5 • CIRCULAR DOUBLY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Circular doubly linked list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88A"/>
                </a:solidFill>
              </a:rPr>
              <a:t>Both directions wrap around — there are no NULL links in a non-empty list.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94767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353312" y="225856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63040" y="2331720"/>
            <a:ext cx="107899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33172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2331720"/>
            <a:ext cx="53035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67712" y="233172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249631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523744" y="2551176"/>
            <a:ext cx="411480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35224" y="277063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80944" y="2331720"/>
            <a:ext cx="107899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80944" y="233172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55264" y="2331720"/>
            <a:ext cx="53035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85616" y="233172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55264" y="249631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041648" y="2551176"/>
            <a:ext cx="411480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453128" y="277063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498848" y="2331720"/>
            <a:ext cx="107899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98848" y="233172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73168" y="2331720"/>
            <a:ext cx="53035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0" y="233172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49631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559552" y="2551176"/>
            <a:ext cx="411480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971032" y="277063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016752" y="2331720"/>
            <a:ext cx="107899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16752" y="233172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91072" y="2331720"/>
            <a:ext cx="53035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21424" y="233172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249631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967728" y="2560320"/>
            <a:ext cx="27432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42048" y="2560320"/>
            <a:ext cx="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72768" y="1719072"/>
            <a:ext cx="5559552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37" name="Shape 35"/>
          <p:cNvSpPr/>
          <p:nvPr/>
        </p:nvSpPr>
        <p:spPr>
          <a:xfrm>
            <a:off x="1554480" y="2761488"/>
            <a:ext cx="0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61872" y="2761488"/>
            <a:ext cx="0" cy="841248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61872" y="3602736"/>
            <a:ext cx="5705856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60120" y="4206240"/>
            <a:ext cx="3154680" cy="1051560"/>
          </a:xfrm>
          <a:prstGeom prst="roundRect">
            <a:avLst>
              <a:gd name="adj" fmla="val 5217"/>
            </a:avLst>
          </a:prstGeom>
          <a:solidFill>
            <a:srgbClr val="DFF7F3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0120" y="4206240"/>
            <a:ext cx="64008" cy="1051560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43000" y="437083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Last NEXT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1143000" y="4754880"/>
            <a:ext cx="28437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Points to HEAD.</a:t>
            </a:r>
            <a:endParaRPr lang="en-US" sz="1310" dirty="0"/>
          </a:p>
        </p:txBody>
      </p:sp>
      <p:sp>
        <p:nvSpPr>
          <p:cNvPr id="44" name="Shape 42"/>
          <p:cNvSpPr/>
          <p:nvPr/>
        </p:nvSpPr>
        <p:spPr>
          <a:xfrm>
            <a:off x="4462272" y="4206240"/>
            <a:ext cx="3154680" cy="1051560"/>
          </a:xfrm>
          <a:prstGeom prst="roundRect">
            <a:avLst>
              <a:gd name="adj" fmla="val 5217"/>
            </a:avLst>
          </a:prstGeom>
          <a:solidFill>
            <a:srgbClr val="EEECFA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62272" y="4206240"/>
            <a:ext cx="64008" cy="1051560"/>
          </a:xfrm>
          <a:prstGeom prst="rect">
            <a:avLst/>
          </a:prstGeom>
          <a:solidFill>
            <a:srgbClr val="6C63C7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45152" y="437083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HEAD PREV</a:t>
            </a:r>
            <a:endParaRPr lang="en-US" sz="1550" dirty="0"/>
          </a:p>
        </p:txBody>
      </p:sp>
      <p:sp>
        <p:nvSpPr>
          <p:cNvPr id="47" name="Text 45"/>
          <p:cNvSpPr/>
          <p:nvPr/>
        </p:nvSpPr>
        <p:spPr>
          <a:xfrm>
            <a:off x="4645152" y="4754880"/>
            <a:ext cx="28437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Points to the last node.</a:t>
            </a:r>
            <a:endParaRPr lang="en-US" sz="1310" dirty="0"/>
          </a:p>
        </p:txBody>
      </p:sp>
      <p:sp>
        <p:nvSpPr>
          <p:cNvPr id="48" name="Shape 46"/>
          <p:cNvSpPr/>
          <p:nvPr/>
        </p:nvSpPr>
        <p:spPr>
          <a:xfrm>
            <a:off x="7964424" y="4206240"/>
            <a:ext cx="3154680" cy="1051560"/>
          </a:xfrm>
          <a:prstGeom prst="roundRect">
            <a:avLst>
              <a:gd name="adj" fmla="val 5217"/>
            </a:avLst>
          </a:prstGeom>
          <a:solidFill>
            <a:srgbClr val="E8EEF5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64424" y="4206240"/>
            <a:ext cx="64008" cy="1051560"/>
          </a:xfrm>
          <a:prstGeom prst="rect">
            <a:avLst/>
          </a:prstGeom>
          <a:solidFill>
            <a:srgbClr val="10273D"/>
          </a:solidFill>
          <a:ln w="12700">
            <a:solidFill>
              <a:srgbClr val="1027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47304" y="437083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Navigation</a:t>
            </a:r>
            <a:endParaRPr lang="en-US" sz="1550" dirty="0"/>
          </a:p>
        </p:txBody>
      </p:sp>
      <p:sp>
        <p:nvSpPr>
          <p:cNvPr id="51" name="Text 49"/>
          <p:cNvSpPr/>
          <p:nvPr/>
        </p:nvSpPr>
        <p:spPr>
          <a:xfrm>
            <a:off x="8147304" y="4754880"/>
            <a:ext cx="28437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Move indefinitely in either direction.</a:t>
            </a:r>
            <a:endParaRPr lang="en-US" sz="131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5 • CIRCULAR DOUBLY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Circular doubly list: insert at beginning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66928" y="1353147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447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58952" y="175564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68680" y="1828800"/>
            <a:ext cx="877824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828800"/>
            <a:ext cx="329184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72184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99339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728216" y="2048256"/>
            <a:ext cx="265176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993392" y="226771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039112" y="1828800"/>
            <a:ext cx="877824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39112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13432" y="1828800"/>
            <a:ext cx="329184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42616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13432" y="199339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898648" y="2048256"/>
            <a:ext cx="265176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163824" y="226771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09544" y="1828800"/>
            <a:ext cx="877824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9544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3864" y="1828800"/>
            <a:ext cx="329184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13048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83864" y="199339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959352" y="2057400"/>
            <a:ext cx="27432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33672" y="2057400"/>
            <a:ext cx="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8408" y="1216152"/>
            <a:ext cx="3145536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960120" y="2258568"/>
            <a:ext cx="0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" y="2258568"/>
            <a:ext cx="0" cy="841248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" y="3099816"/>
            <a:ext cx="3291840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256197" y="14584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Before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822960" y="34107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58952" y="372160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68680" y="3794760"/>
            <a:ext cx="82296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3000" y="3794760"/>
            <a:ext cx="27432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1732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43000" y="395935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5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1673352" y="4014216"/>
            <a:ext cx="228600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901952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947672" y="3794760"/>
            <a:ext cx="82296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4767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21992" y="3794760"/>
            <a:ext cx="27432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9631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21992" y="395935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2752344" y="4014216"/>
            <a:ext cx="228600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2980944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026664" y="3794760"/>
            <a:ext cx="82296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26664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300984" y="3794760"/>
            <a:ext cx="27432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75304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00984" y="395935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3831336" y="4014216"/>
            <a:ext cx="228600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059936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105656" y="3794760"/>
            <a:ext cx="82296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05656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79976" y="3794760"/>
            <a:ext cx="27432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54296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79976" y="395935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4800600" y="4023360"/>
            <a:ext cx="27432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74920" y="4023360"/>
            <a:ext cx="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78408" y="3182112"/>
            <a:ext cx="3986784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64" name="Shape 62"/>
          <p:cNvSpPr/>
          <p:nvPr/>
        </p:nvSpPr>
        <p:spPr>
          <a:xfrm>
            <a:off x="960120" y="4224528"/>
            <a:ext cx="0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7512" y="4224528"/>
            <a:ext cx="0" cy="841248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67512" y="5065776"/>
            <a:ext cx="4133088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67" name="Text 65"/>
          <p:cNvSpPr/>
          <p:nvPr/>
        </p:nvSpPr>
        <p:spPr>
          <a:xfrm>
            <a:off x="256197" y="3399739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After</a:t>
            </a:r>
            <a:endParaRPr lang="en-US" sz="1080" dirty="0"/>
          </a:p>
        </p:txBody>
      </p:sp>
      <p:sp>
        <p:nvSpPr>
          <p:cNvPr id="68" name="Shape 66"/>
          <p:cNvSpPr/>
          <p:nvPr/>
        </p:nvSpPr>
        <p:spPr>
          <a:xfrm>
            <a:off x="6446520" y="1581912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6520" y="16550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6940296" y="1572768"/>
            <a:ext cx="3941064" cy="5907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If empty: new-&gt;next = new; new-&gt;prev = new; head = new</a:t>
            </a:r>
            <a:endParaRPr lang="en-US" sz="1230" dirty="0"/>
          </a:p>
        </p:txBody>
      </p:sp>
      <p:sp>
        <p:nvSpPr>
          <p:cNvPr id="71" name="Shape 69"/>
          <p:cNvSpPr/>
          <p:nvPr/>
        </p:nvSpPr>
        <p:spPr>
          <a:xfrm>
            <a:off x="6446520" y="2245766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46520" y="231891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940296" y="2236622"/>
            <a:ext cx="3941064" cy="5907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last = head-&gt;prev</a:t>
            </a:r>
            <a:endParaRPr lang="en-US" sz="1230" dirty="0"/>
          </a:p>
        </p:txBody>
      </p:sp>
      <p:sp>
        <p:nvSpPr>
          <p:cNvPr id="74" name="Shape 72"/>
          <p:cNvSpPr/>
          <p:nvPr/>
        </p:nvSpPr>
        <p:spPr>
          <a:xfrm>
            <a:off x="6446520" y="2909621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46520" y="2982773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6940296" y="2900477"/>
            <a:ext cx="3941064" cy="5907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new-&gt;next = head; new-&gt;prev = last</a:t>
            </a:r>
            <a:endParaRPr lang="en-US" sz="1230" dirty="0"/>
          </a:p>
        </p:txBody>
      </p:sp>
      <p:sp>
        <p:nvSpPr>
          <p:cNvPr id="77" name="Shape 75"/>
          <p:cNvSpPr/>
          <p:nvPr/>
        </p:nvSpPr>
        <p:spPr>
          <a:xfrm>
            <a:off x="6446520" y="3573475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46520" y="3646627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6940296" y="3564331"/>
            <a:ext cx="3941064" cy="5907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last-&gt;next = new; head-&gt;prev = new</a:t>
            </a:r>
            <a:endParaRPr lang="en-US" sz="1230" dirty="0"/>
          </a:p>
        </p:txBody>
      </p:sp>
      <p:sp>
        <p:nvSpPr>
          <p:cNvPr id="80" name="Shape 78"/>
          <p:cNvSpPr/>
          <p:nvPr/>
        </p:nvSpPr>
        <p:spPr>
          <a:xfrm>
            <a:off x="6446520" y="4237330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46520" y="431048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6940296" y="4228186"/>
            <a:ext cx="3941064" cy="5907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head = new</a:t>
            </a:r>
            <a:endParaRPr lang="en-US" sz="1230" dirty="0"/>
          </a:p>
        </p:txBody>
      </p:sp>
      <p:sp>
        <p:nvSpPr>
          <p:cNvPr id="8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5 • CIRCULAR DOUBLY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Circular doubly list: insert at end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73024" y="1320196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447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58952" y="175564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68680" y="1828800"/>
            <a:ext cx="877824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828800"/>
            <a:ext cx="329184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72184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99339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728216" y="2048256"/>
            <a:ext cx="265176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993392" y="226771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039112" y="1828800"/>
            <a:ext cx="877824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39112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13432" y="1828800"/>
            <a:ext cx="329184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42616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13432" y="199339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898648" y="2048256"/>
            <a:ext cx="265176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163824" y="226771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09544" y="1828800"/>
            <a:ext cx="877824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9544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3864" y="1828800"/>
            <a:ext cx="329184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13048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83864" y="199339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959352" y="2057400"/>
            <a:ext cx="27432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33672" y="2057400"/>
            <a:ext cx="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8408" y="1216152"/>
            <a:ext cx="3145536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960120" y="2258568"/>
            <a:ext cx="0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" y="2258568"/>
            <a:ext cx="0" cy="841248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" y="3099816"/>
            <a:ext cx="3291840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08342" y="1456985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Before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822960" y="34107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58952" y="372160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68680" y="3794760"/>
            <a:ext cx="82296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3000" y="3794760"/>
            <a:ext cx="27432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1732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43000" y="395935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1673352" y="4014216"/>
            <a:ext cx="228600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901952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947672" y="3794760"/>
            <a:ext cx="82296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4767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21992" y="3794760"/>
            <a:ext cx="27432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9631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21992" y="395935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2752344" y="4014216"/>
            <a:ext cx="228600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2980944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026664" y="3794760"/>
            <a:ext cx="82296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26664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300984" y="3794760"/>
            <a:ext cx="27432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75304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00984" y="395935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3831336" y="4014216"/>
            <a:ext cx="228600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059936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105656" y="3794760"/>
            <a:ext cx="82296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05656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79976" y="3794760"/>
            <a:ext cx="27432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54296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79976" y="395935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4800600" y="4023360"/>
            <a:ext cx="27432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74920" y="4023360"/>
            <a:ext cx="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78408" y="3182112"/>
            <a:ext cx="3986784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64" name="Shape 62"/>
          <p:cNvSpPr/>
          <p:nvPr/>
        </p:nvSpPr>
        <p:spPr>
          <a:xfrm>
            <a:off x="960120" y="4224528"/>
            <a:ext cx="0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7512" y="4224528"/>
            <a:ext cx="0" cy="841248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67512" y="5065776"/>
            <a:ext cx="4133088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67" name="Text 65"/>
          <p:cNvSpPr/>
          <p:nvPr/>
        </p:nvSpPr>
        <p:spPr>
          <a:xfrm>
            <a:off x="289148" y="34472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After</a:t>
            </a:r>
            <a:endParaRPr lang="en-US" sz="1080" dirty="0"/>
          </a:p>
        </p:txBody>
      </p:sp>
      <p:sp>
        <p:nvSpPr>
          <p:cNvPr id="68" name="Shape 66"/>
          <p:cNvSpPr/>
          <p:nvPr/>
        </p:nvSpPr>
        <p:spPr>
          <a:xfrm>
            <a:off x="6583680" y="1517904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83680" y="159105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7077456" y="1508760"/>
            <a:ext cx="3666744" cy="5105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</a:rPr>
              <a:t>If empty: self-link and set head</a:t>
            </a:r>
            <a:endParaRPr lang="en-US" sz="1240" dirty="0"/>
          </a:p>
        </p:txBody>
      </p:sp>
      <p:sp>
        <p:nvSpPr>
          <p:cNvPr id="71" name="Shape 69"/>
          <p:cNvSpPr/>
          <p:nvPr/>
        </p:nvSpPr>
        <p:spPr>
          <a:xfrm>
            <a:off x="6583680" y="2101596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83680" y="217474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7077456" y="2092452"/>
            <a:ext cx="3666744" cy="5105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</a:rPr>
              <a:t>last = head-&gt;prev</a:t>
            </a:r>
            <a:endParaRPr lang="en-US" sz="1240" dirty="0"/>
          </a:p>
        </p:txBody>
      </p:sp>
      <p:sp>
        <p:nvSpPr>
          <p:cNvPr id="74" name="Shape 72"/>
          <p:cNvSpPr/>
          <p:nvPr/>
        </p:nvSpPr>
        <p:spPr>
          <a:xfrm>
            <a:off x="6583680" y="2685288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83680" y="275844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7077456" y="2676144"/>
            <a:ext cx="3666744" cy="5105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</a:rPr>
              <a:t>new-&gt;next = head</a:t>
            </a:r>
            <a:endParaRPr lang="en-US" sz="1240" dirty="0"/>
          </a:p>
        </p:txBody>
      </p:sp>
      <p:sp>
        <p:nvSpPr>
          <p:cNvPr id="77" name="Shape 75"/>
          <p:cNvSpPr/>
          <p:nvPr/>
        </p:nvSpPr>
        <p:spPr>
          <a:xfrm>
            <a:off x="6583680" y="3268980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583680" y="33421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7077456" y="3259836"/>
            <a:ext cx="3666744" cy="5105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</a:rPr>
              <a:t>new-&gt;prev = last</a:t>
            </a:r>
            <a:endParaRPr lang="en-US" sz="1240" dirty="0"/>
          </a:p>
        </p:txBody>
      </p:sp>
      <p:sp>
        <p:nvSpPr>
          <p:cNvPr id="80" name="Shape 78"/>
          <p:cNvSpPr/>
          <p:nvPr/>
        </p:nvSpPr>
        <p:spPr>
          <a:xfrm>
            <a:off x="6583680" y="3852672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583680" y="392582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7077456" y="3843528"/>
            <a:ext cx="3666744" cy="5105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</a:rPr>
              <a:t>last-&gt;next = new</a:t>
            </a:r>
            <a:endParaRPr lang="en-US" sz="1240" dirty="0"/>
          </a:p>
        </p:txBody>
      </p:sp>
      <p:sp>
        <p:nvSpPr>
          <p:cNvPr id="83" name="Shape 81"/>
          <p:cNvSpPr/>
          <p:nvPr/>
        </p:nvSpPr>
        <p:spPr>
          <a:xfrm>
            <a:off x="6583680" y="4436364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83680" y="450951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7077456" y="4427220"/>
            <a:ext cx="3666744" cy="5105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</a:rPr>
              <a:t>head-&gt;prev = new</a:t>
            </a:r>
            <a:endParaRPr lang="en-US" sz="1240" dirty="0"/>
          </a:p>
        </p:txBody>
      </p:sp>
      <p:sp>
        <p:nvSpPr>
          <p:cNvPr id="8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5 • CIRCULAR DOUBLY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Circular doubly list: insert after key = 20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659933" y="1311958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4447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94944" y="175564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04672" y="1828800"/>
            <a:ext cx="80467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828800"/>
            <a:ext cx="25603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35024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19933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591056" y="2048256"/>
            <a:ext cx="21031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801368" y="226771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847088" y="1828800"/>
            <a:ext cx="80467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21408" y="1828800"/>
            <a:ext cx="25603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21408" y="19933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633472" y="2048256"/>
            <a:ext cx="21031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843784" y="226771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889504" y="1828800"/>
            <a:ext cx="80467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89504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3824" y="1828800"/>
            <a:ext cx="25603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19856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63824" y="19933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675888" y="2048256"/>
            <a:ext cx="21031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886200" y="226771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931920" y="1828800"/>
            <a:ext cx="80467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31920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1828800"/>
            <a:ext cx="25603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62272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0" y="19933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608576" y="2057400"/>
            <a:ext cx="27432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82896" y="2057400"/>
            <a:ext cx="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" y="1216152"/>
            <a:ext cx="3858768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36" name="Shape 34"/>
          <p:cNvSpPr/>
          <p:nvPr/>
        </p:nvSpPr>
        <p:spPr>
          <a:xfrm>
            <a:off x="896112" y="2258568"/>
            <a:ext cx="0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" y="2258568"/>
            <a:ext cx="0" cy="841248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" y="3099816"/>
            <a:ext cx="4005072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339069" y="14813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Before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969264" y="338080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94944" y="372160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04672" y="3794760"/>
            <a:ext cx="73152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467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78992" y="3794760"/>
            <a:ext cx="18288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6187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78992" y="39593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517904" y="4014216"/>
            <a:ext cx="16459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682496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728216" y="3794760"/>
            <a:ext cx="73152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28216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02536" y="3794760"/>
            <a:ext cx="18288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185416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02536" y="39593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2441448" y="4014216"/>
            <a:ext cx="16459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2606040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2651760" y="3794760"/>
            <a:ext cx="73152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65176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26080" y="3794760"/>
            <a:ext cx="18288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0896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26080" y="39593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25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3364992" y="4014216"/>
            <a:ext cx="16459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3529584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3575304" y="3794760"/>
            <a:ext cx="73152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575304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849624" y="3794760"/>
            <a:ext cx="18288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032504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49624" y="39593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4288536" y="4014216"/>
            <a:ext cx="16459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4453128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4498848" y="3794760"/>
            <a:ext cx="73152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498848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73168" y="3794760"/>
            <a:ext cx="18288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56048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73168" y="39593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75" name="Shape 73"/>
          <p:cNvSpPr/>
          <p:nvPr/>
        </p:nvSpPr>
        <p:spPr>
          <a:xfrm>
            <a:off x="5102352" y="4023360"/>
            <a:ext cx="27432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376672" y="4023360"/>
            <a:ext cx="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14400" y="3182112"/>
            <a:ext cx="4352544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78" name="Shape 76"/>
          <p:cNvSpPr/>
          <p:nvPr/>
        </p:nvSpPr>
        <p:spPr>
          <a:xfrm>
            <a:off x="896112" y="4224528"/>
            <a:ext cx="0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3504" y="4224528"/>
            <a:ext cx="0" cy="841248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3504" y="5065776"/>
            <a:ext cx="4498848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81" name="Text 79"/>
          <p:cNvSpPr/>
          <p:nvPr/>
        </p:nvSpPr>
        <p:spPr>
          <a:xfrm>
            <a:off x="603504" y="34564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After</a:t>
            </a:r>
            <a:endParaRPr lang="en-US" sz="1080" dirty="0"/>
          </a:p>
        </p:txBody>
      </p:sp>
      <p:sp>
        <p:nvSpPr>
          <p:cNvPr id="82" name="Shape 80"/>
          <p:cNvSpPr/>
          <p:nvPr/>
        </p:nvSpPr>
        <p:spPr>
          <a:xfrm>
            <a:off x="6720840" y="1673352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720840" y="174650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7214616" y="1664208"/>
            <a:ext cx="3511296" cy="5358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D3D"/>
                </a:solidFill>
              </a:rPr>
              <a:t>Find ptr containing key</a:t>
            </a:r>
            <a:endParaRPr lang="en-US" sz="1270" dirty="0"/>
          </a:p>
        </p:txBody>
      </p:sp>
      <p:sp>
        <p:nvSpPr>
          <p:cNvPr id="85" name="Shape 83"/>
          <p:cNvSpPr/>
          <p:nvPr/>
        </p:nvSpPr>
        <p:spPr>
          <a:xfrm>
            <a:off x="6720840" y="2282342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20840" y="235549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7214616" y="2273198"/>
            <a:ext cx="3511296" cy="5358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D3D"/>
                </a:solidFill>
              </a:rPr>
              <a:t>new-&gt;next = ptr-&gt;next</a:t>
            </a:r>
            <a:endParaRPr lang="en-US" sz="1270" dirty="0"/>
          </a:p>
        </p:txBody>
      </p:sp>
      <p:sp>
        <p:nvSpPr>
          <p:cNvPr id="88" name="Shape 86"/>
          <p:cNvSpPr/>
          <p:nvPr/>
        </p:nvSpPr>
        <p:spPr>
          <a:xfrm>
            <a:off x="6720840" y="2891333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720840" y="2964485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7214616" y="2882189"/>
            <a:ext cx="3511296" cy="5358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D3D"/>
                </a:solidFill>
              </a:rPr>
              <a:t>new-&gt;prev = ptr</a:t>
            </a:r>
            <a:endParaRPr lang="en-US" sz="1270" dirty="0"/>
          </a:p>
        </p:txBody>
      </p:sp>
      <p:sp>
        <p:nvSpPr>
          <p:cNvPr id="91" name="Shape 89"/>
          <p:cNvSpPr/>
          <p:nvPr/>
        </p:nvSpPr>
        <p:spPr>
          <a:xfrm>
            <a:off x="6720840" y="3500323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720840" y="3573475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7214616" y="3491179"/>
            <a:ext cx="3511296" cy="5358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D3D"/>
                </a:solidFill>
              </a:rPr>
              <a:t>ptr-&gt;next-&gt;prev = new</a:t>
            </a:r>
            <a:endParaRPr lang="en-US" sz="1270" dirty="0"/>
          </a:p>
        </p:txBody>
      </p:sp>
      <p:sp>
        <p:nvSpPr>
          <p:cNvPr id="94" name="Shape 92"/>
          <p:cNvSpPr/>
          <p:nvPr/>
        </p:nvSpPr>
        <p:spPr>
          <a:xfrm>
            <a:off x="6720840" y="4109314"/>
            <a:ext cx="384048" cy="384048"/>
          </a:xfrm>
          <a:prstGeom prst="ellipse">
            <a:avLst/>
          </a:prstGeom>
          <a:solidFill>
            <a:srgbClr val="2C9A6B"/>
          </a:solidFill>
          <a:ln w="12700">
            <a:solidFill>
              <a:srgbClr val="2C9A6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720840" y="418246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7214616" y="4100170"/>
            <a:ext cx="3511296" cy="5358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D3D"/>
                </a:solidFill>
              </a:rPr>
              <a:t>ptr-&gt;next = new</a:t>
            </a:r>
            <a:endParaRPr lang="en-US" sz="1270" dirty="0"/>
          </a:p>
        </p:txBody>
      </p:sp>
      <p:sp>
        <p:nvSpPr>
          <p:cNvPr id="9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5 • CIRCULAR DOUBLY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Circular doubly list: delete first node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497154" y="1320196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4447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94944" y="175564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04672" y="1828800"/>
            <a:ext cx="80467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828800"/>
            <a:ext cx="25603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35024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19933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591056" y="2048256"/>
            <a:ext cx="21031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801368" y="226771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847088" y="1828800"/>
            <a:ext cx="80467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21408" y="1828800"/>
            <a:ext cx="25603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21408" y="19933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633472" y="2048256"/>
            <a:ext cx="21031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843784" y="226771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889504" y="1828800"/>
            <a:ext cx="80467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89504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3824" y="1828800"/>
            <a:ext cx="25603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19856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63824" y="19933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675888" y="2048256"/>
            <a:ext cx="21031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886200" y="226771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931920" y="1828800"/>
            <a:ext cx="80467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31920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1828800"/>
            <a:ext cx="25603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62272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0" y="19933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608576" y="2057400"/>
            <a:ext cx="27432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82896" y="2057400"/>
            <a:ext cx="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" y="1216152"/>
            <a:ext cx="3858768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36" name="Shape 34"/>
          <p:cNvSpPr/>
          <p:nvPr/>
        </p:nvSpPr>
        <p:spPr>
          <a:xfrm>
            <a:off x="896112" y="2258568"/>
            <a:ext cx="0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" y="2258568"/>
            <a:ext cx="0" cy="841248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" y="3099816"/>
            <a:ext cx="4005072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329184" y="1488989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Before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983845" y="33284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94944" y="372160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04672" y="3794760"/>
            <a:ext cx="841248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467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78992" y="3794760"/>
            <a:ext cx="292608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7160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78992" y="39593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627632" y="4014216"/>
            <a:ext cx="228600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856232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901952" y="3794760"/>
            <a:ext cx="841248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76272" y="3794760"/>
            <a:ext cx="292608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6888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76272" y="39593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2724912" y="4014216"/>
            <a:ext cx="228600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2953512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2999232" y="3794760"/>
            <a:ext cx="841248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99923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73552" y="3794760"/>
            <a:ext cx="292608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616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73552" y="39593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3712464" y="4023360"/>
            <a:ext cx="27432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986784" y="4023360"/>
            <a:ext cx="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4400" y="3182112"/>
            <a:ext cx="2962656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64" name="Shape 62"/>
          <p:cNvSpPr/>
          <p:nvPr/>
        </p:nvSpPr>
        <p:spPr>
          <a:xfrm>
            <a:off x="896112" y="4224528"/>
            <a:ext cx="0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03504" y="4224528"/>
            <a:ext cx="0" cy="841248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3504" y="5065776"/>
            <a:ext cx="3108960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67" name="Text 65"/>
          <p:cNvSpPr/>
          <p:nvPr/>
        </p:nvSpPr>
        <p:spPr>
          <a:xfrm>
            <a:off x="603504" y="34564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After</a:t>
            </a:r>
            <a:endParaRPr lang="en-US" sz="1080" dirty="0"/>
          </a:p>
        </p:txBody>
      </p:sp>
      <p:sp>
        <p:nvSpPr>
          <p:cNvPr id="68" name="Shape 66"/>
          <p:cNvSpPr/>
          <p:nvPr/>
        </p:nvSpPr>
        <p:spPr>
          <a:xfrm>
            <a:off x="6446520" y="1490472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6520" y="156362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6940296" y="1481328"/>
            <a:ext cx="3913632" cy="5410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F2D3D"/>
                </a:solidFill>
              </a:rPr>
              <a:t>If empty → underflow</a:t>
            </a:r>
            <a:endParaRPr lang="en-US" sz="1210" dirty="0"/>
          </a:p>
        </p:txBody>
      </p:sp>
      <p:sp>
        <p:nvSpPr>
          <p:cNvPr id="71" name="Shape 69"/>
          <p:cNvSpPr/>
          <p:nvPr/>
        </p:nvSpPr>
        <p:spPr>
          <a:xfrm>
            <a:off x="6446520" y="2104644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46520" y="217779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940296" y="2095500"/>
            <a:ext cx="3913632" cy="5410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F2D3D"/>
                </a:solidFill>
              </a:rPr>
              <a:t>If one node: free(head); head = NULL</a:t>
            </a:r>
            <a:endParaRPr lang="en-US" sz="1210" dirty="0"/>
          </a:p>
        </p:txBody>
      </p:sp>
      <p:sp>
        <p:nvSpPr>
          <p:cNvPr id="74" name="Shape 72"/>
          <p:cNvSpPr/>
          <p:nvPr/>
        </p:nvSpPr>
        <p:spPr>
          <a:xfrm>
            <a:off x="6446520" y="2718816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46520" y="279196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6940296" y="2709672"/>
            <a:ext cx="3913632" cy="5410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F2D3D"/>
                </a:solidFill>
              </a:rPr>
              <a:t>last = head-&gt;prev; temp = head</a:t>
            </a:r>
            <a:endParaRPr lang="en-US" sz="1210" dirty="0"/>
          </a:p>
        </p:txBody>
      </p:sp>
      <p:sp>
        <p:nvSpPr>
          <p:cNvPr id="77" name="Shape 75"/>
          <p:cNvSpPr/>
          <p:nvPr/>
        </p:nvSpPr>
        <p:spPr>
          <a:xfrm>
            <a:off x="6446520" y="3332988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46520" y="340614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6940296" y="3323844"/>
            <a:ext cx="3913632" cy="5410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F2D3D"/>
                </a:solidFill>
              </a:rPr>
              <a:t>head = head-&gt;next</a:t>
            </a:r>
            <a:endParaRPr lang="en-US" sz="1210" dirty="0"/>
          </a:p>
        </p:txBody>
      </p:sp>
      <p:sp>
        <p:nvSpPr>
          <p:cNvPr id="80" name="Shape 78"/>
          <p:cNvSpPr/>
          <p:nvPr/>
        </p:nvSpPr>
        <p:spPr>
          <a:xfrm>
            <a:off x="6446520" y="3947160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46520" y="402031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6940296" y="3938016"/>
            <a:ext cx="3913632" cy="5410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F2D3D"/>
                </a:solidFill>
              </a:rPr>
              <a:t>head-&gt;prev = last; last-&gt;next = head</a:t>
            </a:r>
            <a:endParaRPr lang="en-US" sz="1210" dirty="0"/>
          </a:p>
        </p:txBody>
      </p:sp>
      <p:sp>
        <p:nvSpPr>
          <p:cNvPr id="83" name="Shape 81"/>
          <p:cNvSpPr/>
          <p:nvPr/>
        </p:nvSpPr>
        <p:spPr>
          <a:xfrm>
            <a:off x="6446520" y="4561332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46520" y="463448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6940296" y="4552188"/>
            <a:ext cx="3913632" cy="5410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F2D3D"/>
                </a:solidFill>
              </a:rPr>
              <a:t>free(temp)</a:t>
            </a:r>
            <a:endParaRPr lang="en-US" sz="1210" dirty="0"/>
          </a:p>
        </p:txBody>
      </p:sp>
      <p:sp>
        <p:nvSpPr>
          <p:cNvPr id="8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5 • CIRCULAR DOUBLY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Circular doubly list: delete last node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66928" y="1303720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6141" y="13872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94944" y="175564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04672" y="1828800"/>
            <a:ext cx="80467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828800"/>
            <a:ext cx="25603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35024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19933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591056" y="2048256"/>
            <a:ext cx="21031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801368" y="226771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847088" y="1828800"/>
            <a:ext cx="80467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21408" y="1828800"/>
            <a:ext cx="25603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21408" y="19933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633472" y="2048256"/>
            <a:ext cx="21031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843784" y="226771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889504" y="1828800"/>
            <a:ext cx="80467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89504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3824" y="1828800"/>
            <a:ext cx="25603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19856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63824" y="19933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675888" y="2048256"/>
            <a:ext cx="210312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886200" y="226771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931920" y="1828800"/>
            <a:ext cx="804672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31920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1828800"/>
            <a:ext cx="256032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62272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0" y="19933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608576" y="2057400"/>
            <a:ext cx="27432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82896" y="2057400"/>
            <a:ext cx="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" y="1216152"/>
            <a:ext cx="3858768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36" name="Shape 34"/>
          <p:cNvSpPr/>
          <p:nvPr/>
        </p:nvSpPr>
        <p:spPr>
          <a:xfrm>
            <a:off x="896112" y="2258568"/>
            <a:ext cx="0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" y="2258568"/>
            <a:ext cx="0" cy="841248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" y="3099816"/>
            <a:ext cx="4005072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603504" y="14813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Before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941832" y="339361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94944" y="372160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04672" y="3794760"/>
            <a:ext cx="841248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467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78992" y="3794760"/>
            <a:ext cx="292608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7160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78992" y="39593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627632" y="4014216"/>
            <a:ext cx="228600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856232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901952" y="3794760"/>
            <a:ext cx="841248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76272" y="3794760"/>
            <a:ext cx="292608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6888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76272" y="39593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2724912" y="4014216"/>
            <a:ext cx="228600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2953512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2999232" y="3794760"/>
            <a:ext cx="841248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99923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73552" y="3794760"/>
            <a:ext cx="292608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616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73552" y="39593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3712464" y="4023360"/>
            <a:ext cx="27432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986784" y="4023360"/>
            <a:ext cx="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4400" y="3182112"/>
            <a:ext cx="2962656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64" name="Shape 62"/>
          <p:cNvSpPr/>
          <p:nvPr/>
        </p:nvSpPr>
        <p:spPr>
          <a:xfrm>
            <a:off x="896112" y="4224528"/>
            <a:ext cx="0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03504" y="4224528"/>
            <a:ext cx="0" cy="841248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3504" y="5065776"/>
            <a:ext cx="3108960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67" name="Text 65"/>
          <p:cNvSpPr/>
          <p:nvPr/>
        </p:nvSpPr>
        <p:spPr>
          <a:xfrm>
            <a:off x="603504" y="34564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After</a:t>
            </a:r>
            <a:endParaRPr lang="en-US" sz="1080" dirty="0"/>
          </a:p>
        </p:txBody>
      </p:sp>
      <p:sp>
        <p:nvSpPr>
          <p:cNvPr id="68" name="Shape 66"/>
          <p:cNvSpPr/>
          <p:nvPr/>
        </p:nvSpPr>
        <p:spPr>
          <a:xfrm>
            <a:off x="6446520" y="1426464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6520" y="149961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6940296" y="1417320"/>
            <a:ext cx="3913632" cy="4728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90" dirty="0">
                <a:solidFill>
                  <a:srgbClr val="1F2D3D"/>
                </a:solidFill>
              </a:rPr>
              <a:t>If empty → underflow</a:t>
            </a:r>
            <a:endParaRPr lang="en-US" sz="1190" dirty="0"/>
          </a:p>
        </p:txBody>
      </p:sp>
      <p:sp>
        <p:nvSpPr>
          <p:cNvPr id="71" name="Shape 69"/>
          <p:cNvSpPr/>
          <p:nvPr/>
        </p:nvSpPr>
        <p:spPr>
          <a:xfrm>
            <a:off x="6446520" y="1972491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46520" y="2045643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940296" y="1963347"/>
            <a:ext cx="3913632" cy="4728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90" dirty="0">
                <a:solidFill>
                  <a:srgbClr val="1F2D3D"/>
                </a:solidFill>
              </a:rPr>
              <a:t>If one node: free and set head = NULL</a:t>
            </a:r>
            <a:endParaRPr lang="en-US" sz="1190" dirty="0"/>
          </a:p>
        </p:txBody>
      </p:sp>
      <p:sp>
        <p:nvSpPr>
          <p:cNvPr id="74" name="Shape 72"/>
          <p:cNvSpPr/>
          <p:nvPr/>
        </p:nvSpPr>
        <p:spPr>
          <a:xfrm>
            <a:off x="6446520" y="2518519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46520" y="2591671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6940296" y="2509375"/>
            <a:ext cx="3913632" cy="4728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90" dirty="0">
                <a:solidFill>
                  <a:srgbClr val="1F2D3D"/>
                </a:solidFill>
              </a:rPr>
              <a:t>temp = head-&gt;prev</a:t>
            </a:r>
            <a:endParaRPr lang="en-US" sz="1190" dirty="0"/>
          </a:p>
        </p:txBody>
      </p:sp>
      <p:sp>
        <p:nvSpPr>
          <p:cNvPr id="77" name="Shape 75"/>
          <p:cNvSpPr/>
          <p:nvPr/>
        </p:nvSpPr>
        <p:spPr>
          <a:xfrm>
            <a:off x="6446520" y="3064546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46520" y="313769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6940296" y="3055402"/>
            <a:ext cx="3913632" cy="4728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90" dirty="0">
                <a:solidFill>
                  <a:srgbClr val="1F2D3D"/>
                </a:solidFill>
              </a:rPr>
              <a:t>newLast = temp-&gt;prev</a:t>
            </a:r>
            <a:endParaRPr lang="en-US" sz="1190" dirty="0"/>
          </a:p>
        </p:txBody>
      </p:sp>
      <p:sp>
        <p:nvSpPr>
          <p:cNvPr id="80" name="Shape 78"/>
          <p:cNvSpPr/>
          <p:nvPr/>
        </p:nvSpPr>
        <p:spPr>
          <a:xfrm>
            <a:off x="6446520" y="3610574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46520" y="368372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6940296" y="3601430"/>
            <a:ext cx="3913632" cy="4728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90" dirty="0">
                <a:solidFill>
                  <a:srgbClr val="1F2D3D"/>
                </a:solidFill>
              </a:rPr>
              <a:t>newLast-&gt;next = head</a:t>
            </a:r>
            <a:endParaRPr lang="en-US" sz="1190" dirty="0"/>
          </a:p>
        </p:txBody>
      </p:sp>
      <p:sp>
        <p:nvSpPr>
          <p:cNvPr id="83" name="Shape 81"/>
          <p:cNvSpPr/>
          <p:nvPr/>
        </p:nvSpPr>
        <p:spPr>
          <a:xfrm>
            <a:off x="6446520" y="4156601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46520" y="4229753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6940296" y="4147457"/>
            <a:ext cx="3913632" cy="4728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90" dirty="0">
                <a:solidFill>
                  <a:srgbClr val="1F2D3D"/>
                </a:solidFill>
              </a:rPr>
              <a:t>head-&gt;prev = newLast</a:t>
            </a:r>
            <a:endParaRPr lang="en-US" sz="1190" dirty="0"/>
          </a:p>
        </p:txBody>
      </p:sp>
      <p:sp>
        <p:nvSpPr>
          <p:cNvPr id="86" name="Shape 84"/>
          <p:cNvSpPr/>
          <p:nvPr/>
        </p:nvSpPr>
        <p:spPr>
          <a:xfrm>
            <a:off x="6446520" y="4702629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46520" y="4775781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7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6940296" y="4693485"/>
            <a:ext cx="3913632" cy="4728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90" dirty="0">
                <a:solidFill>
                  <a:srgbClr val="1F2D3D"/>
                </a:solidFill>
              </a:rPr>
              <a:t>free(temp)</a:t>
            </a:r>
            <a:endParaRPr lang="en-US" sz="1190" dirty="0"/>
          </a:p>
        </p:txBody>
      </p:sp>
      <p:sp>
        <p:nvSpPr>
          <p:cNvPr id="8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5 • CIRCULAR DOUBLY LINKED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Circular doubly list: delete node after key = 20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402336" y="1361385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4447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49808" y="1828800"/>
            <a:ext cx="73152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1828800"/>
            <a:ext cx="18288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7008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19933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463040" y="2048256"/>
            <a:ext cx="155448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618488" y="226771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664208" y="1828800"/>
            <a:ext cx="73152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64208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38528" y="1828800"/>
            <a:ext cx="18288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21408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38528" y="19933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377440" y="2048256"/>
            <a:ext cx="155448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532888" y="226771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578608" y="1828800"/>
            <a:ext cx="73152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78608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52928" y="1828800"/>
            <a:ext cx="18288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35808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52928" y="19933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291840" y="2048256"/>
            <a:ext cx="155448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447288" y="226771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493008" y="1828800"/>
            <a:ext cx="73152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93008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67328" y="1828800"/>
            <a:ext cx="18288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50208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67328" y="19933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206240" y="2048256"/>
            <a:ext cx="155448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361688" y="226771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407408" y="1828800"/>
            <a:ext cx="73152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07408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81728" y="1828800"/>
            <a:ext cx="182880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64608" y="182880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19933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50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010912" y="2057400"/>
            <a:ext cx="27432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85232" y="2057400"/>
            <a:ext cx="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9536" y="1216152"/>
            <a:ext cx="4315968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43" name="Shape 41"/>
          <p:cNvSpPr/>
          <p:nvPr/>
        </p:nvSpPr>
        <p:spPr>
          <a:xfrm>
            <a:off x="841248" y="2258568"/>
            <a:ext cx="0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2258568"/>
            <a:ext cx="0" cy="841248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3099816"/>
            <a:ext cx="4462272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269748" y="15407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Before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704088" y="34107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0080" y="372160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49808" y="3794760"/>
            <a:ext cx="768096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9808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24128" y="3794760"/>
            <a:ext cx="219456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43584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24128" y="3959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1499616" y="4014216"/>
            <a:ext cx="173736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1673352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1719072" y="3794760"/>
            <a:ext cx="768096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1907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93392" y="3794760"/>
            <a:ext cx="219456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212848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93392" y="3959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2468880" y="4014216"/>
            <a:ext cx="173736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2642616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2688336" y="3794760"/>
            <a:ext cx="768096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688336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962656" y="3794760"/>
            <a:ext cx="219456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182112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62656" y="3959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3438144" y="4014216"/>
            <a:ext cx="173736" cy="0"/>
          </a:xfrm>
          <a:prstGeom prst="line">
            <a:avLst/>
          </a:prstGeom>
          <a:noFill/>
          <a:ln w="14605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3611880" y="4233672"/>
            <a:ext cx="0" cy="0"/>
          </a:xfrm>
          <a:prstGeom prst="line">
            <a:avLst/>
          </a:prstGeom>
          <a:noFill/>
          <a:ln w="14605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3657600" y="3794760"/>
            <a:ext cx="768096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657600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931920" y="3794760"/>
            <a:ext cx="219456" cy="603504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151376" y="3794760"/>
            <a:ext cx="274320" cy="603504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931920" y="3959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50</a:t>
            </a:r>
            <a:endParaRPr lang="en-US" sz="1500" dirty="0"/>
          </a:p>
        </p:txBody>
      </p:sp>
      <p:sp>
        <p:nvSpPr>
          <p:cNvPr id="75" name="Shape 73"/>
          <p:cNvSpPr/>
          <p:nvPr/>
        </p:nvSpPr>
        <p:spPr>
          <a:xfrm>
            <a:off x="4297680" y="4023360"/>
            <a:ext cx="27432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572000" y="4023360"/>
            <a:ext cx="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59536" y="3182112"/>
            <a:ext cx="3602736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  <a:headEnd type="triangle"/>
          </a:ln>
        </p:spPr>
      </p:sp>
      <p:sp>
        <p:nvSpPr>
          <p:cNvPr id="78" name="Shape 76"/>
          <p:cNvSpPr/>
          <p:nvPr/>
        </p:nvSpPr>
        <p:spPr>
          <a:xfrm>
            <a:off x="841248" y="4224528"/>
            <a:ext cx="0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48640" y="4224528"/>
            <a:ext cx="0" cy="841248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48640" y="5065776"/>
            <a:ext cx="3749040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81" name="Text 79"/>
          <p:cNvSpPr/>
          <p:nvPr/>
        </p:nvSpPr>
        <p:spPr>
          <a:xfrm>
            <a:off x="402336" y="35387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88A"/>
                </a:solidFill>
              </a:rPr>
              <a:t>After</a:t>
            </a:r>
            <a:endParaRPr lang="en-US" sz="1080" dirty="0"/>
          </a:p>
        </p:txBody>
      </p:sp>
      <p:sp>
        <p:nvSpPr>
          <p:cNvPr id="82" name="Shape 80"/>
          <p:cNvSpPr/>
          <p:nvPr/>
        </p:nvSpPr>
        <p:spPr>
          <a:xfrm>
            <a:off x="6492240" y="1490472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492240" y="156362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6986016" y="1481328"/>
            <a:ext cx="3803904" cy="5257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D3D"/>
                </a:solidFill>
              </a:rPr>
              <a:t>Find ptr containing key</a:t>
            </a:r>
            <a:endParaRPr lang="en-US" sz="1220" dirty="0"/>
          </a:p>
        </p:txBody>
      </p:sp>
      <p:sp>
        <p:nvSpPr>
          <p:cNvPr id="85" name="Shape 83"/>
          <p:cNvSpPr/>
          <p:nvPr/>
        </p:nvSpPr>
        <p:spPr>
          <a:xfrm>
            <a:off x="6492240" y="2089404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492240" y="216255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6986016" y="2080260"/>
            <a:ext cx="3803904" cy="5257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D3D"/>
                </a:solidFill>
              </a:rPr>
              <a:t>temp = ptr-&gt;next</a:t>
            </a:r>
            <a:endParaRPr lang="en-US" sz="1220" dirty="0"/>
          </a:p>
        </p:txBody>
      </p:sp>
      <p:sp>
        <p:nvSpPr>
          <p:cNvPr id="88" name="Shape 86"/>
          <p:cNvSpPr/>
          <p:nvPr/>
        </p:nvSpPr>
        <p:spPr>
          <a:xfrm>
            <a:off x="6492240" y="2688336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492240" y="276148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6986016" y="2679192"/>
            <a:ext cx="3803904" cy="5257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D3D"/>
                </a:solidFill>
              </a:rPr>
              <a:t>If temp == head: deletion changes HEAD</a:t>
            </a:r>
            <a:endParaRPr lang="en-US" sz="1220" dirty="0"/>
          </a:p>
        </p:txBody>
      </p:sp>
      <p:sp>
        <p:nvSpPr>
          <p:cNvPr id="91" name="Shape 89"/>
          <p:cNvSpPr/>
          <p:nvPr/>
        </p:nvSpPr>
        <p:spPr>
          <a:xfrm>
            <a:off x="6492240" y="3287268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492240" y="336042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6986016" y="3278124"/>
            <a:ext cx="3803904" cy="5257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D3D"/>
                </a:solidFill>
              </a:rPr>
              <a:t>ptr-&gt;next = temp-&gt;next</a:t>
            </a:r>
            <a:endParaRPr lang="en-US" sz="1220" dirty="0"/>
          </a:p>
        </p:txBody>
      </p:sp>
      <p:sp>
        <p:nvSpPr>
          <p:cNvPr id="94" name="Shape 92"/>
          <p:cNvSpPr/>
          <p:nvPr/>
        </p:nvSpPr>
        <p:spPr>
          <a:xfrm>
            <a:off x="6492240" y="3886200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492240" y="39593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6986016" y="3877056"/>
            <a:ext cx="3803904" cy="5257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D3D"/>
                </a:solidFill>
              </a:rPr>
              <a:t>temp-&gt;next-&gt;prev = ptr</a:t>
            </a:r>
            <a:endParaRPr lang="en-US" sz="1220" dirty="0"/>
          </a:p>
        </p:txBody>
      </p:sp>
      <p:sp>
        <p:nvSpPr>
          <p:cNvPr id="97" name="Shape 95"/>
          <p:cNvSpPr/>
          <p:nvPr/>
        </p:nvSpPr>
        <p:spPr>
          <a:xfrm>
            <a:off x="6492240" y="4485132"/>
            <a:ext cx="384048" cy="384048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492240" y="455828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6986016" y="4475988"/>
            <a:ext cx="3803904" cy="5257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D3D"/>
                </a:solidFill>
              </a:rPr>
              <a:t>free(temp)</a:t>
            </a:r>
            <a:endParaRPr lang="en-US" sz="1220" dirty="0"/>
          </a:p>
        </p:txBody>
      </p:sp>
      <p:sp>
        <p:nvSpPr>
          <p:cNvPr id="10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6 • SPECIAL VARIANTS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Header linked lists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88A"/>
                </a:solidFill>
              </a:rPr>
              <a:t>A permanent header node simplifies some edge cases and can store metadata.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993392"/>
            <a:ext cx="1417320" cy="685800"/>
          </a:xfrm>
          <a:prstGeom prst="roundRect">
            <a:avLst>
              <a:gd name="adj" fmla="val 4000"/>
            </a:avLst>
          </a:prstGeom>
          <a:solidFill>
            <a:srgbClr val="EEECFA"/>
          </a:solidFill>
          <a:ln w="15240">
            <a:solidFill>
              <a:srgbClr val="6C6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2219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C63C7"/>
                </a:solidFill>
              </a:rPr>
              <a:t>HEADER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68880" y="2340864"/>
            <a:ext cx="411480" cy="0"/>
          </a:xfrm>
          <a:prstGeom prst="line">
            <a:avLst/>
          </a:prstGeom>
          <a:noFill/>
          <a:ln w="1778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880360" y="166420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16352" y="1975104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26080" y="2048256"/>
            <a:ext cx="82296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2048256"/>
            <a:ext cx="47548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1568" y="2048256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2656" y="221284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749040" y="2331720"/>
            <a:ext cx="228600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023360" y="2048256"/>
            <a:ext cx="82296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048256"/>
            <a:ext cx="47548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98848" y="2048256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59936" y="221284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2331720"/>
            <a:ext cx="228600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20640" y="2048256"/>
            <a:ext cx="82296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2048256"/>
            <a:ext cx="47548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96128" y="2048256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7216" y="221284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943600" y="2331720"/>
            <a:ext cx="228600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17920" y="2048256"/>
            <a:ext cx="82296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048256"/>
            <a:ext cx="47548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93408" y="2048256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221284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150608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64B4B"/>
                </a:solidFill>
              </a:rPr>
              <a:t>NULL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040880" y="2331720"/>
            <a:ext cx="91440" cy="0"/>
          </a:xfrm>
          <a:prstGeom prst="line">
            <a:avLst/>
          </a:prstGeom>
          <a:noFill/>
          <a:ln w="15240">
            <a:solidFill>
              <a:srgbClr val="D64B4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68680" y="3886200"/>
            <a:ext cx="4983480" cy="1280160"/>
          </a:xfrm>
          <a:prstGeom prst="roundRect">
            <a:avLst>
              <a:gd name="adj" fmla="val 4286"/>
            </a:avLst>
          </a:prstGeom>
          <a:solidFill>
            <a:srgbClr val="DFF7F3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680" y="3886200"/>
            <a:ext cx="64008" cy="1280160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4050792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Grounded header list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1051560" y="4434840"/>
            <a:ext cx="467258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Last node stores NULL. START points to HEADER, not directly to the first data node.</a:t>
            </a:r>
            <a:endParaRPr lang="en-US" sz="1310" dirty="0"/>
          </a:p>
        </p:txBody>
      </p:sp>
      <p:sp>
        <p:nvSpPr>
          <p:cNvPr id="36" name="Shape 34"/>
          <p:cNvSpPr/>
          <p:nvPr/>
        </p:nvSpPr>
        <p:spPr>
          <a:xfrm>
            <a:off x="6172200" y="3886200"/>
            <a:ext cx="4983480" cy="1280160"/>
          </a:xfrm>
          <a:prstGeom prst="roundRect">
            <a:avLst>
              <a:gd name="adj" fmla="val 4286"/>
            </a:avLst>
          </a:prstGeom>
          <a:solidFill>
            <a:srgbClr val="EEECFA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3886200"/>
            <a:ext cx="64008" cy="1280160"/>
          </a:xfrm>
          <a:prstGeom prst="rect">
            <a:avLst/>
          </a:prstGeom>
          <a:solidFill>
            <a:srgbClr val="6C63C7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4050792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Circular header list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6355080" y="4434840"/>
            <a:ext cx="467258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Last node points back to HEADER. The header acts as a natural sentinel/end marker.</a:t>
            </a:r>
            <a:endParaRPr lang="en-US" sz="131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6 • SPECIAL VARIANTS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Circular header list: traversal &amp; insertion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5669280" cy="3337560"/>
          </a:xfrm>
          <a:prstGeom prst="roundRect">
            <a:avLst>
              <a:gd name="adj" fmla="val 1370"/>
            </a:avLst>
          </a:prstGeom>
          <a:solidFill>
            <a:srgbClr val="0E1A27"/>
          </a:solidFill>
          <a:ln w="12700">
            <a:solidFill>
              <a:srgbClr val="0E1A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9385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40" dirty="0">
                <a:solidFill>
                  <a:srgbClr val="91E9DB"/>
                </a:solidFill>
              </a:rPr>
              <a:t>Key pointer pattern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035040" y="1956816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0488" y="1956816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45936" y="1956816"/>
            <a:ext cx="91440" cy="91440"/>
          </a:xfrm>
          <a:prstGeom prst="ellipse">
            <a:avLst/>
          </a:prstGeom>
          <a:solidFill>
            <a:srgbClr val="6BE28C"/>
          </a:solidFill>
          <a:ln w="12700">
            <a:solidFill>
              <a:srgbClr val="6BE2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267712"/>
            <a:ext cx="5340096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Traverse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ptr = head-&gt;next;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(ptr != head) {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 ", ptr-&gt;data);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ptr = ptr-&gt;next;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80" dirty="0"/>
          </a:p>
          <a:p>
            <a:pPr marL="0" indent="0">
              <a:buNone/>
            </a:pP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Insert after ptr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new-&gt;next = ptr-&gt;next;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ptr-&gt;next = new;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903720" y="1883664"/>
            <a:ext cx="384048" cy="384048"/>
          </a:xfrm>
          <a:prstGeom prst="ellipse">
            <a:avLst/>
          </a:prstGeom>
          <a:solidFill>
            <a:srgbClr val="6C63C7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195681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97496" y="1874520"/>
            <a:ext cx="3255264" cy="7109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Start at head-&gt;next, the first data node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03720" y="2667762"/>
            <a:ext cx="384048" cy="384048"/>
          </a:xfrm>
          <a:prstGeom prst="ellipse">
            <a:avLst/>
          </a:prstGeom>
          <a:solidFill>
            <a:srgbClr val="6C63C7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74091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97496" y="2658618"/>
            <a:ext cx="3255264" cy="7109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Process until the cursor returns to header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03720" y="3451860"/>
            <a:ext cx="384048" cy="384048"/>
          </a:xfrm>
          <a:prstGeom prst="ellipse">
            <a:avLst/>
          </a:prstGeom>
          <a:solidFill>
            <a:srgbClr val="6C63C7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352501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97496" y="3442716"/>
            <a:ext cx="3255264" cy="7109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For insertion after a known node, preserve its successor first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03720" y="4235958"/>
            <a:ext cx="384048" cy="384048"/>
          </a:xfrm>
          <a:prstGeom prst="ellipse">
            <a:avLst/>
          </a:prstGeom>
          <a:solidFill>
            <a:srgbClr val="6C63C7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430911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97496" y="4226814"/>
            <a:ext cx="3255264" cy="7109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Redirect ptr-&gt;next to the new node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8680" y="5413248"/>
            <a:ext cx="9784080" cy="530352"/>
          </a:xfrm>
          <a:prstGeom prst="roundRect">
            <a:avLst>
              <a:gd name="adj" fmla="val 10345"/>
            </a:avLst>
          </a:prstGeom>
          <a:solidFill>
            <a:srgbClr val="DFF7F3"/>
          </a:solidFill>
          <a:ln w="12700">
            <a:solidFill>
              <a:srgbClr val="DFF7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4984" y="55321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2B8A6"/>
                </a:solidFill>
              </a:rPr>
              <a:t>BENEFIT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14984" y="5779008"/>
            <a:ext cx="949147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The header node gives a fixed sentinel address that can simplify termination tests.</a:t>
            </a:r>
            <a:endParaRPr lang="en-US" sz="123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7 •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Practice 1: find the middle node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88A"/>
                </a:solidFill>
              </a:rPr>
              <a:t>Use one slow pointer and one fast pointer.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819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2B8A6"/>
                </a:solidFill>
              </a:rPr>
              <a:t>HEAD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58952" y="1892808"/>
            <a:ext cx="219456" cy="210312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68680" y="1965960"/>
            <a:ext cx="86868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965960"/>
            <a:ext cx="52120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19659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2130552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737360" y="2249424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048256" y="1965960"/>
            <a:ext cx="86868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8256" y="1965960"/>
            <a:ext cx="52120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9464" y="19659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84832" y="2130552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20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916936" y="2249424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227832" y="1965960"/>
            <a:ext cx="86868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27832" y="1965960"/>
            <a:ext cx="52120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19659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2130552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30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096512" y="2249424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407408" y="1965960"/>
            <a:ext cx="86868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07408" y="1965960"/>
            <a:ext cx="52120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28616" y="19659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43984" y="2130552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40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276088" y="2249424"/>
            <a:ext cx="265176" cy="0"/>
          </a:xfrm>
          <a:prstGeom prst="line">
            <a:avLst/>
          </a:prstGeom>
          <a:noFill/>
          <a:ln w="16510">
            <a:solidFill>
              <a:srgbClr val="10273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586984" y="1965960"/>
            <a:ext cx="86868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1027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86984" y="1965960"/>
            <a:ext cx="521208" cy="566928"/>
          </a:xfrm>
          <a:prstGeom prst="rect">
            <a:avLst/>
          </a:prstGeom>
          <a:solidFill>
            <a:srgbClr val="DFF7F3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08192" y="1965960"/>
            <a:ext cx="347472" cy="566928"/>
          </a:xfrm>
          <a:prstGeom prst="rect">
            <a:avLst/>
          </a:prstGeom>
          <a:solidFill>
            <a:srgbClr val="EEF2F6"/>
          </a:solidFill>
          <a:ln w="10160">
            <a:solidFill>
              <a:srgbClr val="1027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2130552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73D"/>
                </a:solidFill>
              </a:rPr>
              <a:t>50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65392" y="21305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64B4B"/>
                </a:solidFill>
              </a:rPr>
              <a:t>NULL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55664" y="2249424"/>
            <a:ext cx="91440" cy="0"/>
          </a:xfrm>
          <a:prstGeom prst="line">
            <a:avLst/>
          </a:prstGeom>
          <a:noFill/>
          <a:ln w="15240">
            <a:solidFill>
              <a:srgbClr val="D64B4B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3291840" y="28803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2B8A6"/>
                </a:solidFill>
              </a:rPr>
              <a:t>slow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611880" y="2834640"/>
            <a:ext cx="0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5596128" y="28803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C63C7"/>
                </a:solidFill>
              </a:rPr>
              <a:t>fast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916168" y="2834640"/>
            <a:ext cx="0" cy="0"/>
          </a:xfrm>
          <a:prstGeom prst="line">
            <a:avLst/>
          </a:prstGeom>
          <a:noFill/>
          <a:ln w="16510">
            <a:solidFill>
              <a:srgbClr val="6C63C7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720840" y="1783080"/>
            <a:ext cx="4663440" cy="3429000"/>
          </a:xfrm>
          <a:prstGeom prst="roundRect">
            <a:avLst>
              <a:gd name="adj" fmla="val 1333"/>
            </a:avLst>
          </a:prstGeom>
          <a:solidFill>
            <a:srgbClr val="0E1A27"/>
          </a:solidFill>
          <a:ln w="12700">
            <a:solidFill>
              <a:srgbClr val="0E1A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85432" y="18928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40" dirty="0">
                <a:solidFill>
                  <a:srgbClr val="91E9DB"/>
                </a:solidFill>
              </a:rPr>
              <a:t>Slow–fast pointer technique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10881360" y="1911096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036808" y="1911096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192256" y="1911096"/>
            <a:ext cx="91440" cy="91440"/>
          </a:xfrm>
          <a:prstGeom prst="ellipse">
            <a:avLst/>
          </a:prstGeom>
          <a:solidFill>
            <a:srgbClr val="6BE28C"/>
          </a:solidFill>
          <a:ln w="12700">
            <a:solidFill>
              <a:srgbClr val="6BE2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85432" y="2221992"/>
            <a:ext cx="4334256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 = head;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 = head;</a:t>
            </a:r>
            <a:endParaRPr lang="en-US" sz="1180" dirty="0"/>
          </a:p>
          <a:p>
            <a:pPr marL="0" indent="0">
              <a:buNone/>
            </a:pP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(fast != NULL &amp;&amp; fast-&gt;next != NULL) {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slow = slow-&gt;next;       // moves 1 node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fast = fast-&gt;next-&gt;next; // moves 2 nodes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80" dirty="0"/>
          </a:p>
          <a:p>
            <a:pPr marL="0" indent="0">
              <a:buNone/>
            </a:pP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printf("Middle = %d", slow-&gt;data);</a:t>
            </a:r>
            <a:endParaRPr lang="en-US" sz="1180" dirty="0"/>
          </a:p>
        </p:txBody>
      </p:sp>
      <p:sp>
        <p:nvSpPr>
          <p:cNvPr id="44" name="Shape 42"/>
          <p:cNvSpPr/>
          <p:nvPr/>
        </p:nvSpPr>
        <p:spPr>
          <a:xfrm>
            <a:off x="868680" y="489204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DFF7F3"/>
          </a:solidFill>
          <a:ln w="12700">
            <a:solidFill>
              <a:srgbClr val="DFF7F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4984" y="50109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2B8A6"/>
                </a:solidFill>
              </a:rPr>
              <a:t>WHY IT WORKS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14984" y="5257800"/>
            <a:ext cx="5148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When FAST reaches the end, SLOW has covered about half the distance.</a:t>
            </a:r>
            <a:endParaRPr lang="en-US" sz="123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7 •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Practice 2: create n nodes and display them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37944"/>
            <a:ext cx="384048" cy="384048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1109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71016" y="1828800"/>
            <a:ext cx="3392424" cy="5998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Read n</a:t>
            </a:r>
            <a:endParaRPr lang="en-US" sz="1310" dirty="0"/>
          </a:p>
        </p:txBody>
      </p:sp>
      <p:sp>
        <p:nvSpPr>
          <p:cNvPr id="8" name="Shape 6"/>
          <p:cNvSpPr/>
          <p:nvPr/>
        </p:nvSpPr>
        <p:spPr>
          <a:xfrm>
            <a:off x="777240" y="2510942"/>
            <a:ext cx="384048" cy="384048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8409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71016" y="2501798"/>
            <a:ext cx="3392424" cy="5998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Repeat n times: allocate and fill a node</a:t>
            </a:r>
            <a:endParaRPr lang="en-US" sz="1310" dirty="0"/>
          </a:p>
        </p:txBody>
      </p:sp>
      <p:sp>
        <p:nvSpPr>
          <p:cNvPr id="11" name="Shape 9"/>
          <p:cNvSpPr/>
          <p:nvPr/>
        </p:nvSpPr>
        <p:spPr>
          <a:xfrm>
            <a:off x="777240" y="3183941"/>
            <a:ext cx="384048" cy="384048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57093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71016" y="3174797"/>
            <a:ext cx="3392424" cy="5998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If first node: head = tail = new</a:t>
            </a:r>
            <a:endParaRPr lang="en-US" sz="1310" dirty="0"/>
          </a:p>
        </p:txBody>
      </p:sp>
      <p:sp>
        <p:nvSpPr>
          <p:cNvPr id="14" name="Shape 12"/>
          <p:cNvSpPr/>
          <p:nvPr/>
        </p:nvSpPr>
        <p:spPr>
          <a:xfrm>
            <a:off x="777240" y="3856939"/>
            <a:ext cx="384048" cy="384048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30091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71016" y="3847795"/>
            <a:ext cx="3392424" cy="5998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Else: tail-&gt;next = new; tail = new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777240" y="4529938"/>
            <a:ext cx="384048" cy="384048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60309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271016" y="4520794"/>
            <a:ext cx="3392424" cy="5998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F2D3D"/>
                </a:solidFill>
              </a:rPr>
              <a:t>Traverse from head and print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4983480" y="1783080"/>
            <a:ext cx="6263640" cy="3611880"/>
          </a:xfrm>
          <a:prstGeom prst="roundRect">
            <a:avLst>
              <a:gd name="adj" fmla="val 1266"/>
            </a:avLst>
          </a:prstGeom>
          <a:solidFill>
            <a:srgbClr val="0E1A27"/>
          </a:solidFill>
          <a:ln w="12700">
            <a:solidFill>
              <a:srgbClr val="0E1A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8072" y="18928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40" dirty="0">
                <a:solidFill>
                  <a:srgbClr val="91E9DB"/>
                </a:solidFill>
              </a:rPr>
              <a:t>Efficient creation using tail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10744200" y="1911096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99648" y="1911096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55096" y="1911096"/>
            <a:ext cx="91440" cy="91440"/>
          </a:xfrm>
          <a:prstGeom prst="ellipse">
            <a:avLst/>
          </a:prstGeom>
          <a:solidFill>
            <a:srgbClr val="6BE28C"/>
          </a:solidFill>
          <a:ln w="12700">
            <a:solidFill>
              <a:srgbClr val="6BE2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8072" y="2221992"/>
            <a:ext cx="5934456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*head = NULL, *tail = NULL;</a:t>
            </a:r>
            <a:endParaRPr lang="en-US" sz="1180" dirty="0"/>
          </a:p>
          <a:p>
            <a:pPr marL="0" indent="0">
              <a:buNone/>
            </a:pP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 {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*new = malloc(sizeof *new);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scanf("%d", &amp;new-&gt;data);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new-&gt;next = NULL;</a:t>
            </a:r>
            <a:endParaRPr lang="en-US" sz="1180" dirty="0"/>
          </a:p>
          <a:p>
            <a:pPr marL="0" indent="0">
              <a:buNone/>
            </a:pP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(head == NULL) head = tail = new;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{ tail-&gt;next = new; tail = new; }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80" dirty="0"/>
          </a:p>
          <a:p>
            <a:pPr marL="0" indent="0">
              <a:buNone/>
            </a:pP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display(head);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777240" y="5440680"/>
            <a:ext cx="10469880" cy="548640"/>
          </a:xfrm>
          <a:prstGeom prst="roundRect">
            <a:avLst>
              <a:gd name="adj" fmla="val 10000"/>
            </a:avLst>
          </a:prstGeom>
          <a:solidFill>
            <a:srgbClr val="E6F6EF"/>
          </a:solidFill>
          <a:ln w="12700">
            <a:solidFill>
              <a:srgbClr val="E6F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" y="55595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2C9A6B"/>
                </a:solidFill>
              </a:rPr>
              <a:t>IMPROVEMENT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23544" y="5806440"/>
            <a:ext cx="101772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Using a tail pointer avoids traversing the list again for every new node; building n nodes becomes O(n), not O(n²).</a:t>
            </a:r>
            <a:endParaRPr lang="en-US" sz="123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8 • RECAP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Compare linked-list variants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88A"/>
                </a:solidFill>
              </a:rPr>
              <a:t>Choose the structure that matches the operations you need most often.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28800"/>
            <a:ext cx="2057400" cy="438912"/>
          </a:xfrm>
          <a:prstGeom prst="rect">
            <a:avLst/>
          </a:prstGeom>
          <a:solidFill>
            <a:srgbClr val="10273D"/>
          </a:solidFill>
          <a:ln w="12700">
            <a:solidFill>
              <a:srgbClr val="1027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56816"/>
            <a:ext cx="1947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FFFFFF"/>
                </a:solidFill>
              </a:rPr>
              <a:t>Operation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2715768" y="1828800"/>
            <a:ext cx="1051560" cy="438912"/>
          </a:xfrm>
          <a:prstGeom prst="rect">
            <a:avLst/>
          </a:prstGeom>
          <a:solidFill>
            <a:srgbClr val="10273D"/>
          </a:solidFill>
          <a:ln w="12700">
            <a:solidFill>
              <a:srgbClr val="1027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956816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</a:rPr>
              <a:t>Singly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3767328" y="1828800"/>
            <a:ext cx="1051560" cy="438912"/>
          </a:xfrm>
          <a:prstGeom prst="rect">
            <a:avLst/>
          </a:prstGeom>
          <a:solidFill>
            <a:srgbClr val="10273D"/>
          </a:solidFill>
          <a:ln w="12700">
            <a:solidFill>
              <a:srgbClr val="1027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22192" y="1956816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</a:rPr>
              <a:t>Circular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4818888" y="1828800"/>
            <a:ext cx="1051560" cy="438912"/>
          </a:xfrm>
          <a:prstGeom prst="rect">
            <a:avLst/>
          </a:prstGeom>
          <a:solidFill>
            <a:srgbClr val="10273D"/>
          </a:solidFill>
          <a:ln w="12700">
            <a:solidFill>
              <a:srgbClr val="1027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956816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</a:rPr>
              <a:t>Doubly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5870448" y="1828800"/>
            <a:ext cx="1143000" cy="438912"/>
          </a:xfrm>
          <a:prstGeom prst="rect">
            <a:avLst/>
          </a:prstGeom>
          <a:solidFill>
            <a:srgbClr val="10273D"/>
          </a:solidFill>
          <a:ln w="12700">
            <a:solidFill>
              <a:srgbClr val="1027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5312" y="1956816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</a:rPr>
              <a:t>C. Doubly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7013448" y="1828800"/>
            <a:ext cx="1143000" cy="438912"/>
          </a:xfrm>
          <a:prstGeom prst="rect">
            <a:avLst/>
          </a:prstGeom>
          <a:solidFill>
            <a:srgbClr val="10273D"/>
          </a:solidFill>
          <a:ln w="12700">
            <a:solidFill>
              <a:srgbClr val="1027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68312" y="1956816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</a:rPr>
              <a:t>Why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58368" y="2267712"/>
            <a:ext cx="2057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24140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0273D"/>
                </a:solidFill>
              </a:rPr>
              <a:t>Pointer(s) / node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2715768" y="2267712"/>
            <a:ext cx="1051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241401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1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3767328" y="2267712"/>
            <a:ext cx="1051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13048" y="241401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1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4818888" y="2267712"/>
            <a:ext cx="1051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41401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2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5870448" y="2267712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16168" y="24140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2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7013448" y="2267712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9168" y="24140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Memory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658368" y="2779776"/>
            <a:ext cx="205740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29260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0273D"/>
                </a:solidFill>
              </a:rPr>
              <a:t>Natural end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2715768" y="2779776"/>
            <a:ext cx="105156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61488" y="292608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NULL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3767328" y="2779776"/>
            <a:ext cx="105156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13048" y="292608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HEAD</a:t>
            </a:r>
            <a:endParaRPr lang="en-US" sz="1040" dirty="0"/>
          </a:p>
        </p:txBody>
      </p:sp>
      <p:sp>
        <p:nvSpPr>
          <p:cNvPr id="36" name="Shape 34"/>
          <p:cNvSpPr/>
          <p:nvPr/>
        </p:nvSpPr>
        <p:spPr>
          <a:xfrm>
            <a:off x="4818888" y="2779776"/>
            <a:ext cx="105156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292608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NULL</a:t>
            </a:r>
            <a:endParaRPr lang="en-US" sz="1040" dirty="0"/>
          </a:p>
        </p:txBody>
      </p:sp>
      <p:sp>
        <p:nvSpPr>
          <p:cNvPr id="38" name="Shape 36"/>
          <p:cNvSpPr/>
          <p:nvPr/>
        </p:nvSpPr>
        <p:spPr>
          <a:xfrm>
            <a:off x="5870448" y="2779776"/>
            <a:ext cx="114300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16168" y="292608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HEAD</a:t>
            </a:r>
            <a:endParaRPr lang="en-US" sz="1040" dirty="0"/>
          </a:p>
        </p:txBody>
      </p:sp>
      <p:sp>
        <p:nvSpPr>
          <p:cNvPr id="40" name="Shape 38"/>
          <p:cNvSpPr/>
          <p:nvPr/>
        </p:nvSpPr>
        <p:spPr>
          <a:xfrm>
            <a:off x="7013448" y="2779776"/>
            <a:ext cx="114300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9168" y="292608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Traversal stop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658368" y="3291840"/>
            <a:ext cx="2057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4088" y="3438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0273D"/>
                </a:solidFill>
              </a:rPr>
              <a:t>Backward traversal</a:t>
            </a:r>
            <a:endParaRPr lang="en-US" sz="1040" dirty="0"/>
          </a:p>
        </p:txBody>
      </p:sp>
      <p:sp>
        <p:nvSpPr>
          <p:cNvPr id="44" name="Shape 42"/>
          <p:cNvSpPr/>
          <p:nvPr/>
        </p:nvSpPr>
        <p:spPr>
          <a:xfrm>
            <a:off x="2715768" y="3291840"/>
            <a:ext cx="1051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61488" y="343814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No</a:t>
            </a:r>
            <a:endParaRPr lang="en-US" sz="1040" dirty="0"/>
          </a:p>
        </p:txBody>
      </p:sp>
      <p:sp>
        <p:nvSpPr>
          <p:cNvPr id="46" name="Shape 44"/>
          <p:cNvSpPr/>
          <p:nvPr/>
        </p:nvSpPr>
        <p:spPr>
          <a:xfrm>
            <a:off x="3767328" y="3291840"/>
            <a:ext cx="1051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13048" y="343814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No</a:t>
            </a:r>
            <a:endParaRPr lang="en-US" sz="1040" dirty="0"/>
          </a:p>
        </p:txBody>
      </p:sp>
      <p:sp>
        <p:nvSpPr>
          <p:cNvPr id="48" name="Shape 46"/>
          <p:cNvSpPr/>
          <p:nvPr/>
        </p:nvSpPr>
        <p:spPr>
          <a:xfrm>
            <a:off x="4818888" y="3291840"/>
            <a:ext cx="1051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343814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Yes</a:t>
            </a:r>
            <a:endParaRPr lang="en-US" sz="1040" dirty="0"/>
          </a:p>
        </p:txBody>
      </p:sp>
      <p:sp>
        <p:nvSpPr>
          <p:cNvPr id="50" name="Shape 48"/>
          <p:cNvSpPr/>
          <p:nvPr/>
        </p:nvSpPr>
        <p:spPr>
          <a:xfrm>
            <a:off x="5870448" y="3291840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16168" y="343814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Yes</a:t>
            </a:r>
            <a:endParaRPr lang="en-US" sz="1040" dirty="0"/>
          </a:p>
        </p:txBody>
      </p:sp>
      <p:sp>
        <p:nvSpPr>
          <p:cNvPr id="52" name="Shape 50"/>
          <p:cNvSpPr/>
          <p:nvPr/>
        </p:nvSpPr>
        <p:spPr>
          <a:xfrm>
            <a:off x="7013448" y="3291840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59168" y="343814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Navigation</a:t>
            </a:r>
            <a:endParaRPr lang="en-US" sz="1040" dirty="0"/>
          </a:p>
        </p:txBody>
      </p:sp>
      <p:sp>
        <p:nvSpPr>
          <p:cNvPr id="54" name="Shape 52"/>
          <p:cNvSpPr/>
          <p:nvPr/>
        </p:nvSpPr>
        <p:spPr>
          <a:xfrm>
            <a:off x="658368" y="3803904"/>
            <a:ext cx="205740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4088" y="395020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0273D"/>
                </a:solidFill>
              </a:rPr>
              <a:t>Insert front</a:t>
            </a:r>
            <a:endParaRPr lang="en-US" sz="1040" dirty="0"/>
          </a:p>
        </p:txBody>
      </p:sp>
      <p:sp>
        <p:nvSpPr>
          <p:cNvPr id="56" name="Shape 54"/>
          <p:cNvSpPr/>
          <p:nvPr/>
        </p:nvSpPr>
        <p:spPr>
          <a:xfrm>
            <a:off x="2715768" y="3803904"/>
            <a:ext cx="105156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61488" y="395020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O(1)</a:t>
            </a:r>
            <a:endParaRPr lang="en-US" sz="1040" dirty="0"/>
          </a:p>
        </p:txBody>
      </p:sp>
      <p:sp>
        <p:nvSpPr>
          <p:cNvPr id="58" name="Shape 56"/>
          <p:cNvSpPr/>
          <p:nvPr/>
        </p:nvSpPr>
        <p:spPr>
          <a:xfrm>
            <a:off x="3767328" y="3803904"/>
            <a:ext cx="105156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13048" y="395020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O(n)*</a:t>
            </a:r>
            <a:endParaRPr lang="en-US" sz="1040" dirty="0"/>
          </a:p>
        </p:txBody>
      </p:sp>
      <p:sp>
        <p:nvSpPr>
          <p:cNvPr id="60" name="Shape 58"/>
          <p:cNvSpPr/>
          <p:nvPr/>
        </p:nvSpPr>
        <p:spPr>
          <a:xfrm>
            <a:off x="4818888" y="3803904"/>
            <a:ext cx="105156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64608" y="395020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O(1)</a:t>
            </a:r>
            <a:endParaRPr lang="en-US" sz="1040" dirty="0"/>
          </a:p>
        </p:txBody>
      </p:sp>
      <p:sp>
        <p:nvSpPr>
          <p:cNvPr id="62" name="Shape 60"/>
          <p:cNvSpPr/>
          <p:nvPr/>
        </p:nvSpPr>
        <p:spPr>
          <a:xfrm>
            <a:off x="5870448" y="3803904"/>
            <a:ext cx="114300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16168" y="39502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O(1)</a:t>
            </a:r>
            <a:endParaRPr lang="en-US" sz="1040" dirty="0"/>
          </a:p>
        </p:txBody>
      </p:sp>
      <p:sp>
        <p:nvSpPr>
          <p:cNvPr id="64" name="Shape 62"/>
          <p:cNvSpPr/>
          <p:nvPr/>
        </p:nvSpPr>
        <p:spPr>
          <a:xfrm>
            <a:off x="7013448" y="3803904"/>
            <a:ext cx="114300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59168" y="39502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*O(1) with tail</a:t>
            </a:r>
            <a:endParaRPr lang="en-US" sz="1040" dirty="0"/>
          </a:p>
        </p:txBody>
      </p:sp>
      <p:sp>
        <p:nvSpPr>
          <p:cNvPr id="66" name="Shape 64"/>
          <p:cNvSpPr/>
          <p:nvPr/>
        </p:nvSpPr>
        <p:spPr>
          <a:xfrm>
            <a:off x="658368" y="4315968"/>
            <a:ext cx="2057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4088" y="44622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0273D"/>
                </a:solidFill>
              </a:rPr>
              <a:t>Delete last</a:t>
            </a:r>
            <a:endParaRPr lang="en-US" sz="1040" dirty="0"/>
          </a:p>
        </p:txBody>
      </p:sp>
      <p:sp>
        <p:nvSpPr>
          <p:cNvPr id="68" name="Shape 66"/>
          <p:cNvSpPr/>
          <p:nvPr/>
        </p:nvSpPr>
        <p:spPr>
          <a:xfrm>
            <a:off x="2715768" y="4315968"/>
            <a:ext cx="1051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61488" y="44622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O(n)</a:t>
            </a:r>
            <a:endParaRPr lang="en-US" sz="1040" dirty="0"/>
          </a:p>
        </p:txBody>
      </p:sp>
      <p:sp>
        <p:nvSpPr>
          <p:cNvPr id="70" name="Shape 68"/>
          <p:cNvSpPr/>
          <p:nvPr/>
        </p:nvSpPr>
        <p:spPr>
          <a:xfrm>
            <a:off x="3767328" y="4315968"/>
            <a:ext cx="1051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813048" y="44622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O(n)*</a:t>
            </a:r>
            <a:endParaRPr lang="en-US" sz="1040" dirty="0"/>
          </a:p>
        </p:txBody>
      </p:sp>
      <p:sp>
        <p:nvSpPr>
          <p:cNvPr id="72" name="Shape 70"/>
          <p:cNvSpPr/>
          <p:nvPr/>
        </p:nvSpPr>
        <p:spPr>
          <a:xfrm>
            <a:off x="4818888" y="4315968"/>
            <a:ext cx="1051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64608" y="44622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O(n)**</a:t>
            </a:r>
            <a:endParaRPr lang="en-US" sz="1040" dirty="0"/>
          </a:p>
        </p:txBody>
      </p:sp>
      <p:sp>
        <p:nvSpPr>
          <p:cNvPr id="74" name="Shape 72"/>
          <p:cNvSpPr/>
          <p:nvPr/>
        </p:nvSpPr>
        <p:spPr>
          <a:xfrm>
            <a:off x="5870448" y="4315968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916168" y="446227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O(1)</a:t>
            </a:r>
            <a:endParaRPr lang="en-US" sz="1040" dirty="0"/>
          </a:p>
        </p:txBody>
      </p:sp>
      <p:sp>
        <p:nvSpPr>
          <p:cNvPr id="76" name="Shape 74"/>
          <p:cNvSpPr/>
          <p:nvPr/>
        </p:nvSpPr>
        <p:spPr>
          <a:xfrm>
            <a:off x="7013448" y="4315968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59168" y="446227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**O(1) with tail</a:t>
            </a:r>
            <a:endParaRPr lang="en-US" sz="1040" dirty="0"/>
          </a:p>
        </p:txBody>
      </p:sp>
      <p:sp>
        <p:nvSpPr>
          <p:cNvPr id="78" name="Shape 76"/>
          <p:cNvSpPr/>
          <p:nvPr/>
        </p:nvSpPr>
        <p:spPr>
          <a:xfrm>
            <a:off x="658368" y="4828032"/>
            <a:ext cx="205740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04088" y="497433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0273D"/>
                </a:solidFill>
              </a:rPr>
              <a:t>Best fit</a:t>
            </a:r>
            <a:endParaRPr lang="en-US" sz="1040" dirty="0"/>
          </a:p>
        </p:txBody>
      </p:sp>
      <p:sp>
        <p:nvSpPr>
          <p:cNvPr id="80" name="Shape 78"/>
          <p:cNvSpPr/>
          <p:nvPr/>
        </p:nvSpPr>
        <p:spPr>
          <a:xfrm>
            <a:off x="2715768" y="4828032"/>
            <a:ext cx="105156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61488" y="497433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Simple</a:t>
            </a:r>
            <a:endParaRPr lang="en-US" sz="1040" dirty="0"/>
          </a:p>
        </p:txBody>
      </p:sp>
      <p:sp>
        <p:nvSpPr>
          <p:cNvPr id="82" name="Shape 80"/>
          <p:cNvSpPr/>
          <p:nvPr/>
        </p:nvSpPr>
        <p:spPr>
          <a:xfrm>
            <a:off x="3767328" y="4828032"/>
            <a:ext cx="105156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813048" y="497433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Cyclic</a:t>
            </a:r>
            <a:endParaRPr lang="en-US" sz="1040" dirty="0"/>
          </a:p>
        </p:txBody>
      </p:sp>
      <p:sp>
        <p:nvSpPr>
          <p:cNvPr id="84" name="Shape 82"/>
          <p:cNvSpPr/>
          <p:nvPr/>
        </p:nvSpPr>
        <p:spPr>
          <a:xfrm>
            <a:off x="4818888" y="4828032"/>
            <a:ext cx="105156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64608" y="497433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Bidirectional</a:t>
            </a:r>
            <a:endParaRPr lang="en-US" sz="1040" dirty="0"/>
          </a:p>
        </p:txBody>
      </p:sp>
      <p:sp>
        <p:nvSpPr>
          <p:cNvPr id="86" name="Shape 84"/>
          <p:cNvSpPr/>
          <p:nvPr/>
        </p:nvSpPr>
        <p:spPr>
          <a:xfrm>
            <a:off x="5870448" y="4828032"/>
            <a:ext cx="114300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16168" y="497433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Cyclic + bi</a:t>
            </a:r>
            <a:endParaRPr lang="en-US" sz="1040" dirty="0"/>
          </a:p>
        </p:txBody>
      </p:sp>
      <p:sp>
        <p:nvSpPr>
          <p:cNvPr id="88" name="Shape 86"/>
          <p:cNvSpPr/>
          <p:nvPr/>
        </p:nvSpPr>
        <p:spPr>
          <a:xfrm>
            <a:off x="7013448" y="4828032"/>
            <a:ext cx="114300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059168" y="497433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D3D"/>
                </a:solidFill>
              </a:rPr>
              <a:t>Use case</a:t>
            </a:r>
            <a:endParaRPr lang="en-US" sz="1040" dirty="0"/>
          </a:p>
        </p:txBody>
      </p:sp>
      <p:sp>
        <p:nvSpPr>
          <p:cNvPr id="9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8 • RECAP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Common C mistakes — and how to prevent them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DEBEB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64008" cy="1234440"/>
          </a:xfrm>
          <a:prstGeom prst="rect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9339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NULL dereference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31181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Always test a pointer before using -&gt; on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3D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828800"/>
            <a:ext cx="64008" cy="1234440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99339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Lost sub-list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72000" y="2377440"/>
            <a:ext cx="31181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Save the old link before overwriting a pointer.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EEECFA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828800"/>
            <a:ext cx="64008" cy="1234440"/>
          </a:xfrm>
          <a:prstGeom prst="rect">
            <a:avLst/>
          </a:prstGeom>
          <a:solidFill>
            <a:srgbClr val="6C63C7"/>
          </a:solidFill>
          <a:ln w="12700">
            <a:solidFill>
              <a:srgbClr val="6C6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99339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Memory leak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29600" y="2377440"/>
            <a:ext cx="31181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free() nodes that are removed and no longer reachable.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DEBEB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383280"/>
            <a:ext cx="64008" cy="1234440"/>
          </a:xfrm>
          <a:prstGeom prst="rect">
            <a:avLst/>
          </a:prstGeom>
          <a:solidFill>
            <a:srgbClr val="D64B4B"/>
          </a:solidFill>
          <a:ln w="12700">
            <a:solidFill>
              <a:srgbClr val="D64B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54787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Use-after-free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14400" y="3931920"/>
            <a:ext cx="31181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Never access a node after free(temp).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89120" y="338328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DFF7F3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383280"/>
            <a:ext cx="64008" cy="1234440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54787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Missed edge case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572000" y="3931920"/>
            <a:ext cx="31181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Test: empty list, one node, first node, last node.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46720" y="338328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E8EEF5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3383280"/>
            <a:ext cx="64008" cy="1234440"/>
          </a:xfrm>
          <a:prstGeom prst="rect">
            <a:avLst/>
          </a:prstGeom>
          <a:solidFill>
            <a:srgbClr val="10273D"/>
          </a:solidFill>
          <a:ln w="12700">
            <a:solidFill>
              <a:srgbClr val="1027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354787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73D"/>
                </a:solidFill>
              </a:rPr>
              <a:t>Infinite circular loop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229600" y="3931920"/>
            <a:ext cx="31181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</a:rPr>
              <a:t>Stop after a full cycle — not at NULL.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5074920"/>
            <a:ext cx="10744200" cy="658368"/>
          </a:xfrm>
          <a:prstGeom prst="roundRect">
            <a:avLst>
              <a:gd name="adj" fmla="val 8333"/>
            </a:avLst>
          </a:prstGeom>
          <a:solidFill>
            <a:srgbClr val="E6F6EF"/>
          </a:solidFill>
          <a:ln w="12700">
            <a:solidFill>
              <a:srgbClr val="E6F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" y="5193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2C9A6B"/>
                </a:solidFill>
              </a:rPr>
              <a:t>DEBUGGING HABIT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77824" y="5440680"/>
            <a:ext cx="10451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After every update, redraw the links and verify the structure invariants before running the next line.</a:t>
            </a:r>
            <a:endParaRPr lang="en-US" sz="123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2B8A6"/>
                </a:solidFill>
              </a:rPr>
              <a:t>8 • RECAP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73D"/>
                </a:solidFill>
              </a:rPr>
              <a:t>Quick check: can you reason about the links?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4595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44752" y="18288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10" dirty="0">
                <a:solidFill>
                  <a:srgbClr val="1F2D3D"/>
                </a:solidFill>
              </a:rPr>
              <a:t>Why must `new-&gt;next = head` happen before `head = new`?</a:t>
            </a:r>
            <a:endParaRPr lang="en-US" sz="1510" dirty="0"/>
          </a:p>
        </p:txBody>
      </p:sp>
      <p:sp>
        <p:nvSpPr>
          <p:cNvPr id="8" name="Shape 6"/>
          <p:cNvSpPr/>
          <p:nvPr/>
        </p:nvSpPr>
        <p:spPr>
          <a:xfrm>
            <a:off x="777240" y="2569464"/>
            <a:ext cx="457200" cy="457200"/>
          </a:xfrm>
          <a:prstGeom prst="ellipse">
            <a:avLst/>
          </a:prstGeom>
          <a:solidFill>
            <a:srgbClr val="10273D"/>
          </a:solidFill>
          <a:ln w="12700">
            <a:solidFill>
              <a:srgbClr val="1027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0662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444752" y="261518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10" dirty="0">
                <a:solidFill>
                  <a:srgbClr val="1F2D3D"/>
                </a:solidFill>
              </a:rPr>
              <a:t>What condition ends traversal in a circular list?</a:t>
            </a:r>
            <a:endParaRPr lang="en-US" sz="1510" dirty="0"/>
          </a:p>
        </p:txBody>
      </p:sp>
      <p:sp>
        <p:nvSpPr>
          <p:cNvPr id="11" name="Shape 9"/>
          <p:cNvSpPr/>
          <p:nvPr/>
        </p:nvSpPr>
        <p:spPr>
          <a:xfrm>
            <a:off x="777240" y="3355848"/>
            <a:ext cx="457200" cy="457200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930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444752" y="34015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10" dirty="0">
                <a:solidFill>
                  <a:srgbClr val="1F2D3D"/>
                </a:solidFill>
              </a:rPr>
              <a:t>Why is deleting the last node easier in a doubly list?</a:t>
            </a:r>
            <a:endParaRPr lang="en-US" sz="1510" dirty="0"/>
          </a:p>
        </p:txBody>
      </p:sp>
      <p:sp>
        <p:nvSpPr>
          <p:cNvPr id="14" name="Shape 12"/>
          <p:cNvSpPr/>
          <p:nvPr/>
        </p:nvSpPr>
        <p:spPr>
          <a:xfrm>
            <a:off x="777240" y="4142232"/>
            <a:ext cx="457200" cy="457200"/>
          </a:xfrm>
          <a:prstGeom prst="ellipse">
            <a:avLst/>
          </a:prstGeom>
          <a:solidFill>
            <a:srgbClr val="10273D"/>
          </a:solidFill>
          <a:ln w="12700">
            <a:solidFill>
              <a:srgbClr val="1027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27939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444752" y="418795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10" dirty="0">
                <a:solidFill>
                  <a:srgbClr val="1F2D3D"/>
                </a:solidFill>
              </a:rPr>
              <a:t>Which operation becomes O(1) when a tail pointer is maintained?</a:t>
            </a:r>
            <a:endParaRPr lang="en-US" sz="1510" dirty="0"/>
          </a:p>
        </p:txBody>
      </p:sp>
      <p:sp>
        <p:nvSpPr>
          <p:cNvPr id="17" name="Shape 15"/>
          <p:cNvSpPr/>
          <p:nvPr/>
        </p:nvSpPr>
        <p:spPr>
          <a:xfrm>
            <a:off x="777240" y="4928616"/>
            <a:ext cx="457200" cy="457200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0657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444752" y="497433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10" dirty="0">
                <a:solidFill>
                  <a:srgbClr val="1F2D3D"/>
                </a:solidFill>
              </a:rPr>
              <a:t>What does `free(ptr)` do that `ptr = NULL` does not?</a:t>
            </a:r>
            <a:endParaRPr lang="en-US" sz="1510" dirty="0"/>
          </a:p>
        </p:txBody>
      </p:sp>
      <p:sp>
        <p:nvSpPr>
          <p:cNvPr id="20" name="Shape 18"/>
          <p:cNvSpPr/>
          <p:nvPr/>
        </p:nvSpPr>
        <p:spPr>
          <a:xfrm>
            <a:off x="777240" y="5806440"/>
            <a:ext cx="10378440" cy="384048"/>
          </a:xfrm>
          <a:prstGeom prst="roundRect">
            <a:avLst>
              <a:gd name="adj" fmla="val 14286"/>
            </a:avLst>
          </a:prstGeom>
          <a:solidFill>
            <a:srgbClr val="EEECFA"/>
          </a:solidFill>
          <a:ln w="12700">
            <a:solidFill>
              <a:srgbClr val="EEEC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" y="59253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6C63C7"/>
                </a:solidFill>
              </a:rPr>
              <a:t>EXIT TICKET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23544" y="6172200"/>
            <a:ext cx="100858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D3D"/>
                </a:solidFill>
              </a:rPr>
              <a:t>Explain one linked-list operation using only a diagram and pointer assignments.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5527</Words>
  <Application>Microsoft Office PowerPoint</Application>
  <PresentationFormat>Widescreen</PresentationFormat>
  <Paragraphs>1243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Aptos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Teaching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 Lists — Professional Teaching Deck</dc:title>
  <dc:subject>Linked List (CS-403) teaching deck</dc:subject>
  <dc:creator>OpenAI</dc:creator>
  <cp:lastModifiedBy>Rajeev Kumar</cp:lastModifiedBy>
  <cp:revision>2</cp:revision>
  <dcterms:created xsi:type="dcterms:W3CDTF">2026-08-31T07:09:15Z</dcterms:created>
  <dcterms:modified xsi:type="dcterms:W3CDTF">2026-08-31T08:39:27Z</dcterms:modified>
</cp:coreProperties>
</file>