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7" r:id="rId18"/>
    <p:sldId id="268" r:id="rId19"/>
    <p:sldId id="269" r:id="rId20"/>
    <p:sldId id="270" r:id="rId21"/>
    <p:sldId id="271" r:id="rId22"/>
    <p:sldId id="272" r:id="rId23"/>
    <p:sldId id="273" r:id="rId24"/>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114"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322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sorting and explain why it matters for efficient searching and as a foundation for other algorithms. List common sorting techniques briefly, then introduce insertion sort as the topic for today's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insertion sort and use the playing-cards analogy — most students relate to this immediately. Emphasize the two portions of the array: sorted (left, growing) and unsorted (right, shrinking) — this framing is used throughout the rest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conceptual steps. Stress that 'shifting' is not the same as 'swapping' — insertion sort shifts a block of elements to open a gap, then places the key once, unlike bubble sort's pairwise swaps.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five insertions in order. For 'Insert 1', pause — this is the worst case for this array, requiring the key to shift past four elements before reaching index 0. Point out how the sorted (tinted) region grows by one every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standard terminology: array A, key, and index j. Walk through the while-loop condition carefully — this is where students most often get confused, since it combines a bounds check (j &gt;= 0) with a value comparison (A[j] &gt;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direct correspondence between the pseudocode and the C code — same variable names (key, j, i), same loop structure. Mention that arrays decay to pointers when passed to functions in C, so the original array is sorted in place.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work-intensive iteration in our example, so it best illustrates the while-loop. Point out the 'hole' left behind as each element shifts right, and how j decrements until either an equal-or-smaller element is found or j reaches -1.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best case with a sorted array — the while condition fails immediately for every i, giving O(n). Contrast with worst case (reverse-sorted) where every key must travel all the way to index 0, giving O(n^2). Space stays O(1) because sorting is done in-place.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property quickly. Stability and adaptiveness are worth emphasizing, as they are the main reasons insertion sort remains useful — for example, some hybrid algorithms like Timsort use insertion sort for small sub-arrays.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trade-offs. The key message: insertion sort trades asymptotic efficiency for simplicity and low overhead, which is exactly why it excels on small or nearly-sorted inputs but struggles as n grows large.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FFFFFF">
              <a:alpha val="8000"/>
            </a:srgbClr>
          </a:solidFill>
          <a:ln/>
        </p:spPr>
      </p:sp>
      <p:sp>
        <p:nvSpPr>
          <p:cNvPr id="3" name="Shape 1"/>
          <p:cNvSpPr/>
          <p:nvPr/>
        </p:nvSpPr>
        <p:spPr>
          <a:xfrm rot="1080000">
            <a:off x="-1005840" y="5669280"/>
            <a:ext cx="2011680" cy="2834640"/>
          </a:xfrm>
          <a:prstGeom prst="roundRect">
            <a:avLst>
              <a:gd name="adj" fmla="val 8182"/>
            </a:avLst>
          </a:prstGeom>
          <a:solidFill>
            <a:srgbClr val="FFFFFF">
              <a:alpha val="8000"/>
            </a:srgbClr>
          </a:solidFill>
          <a:ln/>
        </p:spPr>
      </p:sp>
      <p:sp>
        <p:nvSpPr>
          <p:cNvPr id="4" name="Text 2"/>
          <p:cNvSpPr txBox="1"/>
          <p:nvPr/>
        </p:nvSpPr>
        <p:spPr>
          <a:xfrm>
            <a:off x="822960" y="1554480"/>
            <a:ext cx="9144000" cy="365760"/>
          </a:xfrm>
          <a:prstGeom prst="rect">
            <a:avLst/>
          </a:prstGeom>
          <a:noFill/>
          <a:ln/>
        </p:spPr>
        <p:txBody>
          <a:bodyPr wrap="square" lIns="0" tIns="0" rIns="0" bIns="0" rtlCol="0" anchor="ctr"/>
          <a:lstStyle/>
          <a:p>
            <a:pPr marL="0" indent="0">
              <a:buNone/>
            </a:pPr>
            <a:r>
              <a:rPr lang="en-US" sz="1400" b="1" kern="0" spc="300" dirty="0">
                <a:solidFill>
                  <a:srgbClr val="D9A404"/>
                </a:solidFill>
                <a:latin typeface="Calibri" pitchFamily="34" charset="0"/>
                <a:ea typeface="Calibri" pitchFamily="34" charset="-122"/>
                <a:cs typeface="Calibri" pitchFamily="34" charset="-120"/>
              </a:rPr>
              <a:t>DATA STRUCTURES USING C</a:t>
            </a:r>
            <a:endParaRPr lang="en-US" sz="1400" dirty="0"/>
          </a:p>
        </p:txBody>
      </p:sp>
      <p:sp>
        <p:nvSpPr>
          <p:cNvPr id="5" name="Text 3"/>
          <p:cNvSpPr txBox="1"/>
          <p:nvPr/>
        </p:nvSpPr>
        <p:spPr>
          <a:xfrm>
            <a:off x="777240" y="1920240"/>
            <a:ext cx="10058400" cy="1188720"/>
          </a:xfrm>
          <a:prstGeom prst="rect">
            <a:avLst/>
          </a:prstGeom>
          <a:noFill/>
          <a:ln/>
        </p:spPr>
        <p:txBody>
          <a:bodyPr wrap="square" lIns="0" tIns="0" rIns="0" bIns="0" rtlCol="0" anchor="ctr"/>
          <a:lstStyle/>
          <a:p>
            <a:pPr marL="0" indent="0">
              <a:buNone/>
            </a:pPr>
            <a:r>
              <a:rPr lang="en-US" sz="6000" b="1" dirty="0">
                <a:latin typeface="Cambria" pitchFamily="34" charset="0"/>
                <a:ea typeface="Cambria" pitchFamily="34" charset="-122"/>
                <a:cs typeface="Cambria" pitchFamily="34" charset="-120"/>
              </a:rPr>
              <a:t>Insertion Sort</a:t>
            </a:r>
            <a:endParaRPr lang="en-US" sz="6000" dirty="0"/>
          </a:p>
        </p:txBody>
      </p:sp>
      <p:sp>
        <p:nvSpPr>
          <p:cNvPr id="6" name="Text 4"/>
          <p:cNvSpPr txBox="1"/>
          <p:nvPr/>
        </p:nvSpPr>
        <p:spPr>
          <a:xfrm>
            <a:off x="822960" y="3108960"/>
            <a:ext cx="8778240" cy="548640"/>
          </a:xfrm>
          <a:prstGeom prst="rect">
            <a:avLst/>
          </a:prstGeom>
          <a:noFill/>
          <a:ln/>
        </p:spPr>
        <p:txBody>
          <a:bodyPr wrap="square" lIns="0" tIns="0" rIns="0" bIns="0" rtlCol="0" anchor="ctr"/>
          <a:lstStyle/>
          <a:p>
            <a:pPr marL="0" indent="0">
              <a:lnSpc>
                <a:spcPct val="130000"/>
              </a:lnSpc>
              <a:buNone/>
            </a:pPr>
            <a:r>
              <a:rPr lang="en-US" sz="1500" dirty="0">
                <a:solidFill>
                  <a:schemeClr val="accent1">
                    <a:lumMod val="75000"/>
                  </a:schemeClr>
                </a:solidFill>
                <a:latin typeface="Calibri" pitchFamily="34" charset="0"/>
                <a:ea typeface="Calibri" pitchFamily="34" charset="-122"/>
                <a:cs typeface="Calibri" pitchFamily="34" charset="-120"/>
              </a:rPr>
              <a:t>A classic sorting algorithm — concept, step-by-step trace, C implementation, and complexity analysis.</a:t>
            </a:r>
            <a:endParaRPr lang="en-US" sz="1500" dirty="0">
              <a:solidFill>
                <a:schemeClr val="accent1">
                  <a:lumMod val="75000"/>
                </a:schemeClr>
              </a:solidFill>
            </a:endParaRPr>
          </a:p>
        </p:txBody>
      </p:sp>
      <p:sp>
        <p:nvSpPr>
          <p:cNvPr id="7" name="Shape 5"/>
          <p:cNvSpPr/>
          <p:nvPr/>
        </p:nvSpPr>
        <p:spPr>
          <a:xfrm>
            <a:off x="822960" y="3977640"/>
            <a:ext cx="566928" cy="566928"/>
          </a:xfrm>
          <a:prstGeom prst="roundRect">
            <a:avLst>
              <a:gd name="adj" fmla="val 19355"/>
            </a:avLst>
          </a:prstGeom>
          <a:solidFill>
            <a:srgbClr val="FFFFFF"/>
          </a:solidFill>
          <a:ln w="22225">
            <a:solidFill>
              <a:srgbClr val="3C4E8C"/>
            </a:solidFill>
            <a:prstDash val="solid"/>
          </a:ln>
        </p:spPr>
      </p:sp>
      <p:sp>
        <p:nvSpPr>
          <p:cNvPr id="8" name="Text 6"/>
          <p:cNvSpPr txBox="1"/>
          <p:nvPr/>
        </p:nvSpPr>
        <p:spPr>
          <a:xfrm>
            <a:off x="822960" y="3977640"/>
            <a:ext cx="566928" cy="566928"/>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5</a:t>
            </a:r>
            <a:endParaRPr lang="en-US" sz="1500" dirty="0"/>
          </a:p>
        </p:txBody>
      </p:sp>
      <p:sp>
        <p:nvSpPr>
          <p:cNvPr id="9" name="Text 7"/>
          <p:cNvSpPr txBox="1"/>
          <p:nvPr/>
        </p:nvSpPr>
        <p:spPr>
          <a:xfrm>
            <a:off x="822960" y="4572000"/>
            <a:ext cx="566928"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10" name="Shape 8"/>
          <p:cNvSpPr/>
          <p:nvPr/>
        </p:nvSpPr>
        <p:spPr>
          <a:xfrm>
            <a:off x="1508760" y="3977640"/>
            <a:ext cx="566928" cy="566928"/>
          </a:xfrm>
          <a:prstGeom prst="roundRect">
            <a:avLst>
              <a:gd name="adj" fmla="val 19355"/>
            </a:avLst>
          </a:prstGeom>
          <a:solidFill>
            <a:srgbClr val="FFFFFF"/>
          </a:solidFill>
          <a:ln w="22225">
            <a:solidFill>
              <a:srgbClr val="3C4E8C"/>
            </a:solidFill>
            <a:prstDash val="solid"/>
          </a:ln>
        </p:spPr>
      </p:sp>
      <p:sp>
        <p:nvSpPr>
          <p:cNvPr id="11" name="Text 9"/>
          <p:cNvSpPr txBox="1"/>
          <p:nvPr/>
        </p:nvSpPr>
        <p:spPr>
          <a:xfrm>
            <a:off x="1508760" y="3977640"/>
            <a:ext cx="566928" cy="566928"/>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2</a:t>
            </a:r>
            <a:endParaRPr lang="en-US" sz="1500" dirty="0"/>
          </a:p>
        </p:txBody>
      </p:sp>
      <p:sp>
        <p:nvSpPr>
          <p:cNvPr id="12" name="Text 10"/>
          <p:cNvSpPr txBox="1"/>
          <p:nvPr/>
        </p:nvSpPr>
        <p:spPr>
          <a:xfrm>
            <a:off x="1508760" y="4572000"/>
            <a:ext cx="566928"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13" name="Shape 11"/>
          <p:cNvSpPr/>
          <p:nvPr/>
        </p:nvSpPr>
        <p:spPr>
          <a:xfrm>
            <a:off x="2194560" y="3977640"/>
            <a:ext cx="566928" cy="566928"/>
          </a:xfrm>
          <a:prstGeom prst="roundRect">
            <a:avLst>
              <a:gd name="adj" fmla="val 19355"/>
            </a:avLst>
          </a:prstGeom>
          <a:solidFill>
            <a:srgbClr val="FFFFFF"/>
          </a:solidFill>
          <a:ln w="22225">
            <a:solidFill>
              <a:srgbClr val="3C4E8C"/>
            </a:solidFill>
            <a:prstDash val="solid"/>
          </a:ln>
        </p:spPr>
      </p:sp>
      <p:sp>
        <p:nvSpPr>
          <p:cNvPr id="14" name="Text 12"/>
          <p:cNvSpPr txBox="1"/>
          <p:nvPr/>
        </p:nvSpPr>
        <p:spPr>
          <a:xfrm>
            <a:off x="2194560" y="3977640"/>
            <a:ext cx="566928" cy="566928"/>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4</a:t>
            </a:r>
            <a:endParaRPr lang="en-US" sz="1500" dirty="0"/>
          </a:p>
        </p:txBody>
      </p:sp>
      <p:sp>
        <p:nvSpPr>
          <p:cNvPr id="15" name="Text 13"/>
          <p:cNvSpPr txBox="1"/>
          <p:nvPr/>
        </p:nvSpPr>
        <p:spPr>
          <a:xfrm>
            <a:off x="2194560" y="4572000"/>
            <a:ext cx="566928"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16" name="Shape 14"/>
          <p:cNvSpPr/>
          <p:nvPr/>
        </p:nvSpPr>
        <p:spPr>
          <a:xfrm>
            <a:off x="2880360" y="3977640"/>
            <a:ext cx="566928" cy="566928"/>
          </a:xfrm>
          <a:prstGeom prst="roundRect">
            <a:avLst>
              <a:gd name="adj" fmla="val 19355"/>
            </a:avLst>
          </a:prstGeom>
          <a:solidFill>
            <a:srgbClr val="FFFFFF"/>
          </a:solidFill>
          <a:ln w="22225">
            <a:solidFill>
              <a:srgbClr val="3C4E8C"/>
            </a:solidFill>
            <a:prstDash val="solid"/>
          </a:ln>
        </p:spPr>
      </p:sp>
      <p:sp>
        <p:nvSpPr>
          <p:cNvPr id="17" name="Text 15"/>
          <p:cNvSpPr txBox="1"/>
          <p:nvPr/>
        </p:nvSpPr>
        <p:spPr>
          <a:xfrm>
            <a:off x="2880360" y="3977640"/>
            <a:ext cx="566928" cy="566928"/>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6</a:t>
            </a:r>
            <a:endParaRPr lang="en-US" sz="1500" dirty="0"/>
          </a:p>
        </p:txBody>
      </p:sp>
      <p:sp>
        <p:nvSpPr>
          <p:cNvPr id="18" name="Text 16"/>
          <p:cNvSpPr txBox="1"/>
          <p:nvPr/>
        </p:nvSpPr>
        <p:spPr>
          <a:xfrm>
            <a:off x="2880360" y="4572000"/>
            <a:ext cx="566928"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19" name="Shape 17"/>
          <p:cNvSpPr/>
          <p:nvPr/>
        </p:nvSpPr>
        <p:spPr>
          <a:xfrm>
            <a:off x="3566160" y="3977640"/>
            <a:ext cx="566928" cy="566928"/>
          </a:xfrm>
          <a:prstGeom prst="roundRect">
            <a:avLst>
              <a:gd name="adj" fmla="val 19355"/>
            </a:avLst>
          </a:prstGeom>
          <a:solidFill>
            <a:srgbClr val="FFFFFF"/>
          </a:solidFill>
          <a:ln w="22225">
            <a:solidFill>
              <a:srgbClr val="3C4E8C"/>
            </a:solidFill>
            <a:prstDash val="solid"/>
          </a:ln>
        </p:spPr>
      </p:sp>
      <p:sp>
        <p:nvSpPr>
          <p:cNvPr id="20" name="Text 18"/>
          <p:cNvSpPr txBox="1"/>
          <p:nvPr/>
        </p:nvSpPr>
        <p:spPr>
          <a:xfrm>
            <a:off x="3566160" y="3977640"/>
            <a:ext cx="566928" cy="566928"/>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1</a:t>
            </a:r>
            <a:endParaRPr lang="en-US" sz="1500" dirty="0"/>
          </a:p>
        </p:txBody>
      </p:sp>
      <p:sp>
        <p:nvSpPr>
          <p:cNvPr id="21" name="Text 19"/>
          <p:cNvSpPr txBox="1"/>
          <p:nvPr/>
        </p:nvSpPr>
        <p:spPr>
          <a:xfrm>
            <a:off x="3566160" y="4572000"/>
            <a:ext cx="566928"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22" name="Shape 20"/>
          <p:cNvSpPr/>
          <p:nvPr/>
        </p:nvSpPr>
        <p:spPr>
          <a:xfrm>
            <a:off x="4251960" y="3977640"/>
            <a:ext cx="566928" cy="566928"/>
          </a:xfrm>
          <a:prstGeom prst="roundRect">
            <a:avLst>
              <a:gd name="adj" fmla="val 19355"/>
            </a:avLst>
          </a:prstGeom>
          <a:solidFill>
            <a:srgbClr val="FFFFFF"/>
          </a:solidFill>
          <a:ln w="22225">
            <a:solidFill>
              <a:srgbClr val="3C4E8C"/>
            </a:solidFill>
            <a:prstDash val="solid"/>
          </a:ln>
        </p:spPr>
      </p:sp>
      <p:sp>
        <p:nvSpPr>
          <p:cNvPr id="23" name="Text 21"/>
          <p:cNvSpPr txBox="1"/>
          <p:nvPr/>
        </p:nvSpPr>
        <p:spPr>
          <a:xfrm>
            <a:off x="4251960" y="3977640"/>
            <a:ext cx="566928" cy="566928"/>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3</a:t>
            </a:r>
            <a:endParaRPr lang="en-US" sz="1500" dirty="0"/>
          </a:p>
        </p:txBody>
      </p:sp>
      <p:sp>
        <p:nvSpPr>
          <p:cNvPr id="24" name="Text 22"/>
          <p:cNvSpPr txBox="1"/>
          <p:nvPr/>
        </p:nvSpPr>
        <p:spPr>
          <a:xfrm>
            <a:off x="4251960" y="4572000"/>
            <a:ext cx="566928"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31" name="Text 29"/>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latin typeface="Calibri" pitchFamily="34" charset="0"/>
                <a:ea typeface="Calibri" pitchFamily="34" charset="-122"/>
                <a:cs typeface="Calibri" pitchFamily="34" charset="-120"/>
              </a:rPr>
              <a:t>Insertion Sort  |  Data Structures Using C</a:t>
            </a:r>
            <a:endParaRPr lang="en-US" sz="900" dirty="0"/>
          </a:p>
        </p:txBody>
      </p:sp>
      <p:sp>
        <p:nvSpPr>
          <p:cNvPr id="32" name="Text 30"/>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9FAFDD"/>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5" name="Text 3"/>
          <p:cNvSpPr txBox="1"/>
          <p:nvPr/>
        </p:nvSpPr>
        <p:spPr>
          <a:xfrm>
            <a:off x="548640" y="43891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Introduction to Sorting</a:t>
            </a:r>
            <a:endParaRPr lang="en-US" sz="3200" dirty="0"/>
          </a:p>
        </p:txBody>
      </p:sp>
      <p:sp>
        <p:nvSpPr>
          <p:cNvPr id="6" name="Text 4"/>
          <p:cNvSpPr txBox="1"/>
          <p:nvPr/>
        </p:nvSpPr>
        <p:spPr>
          <a:xfrm>
            <a:off x="387927" y="1297801"/>
            <a:ext cx="5829993" cy="822960"/>
          </a:xfrm>
          <a:prstGeom prst="rect">
            <a:avLst/>
          </a:prstGeom>
          <a:noFill/>
          <a:ln/>
        </p:spPr>
        <p:txBody>
          <a:bodyPr wrap="square" lIns="0" tIns="0" rIns="0" bIns="0" rtlCol="0" anchor="ctr"/>
          <a:lstStyle/>
          <a:p>
            <a:pPr marL="0" indent="0">
              <a:lnSpc>
                <a:spcPct val="130000"/>
              </a:lnSpc>
              <a:buNone/>
            </a:pPr>
            <a:r>
              <a:rPr lang="en-US" sz="1600" b="1" dirty="0">
                <a:solidFill>
                  <a:srgbClr val="1E2761"/>
                </a:solidFill>
                <a:latin typeface="Calibri" pitchFamily="34" charset="0"/>
                <a:ea typeface="Calibri" pitchFamily="34" charset="-122"/>
                <a:cs typeface="Calibri" pitchFamily="34" charset="-120"/>
              </a:rPr>
              <a:t>Sorting </a:t>
            </a:r>
            <a:r>
              <a:rPr lang="en-US" sz="1600" dirty="0">
                <a:solidFill>
                  <a:srgbClr val="1B2233"/>
                </a:solidFill>
                <a:latin typeface="Calibri" pitchFamily="34" charset="0"/>
                <a:ea typeface="Calibri" pitchFamily="34" charset="-122"/>
                <a:cs typeface="Calibri" pitchFamily="34" charset="-120"/>
              </a:rPr>
              <a:t>is the process of arranging the elements of a data structure — typically an array — into a defined order, usually ascending or descending.</a:t>
            </a:r>
            <a:endParaRPr lang="en-US" sz="1600" dirty="0"/>
          </a:p>
        </p:txBody>
      </p:sp>
      <p:sp>
        <p:nvSpPr>
          <p:cNvPr id="7" name="Text 5"/>
          <p:cNvSpPr txBox="1"/>
          <p:nvPr/>
        </p:nvSpPr>
        <p:spPr>
          <a:xfrm>
            <a:off x="387927" y="2351301"/>
            <a:ext cx="5486400" cy="320040"/>
          </a:xfrm>
          <a:prstGeom prst="rect">
            <a:avLst/>
          </a:prstGeom>
          <a:noFill/>
          <a:ln/>
        </p:spPr>
        <p:txBody>
          <a:bodyPr wrap="square" lIns="0" tIns="0" rIns="0" bIns="0" rtlCol="0" anchor="ctr"/>
          <a:lstStyle/>
          <a:p>
            <a:pPr marL="0" indent="0">
              <a:buNone/>
            </a:pPr>
            <a:r>
              <a:rPr lang="en-US" sz="1500" b="1" dirty="0">
                <a:solidFill>
                  <a:srgbClr val="16204A"/>
                </a:solidFill>
                <a:latin typeface="Cambria" pitchFamily="34" charset="0"/>
                <a:ea typeface="Cambria" pitchFamily="34" charset="-122"/>
                <a:cs typeface="Cambria" pitchFamily="34" charset="-120"/>
              </a:rPr>
              <a:t>Why it matters in Data Structures:</a:t>
            </a:r>
            <a:endParaRPr lang="en-US" sz="1500" dirty="0"/>
          </a:p>
        </p:txBody>
      </p:sp>
      <p:sp>
        <p:nvSpPr>
          <p:cNvPr id="8" name="Shape 6"/>
          <p:cNvSpPr/>
          <p:nvPr/>
        </p:nvSpPr>
        <p:spPr>
          <a:xfrm>
            <a:off x="548640" y="2743200"/>
            <a:ext cx="146304" cy="146304"/>
          </a:xfrm>
          <a:prstGeom prst="ellipse">
            <a:avLst/>
          </a:prstGeom>
          <a:solidFill>
            <a:srgbClr val="3C4E8C"/>
          </a:solidFill>
          <a:ln/>
        </p:spPr>
      </p:sp>
      <p:sp>
        <p:nvSpPr>
          <p:cNvPr id="9" name="Text 7"/>
          <p:cNvSpPr txBox="1"/>
          <p:nvPr/>
        </p:nvSpPr>
        <p:spPr>
          <a:xfrm>
            <a:off x="822960" y="2633472"/>
            <a:ext cx="5394960" cy="457200"/>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Sorted data enables fast searching (e.g., binary search).</a:t>
            </a:r>
            <a:endParaRPr lang="en-US" sz="1600" dirty="0"/>
          </a:p>
        </p:txBody>
      </p:sp>
      <p:sp>
        <p:nvSpPr>
          <p:cNvPr id="10" name="Shape 8"/>
          <p:cNvSpPr/>
          <p:nvPr/>
        </p:nvSpPr>
        <p:spPr>
          <a:xfrm>
            <a:off x="548640" y="3246120"/>
            <a:ext cx="146304" cy="146304"/>
          </a:xfrm>
          <a:prstGeom prst="ellipse">
            <a:avLst/>
          </a:prstGeom>
          <a:solidFill>
            <a:srgbClr val="3C4E8C"/>
          </a:solidFill>
          <a:ln/>
        </p:spPr>
      </p:sp>
      <p:sp>
        <p:nvSpPr>
          <p:cNvPr id="11" name="Text 9"/>
          <p:cNvSpPr txBox="1"/>
          <p:nvPr/>
        </p:nvSpPr>
        <p:spPr>
          <a:xfrm>
            <a:off x="822960" y="3136392"/>
            <a:ext cx="5394960" cy="457200"/>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Many algorithms and data structures assume sorted input.</a:t>
            </a:r>
            <a:endParaRPr lang="en-US" sz="1600" dirty="0"/>
          </a:p>
        </p:txBody>
      </p:sp>
      <p:sp>
        <p:nvSpPr>
          <p:cNvPr id="12" name="Shape 10"/>
          <p:cNvSpPr/>
          <p:nvPr/>
        </p:nvSpPr>
        <p:spPr>
          <a:xfrm>
            <a:off x="548640" y="3749040"/>
            <a:ext cx="146304" cy="146304"/>
          </a:xfrm>
          <a:prstGeom prst="ellipse">
            <a:avLst/>
          </a:prstGeom>
          <a:solidFill>
            <a:srgbClr val="3C4E8C"/>
          </a:solidFill>
          <a:ln/>
        </p:spPr>
      </p:sp>
      <p:sp>
        <p:nvSpPr>
          <p:cNvPr id="13" name="Text 11"/>
          <p:cNvSpPr txBox="1"/>
          <p:nvPr/>
        </p:nvSpPr>
        <p:spPr>
          <a:xfrm>
            <a:off x="822960" y="3639312"/>
            <a:ext cx="5394960" cy="457200"/>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Sorting is a foundational topic for analyzing algorithm efficiency.</a:t>
            </a:r>
            <a:endParaRPr lang="en-US" sz="1600" dirty="0"/>
          </a:p>
        </p:txBody>
      </p:sp>
      <p:sp>
        <p:nvSpPr>
          <p:cNvPr id="14" name="Text 12"/>
          <p:cNvSpPr txBox="1"/>
          <p:nvPr/>
        </p:nvSpPr>
        <p:spPr>
          <a:xfrm>
            <a:off x="548640" y="4434840"/>
            <a:ext cx="5577840" cy="1280160"/>
          </a:xfrm>
          <a:prstGeom prst="rect">
            <a:avLst/>
          </a:prstGeom>
          <a:noFill/>
          <a:ln/>
        </p:spPr>
        <p:txBody>
          <a:bodyPr wrap="square" lIns="0" tIns="0" rIns="0" bIns="0" rtlCol="0" anchor="ctr"/>
          <a:lstStyle/>
          <a:p>
            <a:pPr marL="0" indent="0">
              <a:lnSpc>
                <a:spcPct val="130000"/>
              </a:lnSpc>
              <a:buNone/>
            </a:pPr>
            <a:r>
              <a:rPr lang="en-US" sz="1600" i="1" dirty="0">
                <a:solidFill>
                  <a:srgbClr val="5B6584"/>
                </a:solidFill>
                <a:latin typeface="Calibri" pitchFamily="34" charset="0"/>
                <a:ea typeface="Calibri" pitchFamily="34" charset="-122"/>
                <a:cs typeface="Calibri" pitchFamily="34" charset="-120"/>
              </a:rPr>
              <a:t>Bubble Sort helps students grasp comparisons and swaps, while Insertion Sort builds a sorted portion incrementally — both are essential starting points before studying divide-and-conquer methods like Merge Sort and Quick Sort.</a:t>
            </a:r>
            <a:endParaRPr lang="en-US" sz="1600" dirty="0"/>
          </a:p>
        </p:txBody>
      </p:sp>
      <p:sp>
        <p:nvSpPr>
          <p:cNvPr id="15" name="Text 13"/>
          <p:cNvSpPr txBox="1"/>
          <p:nvPr/>
        </p:nvSpPr>
        <p:spPr>
          <a:xfrm>
            <a:off x="6492240" y="1417320"/>
            <a:ext cx="4754880" cy="274320"/>
          </a:xfrm>
          <a:prstGeom prst="rect">
            <a:avLst/>
          </a:prstGeom>
          <a:noFill/>
          <a:ln/>
        </p:spPr>
        <p:txBody>
          <a:bodyPr wrap="square" lIns="0" tIns="0" rIns="0" bIns="0" rtlCol="0" anchor="ctr"/>
          <a:lstStyle/>
          <a:p>
            <a:pPr marL="0" indent="0">
              <a:buNone/>
            </a:pPr>
            <a:r>
              <a:rPr lang="en-US" sz="1400" b="1" kern="0" spc="150" dirty="0">
                <a:solidFill>
                  <a:srgbClr val="3C4E8C"/>
                </a:solidFill>
                <a:latin typeface="Calibri" pitchFamily="34" charset="0"/>
                <a:ea typeface="Calibri" pitchFamily="34" charset="-122"/>
                <a:cs typeface="Calibri" pitchFamily="34" charset="-120"/>
              </a:rPr>
              <a:t>COMMON SORTING TECHNIQUES</a:t>
            </a:r>
            <a:endParaRPr lang="en-US" sz="1400" dirty="0"/>
          </a:p>
        </p:txBody>
      </p:sp>
      <p:sp>
        <p:nvSpPr>
          <p:cNvPr id="16" name="Shape 14"/>
          <p:cNvSpPr/>
          <p:nvPr/>
        </p:nvSpPr>
        <p:spPr>
          <a:xfrm>
            <a:off x="6492240" y="1783080"/>
            <a:ext cx="4480560" cy="365760"/>
          </a:xfrm>
          <a:prstGeom prst="roundRect">
            <a:avLst>
              <a:gd name="adj" fmla="val 50000"/>
            </a:avLst>
          </a:prstGeom>
          <a:solidFill>
            <a:srgbClr val="EEF2FC"/>
          </a:solidFill>
          <a:ln/>
        </p:spPr>
      </p:sp>
      <p:sp>
        <p:nvSpPr>
          <p:cNvPr id="17" name="Text 15"/>
          <p:cNvSpPr txBox="1"/>
          <p:nvPr/>
        </p:nvSpPr>
        <p:spPr>
          <a:xfrm>
            <a:off x="6492240" y="1783080"/>
            <a:ext cx="4480560" cy="365760"/>
          </a:xfrm>
          <a:prstGeom prst="rect">
            <a:avLst/>
          </a:prstGeom>
          <a:noFill/>
          <a:ln/>
        </p:spPr>
        <p:txBody>
          <a:bodyPr wrap="square" lIns="0" tIns="0" rIns="0" bIns="0" rtlCol="0" anchor="ctr"/>
          <a:lstStyle/>
          <a:p>
            <a:pPr marL="0" indent="0" algn="ctr">
              <a:buNone/>
            </a:pPr>
            <a:r>
              <a:rPr lang="en-US" sz="1300" b="1" dirty="0">
                <a:solidFill>
                  <a:srgbClr val="16204A"/>
                </a:solidFill>
                <a:latin typeface="Calibri" pitchFamily="34" charset="0"/>
                <a:ea typeface="Calibri" pitchFamily="34" charset="-122"/>
                <a:cs typeface="Calibri" pitchFamily="34" charset="-120"/>
              </a:rPr>
              <a:t>Bubble Sort</a:t>
            </a:r>
            <a:endParaRPr lang="en-US" sz="1300" dirty="0"/>
          </a:p>
        </p:txBody>
      </p:sp>
      <p:sp>
        <p:nvSpPr>
          <p:cNvPr id="18" name="Shape 16"/>
          <p:cNvSpPr/>
          <p:nvPr/>
        </p:nvSpPr>
        <p:spPr>
          <a:xfrm>
            <a:off x="6492240" y="2313432"/>
            <a:ext cx="4480560" cy="365760"/>
          </a:xfrm>
          <a:prstGeom prst="roundRect">
            <a:avLst>
              <a:gd name="adj" fmla="val 50000"/>
            </a:avLst>
          </a:prstGeom>
          <a:solidFill>
            <a:srgbClr val="EEF2FC"/>
          </a:solidFill>
          <a:ln/>
        </p:spPr>
      </p:sp>
      <p:sp>
        <p:nvSpPr>
          <p:cNvPr id="19" name="Text 17"/>
          <p:cNvSpPr txBox="1"/>
          <p:nvPr/>
        </p:nvSpPr>
        <p:spPr>
          <a:xfrm>
            <a:off x="6492240" y="2313432"/>
            <a:ext cx="4480560" cy="365760"/>
          </a:xfrm>
          <a:prstGeom prst="rect">
            <a:avLst/>
          </a:prstGeom>
          <a:noFill/>
          <a:ln/>
        </p:spPr>
        <p:txBody>
          <a:bodyPr wrap="square" lIns="0" tIns="0" rIns="0" bIns="0" rtlCol="0" anchor="ctr"/>
          <a:lstStyle/>
          <a:p>
            <a:pPr marL="0" indent="0" algn="ctr">
              <a:buNone/>
            </a:pPr>
            <a:r>
              <a:rPr lang="en-US" sz="1300" b="1" dirty="0">
                <a:solidFill>
                  <a:srgbClr val="16204A"/>
                </a:solidFill>
                <a:latin typeface="Calibri" pitchFamily="34" charset="0"/>
                <a:ea typeface="Calibri" pitchFamily="34" charset="-122"/>
                <a:cs typeface="Calibri" pitchFamily="34" charset="-120"/>
              </a:rPr>
              <a:t>Selection Sort</a:t>
            </a:r>
            <a:endParaRPr lang="en-US" sz="1300" dirty="0"/>
          </a:p>
        </p:txBody>
      </p:sp>
      <p:sp>
        <p:nvSpPr>
          <p:cNvPr id="20" name="Shape 18"/>
          <p:cNvSpPr/>
          <p:nvPr/>
        </p:nvSpPr>
        <p:spPr>
          <a:xfrm>
            <a:off x="6492240" y="2843784"/>
            <a:ext cx="4480560" cy="365760"/>
          </a:xfrm>
          <a:prstGeom prst="roundRect">
            <a:avLst>
              <a:gd name="adj" fmla="val 50000"/>
            </a:avLst>
          </a:prstGeom>
          <a:solidFill>
            <a:srgbClr val="C1272D"/>
          </a:solidFill>
          <a:ln/>
        </p:spPr>
      </p:sp>
      <p:sp>
        <p:nvSpPr>
          <p:cNvPr id="21" name="Text 19"/>
          <p:cNvSpPr txBox="1"/>
          <p:nvPr/>
        </p:nvSpPr>
        <p:spPr>
          <a:xfrm>
            <a:off x="6492240" y="2843784"/>
            <a:ext cx="44805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Insertion Sort</a:t>
            </a:r>
            <a:endParaRPr lang="en-US" sz="1300" dirty="0"/>
          </a:p>
        </p:txBody>
      </p:sp>
      <p:sp>
        <p:nvSpPr>
          <p:cNvPr id="22" name="Shape 20"/>
          <p:cNvSpPr/>
          <p:nvPr/>
        </p:nvSpPr>
        <p:spPr>
          <a:xfrm>
            <a:off x="6492240" y="3374136"/>
            <a:ext cx="4480560" cy="365760"/>
          </a:xfrm>
          <a:prstGeom prst="roundRect">
            <a:avLst>
              <a:gd name="adj" fmla="val 50000"/>
            </a:avLst>
          </a:prstGeom>
          <a:solidFill>
            <a:srgbClr val="EEF2FC"/>
          </a:solidFill>
          <a:ln/>
        </p:spPr>
      </p:sp>
      <p:sp>
        <p:nvSpPr>
          <p:cNvPr id="23" name="Text 21"/>
          <p:cNvSpPr txBox="1"/>
          <p:nvPr/>
        </p:nvSpPr>
        <p:spPr>
          <a:xfrm>
            <a:off x="6492240" y="3374136"/>
            <a:ext cx="4480560" cy="365760"/>
          </a:xfrm>
          <a:prstGeom prst="rect">
            <a:avLst/>
          </a:prstGeom>
          <a:noFill/>
          <a:ln/>
        </p:spPr>
        <p:txBody>
          <a:bodyPr wrap="square" lIns="0" tIns="0" rIns="0" bIns="0" rtlCol="0" anchor="ctr"/>
          <a:lstStyle/>
          <a:p>
            <a:pPr marL="0" indent="0" algn="ctr">
              <a:buNone/>
            </a:pPr>
            <a:r>
              <a:rPr lang="en-US" sz="1300" b="1" dirty="0">
                <a:solidFill>
                  <a:srgbClr val="16204A"/>
                </a:solidFill>
                <a:latin typeface="Calibri" pitchFamily="34" charset="0"/>
                <a:ea typeface="Calibri" pitchFamily="34" charset="-122"/>
                <a:cs typeface="Calibri" pitchFamily="34" charset="-120"/>
              </a:rPr>
              <a:t>Merge Sort</a:t>
            </a:r>
            <a:endParaRPr lang="en-US" sz="1300" dirty="0"/>
          </a:p>
        </p:txBody>
      </p:sp>
      <p:sp>
        <p:nvSpPr>
          <p:cNvPr id="24" name="Shape 22"/>
          <p:cNvSpPr/>
          <p:nvPr/>
        </p:nvSpPr>
        <p:spPr>
          <a:xfrm>
            <a:off x="6492240" y="3904488"/>
            <a:ext cx="4480560" cy="365760"/>
          </a:xfrm>
          <a:prstGeom prst="roundRect">
            <a:avLst>
              <a:gd name="adj" fmla="val 50000"/>
            </a:avLst>
          </a:prstGeom>
          <a:solidFill>
            <a:srgbClr val="EEF2FC"/>
          </a:solidFill>
          <a:ln/>
        </p:spPr>
      </p:sp>
      <p:sp>
        <p:nvSpPr>
          <p:cNvPr id="25" name="Text 23"/>
          <p:cNvSpPr txBox="1"/>
          <p:nvPr/>
        </p:nvSpPr>
        <p:spPr>
          <a:xfrm>
            <a:off x="6492240" y="3904488"/>
            <a:ext cx="4480560" cy="365760"/>
          </a:xfrm>
          <a:prstGeom prst="rect">
            <a:avLst/>
          </a:prstGeom>
          <a:noFill/>
          <a:ln/>
        </p:spPr>
        <p:txBody>
          <a:bodyPr wrap="square" lIns="0" tIns="0" rIns="0" bIns="0" rtlCol="0" anchor="ctr"/>
          <a:lstStyle/>
          <a:p>
            <a:pPr marL="0" indent="0" algn="ctr">
              <a:buNone/>
            </a:pPr>
            <a:r>
              <a:rPr lang="en-US" sz="1300" b="1" dirty="0">
                <a:solidFill>
                  <a:srgbClr val="16204A"/>
                </a:solidFill>
                <a:latin typeface="Calibri" pitchFamily="34" charset="0"/>
                <a:ea typeface="Calibri" pitchFamily="34" charset="-122"/>
                <a:cs typeface="Calibri" pitchFamily="34" charset="-120"/>
              </a:rPr>
              <a:t>Quick Sort</a:t>
            </a:r>
            <a:endParaRPr lang="en-US" sz="1300" dirty="0"/>
          </a:p>
        </p:txBody>
      </p:sp>
      <p:sp>
        <p:nvSpPr>
          <p:cNvPr id="26" name="Shape 24"/>
          <p:cNvSpPr/>
          <p:nvPr/>
        </p:nvSpPr>
        <p:spPr>
          <a:xfrm>
            <a:off x="6492240" y="4709160"/>
            <a:ext cx="4937760" cy="1828800"/>
          </a:xfrm>
          <a:prstGeom prst="roundRect">
            <a:avLst>
              <a:gd name="adj" fmla="val 5000"/>
            </a:avLst>
          </a:prstGeom>
          <a:solidFill>
            <a:schemeClr val="bg2">
              <a:lumMod val="90000"/>
            </a:schemeClr>
          </a:solidFill>
          <a:ln/>
        </p:spPr>
      </p:sp>
      <p:sp>
        <p:nvSpPr>
          <p:cNvPr id="27" name="Text 25"/>
          <p:cNvSpPr txBox="1"/>
          <p:nvPr/>
        </p:nvSpPr>
        <p:spPr>
          <a:xfrm>
            <a:off x="6720840" y="4864608"/>
            <a:ext cx="4480560" cy="274320"/>
          </a:xfrm>
          <a:prstGeom prst="rect">
            <a:avLst/>
          </a:prstGeom>
          <a:noFill/>
          <a:ln/>
        </p:spPr>
        <p:txBody>
          <a:bodyPr wrap="square" lIns="0" tIns="0" rIns="0" bIns="0" rtlCol="0" anchor="ctr"/>
          <a:lstStyle/>
          <a:p>
            <a:pPr marL="0" indent="0">
              <a:buNone/>
            </a:pPr>
            <a:r>
              <a:rPr lang="en-US" sz="1600" b="1" kern="0" spc="100" dirty="0">
                <a:solidFill>
                  <a:srgbClr val="C00000"/>
                </a:solidFill>
                <a:latin typeface="Calibri" pitchFamily="34" charset="0"/>
                <a:ea typeface="Calibri" pitchFamily="34" charset="-122"/>
                <a:cs typeface="Calibri" pitchFamily="34" charset="-120"/>
              </a:rPr>
              <a:t>INSERTION SORT — A QUICK PREVIEW</a:t>
            </a:r>
            <a:endParaRPr lang="en-US" sz="1600" dirty="0">
              <a:solidFill>
                <a:srgbClr val="C00000"/>
              </a:solidFill>
            </a:endParaRPr>
          </a:p>
        </p:txBody>
      </p:sp>
      <p:sp>
        <p:nvSpPr>
          <p:cNvPr id="28" name="Text 26"/>
          <p:cNvSpPr txBox="1"/>
          <p:nvPr/>
        </p:nvSpPr>
        <p:spPr>
          <a:xfrm>
            <a:off x="6720840" y="5166360"/>
            <a:ext cx="4480560" cy="123444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Builds the final sorted array one element at a time, by repeatedly inserting each new element into its correct position among the already-sorted elements.</a:t>
            </a:r>
            <a:endParaRPr lang="en-US" sz="1600" dirty="0"/>
          </a:p>
        </p:txBody>
      </p:sp>
      <p:sp>
        <p:nvSpPr>
          <p:cNvPr id="29" name="Text 27"/>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30" name="Text 28"/>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What Is Insertion Sort?</a:t>
            </a:r>
            <a:endParaRPr lang="en-US" sz="3200" dirty="0"/>
          </a:p>
        </p:txBody>
      </p:sp>
      <p:sp>
        <p:nvSpPr>
          <p:cNvPr id="6" name="Text 4"/>
          <p:cNvSpPr txBox="1"/>
          <p:nvPr/>
        </p:nvSpPr>
        <p:spPr>
          <a:xfrm>
            <a:off x="548640" y="1417320"/>
            <a:ext cx="5394960" cy="1097280"/>
          </a:xfrm>
          <a:prstGeom prst="rect">
            <a:avLst/>
          </a:prstGeom>
          <a:noFill/>
          <a:ln/>
        </p:spPr>
        <p:txBody>
          <a:bodyPr wrap="square" lIns="0" tIns="0" rIns="0" bIns="0" rtlCol="0" anchor="ctr"/>
          <a:lstStyle/>
          <a:p>
            <a:pPr marL="0" indent="0">
              <a:lnSpc>
                <a:spcPct val="130000"/>
              </a:lnSpc>
              <a:buNone/>
            </a:pPr>
            <a:r>
              <a:rPr lang="en-US" sz="1600" b="1" dirty="0">
                <a:solidFill>
                  <a:srgbClr val="1E2761"/>
                </a:solidFill>
                <a:latin typeface="Calibri" pitchFamily="34" charset="0"/>
                <a:ea typeface="Calibri" pitchFamily="34" charset="-122"/>
                <a:cs typeface="Calibri" pitchFamily="34" charset="-120"/>
              </a:rPr>
              <a:t>Insertion Sort </a:t>
            </a:r>
            <a:r>
              <a:rPr lang="en-US" sz="1600" dirty="0">
                <a:solidFill>
                  <a:srgbClr val="1B2233"/>
                </a:solidFill>
                <a:latin typeface="Calibri" pitchFamily="34" charset="0"/>
                <a:ea typeface="Calibri" pitchFamily="34" charset="-122"/>
                <a:cs typeface="Calibri" pitchFamily="34" charset="-120"/>
              </a:rPr>
              <a:t>builds the sorted array one element at a time. At each step, it removes one element from the unsorted portion and inserts it into its correct position within the sorted portion.</a:t>
            </a:r>
            <a:endParaRPr lang="en-US" sz="1600" dirty="0"/>
          </a:p>
        </p:txBody>
      </p:sp>
      <p:sp>
        <p:nvSpPr>
          <p:cNvPr id="7" name="Shape 5"/>
          <p:cNvSpPr/>
          <p:nvPr/>
        </p:nvSpPr>
        <p:spPr>
          <a:xfrm>
            <a:off x="548640" y="2606040"/>
            <a:ext cx="5394960" cy="1600200"/>
          </a:xfrm>
          <a:prstGeom prst="roundRect">
            <a:avLst>
              <a:gd name="adj" fmla="val 5714"/>
            </a:avLst>
          </a:prstGeom>
          <a:solidFill>
            <a:srgbClr val="EEF2FC"/>
          </a:solidFill>
          <a:ln w="12700">
            <a:solidFill>
              <a:srgbClr val="CADCFC"/>
            </a:solidFill>
            <a:prstDash val="solid"/>
          </a:ln>
        </p:spPr>
      </p:sp>
      <p:sp>
        <p:nvSpPr>
          <p:cNvPr id="8" name="Text 6"/>
          <p:cNvSpPr txBox="1"/>
          <p:nvPr/>
        </p:nvSpPr>
        <p:spPr>
          <a:xfrm>
            <a:off x="777240" y="2761488"/>
            <a:ext cx="4937760" cy="274320"/>
          </a:xfrm>
          <a:prstGeom prst="rect">
            <a:avLst/>
          </a:prstGeom>
          <a:noFill/>
          <a:ln/>
        </p:spPr>
        <p:txBody>
          <a:bodyPr wrap="square" lIns="0" tIns="0" rIns="0" bIns="0" rtlCol="0" anchor="ctr"/>
          <a:lstStyle/>
          <a:p>
            <a:pPr marL="0" indent="0">
              <a:buNone/>
            </a:pPr>
            <a:r>
              <a:rPr lang="en-US" sz="1100" b="1" kern="0" spc="100" dirty="0">
                <a:solidFill>
                  <a:srgbClr val="3C4E8C"/>
                </a:solidFill>
                <a:latin typeface="Calibri" pitchFamily="34" charset="0"/>
                <a:ea typeface="Calibri" pitchFamily="34" charset="-122"/>
                <a:cs typeface="Calibri" pitchFamily="34" charset="-120"/>
              </a:rPr>
              <a:t>THE PLAYING-CARDS ANALOGY</a:t>
            </a:r>
            <a:endParaRPr lang="en-US" sz="1100" dirty="0"/>
          </a:p>
        </p:txBody>
      </p:sp>
      <p:sp>
        <p:nvSpPr>
          <p:cNvPr id="9" name="Text 7"/>
          <p:cNvSpPr txBox="1"/>
          <p:nvPr/>
        </p:nvSpPr>
        <p:spPr>
          <a:xfrm>
            <a:off x="777240" y="3063240"/>
            <a:ext cx="4937760" cy="1097280"/>
          </a:xfrm>
          <a:prstGeom prst="rect">
            <a:avLst/>
          </a:prstGeom>
          <a:noFill/>
          <a:ln/>
        </p:spPr>
        <p:txBody>
          <a:bodyPr wrap="square" lIns="0" tIns="0" rIns="0" bIns="0" rtlCol="0" anchor="ctr"/>
          <a:lstStyle/>
          <a:p>
            <a:pPr marL="0" indent="0">
              <a:lnSpc>
                <a:spcPct val="125000"/>
              </a:lnSpc>
              <a:buNone/>
            </a:pPr>
            <a:r>
              <a:rPr lang="en-US" sz="1400" dirty="0">
                <a:solidFill>
                  <a:srgbClr val="1B2233"/>
                </a:solidFill>
                <a:latin typeface="Calibri" pitchFamily="34" charset="0"/>
                <a:ea typeface="Calibri" pitchFamily="34" charset="-122"/>
                <a:cs typeface="Calibri" pitchFamily="34" charset="-120"/>
              </a:rPr>
              <a:t>Imagine sorting a hand of playing cards: you hold sorted cards in your left hand, pick up one new card at a time from the table, and slide it into its correct position among the cards you already hold.</a:t>
            </a:r>
            <a:endParaRPr lang="en-US" sz="1400" dirty="0"/>
          </a:p>
        </p:txBody>
      </p:sp>
      <p:sp>
        <p:nvSpPr>
          <p:cNvPr id="10" name="Text 8"/>
          <p:cNvSpPr txBox="1"/>
          <p:nvPr/>
        </p:nvSpPr>
        <p:spPr>
          <a:xfrm>
            <a:off x="548640" y="4389120"/>
            <a:ext cx="5486400" cy="320040"/>
          </a:xfrm>
          <a:prstGeom prst="rect">
            <a:avLst/>
          </a:prstGeom>
          <a:noFill/>
          <a:ln/>
        </p:spPr>
        <p:txBody>
          <a:bodyPr wrap="square" lIns="0" tIns="0" rIns="0" bIns="0" rtlCol="0" anchor="ctr"/>
          <a:lstStyle/>
          <a:p>
            <a:pPr marL="0" indent="0">
              <a:buNone/>
            </a:pPr>
            <a:r>
              <a:rPr lang="en-US" sz="1450" b="1" dirty="0">
                <a:solidFill>
                  <a:srgbClr val="16204A"/>
                </a:solidFill>
                <a:latin typeface="Cambria" pitchFamily="34" charset="0"/>
                <a:ea typeface="Cambria" pitchFamily="34" charset="-122"/>
                <a:cs typeface="Cambria" pitchFamily="34" charset="-120"/>
              </a:rPr>
              <a:t>Sorted portion vs. Unsorted portion</a:t>
            </a:r>
            <a:endParaRPr lang="en-US" sz="1450" dirty="0"/>
          </a:p>
        </p:txBody>
      </p:sp>
      <p:sp>
        <p:nvSpPr>
          <p:cNvPr id="11" name="Text 9"/>
          <p:cNvSpPr txBox="1"/>
          <p:nvPr/>
        </p:nvSpPr>
        <p:spPr>
          <a:xfrm>
            <a:off x="548640" y="4736592"/>
            <a:ext cx="5394960" cy="640080"/>
          </a:xfrm>
          <a:prstGeom prst="rect">
            <a:avLst/>
          </a:prstGeom>
          <a:noFill/>
          <a:ln/>
        </p:spPr>
        <p:txBody>
          <a:bodyPr wrap="square" lIns="0" tIns="0" rIns="0" bIns="0" rtlCol="0" anchor="ctr"/>
          <a:lstStyle/>
          <a:p>
            <a:pPr marL="0" indent="0">
              <a:lnSpc>
                <a:spcPct val="125000"/>
              </a:lnSpc>
              <a:buNone/>
            </a:pPr>
            <a:r>
              <a:rPr lang="en-US" sz="1600" dirty="0">
                <a:solidFill>
                  <a:srgbClr val="5B6584"/>
                </a:solidFill>
                <a:latin typeface="Calibri" pitchFamily="34" charset="0"/>
                <a:ea typeface="Calibri" pitchFamily="34" charset="-122"/>
                <a:cs typeface="Calibri" pitchFamily="34" charset="-120"/>
              </a:rPr>
              <a:t>At every step of the algorithm, the array is divided into a growing sorted portion (left) and a shrinking unsorted portion (right).</a:t>
            </a:r>
            <a:endParaRPr lang="en-US" sz="1600" dirty="0"/>
          </a:p>
        </p:txBody>
      </p:sp>
      <p:sp>
        <p:nvSpPr>
          <p:cNvPr id="12" name="Shape 10"/>
          <p:cNvSpPr/>
          <p:nvPr/>
        </p:nvSpPr>
        <p:spPr>
          <a:xfrm rot="-900000">
            <a:off x="6949440" y="1874520"/>
            <a:ext cx="658368" cy="960120"/>
          </a:xfrm>
          <a:prstGeom prst="roundRect">
            <a:avLst>
              <a:gd name="adj" fmla="val 13889"/>
            </a:avLst>
          </a:prstGeom>
          <a:solidFill>
            <a:srgbClr val="FFFFFF"/>
          </a:solidFill>
          <a:ln w="19050">
            <a:solidFill>
              <a:srgbClr val="1E2761"/>
            </a:solidFill>
            <a:prstDash val="solid"/>
          </a:ln>
        </p:spPr>
      </p:sp>
      <p:sp>
        <p:nvSpPr>
          <p:cNvPr id="13" name="Shape 11"/>
          <p:cNvSpPr/>
          <p:nvPr/>
        </p:nvSpPr>
        <p:spPr>
          <a:xfrm rot="-540000">
            <a:off x="7516368" y="1764792"/>
            <a:ext cx="658368" cy="960120"/>
          </a:xfrm>
          <a:prstGeom prst="roundRect">
            <a:avLst>
              <a:gd name="adj" fmla="val 13889"/>
            </a:avLst>
          </a:prstGeom>
          <a:solidFill>
            <a:srgbClr val="FFFFFF"/>
          </a:solidFill>
          <a:ln w="19050">
            <a:solidFill>
              <a:srgbClr val="1E2761"/>
            </a:solidFill>
            <a:prstDash val="solid"/>
          </a:ln>
        </p:spPr>
      </p:sp>
      <p:sp>
        <p:nvSpPr>
          <p:cNvPr id="14" name="Shape 12"/>
          <p:cNvSpPr/>
          <p:nvPr/>
        </p:nvSpPr>
        <p:spPr>
          <a:xfrm rot="-180000">
            <a:off x="8083296" y="1655064"/>
            <a:ext cx="658368" cy="960120"/>
          </a:xfrm>
          <a:prstGeom prst="roundRect">
            <a:avLst>
              <a:gd name="adj" fmla="val 13889"/>
            </a:avLst>
          </a:prstGeom>
          <a:solidFill>
            <a:srgbClr val="FFFFFF"/>
          </a:solidFill>
          <a:ln w="19050">
            <a:solidFill>
              <a:srgbClr val="1E2761"/>
            </a:solidFill>
            <a:prstDash val="solid"/>
          </a:ln>
        </p:spPr>
      </p:sp>
      <p:sp>
        <p:nvSpPr>
          <p:cNvPr id="15" name="Shape 13"/>
          <p:cNvSpPr/>
          <p:nvPr/>
        </p:nvSpPr>
        <p:spPr>
          <a:xfrm rot="180000">
            <a:off x="8650224" y="1655064"/>
            <a:ext cx="658368" cy="960120"/>
          </a:xfrm>
          <a:prstGeom prst="roundRect">
            <a:avLst>
              <a:gd name="adj" fmla="val 13889"/>
            </a:avLst>
          </a:prstGeom>
          <a:solidFill>
            <a:srgbClr val="FFFFFF"/>
          </a:solidFill>
          <a:ln w="19050">
            <a:solidFill>
              <a:srgbClr val="1E2761"/>
            </a:solidFill>
            <a:prstDash val="solid"/>
          </a:ln>
        </p:spPr>
      </p:sp>
      <p:sp>
        <p:nvSpPr>
          <p:cNvPr id="16" name="Shape 14"/>
          <p:cNvSpPr/>
          <p:nvPr/>
        </p:nvSpPr>
        <p:spPr>
          <a:xfrm rot="540000">
            <a:off x="9217152" y="1764792"/>
            <a:ext cx="658368" cy="960120"/>
          </a:xfrm>
          <a:prstGeom prst="roundRect">
            <a:avLst>
              <a:gd name="adj" fmla="val 13889"/>
            </a:avLst>
          </a:prstGeom>
          <a:solidFill>
            <a:srgbClr val="FFFFFF"/>
          </a:solidFill>
          <a:ln w="19050">
            <a:solidFill>
              <a:srgbClr val="1E2761"/>
            </a:solidFill>
            <a:prstDash val="solid"/>
          </a:ln>
        </p:spPr>
      </p:sp>
      <p:sp>
        <p:nvSpPr>
          <p:cNvPr id="17" name="Shape 15"/>
          <p:cNvSpPr/>
          <p:nvPr/>
        </p:nvSpPr>
        <p:spPr>
          <a:xfrm rot="900000">
            <a:off x="9784080" y="1874520"/>
            <a:ext cx="658368" cy="960120"/>
          </a:xfrm>
          <a:prstGeom prst="roundRect">
            <a:avLst>
              <a:gd name="adj" fmla="val 13889"/>
            </a:avLst>
          </a:prstGeom>
          <a:solidFill>
            <a:srgbClr val="FFFFFF"/>
          </a:solidFill>
          <a:ln w="19050">
            <a:solidFill>
              <a:srgbClr val="1E2761"/>
            </a:solidFill>
            <a:prstDash val="solid"/>
          </a:ln>
        </p:spPr>
      </p:sp>
      <p:sp>
        <p:nvSpPr>
          <p:cNvPr id="18" name="Text 16"/>
          <p:cNvSpPr txBox="1"/>
          <p:nvPr/>
        </p:nvSpPr>
        <p:spPr>
          <a:xfrm rot="-900000">
            <a:off x="6949440" y="1874520"/>
            <a:ext cx="658368" cy="960120"/>
          </a:xfrm>
          <a:prstGeom prst="rect">
            <a:avLst/>
          </a:prstGeom>
          <a:noFill/>
          <a:ln/>
        </p:spPr>
        <p:txBody>
          <a:bodyPr wrap="square" lIns="762" tIns="762" rIns="762" bIns="762" rtlCol="0" anchor="t"/>
          <a:lstStyle/>
          <a:p>
            <a:pPr marL="0" indent="0" algn="ctr">
              <a:buNone/>
            </a:pPr>
            <a:r>
              <a:rPr lang="en-US" sz="1500" b="1" dirty="0">
                <a:solidFill>
                  <a:srgbClr val="1E2761"/>
                </a:solidFill>
                <a:latin typeface="Courier New" pitchFamily="34" charset="0"/>
                <a:ea typeface="Courier New" pitchFamily="34" charset="-122"/>
                <a:cs typeface="Courier New" pitchFamily="34" charset="-120"/>
              </a:rPr>
              <a:t>2</a:t>
            </a:r>
            <a:endParaRPr lang="en-US" sz="1500" dirty="0"/>
          </a:p>
        </p:txBody>
      </p:sp>
      <p:sp>
        <p:nvSpPr>
          <p:cNvPr id="19" name="Text 17"/>
          <p:cNvSpPr txBox="1"/>
          <p:nvPr/>
        </p:nvSpPr>
        <p:spPr>
          <a:xfrm rot="-540000">
            <a:off x="7516368" y="1764792"/>
            <a:ext cx="658368" cy="960120"/>
          </a:xfrm>
          <a:prstGeom prst="rect">
            <a:avLst/>
          </a:prstGeom>
          <a:noFill/>
          <a:ln/>
        </p:spPr>
        <p:txBody>
          <a:bodyPr wrap="square" lIns="762" tIns="762" rIns="762" bIns="762" rtlCol="0" anchor="t"/>
          <a:lstStyle/>
          <a:p>
            <a:pPr marL="0" indent="0" algn="ctr">
              <a:buNone/>
            </a:pPr>
            <a:r>
              <a:rPr lang="en-US" sz="1500" b="1" dirty="0">
                <a:solidFill>
                  <a:srgbClr val="1E2761"/>
                </a:solidFill>
                <a:latin typeface="Courier New" pitchFamily="34" charset="0"/>
                <a:ea typeface="Courier New" pitchFamily="34" charset="-122"/>
                <a:cs typeface="Courier New" pitchFamily="34" charset="-120"/>
              </a:rPr>
              <a:t>4</a:t>
            </a:r>
            <a:endParaRPr lang="en-US" sz="1500" dirty="0"/>
          </a:p>
        </p:txBody>
      </p:sp>
      <p:sp>
        <p:nvSpPr>
          <p:cNvPr id="20" name="Text 18"/>
          <p:cNvSpPr txBox="1"/>
          <p:nvPr/>
        </p:nvSpPr>
        <p:spPr>
          <a:xfrm rot="-180000">
            <a:off x="8083296" y="1655064"/>
            <a:ext cx="658368" cy="960120"/>
          </a:xfrm>
          <a:prstGeom prst="rect">
            <a:avLst/>
          </a:prstGeom>
          <a:noFill/>
          <a:ln/>
        </p:spPr>
        <p:txBody>
          <a:bodyPr wrap="square" lIns="762" tIns="762" rIns="762" bIns="762" rtlCol="0" anchor="t"/>
          <a:lstStyle/>
          <a:p>
            <a:pPr marL="0" indent="0" algn="ctr">
              <a:buNone/>
            </a:pPr>
            <a:r>
              <a:rPr lang="en-US" sz="1500" b="1" dirty="0">
                <a:solidFill>
                  <a:srgbClr val="1E2761"/>
                </a:solidFill>
                <a:latin typeface="Courier New" pitchFamily="34" charset="0"/>
                <a:ea typeface="Courier New" pitchFamily="34" charset="-122"/>
                <a:cs typeface="Courier New" pitchFamily="34" charset="-120"/>
              </a:rPr>
              <a:t>5</a:t>
            </a:r>
            <a:endParaRPr lang="en-US" sz="1500" dirty="0"/>
          </a:p>
        </p:txBody>
      </p:sp>
      <p:sp>
        <p:nvSpPr>
          <p:cNvPr id="21" name="Text 19"/>
          <p:cNvSpPr txBox="1"/>
          <p:nvPr/>
        </p:nvSpPr>
        <p:spPr>
          <a:xfrm rot="180000">
            <a:off x="8650224" y="1655064"/>
            <a:ext cx="658368" cy="960120"/>
          </a:xfrm>
          <a:prstGeom prst="rect">
            <a:avLst/>
          </a:prstGeom>
          <a:noFill/>
          <a:ln/>
        </p:spPr>
        <p:txBody>
          <a:bodyPr wrap="square" lIns="762" tIns="762" rIns="762" bIns="762" rtlCol="0" anchor="t"/>
          <a:lstStyle/>
          <a:p>
            <a:pPr marL="0" indent="0" algn="ctr">
              <a:buNone/>
            </a:pPr>
            <a:r>
              <a:rPr lang="en-US" sz="1500" b="1" dirty="0">
                <a:solidFill>
                  <a:srgbClr val="C1272D"/>
                </a:solidFill>
                <a:latin typeface="Courier New" pitchFamily="34" charset="0"/>
                <a:ea typeface="Courier New" pitchFamily="34" charset="-122"/>
                <a:cs typeface="Courier New" pitchFamily="34" charset="-120"/>
              </a:rPr>
              <a:t>9</a:t>
            </a:r>
            <a:endParaRPr lang="en-US" sz="1500" dirty="0"/>
          </a:p>
        </p:txBody>
      </p:sp>
      <p:sp>
        <p:nvSpPr>
          <p:cNvPr id="22" name="Text 20"/>
          <p:cNvSpPr txBox="1"/>
          <p:nvPr/>
        </p:nvSpPr>
        <p:spPr>
          <a:xfrm rot="540000">
            <a:off x="9217152" y="1764792"/>
            <a:ext cx="658368" cy="960120"/>
          </a:xfrm>
          <a:prstGeom prst="rect">
            <a:avLst/>
          </a:prstGeom>
          <a:noFill/>
          <a:ln/>
        </p:spPr>
        <p:txBody>
          <a:bodyPr wrap="square" lIns="762" tIns="762" rIns="762" bIns="762" rtlCol="0" anchor="t"/>
          <a:lstStyle/>
          <a:p>
            <a:pPr marL="0" indent="0" algn="ctr">
              <a:buNone/>
            </a:pPr>
            <a:r>
              <a:rPr lang="en-US" sz="1500" b="1" dirty="0">
                <a:solidFill>
                  <a:srgbClr val="C1272D"/>
                </a:solidFill>
                <a:latin typeface="Courier New" pitchFamily="34" charset="0"/>
                <a:ea typeface="Courier New" pitchFamily="34" charset="-122"/>
                <a:cs typeface="Courier New" pitchFamily="34" charset="-120"/>
              </a:rPr>
              <a:t>6</a:t>
            </a:r>
            <a:endParaRPr lang="en-US" sz="1500" dirty="0"/>
          </a:p>
        </p:txBody>
      </p:sp>
      <p:sp>
        <p:nvSpPr>
          <p:cNvPr id="23" name="Text 21"/>
          <p:cNvSpPr txBox="1"/>
          <p:nvPr/>
        </p:nvSpPr>
        <p:spPr>
          <a:xfrm rot="900000">
            <a:off x="9784080" y="1874520"/>
            <a:ext cx="658368" cy="960120"/>
          </a:xfrm>
          <a:prstGeom prst="rect">
            <a:avLst/>
          </a:prstGeom>
          <a:noFill/>
          <a:ln/>
        </p:spPr>
        <p:txBody>
          <a:bodyPr wrap="square" lIns="762" tIns="762" rIns="762" bIns="762" rtlCol="0" anchor="t"/>
          <a:lstStyle/>
          <a:p>
            <a:pPr marL="0" indent="0" algn="ctr">
              <a:buNone/>
            </a:pPr>
            <a:r>
              <a:rPr lang="en-US" sz="1500" b="1" dirty="0">
                <a:solidFill>
                  <a:srgbClr val="C1272D"/>
                </a:solidFill>
                <a:latin typeface="Courier New" pitchFamily="34" charset="0"/>
                <a:ea typeface="Courier New" pitchFamily="34" charset="-122"/>
                <a:cs typeface="Courier New" pitchFamily="34" charset="-120"/>
              </a:rPr>
              <a:t>1</a:t>
            </a:r>
            <a:endParaRPr lang="en-US" sz="1500" dirty="0"/>
          </a:p>
        </p:txBody>
      </p:sp>
      <p:sp>
        <p:nvSpPr>
          <p:cNvPr id="24" name="Text 22"/>
          <p:cNvSpPr txBox="1"/>
          <p:nvPr/>
        </p:nvSpPr>
        <p:spPr>
          <a:xfrm>
            <a:off x="6949440" y="3246120"/>
            <a:ext cx="4572000" cy="274320"/>
          </a:xfrm>
          <a:prstGeom prst="rect">
            <a:avLst/>
          </a:prstGeom>
          <a:noFill/>
          <a:ln/>
        </p:spPr>
        <p:txBody>
          <a:bodyPr wrap="square" lIns="0" tIns="0" rIns="0" bIns="0"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Left hand (sorted) → ← Table (unsorted)</a:t>
            </a:r>
            <a:endParaRPr lang="en-US" sz="1100" dirty="0"/>
          </a:p>
        </p:txBody>
      </p:sp>
      <p:sp>
        <p:nvSpPr>
          <p:cNvPr id="25" name="Shape 23"/>
          <p:cNvSpPr/>
          <p:nvPr/>
        </p:nvSpPr>
        <p:spPr>
          <a:xfrm>
            <a:off x="6876288" y="3904488"/>
            <a:ext cx="1975104" cy="694944"/>
          </a:xfrm>
          <a:prstGeom prst="roundRect">
            <a:avLst>
              <a:gd name="adj" fmla="val 13158"/>
            </a:avLst>
          </a:prstGeom>
          <a:solidFill>
            <a:srgbClr val="DCEBDD"/>
          </a:solidFill>
          <a:ln w="12700">
            <a:solidFill>
              <a:srgbClr val="5FA778"/>
            </a:solidFill>
            <a:prstDash val="dash"/>
          </a:ln>
        </p:spPr>
      </p:sp>
      <p:sp>
        <p:nvSpPr>
          <p:cNvPr id="26" name="Shape 24"/>
          <p:cNvSpPr/>
          <p:nvPr/>
        </p:nvSpPr>
        <p:spPr>
          <a:xfrm>
            <a:off x="6949440" y="3977640"/>
            <a:ext cx="548640" cy="548640"/>
          </a:xfrm>
          <a:prstGeom prst="roundRect">
            <a:avLst>
              <a:gd name="adj" fmla="val 20000"/>
            </a:avLst>
          </a:prstGeom>
          <a:solidFill>
            <a:srgbClr val="FFFFFF"/>
          </a:solidFill>
          <a:ln w="22225">
            <a:solidFill>
              <a:srgbClr val="3C4E8C"/>
            </a:solidFill>
            <a:prstDash val="solid"/>
          </a:ln>
        </p:spPr>
      </p:sp>
      <p:sp>
        <p:nvSpPr>
          <p:cNvPr id="27" name="Text 25"/>
          <p:cNvSpPr txBox="1"/>
          <p:nvPr/>
        </p:nvSpPr>
        <p:spPr>
          <a:xfrm>
            <a:off x="6949440" y="3977640"/>
            <a:ext cx="548640" cy="54864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a:t>
            </a:r>
            <a:endParaRPr lang="en-US" sz="1400" dirty="0"/>
          </a:p>
        </p:txBody>
      </p:sp>
      <p:sp>
        <p:nvSpPr>
          <p:cNvPr id="28" name="Text 26"/>
          <p:cNvSpPr txBox="1"/>
          <p:nvPr/>
        </p:nvSpPr>
        <p:spPr>
          <a:xfrm>
            <a:off x="6949440" y="4553712"/>
            <a:ext cx="548640"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29" name="Shape 27"/>
          <p:cNvSpPr/>
          <p:nvPr/>
        </p:nvSpPr>
        <p:spPr>
          <a:xfrm>
            <a:off x="7589520" y="3977640"/>
            <a:ext cx="548640" cy="548640"/>
          </a:xfrm>
          <a:prstGeom prst="roundRect">
            <a:avLst>
              <a:gd name="adj" fmla="val 20000"/>
            </a:avLst>
          </a:prstGeom>
          <a:solidFill>
            <a:srgbClr val="FFFFFF"/>
          </a:solidFill>
          <a:ln w="22225">
            <a:solidFill>
              <a:srgbClr val="3C4E8C"/>
            </a:solidFill>
            <a:prstDash val="solid"/>
          </a:ln>
        </p:spPr>
      </p:sp>
      <p:sp>
        <p:nvSpPr>
          <p:cNvPr id="30" name="Text 28"/>
          <p:cNvSpPr txBox="1"/>
          <p:nvPr/>
        </p:nvSpPr>
        <p:spPr>
          <a:xfrm>
            <a:off x="7589520" y="3977640"/>
            <a:ext cx="548640" cy="54864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4</a:t>
            </a:r>
            <a:endParaRPr lang="en-US" sz="1400" dirty="0"/>
          </a:p>
        </p:txBody>
      </p:sp>
      <p:sp>
        <p:nvSpPr>
          <p:cNvPr id="31" name="Text 29"/>
          <p:cNvSpPr txBox="1"/>
          <p:nvPr/>
        </p:nvSpPr>
        <p:spPr>
          <a:xfrm>
            <a:off x="7589520" y="4553712"/>
            <a:ext cx="548640"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32" name="Shape 30"/>
          <p:cNvSpPr/>
          <p:nvPr/>
        </p:nvSpPr>
        <p:spPr>
          <a:xfrm>
            <a:off x="8229600" y="3977640"/>
            <a:ext cx="548640" cy="548640"/>
          </a:xfrm>
          <a:prstGeom prst="roundRect">
            <a:avLst>
              <a:gd name="adj" fmla="val 20000"/>
            </a:avLst>
          </a:prstGeom>
          <a:solidFill>
            <a:srgbClr val="FFFFFF"/>
          </a:solidFill>
          <a:ln w="22225">
            <a:solidFill>
              <a:srgbClr val="3C4E8C"/>
            </a:solidFill>
            <a:prstDash val="solid"/>
          </a:ln>
        </p:spPr>
      </p:sp>
      <p:sp>
        <p:nvSpPr>
          <p:cNvPr id="33" name="Text 31"/>
          <p:cNvSpPr txBox="1"/>
          <p:nvPr/>
        </p:nvSpPr>
        <p:spPr>
          <a:xfrm>
            <a:off x="8229600" y="3977640"/>
            <a:ext cx="548640" cy="54864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34" name="Text 32"/>
          <p:cNvSpPr txBox="1"/>
          <p:nvPr/>
        </p:nvSpPr>
        <p:spPr>
          <a:xfrm>
            <a:off x="8229600" y="4553712"/>
            <a:ext cx="548640"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35" name="Shape 33"/>
          <p:cNvSpPr/>
          <p:nvPr/>
        </p:nvSpPr>
        <p:spPr>
          <a:xfrm>
            <a:off x="8869680" y="3977640"/>
            <a:ext cx="548640" cy="548640"/>
          </a:xfrm>
          <a:prstGeom prst="roundRect">
            <a:avLst>
              <a:gd name="adj" fmla="val 20000"/>
            </a:avLst>
          </a:prstGeom>
          <a:solidFill>
            <a:srgbClr val="FFFFFF"/>
          </a:solidFill>
          <a:ln w="22225">
            <a:solidFill>
              <a:srgbClr val="3C4E8C"/>
            </a:solidFill>
            <a:prstDash val="solid"/>
          </a:ln>
        </p:spPr>
      </p:sp>
      <p:sp>
        <p:nvSpPr>
          <p:cNvPr id="36" name="Text 34"/>
          <p:cNvSpPr txBox="1"/>
          <p:nvPr/>
        </p:nvSpPr>
        <p:spPr>
          <a:xfrm>
            <a:off x="8869680" y="3977640"/>
            <a:ext cx="548640" cy="54864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9</a:t>
            </a:r>
            <a:endParaRPr lang="en-US" sz="1400" dirty="0"/>
          </a:p>
        </p:txBody>
      </p:sp>
      <p:sp>
        <p:nvSpPr>
          <p:cNvPr id="37" name="Text 35"/>
          <p:cNvSpPr txBox="1"/>
          <p:nvPr/>
        </p:nvSpPr>
        <p:spPr>
          <a:xfrm>
            <a:off x="8869680" y="4553712"/>
            <a:ext cx="548640"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38" name="Shape 36"/>
          <p:cNvSpPr/>
          <p:nvPr/>
        </p:nvSpPr>
        <p:spPr>
          <a:xfrm>
            <a:off x="9509760" y="3977640"/>
            <a:ext cx="548640" cy="548640"/>
          </a:xfrm>
          <a:prstGeom prst="roundRect">
            <a:avLst>
              <a:gd name="adj" fmla="val 20000"/>
            </a:avLst>
          </a:prstGeom>
          <a:solidFill>
            <a:srgbClr val="FFFFFF"/>
          </a:solidFill>
          <a:ln w="22225">
            <a:solidFill>
              <a:srgbClr val="3C4E8C"/>
            </a:solidFill>
            <a:prstDash val="solid"/>
          </a:ln>
        </p:spPr>
      </p:sp>
      <p:sp>
        <p:nvSpPr>
          <p:cNvPr id="39" name="Text 37"/>
          <p:cNvSpPr txBox="1"/>
          <p:nvPr/>
        </p:nvSpPr>
        <p:spPr>
          <a:xfrm>
            <a:off x="9509760" y="3977640"/>
            <a:ext cx="548640" cy="54864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a:t>
            </a:r>
            <a:endParaRPr lang="en-US" sz="1400" dirty="0"/>
          </a:p>
        </p:txBody>
      </p:sp>
      <p:sp>
        <p:nvSpPr>
          <p:cNvPr id="40" name="Text 38"/>
          <p:cNvSpPr txBox="1"/>
          <p:nvPr/>
        </p:nvSpPr>
        <p:spPr>
          <a:xfrm>
            <a:off x="9509760" y="4553712"/>
            <a:ext cx="548640"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41" name="Shape 39"/>
          <p:cNvSpPr/>
          <p:nvPr/>
        </p:nvSpPr>
        <p:spPr>
          <a:xfrm>
            <a:off x="10149840" y="3977640"/>
            <a:ext cx="548640" cy="548640"/>
          </a:xfrm>
          <a:prstGeom prst="roundRect">
            <a:avLst>
              <a:gd name="adj" fmla="val 20000"/>
            </a:avLst>
          </a:prstGeom>
          <a:solidFill>
            <a:srgbClr val="FFFFFF"/>
          </a:solidFill>
          <a:ln w="22225">
            <a:solidFill>
              <a:srgbClr val="3C4E8C"/>
            </a:solidFill>
            <a:prstDash val="solid"/>
          </a:ln>
        </p:spPr>
      </p:sp>
      <p:sp>
        <p:nvSpPr>
          <p:cNvPr id="42" name="Text 40"/>
          <p:cNvSpPr txBox="1"/>
          <p:nvPr/>
        </p:nvSpPr>
        <p:spPr>
          <a:xfrm>
            <a:off x="10149840" y="3977640"/>
            <a:ext cx="548640" cy="54864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1</a:t>
            </a:r>
            <a:endParaRPr lang="en-US" sz="1400" dirty="0"/>
          </a:p>
        </p:txBody>
      </p:sp>
      <p:sp>
        <p:nvSpPr>
          <p:cNvPr id="43" name="Text 41"/>
          <p:cNvSpPr txBox="1"/>
          <p:nvPr/>
        </p:nvSpPr>
        <p:spPr>
          <a:xfrm>
            <a:off x="10149840" y="4553712"/>
            <a:ext cx="548640"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44" name="Text 42"/>
          <p:cNvSpPr txBox="1"/>
          <p:nvPr/>
        </p:nvSpPr>
        <p:spPr>
          <a:xfrm>
            <a:off x="6949440" y="4892040"/>
            <a:ext cx="1828800" cy="274320"/>
          </a:xfrm>
          <a:prstGeom prst="rect">
            <a:avLst/>
          </a:prstGeom>
          <a:noFill/>
          <a:ln/>
        </p:spPr>
        <p:txBody>
          <a:bodyPr wrap="square" lIns="0" tIns="0" rIns="0" bIns="0" rtlCol="0" anchor="ctr"/>
          <a:lstStyle/>
          <a:p>
            <a:pPr marL="0" indent="0">
              <a:buNone/>
            </a:pPr>
            <a:r>
              <a:rPr lang="en-US" sz="1050" b="1" dirty="0">
                <a:solidFill>
                  <a:srgbClr val="5FA778"/>
                </a:solidFill>
                <a:latin typeface="Calibri" pitchFamily="34" charset="0"/>
                <a:ea typeface="Calibri" pitchFamily="34" charset="-122"/>
                <a:cs typeface="Calibri" pitchFamily="34" charset="-120"/>
              </a:rPr>
              <a:t>Sorted (0–2)</a:t>
            </a:r>
            <a:endParaRPr lang="en-US" sz="1050" dirty="0"/>
          </a:p>
        </p:txBody>
      </p:sp>
      <p:sp>
        <p:nvSpPr>
          <p:cNvPr id="45" name="Text 43"/>
          <p:cNvSpPr txBox="1"/>
          <p:nvPr/>
        </p:nvSpPr>
        <p:spPr>
          <a:xfrm>
            <a:off x="9006840" y="4892040"/>
            <a:ext cx="2011680" cy="274320"/>
          </a:xfrm>
          <a:prstGeom prst="rect">
            <a:avLst/>
          </a:prstGeom>
          <a:noFill/>
          <a:ln/>
        </p:spPr>
        <p:txBody>
          <a:bodyPr wrap="square" lIns="0" tIns="0" rIns="0" bIns="0" rtlCol="0" anchor="ctr"/>
          <a:lstStyle/>
          <a:p>
            <a:pPr marL="0" indent="0">
              <a:buNone/>
            </a:pPr>
            <a:r>
              <a:rPr lang="en-US" sz="1050" b="1" dirty="0">
                <a:solidFill>
                  <a:srgbClr val="5B6584"/>
                </a:solidFill>
                <a:latin typeface="Calibri" pitchFamily="34" charset="0"/>
                <a:ea typeface="Calibri" pitchFamily="34" charset="-122"/>
                <a:cs typeface="Calibri" pitchFamily="34" charset="-120"/>
              </a:rPr>
              <a:t>Unsorted (3–5)</a:t>
            </a:r>
            <a:endParaRPr lang="en-US" sz="1050" dirty="0"/>
          </a:p>
        </p:txBody>
      </p:sp>
      <p:sp>
        <p:nvSpPr>
          <p:cNvPr id="46" name="Text 44"/>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47" name="Text 45"/>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3C4E8C"/>
                </a:solidFill>
                <a:latin typeface="Calibri" pitchFamily="34" charset="0"/>
                <a:ea typeface="Calibri" pitchFamily="34" charset="-122"/>
                <a:cs typeface="Calibri" pitchFamily="34" charset="-120"/>
              </a:rPr>
              <a:t>THE LOGIC</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Working Principle</a:t>
            </a:r>
            <a:endParaRPr lang="en-US" sz="3200" dirty="0"/>
          </a:p>
        </p:txBody>
      </p:sp>
      <p:sp>
        <p:nvSpPr>
          <p:cNvPr id="6" name="Shape 4"/>
          <p:cNvSpPr/>
          <p:nvPr/>
        </p:nvSpPr>
        <p:spPr>
          <a:xfrm>
            <a:off x="548640" y="1417320"/>
            <a:ext cx="5440680" cy="1417320"/>
          </a:xfrm>
          <a:prstGeom prst="roundRect">
            <a:avLst>
              <a:gd name="adj" fmla="val 6452"/>
            </a:avLst>
          </a:prstGeom>
          <a:solidFill>
            <a:srgbClr val="EEF2FC"/>
          </a:solidFill>
          <a:ln w="12700">
            <a:solidFill>
              <a:srgbClr val="CADCFC"/>
            </a:solidFill>
            <a:prstDash val="solid"/>
          </a:ln>
        </p:spPr>
      </p:sp>
      <p:sp>
        <p:nvSpPr>
          <p:cNvPr id="7" name="Shape 5"/>
          <p:cNvSpPr/>
          <p:nvPr/>
        </p:nvSpPr>
        <p:spPr>
          <a:xfrm>
            <a:off x="777240" y="1645920"/>
            <a:ext cx="457200" cy="457200"/>
          </a:xfrm>
          <a:prstGeom prst="ellipse">
            <a:avLst/>
          </a:prstGeom>
          <a:solidFill>
            <a:srgbClr val="1E2761"/>
          </a:solidFill>
          <a:ln/>
        </p:spPr>
      </p:sp>
      <p:sp>
        <p:nvSpPr>
          <p:cNvPr id="8" name="Text 6"/>
          <p:cNvSpPr txBox="1"/>
          <p:nvPr/>
        </p:nvSpPr>
        <p:spPr>
          <a:xfrm>
            <a:off x="777240"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417320" y="1600200"/>
            <a:ext cx="4389120" cy="320040"/>
          </a:xfrm>
          <a:prstGeom prst="rect">
            <a:avLst/>
          </a:prstGeom>
          <a:noFill/>
          <a:ln/>
        </p:spPr>
        <p:txBody>
          <a:bodyPr wrap="square" lIns="0" tIns="0" rIns="0" bIns="0" rtlCol="0" anchor="ctr"/>
          <a:lstStyle/>
          <a:p>
            <a:pPr marL="0" indent="0">
              <a:buNone/>
            </a:pPr>
            <a:r>
              <a:rPr lang="en-US" sz="1500" b="1" dirty="0">
                <a:solidFill>
                  <a:srgbClr val="16204A"/>
                </a:solidFill>
                <a:latin typeface="Cambria" pitchFamily="34" charset="0"/>
                <a:ea typeface="Cambria" pitchFamily="34" charset="-122"/>
                <a:cs typeface="Cambria" pitchFamily="34" charset="-120"/>
              </a:rPr>
              <a:t>Assume sorted</a:t>
            </a:r>
            <a:endParaRPr lang="en-US" sz="1500" dirty="0"/>
          </a:p>
        </p:txBody>
      </p:sp>
      <p:sp>
        <p:nvSpPr>
          <p:cNvPr id="10" name="Text 8"/>
          <p:cNvSpPr txBox="1"/>
          <p:nvPr/>
        </p:nvSpPr>
        <p:spPr>
          <a:xfrm>
            <a:off x="1417320" y="1929384"/>
            <a:ext cx="4389120" cy="8229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The first element (index 0) is trivially a sorted array of size one.</a:t>
            </a:r>
            <a:endParaRPr lang="en-US" sz="1600" dirty="0"/>
          </a:p>
        </p:txBody>
      </p:sp>
      <p:sp>
        <p:nvSpPr>
          <p:cNvPr id="11" name="Shape 9"/>
          <p:cNvSpPr/>
          <p:nvPr/>
        </p:nvSpPr>
        <p:spPr>
          <a:xfrm>
            <a:off x="6263640" y="1417320"/>
            <a:ext cx="5440680" cy="1417320"/>
          </a:xfrm>
          <a:prstGeom prst="roundRect">
            <a:avLst>
              <a:gd name="adj" fmla="val 6452"/>
            </a:avLst>
          </a:prstGeom>
          <a:solidFill>
            <a:srgbClr val="EEF2FC"/>
          </a:solidFill>
          <a:ln w="12700">
            <a:solidFill>
              <a:srgbClr val="CADCFC"/>
            </a:solidFill>
            <a:prstDash val="solid"/>
          </a:ln>
        </p:spPr>
      </p:sp>
      <p:sp>
        <p:nvSpPr>
          <p:cNvPr id="12" name="Shape 10"/>
          <p:cNvSpPr/>
          <p:nvPr/>
        </p:nvSpPr>
        <p:spPr>
          <a:xfrm>
            <a:off x="6492240" y="1645920"/>
            <a:ext cx="457200" cy="457200"/>
          </a:xfrm>
          <a:prstGeom prst="ellipse">
            <a:avLst/>
          </a:prstGeom>
          <a:solidFill>
            <a:srgbClr val="1E2761"/>
          </a:solidFill>
          <a:ln/>
        </p:spPr>
      </p:sp>
      <p:sp>
        <p:nvSpPr>
          <p:cNvPr id="13" name="Text 11"/>
          <p:cNvSpPr txBox="1"/>
          <p:nvPr/>
        </p:nvSpPr>
        <p:spPr>
          <a:xfrm>
            <a:off x="6492240"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7132320" y="1600200"/>
            <a:ext cx="4389120" cy="320040"/>
          </a:xfrm>
          <a:prstGeom prst="rect">
            <a:avLst/>
          </a:prstGeom>
          <a:noFill/>
          <a:ln/>
        </p:spPr>
        <p:txBody>
          <a:bodyPr wrap="square" lIns="0" tIns="0" rIns="0" bIns="0" rtlCol="0" anchor="ctr"/>
          <a:lstStyle/>
          <a:p>
            <a:pPr marL="0" indent="0">
              <a:buNone/>
            </a:pPr>
            <a:r>
              <a:rPr lang="en-US" sz="1500" b="1" dirty="0">
                <a:solidFill>
                  <a:srgbClr val="16204A"/>
                </a:solidFill>
                <a:latin typeface="Cambria" pitchFamily="34" charset="0"/>
                <a:ea typeface="Cambria" pitchFamily="34" charset="-122"/>
                <a:cs typeface="Cambria" pitchFamily="34" charset="-120"/>
              </a:rPr>
              <a:t>Pick the key</a:t>
            </a:r>
            <a:endParaRPr lang="en-US" sz="1500" dirty="0"/>
          </a:p>
        </p:txBody>
      </p:sp>
      <p:sp>
        <p:nvSpPr>
          <p:cNvPr id="15" name="Text 13"/>
          <p:cNvSpPr txBox="1"/>
          <p:nvPr/>
        </p:nvSpPr>
        <p:spPr>
          <a:xfrm>
            <a:off x="7132320" y="1929384"/>
            <a:ext cx="4389120" cy="8229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Select the next element from the unsorted portion — call it the key.</a:t>
            </a:r>
            <a:endParaRPr lang="en-US" sz="1600" dirty="0"/>
          </a:p>
        </p:txBody>
      </p:sp>
      <p:sp>
        <p:nvSpPr>
          <p:cNvPr id="16" name="Shape 14"/>
          <p:cNvSpPr/>
          <p:nvPr/>
        </p:nvSpPr>
        <p:spPr>
          <a:xfrm>
            <a:off x="548640" y="2971800"/>
            <a:ext cx="5440680" cy="1417320"/>
          </a:xfrm>
          <a:prstGeom prst="roundRect">
            <a:avLst>
              <a:gd name="adj" fmla="val 6452"/>
            </a:avLst>
          </a:prstGeom>
          <a:solidFill>
            <a:srgbClr val="EEF2FC"/>
          </a:solidFill>
          <a:ln w="12700">
            <a:solidFill>
              <a:srgbClr val="CADCFC"/>
            </a:solidFill>
            <a:prstDash val="solid"/>
          </a:ln>
        </p:spPr>
      </p:sp>
      <p:sp>
        <p:nvSpPr>
          <p:cNvPr id="17" name="Shape 15"/>
          <p:cNvSpPr/>
          <p:nvPr/>
        </p:nvSpPr>
        <p:spPr>
          <a:xfrm>
            <a:off x="777240" y="3200400"/>
            <a:ext cx="457200" cy="457200"/>
          </a:xfrm>
          <a:prstGeom prst="ellipse">
            <a:avLst/>
          </a:prstGeom>
          <a:solidFill>
            <a:srgbClr val="1E2761"/>
          </a:solidFill>
          <a:ln/>
        </p:spPr>
      </p:sp>
      <p:sp>
        <p:nvSpPr>
          <p:cNvPr id="18" name="Text 16"/>
          <p:cNvSpPr txBox="1"/>
          <p:nvPr/>
        </p:nvSpPr>
        <p:spPr>
          <a:xfrm>
            <a:off x="777240" y="3200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417320" y="3154680"/>
            <a:ext cx="4389120" cy="320040"/>
          </a:xfrm>
          <a:prstGeom prst="rect">
            <a:avLst/>
          </a:prstGeom>
          <a:noFill/>
          <a:ln/>
        </p:spPr>
        <p:txBody>
          <a:bodyPr wrap="square" lIns="0" tIns="0" rIns="0" bIns="0" rtlCol="0" anchor="ctr"/>
          <a:lstStyle/>
          <a:p>
            <a:pPr marL="0" indent="0">
              <a:buNone/>
            </a:pPr>
            <a:r>
              <a:rPr lang="en-US" sz="1500" b="1" dirty="0">
                <a:solidFill>
                  <a:srgbClr val="16204A"/>
                </a:solidFill>
                <a:latin typeface="Cambria" pitchFamily="34" charset="0"/>
                <a:ea typeface="Cambria" pitchFamily="34" charset="-122"/>
                <a:cs typeface="Cambria" pitchFamily="34" charset="-120"/>
              </a:rPr>
              <a:t>Compare</a:t>
            </a:r>
            <a:endParaRPr lang="en-US" sz="1500" dirty="0"/>
          </a:p>
        </p:txBody>
      </p:sp>
      <p:sp>
        <p:nvSpPr>
          <p:cNvPr id="20" name="Text 18"/>
          <p:cNvSpPr txBox="1"/>
          <p:nvPr/>
        </p:nvSpPr>
        <p:spPr>
          <a:xfrm>
            <a:off x="1417320" y="3483864"/>
            <a:ext cx="4389120" cy="8229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Compare the key with elements in the sorted portion, moving right to left.</a:t>
            </a:r>
            <a:endParaRPr lang="en-US" sz="1600" dirty="0"/>
          </a:p>
        </p:txBody>
      </p:sp>
      <p:sp>
        <p:nvSpPr>
          <p:cNvPr id="21" name="Shape 19"/>
          <p:cNvSpPr/>
          <p:nvPr/>
        </p:nvSpPr>
        <p:spPr>
          <a:xfrm>
            <a:off x="6263640" y="2971800"/>
            <a:ext cx="5440680" cy="1417320"/>
          </a:xfrm>
          <a:prstGeom prst="roundRect">
            <a:avLst>
              <a:gd name="adj" fmla="val 6452"/>
            </a:avLst>
          </a:prstGeom>
          <a:solidFill>
            <a:srgbClr val="EEF2FC"/>
          </a:solidFill>
          <a:ln w="12700">
            <a:solidFill>
              <a:srgbClr val="CADCFC"/>
            </a:solidFill>
            <a:prstDash val="solid"/>
          </a:ln>
        </p:spPr>
      </p:sp>
      <p:sp>
        <p:nvSpPr>
          <p:cNvPr id="22" name="Shape 20"/>
          <p:cNvSpPr/>
          <p:nvPr/>
        </p:nvSpPr>
        <p:spPr>
          <a:xfrm>
            <a:off x="6492240" y="3200400"/>
            <a:ext cx="457200" cy="457200"/>
          </a:xfrm>
          <a:prstGeom prst="ellipse">
            <a:avLst/>
          </a:prstGeom>
          <a:solidFill>
            <a:srgbClr val="1E2761"/>
          </a:solidFill>
          <a:ln/>
        </p:spPr>
      </p:sp>
      <p:sp>
        <p:nvSpPr>
          <p:cNvPr id="23" name="Text 21"/>
          <p:cNvSpPr txBox="1"/>
          <p:nvPr/>
        </p:nvSpPr>
        <p:spPr>
          <a:xfrm>
            <a:off x="6492240" y="3200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7132320" y="3154680"/>
            <a:ext cx="4389120" cy="320040"/>
          </a:xfrm>
          <a:prstGeom prst="rect">
            <a:avLst/>
          </a:prstGeom>
          <a:noFill/>
          <a:ln/>
        </p:spPr>
        <p:txBody>
          <a:bodyPr wrap="square" lIns="0" tIns="0" rIns="0" bIns="0" rtlCol="0" anchor="ctr"/>
          <a:lstStyle/>
          <a:p>
            <a:pPr marL="0" indent="0">
              <a:buNone/>
            </a:pPr>
            <a:r>
              <a:rPr lang="en-US" sz="1500" b="1" dirty="0">
                <a:solidFill>
                  <a:srgbClr val="16204A"/>
                </a:solidFill>
                <a:latin typeface="Cambria" pitchFamily="34" charset="0"/>
                <a:ea typeface="Cambria" pitchFamily="34" charset="-122"/>
                <a:cs typeface="Cambria" pitchFamily="34" charset="-120"/>
              </a:rPr>
              <a:t>Shift</a:t>
            </a:r>
            <a:endParaRPr lang="en-US" sz="1500" dirty="0"/>
          </a:p>
        </p:txBody>
      </p:sp>
      <p:sp>
        <p:nvSpPr>
          <p:cNvPr id="25" name="Text 23"/>
          <p:cNvSpPr txBox="1"/>
          <p:nvPr/>
        </p:nvSpPr>
        <p:spPr>
          <a:xfrm>
            <a:off x="7132320" y="3483864"/>
            <a:ext cx="4389120" cy="8229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Shift each larger element one position to the right to make room.</a:t>
            </a:r>
            <a:endParaRPr lang="en-US" sz="1600" dirty="0"/>
          </a:p>
        </p:txBody>
      </p:sp>
      <p:sp>
        <p:nvSpPr>
          <p:cNvPr id="26" name="Shape 24"/>
          <p:cNvSpPr/>
          <p:nvPr/>
        </p:nvSpPr>
        <p:spPr>
          <a:xfrm>
            <a:off x="548640" y="4526280"/>
            <a:ext cx="5440680" cy="1417320"/>
          </a:xfrm>
          <a:prstGeom prst="roundRect">
            <a:avLst>
              <a:gd name="adj" fmla="val 6452"/>
            </a:avLst>
          </a:prstGeom>
          <a:solidFill>
            <a:srgbClr val="EEF2FC"/>
          </a:solidFill>
          <a:ln w="12700">
            <a:solidFill>
              <a:srgbClr val="CADCFC"/>
            </a:solidFill>
            <a:prstDash val="solid"/>
          </a:ln>
        </p:spPr>
      </p:sp>
      <p:sp>
        <p:nvSpPr>
          <p:cNvPr id="27" name="Shape 25"/>
          <p:cNvSpPr/>
          <p:nvPr/>
        </p:nvSpPr>
        <p:spPr>
          <a:xfrm>
            <a:off x="777240" y="4754880"/>
            <a:ext cx="457200" cy="457200"/>
          </a:xfrm>
          <a:prstGeom prst="ellipse">
            <a:avLst/>
          </a:prstGeom>
          <a:solidFill>
            <a:srgbClr val="1E2761"/>
          </a:solidFill>
          <a:ln/>
        </p:spPr>
      </p:sp>
      <p:sp>
        <p:nvSpPr>
          <p:cNvPr id="28" name="Text 26"/>
          <p:cNvSpPr txBox="1"/>
          <p:nvPr/>
        </p:nvSpPr>
        <p:spPr>
          <a:xfrm>
            <a:off x="777240" y="4754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txBox="1"/>
          <p:nvPr/>
        </p:nvSpPr>
        <p:spPr>
          <a:xfrm>
            <a:off x="1417320" y="4709160"/>
            <a:ext cx="4389120" cy="320040"/>
          </a:xfrm>
          <a:prstGeom prst="rect">
            <a:avLst/>
          </a:prstGeom>
          <a:noFill/>
          <a:ln/>
        </p:spPr>
        <p:txBody>
          <a:bodyPr wrap="square" lIns="0" tIns="0" rIns="0" bIns="0" rtlCol="0" anchor="ctr"/>
          <a:lstStyle/>
          <a:p>
            <a:pPr marL="0" indent="0">
              <a:buNone/>
            </a:pPr>
            <a:r>
              <a:rPr lang="en-US" sz="1500" b="1" dirty="0">
                <a:solidFill>
                  <a:srgbClr val="16204A"/>
                </a:solidFill>
                <a:latin typeface="Cambria" pitchFamily="34" charset="0"/>
                <a:ea typeface="Cambria" pitchFamily="34" charset="-122"/>
                <a:cs typeface="Cambria" pitchFamily="34" charset="-120"/>
              </a:rPr>
              <a:t>Insert</a:t>
            </a:r>
            <a:endParaRPr lang="en-US" sz="1500" dirty="0"/>
          </a:p>
        </p:txBody>
      </p:sp>
      <p:sp>
        <p:nvSpPr>
          <p:cNvPr id="30" name="Text 28"/>
          <p:cNvSpPr txBox="1"/>
          <p:nvPr/>
        </p:nvSpPr>
        <p:spPr>
          <a:xfrm>
            <a:off x="1394587" y="4863046"/>
            <a:ext cx="4389120" cy="8229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Place the key into the now-empty correct position.</a:t>
            </a:r>
            <a:endParaRPr lang="en-US" sz="1600" dirty="0"/>
          </a:p>
        </p:txBody>
      </p:sp>
      <p:sp>
        <p:nvSpPr>
          <p:cNvPr id="31" name="Shape 29"/>
          <p:cNvSpPr/>
          <p:nvPr/>
        </p:nvSpPr>
        <p:spPr>
          <a:xfrm>
            <a:off x="6263640" y="4526280"/>
            <a:ext cx="5440680" cy="1417320"/>
          </a:xfrm>
          <a:prstGeom prst="roundRect">
            <a:avLst>
              <a:gd name="adj" fmla="val 6452"/>
            </a:avLst>
          </a:prstGeom>
          <a:solidFill>
            <a:srgbClr val="EEF2FC"/>
          </a:solidFill>
          <a:ln w="12700">
            <a:solidFill>
              <a:srgbClr val="CADCFC"/>
            </a:solidFill>
            <a:prstDash val="solid"/>
          </a:ln>
        </p:spPr>
      </p:sp>
      <p:sp>
        <p:nvSpPr>
          <p:cNvPr id="32" name="Shape 30"/>
          <p:cNvSpPr/>
          <p:nvPr/>
        </p:nvSpPr>
        <p:spPr>
          <a:xfrm>
            <a:off x="6492240" y="4754880"/>
            <a:ext cx="457200" cy="457200"/>
          </a:xfrm>
          <a:prstGeom prst="ellipse">
            <a:avLst/>
          </a:prstGeom>
          <a:solidFill>
            <a:srgbClr val="1E2761"/>
          </a:solidFill>
          <a:ln/>
        </p:spPr>
      </p:sp>
      <p:sp>
        <p:nvSpPr>
          <p:cNvPr id="33" name="Text 31"/>
          <p:cNvSpPr txBox="1"/>
          <p:nvPr/>
        </p:nvSpPr>
        <p:spPr>
          <a:xfrm>
            <a:off x="6492240" y="4754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txBox="1"/>
          <p:nvPr/>
        </p:nvSpPr>
        <p:spPr>
          <a:xfrm>
            <a:off x="7132320" y="4709160"/>
            <a:ext cx="4389120" cy="320040"/>
          </a:xfrm>
          <a:prstGeom prst="rect">
            <a:avLst/>
          </a:prstGeom>
          <a:noFill/>
          <a:ln/>
        </p:spPr>
        <p:txBody>
          <a:bodyPr wrap="square" lIns="0" tIns="0" rIns="0" bIns="0" rtlCol="0" anchor="ctr"/>
          <a:lstStyle/>
          <a:p>
            <a:pPr marL="0" indent="0">
              <a:buNone/>
            </a:pPr>
            <a:r>
              <a:rPr lang="en-US" sz="1500" b="1" dirty="0">
                <a:solidFill>
                  <a:srgbClr val="16204A"/>
                </a:solidFill>
                <a:latin typeface="Cambria" pitchFamily="34" charset="0"/>
                <a:ea typeface="Cambria" pitchFamily="34" charset="-122"/>
                <a:cs typeface="Cambria" pitchFamily="34" charset="-120"/>
              </a:rPr>
              <a:t>Repeat</a:t>
            </a:r>
            <a:endParaRPr lang="en-US" sz="1500" dirty="0"/>
          </a:p>
        </p:txBody>
      </p:sp>
      <p:sp>
        <p:nvSpPr>
          <p:cNvPr id="35" name="Text 33"/>
          <p:cNvSpPr txBox="1"/>
          <p:nvPr/>
        </p:nvSpPr>
        <p:spPr>
          <a:xfrm>
            <a:off x="7132320" y="5038344"/>
            <a:ext cx="4389120" cy="8229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Repeat steps 2–5 until the entire array has been processed.</a:t>
            </a:r>
            <a:endParaRPr lang="en-US" sz="1600" dirty="0"/>
          </a:p>
        </p:txBody>
      </p:sp>
      <p:sp>
        <p:nvSpPr>
          <p:cNvPr id="36" name="Text 34"/>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37" name="Text 35"/>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3C4E8C"/>
                </a:solidFill>
                <a:latin typeface="Calibri" pitchFamily="34" charset="0"/>
                <a:ea typeface="Calibri" pitchFamily="34" charset="-122"/>
                <a:cs typeface="Calibri" pitchFamily="34" charset="-120"/>
              </a:rPr>
              <a:t>WORKED EXAMPLE</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Step-by-Step: [5, 2, 4, 6, 1, 3]</a:t>
            </a:r>
            <a:endParaRPr lang="en-US" sz="3200" dirty="0"/>
          </a:p>
        </p:txBody>
      </p:sp>
      <p:sp>
        <p:nvSpPr>
          <p:cNvPr id="6" name="Text 4"/>
          <p:cNvSpPr txBox="1"/>
          <p:nvPr/>
        </p:nvSpPr>
        <p:spPr>
          <a:xfrm>
            <a:off x="548640" y="1563624"/>
            <a:ext cx="105156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Initial</a:t>
            </a:r>
            <a:endParaRPr lang="en-US" sz="1200" dirty="0"/>
          </a:p>
        </p:txBody>
      </p:sp>
      <p:sp>
        <p:nvSpPr>
          <p:cNvPr id="7" name="Shape 5"/>
          <p:cNvSpPr/>
          <p:nvPr/>
        </p:nvSpPr>
        <p:spPr>
          <a:xfrm>
            <a:off x="1618488" y="1344168"/>
            <a:ext cx="658368" cy="658368"/>
          </a:xfrm>
          <a:prstGeom prst="roundRect">
            <a:avLst>
              <a:gd name="adj" fmla="val 13889"/>
            </a:avLst>
          </a:prstGeom>
          <a:solidFill>
            <a:srgbClr val="DCEBDD"/>
          </a:solidFill>
          <a:ln w="12700">
            <a:solidFill>
              <a:srgbClr val="5FA778"/>
            </a:solidFill>
            <a:prstDash val="dash"/>
          </a:ln>
        </p:spPr>
      </p:sp>
      <p:sp>
        <p:nvSpPr>
          <p:cNvPr id="8" name="Shape 6"/>
          <p:cNvSpPr/>
          <p:nvPr/>
        </p:nvSpPr>
        <p:spPr>
          <a:xfrm>
            <a:off x="1691640" y="1417320"/>
            <a:ext cx="512064" cy="512064"/>
          </a:xfrm>
          <a:prstGeom prst="roundRect">
            <a:avLst>
              <a:gd name="adj" fmla="val 21429"/>
            </a:avLst>
          </a:prstGeom>
          <a:solidFill>
            <a:srgbClr val="FFFFFF"/>
          </a:solidFill>
          <a:ln w="22225">
            <a:solidFill>
              <a:srgbClr val="3C4E8C"/>
            </a:solidFill>
            <a:prstDash val="solid"/>
          </a:ln>
        </p:spPr>
      </p:sp>
      <p:sp>
        <p:nvSpPr>
          <p:cNvPr id="9" name="Text 7"/>
          <p:cNvSpPr txBox="1"/>
          <p:nvPr/>
        </p:nvSpPr>
        <p:spPr>
          <a:xfrm>
            <a:off x="1691640" y="141732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10" name="Text 8"/>
          <p:cNvSpPr txBox="1"/>
          <p:nvPr/>
        </p:nvSpPr>
        <p:spPr>
          <a:xfrm>
            <a:off x="1691640" y="195681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11" name="Shape 9"/>
          <p:cNvSpPr/>
          <p:nvPr/>
        </p:nvSpPr>
        <p:spPr>
          <a:xfrm>
            <a:off x="2286000" y="1417320"/>
            <a:ext cx="512064" cy="512064"/>
          </a:xfrm>
          <a:prstGeom prst="roundRect">
            <a:avLst>
              <a:gd name="adj" fmla="val 21429"/>
            </a:avLst>
          </a:prstGeom>
          <a:solidFill>
            <a:srgbClr val="FFFFFF"/>
          </a:solidFill>
          <a:ln w="22225">
            <a:solidFill>
              <a:srgbClr val="3C4E8C"/>
            </a:solidFill>
            <a:prstDash val="solid"/>
          </a:ln>
        </p:spPr>
      </p:sp>
      <p:sp>
        <p:nvSpPr>
          <p:cNvPr id="12" name="Text 10"/>
          <p:cNvSpPr txBox="1"/>
          <p:nvPr/>
        </p:nvSpPr>
        <p:spPr>
          <a:xfrm>
            <a:off x="2286000" y="141732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13" name="Text 11"/>
          <p:cNvSpPr txBox="1"/>
          <p:nvPr/>
        </p:nvSpPr>
        <p:spPr>
          <a:xfrm>
            <a:off x="2286000" y="195681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14" name="Shape 12"/>
          <p:cNvSpPr/>
          <p:nvPr/>
        </p:nvSpPr>
        <p:spPr>
          <a:xfrm>
            <a:off x="2880360" y="1417320"/>
            <a:ext cx="512064" cy="512064"/>
          </a:xfrm>
          <a:prstGeom prst="roundRect">
            <a:avLst>
              <a:gd name="adj" fmla="val 21429"/>
            </a:avLst>
          </a:prstGeom>
          <a:solidFill>
            <a:srgbClr val="FFFFFF"/>
          </a:solidFill>
          <a:ln w="22225">
            <a:solidFill>
              <a:srgbClr val="3C4E8C"/>
            </a:solidFill>
            <a:prstDash val="solid"/>
          </a:ln>
        </p:spPr>
      </p:sp>
      <p:sp>
        <p:nvSpPr>
          <p:cNvPr id="15" name="Text 13"/>
          <p:cNvSpPr txBox="1"/>
          <p:nvPr/>
        </p:nvSpPr>
        <p:spPr>
          <a:xfrm>
            <a:off x="2880360" y="141732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16" name="Text 14"/>
          <p:cNvSpPr txBox="1"/>
          <p:nvPr/>
        </p:nvSpPr>
        <p:spPr>
          <a:xfrm>
            <a:off x="2880360" y="195681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17" name="Shape 15"/>
          <p:cNvSpPr/>
          <p:nvPr/>
        </p:nvSpPr>
        <p:spPr>
          <a:xfrm>
            <a:off x="3474720" y="1417320"/>
            <a:ext cx="512064" cy="512064"/>
          </a:xfrm>
          <a:prstGeom prst="roundRect">
            <a:avLst>
              <a:gd name="adj" fmla="val 21429"/>
            </a:avLst>
          </a:prstGeom>
          <a:solidFill>
            <a:srgbClr val="FFFFFF"/>
          </a:solidFill>
          <a:ln w="22225">
            <a:solidFill>
              <a:srgbClr val="3C4E8C"/>
            </a:solidFill>
            <a:prstDash val="solid"/>
          </a:ln>
        </p:spPr>
      </p:sp>
      <p:sp>
        <p:nvSpPr>
          <p:cNvPr id="18" name="Text 16"/>
          <p:cNvSpPr txBox="1"/>
          <p:nvPr/>
        </p:nvSpPr>
        <p:spPr>
          <a:xfrm>
            <a:off x="3474720" y="141732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a:t>
            </a:r>
            <a:endParaRPr lang="en-US" sz="1300" dirty="0"/>
          </a:p>
        </p:txBody>
      </p:sp>
      <p:sp>
        <p:nvSpPr>
          <p:cNvPr id="19" name="Text 17"/>
          <p:cNvSpPr txBox="1"/>
          <p:nvPr/>
        </p:nvSpPr>
        <p:spPr>
          <a:xfrm>
            <a:off x="3474720" y="195681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20" name="Shape 18"/>
          <p:cNvSpPr/>
          <p:nvPr/>
        </p:nvSpPr>
        <p:spPr>
          <a:xfrm>
            <a:off x="4069080" y="1417320"/>
            <a:ext cx="512064" cy="512064"/>
          </a:xfrm>
          <a:prstGeom prst="roundRect">
            <a:avLst>
              <a:gd name="adj" fmla="val 21429"/>
            </a:avLst>
          </a:prstGeom>
          <a:solidFill>
            <a:srgbClr val="FFFFFF"/>
          </a:solidFill>
          <a:ln w="22225">
            <a:solidFill>
              <a:srgbClr val="3C4E8C"/>
            </a:solidFill>
            <a:prstDash val="solid"/>
          </a:ln>
        </p:spPr>
      </p:sp>
      <p:sp>
        <p:nvSpPr>
          <p:cNvPr id="21" name="Text 19"/>
          <p:cNvSpPr txBox="1"/>
          <p:nvPr/>
        </p:nvSpPr>
        <p:spPr>
          <a:xfrm>
            <a:off x="4069080" y="141732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22" name="Text 20"/>
          <p:cNvSpPr txBox="1"/>
          <p:nvPr/>
        </p:nvSpPr>
        <p:spPr>
          <a:xfrm>
            <a:off x="4069080" y="195681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23" name="Shape 21"/>
          <p:cNvSpPr/>
          <p:nvPr/>
        </p:nvSpPr>
        <p:spPr>
          <a:xfrm>
            <a:off x="4663440" y="1417320"/>
            <a:ext cx="512064" cy="512064"/>
          </a:xfrm>
          <a:prstGeom prst="roundRect">
            <a:avLst>
              <a:gd name="adj" fmla="val 21429"/>
            </a:avLst>
          </a:prstGeom>
          <a:solidFill>
            <a:srgbClr val="FFFFFF"/>
          </a:solidFill>
          <a:ln w="22225">
            <a:solidFill>
              <a:srgbClr val="3C4E8C"/>
            </a:solidFill>
            <a:prstDash val="solid"/>
          </a:ln>
        </p:spPr>
      </p:sp>
      <p:sp>
        <p:nvSpPr>
          <p:cNvPr id="24" name="Text 22"/>
          <p:cNvSpPr txBox="1"/>
          <p:nvPr/>
        </p:nvSpPr>
        <p:spPr>
          <a:xfrm>
            <a:off x="4663440" y="141732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25" name="Text 23"/>
          <p:cNvSpPr txBox="1"/>
          <p:nvPr/>
        </p:nvSpPr>
        <p:spPr>
          <a:xfrm>
            <a:off x="4663440" y="195681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26" name="Shape 24"/>
          <p:cNvSpPr/>
          <p:nvPr/>
        </p:nvSpPr>
        <p:spPr>
          <a:xfrm>
            <a:off x="7772400" y="1527048"/>
            <a:ext cx="3840480" cy="365760"/>
          </a:xfrm>
          <a:prstGeom prst="roundRect">
            <a:avLst>
              <a:gd name="adj" fmla="val 50000"/>
            </a:avLst>
          </a:prstGeom>
          <a:solidFill>
            <a:srgbClr val="EEF2FC"/>
          </a:solidFill>
          <a:ln/>
        </p:spPr>
      </p:sp>
      <p:sp>
        <p:nvSpPr>
          <p:cNvPr id="27" name="Text 25"/>
          <p:cNvSpPr txBox="1"/>
          <p:nvPr/>
        </p:nvSpPr>
        <p:spPr>
          <a:xfrm>
            <a:off x="7772400" y="1527048"/>
            <a:ext cx="3840480" cy="365760"/>
          </a:xfrm>
          <a:prstGeom prst="rect">
            <a:avLst/>
          </a:prstGeom>
          <a:noFill/>
          <a:ln/>
        </p:spPr>
        <p:txBody>
          <a:bodyPr wrap="square" lIns="0" tIns="0" rIns="0" bIns="0" rtlCol="0" anchor="ctr"/>
          <a:lstStyle/>
          <a:p>
            <a:pPr marL="0" indent="0" algn="ctr">
              <a:buNone/>
            </a:pPr>
            <a:r>
              <a:rPr lang="en-US" sz="1200" b="1" dirty="0">
                <a:solidFill>
                  <a:srgbClr val="16204A"/>
                </a:solidFill>
                <a:latin typeface="Calibri" pitchFamily="34" charset="0"/>
                <a:ea typeface="Calibri" pitchFamily="34" charset="-122"/>
                <a:cs typeface="Calibri" pitchFamily="34" charset="-120"/>
              </a:rPr>
              <a:t>A[0] </a:t>
            </a:r>
            <a:r>
              <a:rPr lang="en-US" b="1" dirty="0">
                <a:solidFill>
                  <a:srgbClr val="16204A"/>
                </a:solidFill>
                <a:latin typeface="Calibri" pitchFamily="34" charset="0"/>
                <a:ea typeface="Calibri" pitchFamily="34" charset="-122"/>
                <a:cs typeface="Calibri" pitchFamily="34" charset="-120"/>
              </a:rPr>
              <a:t>assumed</a:t>
            </a:r>
            <a:r>
              <a:rPr lang="en-US" sz="1200" b="1" dirty="0">
                <a:solidFill>
                  <a:srgbClr val="16204A"/>
                </a:solidFill>
                <a:latin typeface="Calibri" pitchFamily="34" charset="0"/>
                <a:ea typeface="Calibri" pitchFamily="34" charset="-122"/>
                <a:cs typeface="Calibri" pitchFamily="34" charset="-120"/>
              </a:rPr>
              <a:t> sorted</a:t>
            </a:r>
            <a:endParaRPr lang="en-US" sz="1200" dirty="0"/>
          </a:p>
        </p:txBody>
      </p:sp>
      <p:sp>
        <p:nvSpPr>
          <p:cNvPr id="28" name="Text 26"/>
          <p:cNvSpPr txBox="1"/>
          <p:nvPr/>
        </p:nvSpPr>
        <p:spPr>
          <a:xfrm>
            <a:off x="548640" y="2359152"/>
            <a:ext cx="105156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Insert 2</a:t>
            </a:r>
            <a:endParaRPr lang="en-US" sz="1200" dirty="0"/>
          </a:p>
        </p:txBody>
      </p:sp>
      <p:sp>
        <p:nvSpPr>
          <p:cNvPr id="29" name="Shape 27"/>
          <p:cNvSpPr/>
          <p:nvPr/>
        </p:nvSpPr>
        <p:spPr>
          <a:xfrm>
            <a:off x="1618488" y="2139696"/>
            <a:ext cx="1252728" cy="658368"/>
          </a:xfrm>
          <a:prstGeom prst="roundRect">
            <a:avLst>
              <a:gd name="adj" fmla="val 13889"/>
            </a:avLst>
          </a:prstGeom>
          <a:solidFill>
            <a:srgbClr val="DCEBDD"/>
          </a:solidFill>
          <a:ln w="12700">
            <a:solidFill>
              <a:srgbClr val="5FA778"/>
            </a:solidFill>
            <a:prstDash val="dash"/>
          </a:ln>
        </p:spPr>
      </p:sp>
      <p:sp>
        <p:nvSpPr>
          <p:cNvPr id="30" name="Shape 28"/>
          <p:cNvSpPr/>
          <p:nvPr/>
        </p:nvSpPr>
        <p:spPr>
          <a:xfrm>
            <a:off x="1691640" y="2212848"/>
            <a:ext cx="512064" cy="512064"/>
          </a:xfrm>
          <a:prstGeom prst="roundRect">
            <a:avLst>
              <a:gd name="adj" fmla="val 21429"/>
            </a:avLst>
          </a:prstGeom>
          <a:solidFill>
            <a:srgbClr val="C1272D"/>
          </a:solidFill>
          <a:ln w="22225">
            <a:solidFill>
              <a:srgbClr val="C1272D"/>
            </a:solidFill>
            <a:prstDash val="solid"/>
          </a:ln>
        </p:spPr>
      </p:sp>
      <p:sp>
        <p:nvSpPr>
          <p:cNvPr id="31" name="Text 29"/>
          <p:cNvSpPr txBox="1"/>
          <p:nvPr/>
        </p:nvSpPr>
        <p:spPr>
          <a:xfrm>
            <a:off x="1691640" y="22128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32" name="Text 30"/>
          <p:cNvSpPr txBox="1"/>
          <p:nvPr/>
        </p:nvSpPr>
        <p:spPr>
          <a:xfrm>
            <a:off x="1691640" y="2752344"/>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33" name="Shape 31"/>
          <p:cNvSpPr/>
          <p:nvPr/>
        </p:nvSpPr>
        <p:spPr>
          <a:xfrm>
            <a:off x="2286000" y="2212848"/>
            <a:ext cx="512064" cy="512064"/>
          </a:xfrm>
          <a:prstGeom prst="roundRect">
            <a:avLst>
              <a:gd name="adj" fmla="val 21429"/>
            </a:avLst>
          </a:prstGeom>
          <a:solidFill>
            <a:srgbClr val="D9A404"/>
          </a:solidFill>
          <a:ln w="22225">
            <a:solidFill>
              <a:srgbClr val="D9A404"/>
            </a:solidFill>
            <a:prstDash val="solid"/>
          </a:ln>
        </p:spPr>
      </p:sp>
      <p:sp>
        <p:nvSpPr>
          <p:cNvPr id="34" name="Text 32"/>
          <p:cNvSpPr txBox="1"/>
          <p:nvPr/>
        </p:nvSpPr>
        <p:spPr>
          <a:xfrm>
            <a:off x="2286000" y="2212848"/>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35" name="Text 33"/>
          <p:cNvSpPr txBox="1"/>
          <p:nvPr/>
        </p:nvSpPr>
        <p:spPr>
          <a:xfrm>
            <a:off x="2286000" y="2752344"/>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36" name="Shape 34"/>
          <p:cNvSpPr/>
          <p:nvPr/>
        </p:nvSpPr>
        <p:spPr>
          <a:xfrm>
            <a:off x="2880360" y="2212848"/>
            <a:ext cx="512064" cy="512064"/>
          </a:xfrm>
          <a:prstGeom prst="roundRect">
            <a:avLst>
              <a:gd name="adj" fmla="val 21429"/>
            </a:avLst>
          </a:prstGeom>
          <a:solidFill>
            <a:srgbClr val="FFFFFF"/>
          </a:solidFill>
          <a:ln w="22225">
            <a:solidFill>
              <a:srgbClr val="3C4E8C"/>
            </a:solidFill>
            <a:prstDash val="solid"/>
          </a:ln>
        </p:spPr>
      </p:sp>
      <p:sp>
        <p:nvSpPr>
          <p:cNvPr id="37" name="Text 35"/>
          <p:cNvSpPr txBox="1"/>
          <p:nvPr/>
        </p:nvSpPr>
        <p:spPr>
          <a:xfrm>
            <a:off x="2880360" y="2212848"/>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38" name="Text 36"/>
          <p:cNvSpPr txBox="1"/>
          <p:nvPr/>
        </p:nvSpPr>
        <p:spPr>
          <a:xfrm>
            <a:off x="2880360" y="2752344"/>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39" name="Shape 37"/>
          <p:cNvSpPr/>
          <p:nvPr/>
        </p:nvSpPr>
        <p:spPr>
          <a:xfrm>
            <a:off x="3474720" y="2212848"/>
            <a:ext cx="512064" cy="512064"/>
          </a:xfrm>
          <a:prstGeom prst="roundRect">
            <a:avLst>
              <a:gd name="adj" fmla="val 21429"/>
            </a:avLst>
          </a:prstGeom>
          <a:solidFill>
            <a:srgbClr val="FFFFFF"/>
          </a:solidFill>
          <a:ln w="22225">
            <a:solidFill>
              <a:srgbClr val="3C4E8C"/>
            </a:solidFill>
            <a:prstDash val="solid"/>
          </a:ln>
        </p:spPr>
      </p:sp>
      <p:sp>
        <p:nvSpPr>
          <p:cNvPr id="40" name="Text 38"/>
          <p:cNvSpPr txBox="1"/>
          <p:nvPr/>
        </p:nvSpPr>
        <p:spPr>
          <a:xfrm>
            <a:off x="3474720" y="2212848"/>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a:t>
            </a:r>
            <a:endParaRPr lang="en-US" sz="1300" dirty="0"/>
          </a:p>
        </p:txBody>
      </p:sp>
      <p:sp>
        <p:nvSpPr>
          <p:cNvPr id="41" name="Text 39"/>
          <p:cNvSpPr txBox="1"/>
          <p:nvPr/>
        </p:nvSpPr>
        <p:spPr>
          <a:xfrm>
            <a:off x="3474720" y="2752344"/>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42" name="Shape 40"/>
          <p:cNvSpPr/>
          <p:nvPr/>
        </p:nvSpPr>
        <p:spPr>
          <a:xfrm>
            <a:off x="4069080" y="2212848"/>
            <a:ext cx="512064" cy="512064"/>
          </a:xfrm>
          <a:prstGeom prst="roundRect">
            <a:avLst>
              <a:gd name="adj" fmla="val 21429"/>
            </a:avLst>
          </a:prstGeom>
          <a:solidFill>
            <a:srgbClr val="FFFFFF"/>
          </a:solidFill>
          <a:ln w="22225">
            <a:solidFill>
              <a:srgbClr val="3C4E8C"/>
            </a:solidFill>
            <a:prstDash val="solid"/>
          </a:ln>
        </p:spPr>
      </p:sp>
      <p:sp>
        <p:nvSpPr>
          <p:cNvPr id="43" name="Text 41"/>
          <p:cNvSpPr txBox="1"/>
          <p:nvPr/>
        </p:nvSpPr>
        <p:spPr>
          <a:xfrm>
            <a:off x="4069080" y="2212848"/>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44" name="Text 42"/>
          <p:cNvSpPr txBox="1"/>
          <p:nvPr/>
        </p:nvSpPr>
        <p:spPr>
          <a:xfrm>
            <a:off x="4069080" y="2752344"/>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45" name="Shape 43"/>
          <p:cNvSpPr/>
          <p:nvPr/>
        </p:nvSpPr>
        <p:spPr>
          <a:xfrm>
            <a:off x="4663440" y="2212848"/>
            <a:ext cx="512064" cy="512064"/>
          </a:xfrm>
          <a:prstGeom prst="roundRect">
            <a:avLst>
              <a:gd name="adj" fmla="val 21429"/>
            </a:avLst>
          </a:prstGeom>
          <a:solidFill>
            <a:srgbClr val="FFFFFF"/>
          </a:solidFill>
          <a:ln w="22225">
            <a:solidFill>
              <a:srgbClr val="3C4E8C"/>
            </a:solidFill>
            <a:prstDash val="solid"/>
          </a:ln>
        </p:spPr>
      </p:sp>
      <p:sp>
        <p:nvSpPr>
          <p:cNvPr id="46" name="Text 44"/>
          <p:cNvSpPr txBox="1"/>
          <p:nvPr/>
        </p:nvSpPr>
        <p:spPr>
          <a:xfrm>
            <a:off x="4663440" y="2212848"/>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47" name="Text 45"/>
          <p:cNvSpPr txBox="1"/>
          <p:nvPr/>
        </p:nvSpPr>
        <p:spPr>
          <a:xfrm>
            <a:off x="4663440" y="2752344"/>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48" name="Shape 46"/>
          <p:cNvSpPr/>
          <p:nvPr/>
        </p:nvSpPr>
        <p:spPr>
          <a:xfrm>
            <a:off x="7772400" y="2322576"/>
            <a:ext cx="3840480" cy="365760"/>
          </a:xfrm>
          <a:prstGeom prst="roundRect">
            <a:avLst>
              <a:gd name="adj" fmla="val 50000"/>
            </a:avLst>
          </a:prstGeom>
          <a:solidFill>
            <a:srgbClr val="EEF2FC"/>
          </a:solidFill>
          <a:ln/>
        </p:spPr>
      </p:sp>
      <p:sp>
        <p:nvSpPr>
          <p:cNvPr id="49" name="Text 47"/>
          <p:cNvSpPr txBox="1"/>
          <p:nvPr/>
        </p:nvSpPr>
        <p:spPr>
          <a:xfrm>
            <a:off x="7772400" y="2322576"/>
            <a:ext cx="3840480" cy="365760"/>
          </a:xfrm>
          <a:prstGeom prst="rect">
            <a:avLst/>
          </a:prstGeom>
          <a:noFill/>
          <a:ln/>
        </p:spPr>
        <p:txBody>
          <a:bodyPr wrap="square" lIns="0" tIns="0" rIns="0" bIns="0" rtlCol="0" anchor="ctr"/>
          <a:lstStyle/>
          <a:p>
            <a:pPr marL="0" indent="0" algn="ctr">
              <a:buNone/>
            </a:pPr>
            <a:r>
              <a:rPr lang="en-US" sz="1600" b="1" dirty="0">
                <a:solidFill>
                  <a:srgbClr val="16204A"/>
                </a:solidFill>
                <a:latin typeface="Calibri" pitchFamily="34" charset="0"/>
                <a:ea typeface="Calibri" pitchFamily="34" charset="-122"/>
                <a:cs typeface="Calibri" pitchFamily="34" charset="-120"/>
              </a:rPr>
              <a:t>key=2, shift 5 → right</a:t>
            </a:r>
            <a:endParaRPr lang="en-US" sz="1600" dirty="0"/>
          </a:p>
        </p:txBody>
      </p:sp>
      <p:sp>
        <p:nvSpPr>
          <p:cNvPr id="50" name="Text 48"/>
          <p:cNvSpPr txBox="1"/>
          <p:nvPr/>
        </p:nvSpPr>
        <p:spPr>
          <a:xfrm>
            <a:off x="548640" y="3154680"/>
            <a:ext cx="105156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Insert 4</a:t>
            </a:r>
            <a:endParaRPr lang="en-US" sz="1200" dirty="0"/>
          </a:p>
        </p:txBody>
      </p:sp>
      <p:sp>
        <p:nvSpPr>
          <p:cNvPr id="51" name="Shape 49"/>
          <p:cNvSpPr/>
          <p:nvPr/>
        </p:nvSpPr>
        <p:spPr>
          <a:xfrm>
            <a:off x="1618488" y="2935224"/>
            <a:ext cx="1847088" cy="658368"/>
          </a:xfrm>
          <a:prstGeom prst="roundRect">
            <a:avLst>
              <a:gd name="adj" fmla="val 13889"/>
            </a:avLst>
          </a:prstGeom>
          <a:solidFill>
            <a:srgbClr val="DCEBDD"/>
          </a:solidFill>
          <a:ln w="12700">
            <a:solidFill>
              <a:srgbClr val="5FA778"/>
            </a:solidFill>
            <a:prstDash val="dash"/>
          </a:ln>
        </p:spPr>
      </p:sp>
      <p:sp>
        <p:nvSpPr>
          <p:cNvPr id="52" name="Shape 50"/>
          <p:cNvSpPr/>
          <p:nvPr/>
        </p:nvSpPr>
        <p:spPr>
          <a:xfrm>
            <a:off x="1691640" y="3008376"/>
            <a:ext cx="512064" cy="512064"/>
          </a:xfrm>
          <a:prstGeom prst="roundRect">
            <a:avLst>
              <a:gd name="adj" fmla="val 21429"/>
            </a:avLst>
          </a:prstGeom>
          <a:solidFill>
            <a:srgbClr val="FFFFFF"/>
          </a:solidFill>
          <a:ln w="22225">
            <a:solidFill>
              <a:srgbClr val="3C4E8C"/>
            </a:solidFill>
            <a:prstDash val="solid"/>
          </a:ln>
        </p:spPr>
      </p:sp>
      <p:sp>
        <p:nvSpPr>
          <p:cNvPr id="53" name="Text 51"/>
          <p:cNvSpPr txBox="1"/>
          <p:nvPr/>
        </p:nvSpPr>
        <p:spPr>
          <a:xfrm>
            <a:off x="1691640" y="3008376"/>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54" name="Text 52"/>
          <p:cNvSpPr txBox="1"/>
          <p:nvPr/>
        </p:nvSpPr>
        <p:spPr>
          <a:xfrm>
            <a:off x="1691640" y="3547872"/>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2286000" y="3008376"/>
            <a:ext cx="512064" cy="512064"/>
          </a:xfrm>
          <a:prstGeom prst="roundRect">
            <a:avLst>
              <a:gd name="adj" fmla="val 21429"/>
            </a:avLst>
          </a:prstGeom>
          <a:solidFill>
            <a:srgbClr val="C1272D"/>
          </a:solidFill>
          <a:ln w="22225">
            <a:solidFill>
              <a:srgbClr val="C1272D"/>
            </a:solidFill>
            <a:prstDash val="solid"/>
          </a:ln>
        </p:spPr>
      </p:sp>
      <p:sp>
        <p:nvSpPr>
          <p:cNvPr id="56" name="Text 54"/>
          <p:cNvSpPr txBox="1"/>
          <p:nvPr/>
        </p:nvSpPr>
        <p:spPr>
          <a:xfrm>
            <a:off x="2286000" y="3008376"/>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57" name="Text 55"/>
          <p:cNvSpPr txBox="1"/>
          <p:nvPr/>
        </p:nvSpPr>
        <p:spPr>
          <a:xfrm>
            <a:off x="2286000" y="3547872"/>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58" name="Shape 56"/>
          <p:cNvSpPr/>
          <p:nvPr/>
        </p:nvSpPr>
        <p:spPr>
          <a:xfrm>
            <a:off x="2880360" y="3008376"/>
            <a:ext cx="512064" cy="512064"/>
          </a:xfrm>
          <a:prstGeom prst="roundRect">
            <a:avLst>
              <a:gd name="adj" fmla="val 21429"/>
            </a:avLst>
          </a:prstGeom>
          <a:solidFill>
            <a:srgbClr val="D9A404"/>
          </a:solidFill>
          <a:ln w="22225">
            <a:solidFill>
              <a:srgbClr val="D9A404"/>
            </a:solidFill>
            <a:prstDash val="solid"/>
          </a:ln>
        </p:spPr>
      </p:sp>
      <p:sp>
        <p:nvSpPr>
          <p:cNvPr id="59" name="Text 57"/>
          <p:cNvSpPr txBox="1"/>
          <p:nvPr/>
        </p:nvSpPr>
        <p:spPr>
          <a:xfrm>
            <a:off x="2880360" y="3008376"/>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60" name="Text 58"/>
          <p:cNvSpPr txBox="1"/>
          <p:nvPr/>
        </p:nvSpPr>
        <p:spPr>
          <a:xfrm>
            <a:off x="2880360" y="3547872"/>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61" name="Shape 59"/>
          <p:cNvSpPr/>
          <p:nvPr/>
        </p:nvSpPr>
        <p:spPr>
          <a:xfrm>
            <a:off x="3474720" y="3008376"/>
            <a:ext cx="512064" cy="512064"/>
          </a:xfrm>
          <a:prstGeom prst="roundRect">
            <a:avLst>
              <a:gd name="adj" fmla="val 21429"/>
            </a:avLst>
          </a:prstGeom>
          <a:solidFill>
            <a:srgbClr val="FFFFFF"/>
          </a:solidFill>
          <a:ln w="22225">
            <a:solidFill>
              <a:srgbClr val="3C4E8C"/>
            </a:solidFill>
            <a:prstDash val="solid"/>
          </a:ln>
        </p:spPr>
      </p:sp>
      <p:sp>
        <p:nvSpPr>
          <p:cNvPr id="62" name="Text 60"/>
          <p:cNvSpPr txBox="1"/>
          <p:nvPr/>
        </p:nvSpPr>
        <p:spPr>
          <a:xfrm>
            <a:off x="3474720" y="3008376"/>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a:t>
            </a:r>
            <a:endParaRPr lang="en-US" sz="1300" dirty="0"/>
          </a:p>
        </p:txBody>
      </p:sp>
      <p:sp>
        <p:nvSpPr>
          <p:cNvPr id="63" name="Text 61"/>
          <p:cNvSpPr txBox="1"/>
          <p:nvPr/>
        </p:nvSpPr>
        <p:spPr>
          <a:xfrm>
            <a:off x="3474720" y="3547872"/>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64" name="Shape 62"/>
          <p:cNvSpPr/>
          <p:nvPr/>
        </p:nvSpPr>
        <p:spPr>
          <a:xfrm>
            <a:off x="4069080" y="3008376"/>
            <a:ext cx="512064" cy="512064"/>
          </a:xfrm>
          <a:prstGeom prst="roundRect">
            <a:avLst>
              <a:gd name="adj" fmla="val 21429"/>
            </a:avLst>
          </a:prstGeom>
          <a:solidFill>
            <a:srgbClr val="FFFFFF"/>
          </a:solidFill>
          <a:ln w="22225">
            <a:solidFill>
              <a:srgbClr val="3C4E8C"/>
            </a:solidFill>
            <a:prstDash val="solid"/>
          </a:ln>
        </p:spPr>
      </p:sp>
      <p:sp>
        <p:nvSpPr>
          <p:cNvPr id="65" name="Text 63"/>
          <p:cNvSpPr txBox="1"/>
          <p:nvPr/>
        </p:nvSpPr>
        <p:spPr>
          <a:xfrm>
            <a:off x="4069080" y="3008376"/>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66" name="Text 64"/>
          <p:cNvSpPr txBox="1"/>
          <p:nvPr/>
        </p:nvSpPr>
        <p:spPr>
          <a:xfrm>
            <a:off x="4069080" y="3547872"/>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67" name="Shape 65"/>
          <p:cNvSpPr/>
          <p:nvPr/>
        </p:nvSpPr>
        <p:spPr>
          <a:xfrm>
            <a:off x="4663440" y="3008376"/>
            <a:ext cx="512064" cy="512064"/>
          </a:xfrm>
          <a:prstGeom prst="roundRect">
            <a:avLst>
              <a:gd name="adj" fmla="val 21429"/>
            </a:avLst>
          </a:prstGeom>
          <a:solidFill>
            <a:srgbClr val="FFFFFF"/>
          </a:solidFill>
          <a:ln w="22225">
            <a:solidFill>
              <a:srgbClr val="3C4E8C"/>
            </a:solidFill>
            <a:prstDash val="solid"/>
          </a:ln>
        </p:spPr>
      </p:sp>
      <p:sp>
        <p:nvSpPr>
          <p:cNvPr id="68" name="Text 66"/>
          <p:cNvSpPr txBox="1"/>
          <p:nvPr/>
        </p:nvSpPr>
        <p:spPr>
          <a:xfrm>
            <a:off x="4663440" y="3008376"/>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69" name="Text 67"/>
          <p:cNvSpPr txBox="1"/>
          <p:nvPr/>
        </p:nvSpPr>
        <p:spPr>
          <a:xfrm>
            <a:off x="4663440" y="3547872"/>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70" name="Shape 68"/>
          <p:cNvSpPr/>
          <p:nvPr/>
        </p:nvSpPr>
        <p:spPr>
          <a:xfrm>
            <a:off x="7772400" y="3118104"/>
            <a:ext cx="3840480" cy="365760"/>
          </a:xfrm>
          <a:prstGeom prst="roundRect">
            <a:avLst>
              <a:gd name="adj" fmla="val 50000"/>
            </a:avLst>
          </a:prstGeom>
          <a:solidFill>
            <a:srgbClr val="EEF2FC"/>
          </a:solidFill>
          <a:ln/>
        </p:spPr>
      </p:sp>
      <p:sp>
        <p:nvSpPr>
          <p:cNvPr id="71" name="Text 69"/>
          <p:cNvSpPr txBox="1"/>
          <p:nvPr/>
        </p:nvSpPr>
        <p:spPr>
          <a:xfrm>
            <a:off x="7772400" y="3118104"/>
            <a:ext cx="3840480" cy="365760"/>
          </a:xfrm>
          <a:prstGeom prst="rect">
            <a:avLst/>
          </a:prstGeom>
          <a:noFill/>
          <a:ln/>
        </p:spPr>
        <p:txBody>
          <a:bodyPr wrap="square" lIns="0" tIns="0" rIns="0" bIns="0" rtlCol="0" anchor="ctr"/>
          <a:lstStyle/>
          <a:p>
            <a:pPr marL="0" indent="0" algn="ctr">
              <a:buNone/>
            </a:pPr>
            <a:r>
              <a:rPr lang="en-US" sz="1600" b="1" dirty="0">
                <a:solidFill>
                  <a:srgbClr val="16204A"/>
                </a:solidFill>
                <a:latin typeface="Calibri" pitchFamily="34" charset="0"/>
                <a:ea typeface="Calibri" pitchFamily="34" charset="-122"/>
                <a:cs typeface="Calibri" pitchFamily="34" charset="-120"/>
              </a:rPr>
              <a:t>key=4, shift 5 → right</a:t>
            </a:r>
            <a:endParaRPr lang="en-US" sz="1600" dirty="0"/>
          </a:p>
        </p:txBody>
      </p:sp>
      <p:sp>
        <p:nvSpPr>
          <p:cNvPr id="72" name="Text 70"/>
          <p:cNvSpPr txBox="1"/>
          <p:nvPr/>
        </p:nvSpPr>
        <p:spPr>
          <a:xfrm>
            <a:off x="548640" y="3950208"/>
            <a:ext cx="105156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Insert 6</a:t>
            </a:r>
            <a:endParaRPr lang="en-US" sz="1200" dirty="0"/>
          </a:p>
        </p:txBody>
      </p:sp>
      <p:sp>
        <p:nvSpPr>
          <p:cNvPr id="73" name="Shape 71"/>
          <p:cNvSpPr/>
          <p:nvPr/>
        </p:nvSpPr>
        <p:spPr>
          <a:xfrm>
            <a:off x="1618488" y="3730752"/>
            <a:ext cx="2441448" cy="658368"/>
          </a:xfrm>
          <a:prstGeom prst="roundRect">
            <a:avLst>
              <a:gd name="adj" fmla="val 13889"/>
            </a:avLst>
          </a:prstGeom>
          <a:solidFill>
            <a:srgbClr val="DCEBDD"/>
          </a:solidFill>
          <a:ln w="12700">
            <a:solidFill>
              <a:srgbClr val="5FA778"/>
            </a:solidFill>
            <a:prstDash val="dash"/>
          </a:ln>
        </p:spPr>
      </p:sp>
      <p:sp>
        <p:nvSpPr>
          <p:cNvPr id="74" name="Shape 72"/>
          <p:cNvSpPr/>
          <p:nvPr/>
        </p:nvSpPr>
        <p:spPr>
          <a:xfrm>
            <a:off x="1691640" y="3803904"/>
            <a:ext cx="512064" cy="512064"/>
          </a:xfrm>
          <a:prstGeom prst="roundRect">
            <a:avLst>
              <a:gd name="adj" fmla="val 21429"/>
            </a:avLst>
          </a:prstGeom>
          <a:solidFill>
            <a:srgbClr val="FFFFFF"/>
          </a:solidFill>
          <a:ln w="22225">
            <a:solidFill>
              <a:srgbClr val="3C4E8C"/>
            </a:solidFill>
            <a:prstDash val="solid"/>
          </a:ln>
        </p:spPr>
      </p:sp>
      <p:sp>
        <p:nvSpPr>
          <p:cNvPr id="75" name="Text 73"/>
          <p:cNvSpPr txBox="1"/>
          <p:nvPr/>
        </p:nvSpPr>
        <p:spPr>
          <a:xfrm>
            <a:off x="1691640" y="3803904"/>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76" name="Text 74"/>
          <p:cNvSpPr txBox="1"/>
          <p:nvPr/>
        </p:nvSpPr>
        <p:spPr>
          <a:xfrm>
            <a:off x="1691640" y="4343400"/>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77" name="Shape 75"/>
          <p:cNvSpPr/>
          <p:nvPr/>
        </p:nvSpPr>
        <p:spPr>
          <a:xfrm>
            <a:off x="2286000" y="3803904"/>
            <a:ext cx="512064" cy="512064"/>
          </a:xfrm>
          <a:prstGeom prst="roundRect">
            <a:avLst>
              <a:gd name="adj" fmla="val 21429"/>
            </a:avLst>
          </a:prstGeom>
          <a:solidFill>
            <a:srgbClr val="FFFFFF"/>
          </a:solidFill>
          <a:ln w="22225">
            <a:solidFill>
              <a:srgbClr val="3C4E8C"/>
            </a:solidFill>
            <a:prstDash val="solid"/>
          </a:ln>
        </p:spPr>
      </p:sp>
      <p:sp>
        <p:nvSpPr>
          <p:cNvPr id="78" name="Text 76"/>
          <p:cNvSpPr txBox="1"/>
          <p:nvPr/>
        </p:nvSpPr>
        <p:spPr>
          <a:xfrm>
            <a:off x="2286000" y="3803904"/>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79" name="Text 77"/>
          <p:cNvSpPr txBox="1"/>
          <p:nvPr/>
        </p:nvSpPr>
        <p:spPr>
          <a:xfrm>
            <a:off x="2286000" y="4343400"/>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80" name="Shape 78"/>
          <p:cNvSpPr/>
          <p:nvPr/>
        </p:nvSpPr>
        <p:spPr>
          <a:xfrm>
            <a:off x="2880360" y="3803904"/>
            <a:ext cx="512064" cy="512064"/>
          </a:xfrm>
          <a:prstGeom prst="roundRect">
            <a:avLst>
              <a:gd name="adj" fmla="val 21429"/>
            </a:avLst>
          </a:prstGeom>
          <a:solidFill>
            <a:srgbClr val="FFFFFF"/>
          </a:solidFill>
          <a:ln w="22225">
            <a:solidFill>
              <a:srgbClr val="3C4E8C"/>
            </a:solidFill>
            <a:prstDash val="solid"/>
          </a:ln>
        </p:spPr>
      </p:sp>
      <p:sp>
        <p:nvSpPr>
          <p:cNvPr id="81" name="Text 79"/>
          <p:cNvSpPr txBox="1"/>
          <p:nvPr/>
        </p:nvSpPr>
        <p:spPr>
          <a:xfrm>
            <a:off x="2880360" y="3803904"/>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82" name="Text 80"/>
          <p:cNvSpPr txBox="1"/>
          <p:nvPr/>
        </p:nvSpPr>
        <p:spPr>
          <a:xfrm>
            <a:off x="2880360" y="4343400"/>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83" name="Shape 81"/>
          <p:cNvSpPr/>
          <p:nvPr/>
        </p:nvSpPr>
        <p:spPr>
          <a:xfrm>
            <a:off x="3474720" y="3803904"/>
            <a:ext cx="512064" cy="512064"/>
          </a:xfrm>
          <a:prstGeom prst="roundRect">
            <a:avLst>
              <a:gd name="adj" fmla="val 21429"/>
            </a:avLst>
          </a:prstGeom>
          <a:solidFill>
            <a:srgbClr val="C1272D"/>
          </a:solidFill>
          <a:ln w="22225">
            <a:solidFill>
              <a:srgbClr val="C1272D"/>
            </a:solidFill>
            <a:prstDash val="solid"/>
          </a:ln>
        </p:spPr>
      </p:sp>
      <p:sp>
        <p:nvSpPr>
          <p:cNvPr id="84" name="Text 82"/>
          <p:cNvSpPr txBox="1"/>
          <p:nvPr/>
        </p:nvSpPr>
        <p:spPr>
          <a:xfrm>
            <a:off x="3474720" y="3803904"/>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85" name="Text 83"/>
          <p:cNvSpPr txBox="1"/>
          <p:nvPr/>
        </p:nvSpPr>
        <p:spPr>
          <a:xfrm>
            <a:off x="3474720" y="4343400"/>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86" name="Shape 84"/>
          <p:cNvSpPr/>
          <p:nvPr/>
        </p:nvSpPr>
        <p:spPr>
          <a:xfrm>
            <a:off x="4069080" y="3803904"/>
            <a:ext cx="512064" cy="512064"/>
          </a:xfrm>
          <a:prstGeom prst="roundRect">
            <a:avLst>
              <a:gd name="adj" fmla="val 21429"/>
            </a:avLst>
          </a:prstGeom>
          <a:solidFill>
            <a:srgbClr val="FFFFFF"/>
          </a:solidFill>
          <a:ln w="22225">
            <a:solidFill>
              <a:srgbClr val="3C4E8C"/>
            </a:solidFill>
            <a:prstDash val="solid"/>
          </a:ln>
        </p:spPr>
      </p:sp>
      <p:sp>
        <p:nvSpPr>
          <p:cNvPr id="87" name="Text 85"/>
          <p:cNvSpPr txBox="1"/>
          <p:nvPr/>
        </p:nvSpPr>
        <p:spPr>
          <a:xfrm>
            <a:off x="4069080" y="3803904"/>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88" name="Text 86"/>
          <p:cNvSpPr txBox="1"/>
          <p:nvPr/>
        </p:nvSpPr>
        <p:spPr>
          <a:xfrm>
            <a:off x="4069080" y="4343400"/>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89" name="Shape 87"/>
          <p:cNvSpPr/>
          <p:nvPr/>
        </p:nvSpPr>
        <p:spPr>
          <a:xfrm>
            <a:off x="4663440" y="3803904"/>
            <a:ext cx="512064" cy="512064"/>
          </a:xfrm>
          <a:prstGeom prst="roundRect">
            <a:avLst>
              <a:gd name="adj" fmla="val 21429"/>
            </a:avLst>
          </a:prstGeom>
          <a:solidFill>
            <a:srgbClr val="FFFFFF"/>
          </a:solidFill>
          <a:ln w="22225">
            <a:solidFill>
              <a:srgbClr val="3C4E8C"/>
            </a:solidFill>
            <a:prstDash val="solid"/>
          </a:ln>
        </p:spPr>
      </p:sp>
      <p:sp>
        <p:nvSpPr>
          <p:cNvPr id="90" name="Text 88"/>
          <p:cNvSpPr txBox="1"/>
          <p:nvPr/>
        </p:nvSpPr>
        <p:spPr>
          <a:xfrm>
            <a:off x="4663440" y="3803904"/>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91" name="Text 89"/>
          <p:cNvSpPr txBox="1"/>
          <p:nvPr/>
        </p:nvSpPr>
        <p:spPr>
          <a:xfrm>
            <a:off x="4663440" y="4343400"/>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92" name="Shape 90"/>
          <p:cNvSpPr/>
          <p:nvPr/>
        </p:nvSpPr>
        <p:spPr>
          <a:xfrm>
            <a:off x="7772400" y="3913632"/>
            <a:ext cx="3840480" cy="365760"/>
          </a:xfrm>
          <a:prstGeom prst="roundRect">
            <a:avLst>
              <a:gd name="adj" fmla="val 50000"/>
            </a:avLst>
          </a:prstGeom>
          <a:solidFill>
            <a:srgbClr val="EEF2FC"/>
          </a:solidFill>
          <a:ln/>
        </p:spPr>
      </p:sp>
      <p:sp>
        <p:nvSpPr>
          <p:cNvPr id="93" name="Text 91"/>
          <p:cNvSpPr txBox="1"/>
          <p:nvPr/>
        </p:nvSpPr>
        <p:spPr>
          <a:xfrm>
            <a:off x="7772400" y="3913632"/>
            <a:ext cx="3840480" cy="365760"/>
          </a:xfrm>
          <a:prstGeom prst="rect">
            <a:avLst/>
          </a:prstGeom>
          <a:noFill/>
          <a:ln/>
        </p:spPr>
        <p:txBody>
          <a:bodyPr wrap="square" lIns="0" tIns="0" rIns="0" bIns="0" rtlCol="0" anchor="ctr"/>
          <a:lstStyle/>
          <a:p>
            <a:pPr marL="0" indent="0" algn="ctr">
              <a:buNone/>
            </a:pPr>
            <a:r>
              <a:rPr lang="en-US" sz="1600" b="1" dirty="0">
                <a:solidFill>
                  <a:srgbClr val="16204A"/>
                </a:solidFill>
                <a:latin typeface="Calibri" pitchFamily="34" charset="0"/>
                <a:ea typeface="Calibri" pitchFamily="34" charset="-122"/>
                <a:cs typeface="Calibri" pitchFamily="34" charset="-120"/>
              </a:rPr>
              <a:t>key=6, no shift needed</a:t>
            </a:r>
            <a:endParaRPr lang="en-US" sz="1600" dirty="0"/>
          </a:p>
        </p:txBody>
      </p:sp>
      <p:sp>
        <p:nvSpPr>
          <p:cNvPr id="94" name="Text 92"/>
          <p:cNvSpPr txBox="1"/>
          <p:nvPr/>
        </p:nvSpPr>
        <p:spPr>
          <a:xfrm>
            <a:off x="548640" y="4745736"/>
            <a:ext cx="105156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Insert 1</a:t>
            </a:r>
            <a:endParaRPr lang="en-US" sz="1200" dirty="0"/>
          </a:p>
        </p:txBody>
      </p:sp>
      <p:sp>
        <p:nvSpPr>
          <p:cNvPr id="95" name="Shape 93"/>
          <p:cNvSpPr/>
          <p:nvPr/>
        </p:nvSpPr>
        <p:spPr>
          <a:xfrm>
            <a:off x="1618488" y="4526280"/>
            <a:ext cx="3035808" cy="658368"/>
          </a:xfrm>
          <a:prstGeom prst="roundRect">
            <a:avLst>
              <a:gd name="adj" fmla="val 13889"/>
            </a:avLst>
          </a:prstGeom>
          <a:solidFill>
            <a:srgbClr val="DCEBDD"/>
          </a:solidFill>
          <a:ln w="12700">
            <a:solidFill>
              <a:srgbClr val="5FA778"/>
            </a:solidFill>
            <a:prstDash val="dash"/>
          </a:ln>
        </p:spPr>
      </p:sp>
      <p:sp>
        <p:nvSpPr>
          <p:cNvPr id="96" name="Shape 94"/>
          <p:cNvSpPr/>
          <p:nvPr/>
        </p:nvSpPr>
        <p:spPr>
          <a:xfrm>
            <a:off x="1691640" y="4599432"/>
            <a:ext cx="512064" cy="512064"/>
          </a:xfrm>
          <a:prstGeom prst="roundRect">
            <a:avLst>
              <a:gd name="adj" fmla="val 21429"/>
            </a:avLst>
          </a:prstGeom>
          <a:solidFill>
            <a:srgbClr val="C1272D"/>
          </a:solidFill>
          <a:ln w="22225">
            <a:solidFill>
              <a:srgbClr val="C1272D"/>
            </a:solidFill>
            <a:prstDash val="solid"/>
          </a:ln>
        </p:spPr>
      </p:sp>
      <p:sp>
        <p:nvSpPr>
          <p:cNvPr id="97" name="Text 95"/>
          <p:cNvSpPr txBox="1"/>
          <p:nvPr/>
        </p:nvSpPr>
        <p:spPr>
          <a:xfrm>
            <a:off x="1691640" y="4599432"/>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98" name="Text 96"/>
          <p:cNvSpPr txBox="1"/>
          <p:nvPr/>
        </p:nvSpPr>
        <p:spPr>
          <a:xfrm>
            <a:off x="1691640" y="5138928"/>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99" name="Shape 97"/>
          <p:cNvSpPr/>
          <p:nvPr/>
        </p:nvSpPr>
        <p:spPr>
          <a:xfrm>
            <a:off x="2286000" y="4599432"/>
            <a:ext cx="512064" cy="512064"/>
          </a:xfrm>
          <a:prstGeom prst="roundRect">
            <a:avLst>
              <a:gd name="adj" fmla="val 21429"/>
            </a:avLst>
          </a:prstGeom>
          <a:solidFill>
            <a:srgbClr val="D9A404"/>
          </a:solidFill>
          <a:ln w="22225">
            <a:solidFill>
              <a:srgbClr val="D9A404"/>
            </a:solidFill>
            <a:prstDash val="solid"/>
          </a:ln>
        </p:spPr>
      </p:sp>
      <p:sp>
        <p:nvSpPr>
          <p:cNvPr id="100" name="Text 98"/>
          <p:cNvSpPr txBox="1"/>
          <p:nvPr/>
        </p:nvSpPr>
        <p:spPr>
          <a:xfrm>
            <a:off x="2286000" y="4599432"/>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101" name="Text 99"/>
          <p:cNvSpPr txBox="1"/>
          <p:nvPr/>
        </p:nvSpPr>
        <p:spPr>
          <a:xfrm>
            <a:off x="2286000" y="5138928"/>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102" name="Shape 100"/>
          <p:cNvSpPr/>
          <p:nvPr/>
        </p:nvSpPr>
        <p:spPr>
          <a:xfrm>
            <a:off x="2880360" y="4599432"/>
            <a:ext cx="512064" cy="512064"/>
          </a:xfrm>
          <a:prstGeom prst="roundRect">
            <a:avLst>
              <a:gd name="adj" fmla="val 21429"/>
            </a:avLst>
          </a:prstGeom>
          <a:solidFill>
            <a:srgbClr val="D9A404"/>
          </a:solidFill>
          <a:ln w="22225">
            <a:solidFill>
              <a:srgbClr val="D9A404"/>
            </a:solidFill>
            <a:prstDash val="solid"/>
          </a:ln>
        </p:spPr>
      </p:sp>
      <p:sp>
        <p:nvSpPr>
          <p:cNvPr id="103" name="Text 101"/>
          <p:cNvSpPr txBox="1"/>
          <p:nvPr/>
        </p:nvSpPr>
        <p:spPr>
          <a:xfrm>
            <a:off x="2880360" y="4599432"/>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104" name="Text 102"/>
          <p:cNvSpPr txBox="1"/>
          <p:nvPr/>
        </p:nvSpPr>
        <p:spPr>
          <a:xfrm>
            <a:off x="2880360" y="5138928"/>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105" name="Shape 103"/>
          <p:cNvSpPr/>
          <p:nvPr/>
        </p:nvSpPr>
        <p:spPr>
          <a:xfrm>
            <a:off x="3474720" y="4599432"/>
            <a:ext cx="512064" cy="512064"/>
          </a:xfrm>
          <a:prstGeom prst="roundRect">
            <a:avLst>
              <a:gd name="adj" fmla="val 21429"/>
            </a:avLst>
          </a:prstGeom>
          <a:solidFill>
            <a:srgbClr val="D9A404"/>
          </a:solidFill>
          <a:ln w="22225">
            <a:solidFill>
              <a:srgbClr val="D9A404"/>
            </a:solidFill>
            <a:prstDash val="solid"/>
          </a:ln>
        </p:spPr>
      </p:sp>
      <p:sp>
        <p:nvSpPr>
          <p:cNvPr id="106" name="Text 104"/>
          <p:cNvSpPr txBox="1"/>
          <p:nvPr/>
        </p:nvSpPr>
        <p:spPr>
          <a:xfrm>
            <a:off x="3474720" y="4599432"/>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107" name="Text 105"/>
          <p:cNvSpPr txBox="1"/>
          <p:nvPr/>
        </p:nvSpPr>
        <p:spPr>
          <a:xfrm>
            <a:off x="3474720" y="5138928"/>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108" name="Shape 106"/>
          <p:cNvSpPr/>
          <p:nvPr/>
        </p:nvSpPr>
        <p:spPr>
          <a:xfrm>
            <a:off x="4069080" y="4599432"/>
            <a:ext cx="512064" cy="512064"/>
          </a:xfrm>
          <a:prstGeom prst="roundRect">
            <a:avLst>
              <a:gd name="adj" fmla="val 21429"/>
            </a:avLst>
          </a:prstGeom>
          <a:solidFill>
            <a:srgbClr val="D9A404"/>
          </a:solidFill>
          <a:ln w="22225">
            <a:solidFill>
              <a:srgbClr val="D9A404"/>
            </a:solidFill>
            <a:prstDash val="solid"/>
          </a:ln>
        </p:spPr>
      </p:sp>
      <p:sp>
        <p:nvSpPr>
          <p:cNvPr id="109" name="Text 107"/>
          <p:cNvSpPr txBox="1"/>
          <p:nvPr/>
        </p:nvSpPr>
        <p:spPr>
          <a:xfrm>
            <a:off x="4069080" y="4599432"/>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a:t>
            </a:r>
            <a:endParaRPr lang="en-US" sz="1300" dirty="0"/>
          </a:p>
        </p:txBody>
      </p:sp>
      <p:sp>
        <p:nvSpPr>
          <p:cNvPr id="110" name="Text 108"/>
          <p:cNvSpPr txBox="1"/>
          <p:nvPr/>
        </p:nvSpPr>
        <p:spPr>
          <a:xfrm>
            <a:off x="4069080" y="5138928"/>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111" name="Shape 109"/>
          <p:cNvSpPr/>
          <p:nvPr/>
        </p:nvSpPr>
        <p:spPr>
          <a:xfrm>
            <a:off x="4663440" y="4599432"/>
            <a:ext cx="512064" cy="512064"/>
          </a:xfrm>
          <a:prstGeom prst="roundRect">
            <a:avLst>
              <a:gd name="adj" fmla="val 21429"/>
            </a:avLst>
          </a:prstGeom>
          <a:solidFill>
            <a:srgbClr val="FFFFFF"/>
          </a:solidFill>
          <a:ln w="22225">
            <a:solidFill>
              <a:srgbClr val="3C4E8C"/>
            </a:solidFill>
            <a:prstDash val="solid"/>
          </a:ln>
        </p:spPr>
      </p:sp>
      <p:sp>
        <p:nvSpPr>
          <p:cNvPr id="112" name="Text 110"/>
          <p:cNvSpPr txBox="1"/>
          <p:nvPr/>
        </p:nvSpPr>
        <p:spPr>
          <a:xfrm>
            <a:off x="4663440" y="4599432"/>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113" name="Text 111"/>
          <p:cNvSpPr txBox="1"/>
          <p:nvPr/>
        </p:nvSpPr>
        <p:spPr>
          <a:xfrm>
            <a:off x="4663440" y="5138928"/>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114" name="Shape 112"/>
          <p:cNvSpPr/>
          <p:nvPr/>
        </p:nvSpPr>
        <p:spPr>
          <a:xfrm>
            <a:off x="7772400" y="4709160"/>
            <a:ext cx="3840480" cy="365760"/>
          </a:xfrm>
          <a:prstGeom prst="roundRect">
            <a:avLst>
              <a:gd name="adj" fmla="val 50000"/>
            </a:avLst>
          </a:prstGeom>
          <a:solidFill>
            <a:srgbClr val="EEF2FC"/>
          </a:solidFill>
          <a:ln/>
        </p:spPr>
      </p:sp>
      <p:sp>
        <p:nvSpPr>
          <p:cNvPr id="115" name="Text 113"/>
          <p:cNvSpPr txBox="1"/>
          <p:nvPr/>
        </p:nvSpPr>
        <p:spPr>
          <a:xfrm>
            <a:off x="7772400" y="4709160"/>
            <a:ext cx="3840480" cy="365760"/>
          </a:xfrm>
          <a:prstGeom prst="rect">
            <a:avLst/>
          </a:prstGeom>
          <a:noFill/>
          <a:ln/>
        </p:spPr>
        <p:txBody>
          <a:bodyPr wrap="square" lIns="0" tIns="0" rIns="0" bIns="0" rtlCol="0" anchor="ctr"/>
          <a:lstStyle/>
          <a:p>
            <a:pPr marL="0" indent="0" algn="ctr">
              <a:buNone/>
            </a:pPr>
            <a:r>
              <a:rPr lang="en-US" sz="1600" b="1" dirty="0">
                <a:solidFill>
                  <a:srgbClr val="16204A"/>
                </a:solidFill>
                <a:latin typeface="Calibri" pitchFamily="34" charset="0"/>
                <a:ea typeface="Calibri" pitchFamily="34" charset="-122"/>
                <a:cs typeface="Calibri" pitchFamily="34" charset="-120"/>
              </a:rPr>
              <a:t>key=1, shift 4 elements</a:t>
            </a:r>
            <a:endParaRPr lang="en-US" sz="1600" dirty="0"/>
          </a:p>
        </p:txBody>
      </p:sp>
      <p:sp>
        <p:nvSpPr>
          <p:cNvPr id="116" name="Text 114"/>
          <p:cNvSpPr txBox="1"/>
          <p:nvPr/>
        </p:nvSpPr>
        <p:spPr>
          <a:xfrm>
            <a:off x="548640" y="5541264"/>
            <a:ext cx="105156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Insert 3</a:t>
            </a:r>
            <a:endParaRPr lang="en-US" sz="1200" dirty="0"/>
          </a:p>
        </p:txBody>
      </p:sp>
      <p:sp>
        <p:nvSpPr>
          <p:cNvPr id="117" name="Shape 115"/>
          <p:cNvSpPr/>
          <p:nvPr/>
        </p:nvSpPr>
        <p:spPr>
          <a:xfrm>
            <a:off x="1618488" y="5321808"/>
            <a:ext cx="3630168" cy="658368"/>
          </a:xfrm>
          <a:prstGeom prst="roundRect">
            <a:avLst>
              <a:gd name="adj" fmla="val 13889"/>
            </a:avLst>
          </a:prstGeom>
          <a:solidFill>
            <a:srgbClr val="DCEBDD"/>
          </a:solidFill>
          <a:ln w="12700">
            <a:solidFill>
              <a:srgbClr val="5FA778"/>
            </a:solidFill>
            <a:prstDash val="dash"/>
          </a:ln>
        </p:spPr>
      </p:sp>
      <p:sp>
        <p:nvSpPr>
          <p:cNvPr id="118" name="Shape 116"/>
          <p:cNvSpPr/>
          <p:nvPr/>
        </p:nvSpPr>
        <p:spPr>
          <a:xfrm>
            <a:off x="1691640" y="5394960"/>
            <a:ext cx="512064" cy="512064"/>
          </a:xfrm>
          <a:prstGeom prst="roundRect">
            <a:avLst>
              <a:gd name="adj" fmla="val 21429"/>
            </a:avLst>
          </a:prstGeom>
          <a:solidFill>
            <a:srgbClr val="FFFFFF"/>
          </a:solidFill>
          <a:ln w="22225">
            <a:solidFill>
              <a:srgbClr val="3C4E8C"/>
            </a:solidFill>
            <a:prstDash val="solid"/>
          </a:ln>
        </p:spPr>
      </p:sp>
      <p:sp>
        <p:nvSpPr>
          <p:cNvPr id="119" name="Text 117"/>
          <p:cNvSpPr txBox="1"/>
          <p:nvPr/>
        </p:nvSpPr>
        <p:spPr>
          <a:xfrm>
            <a:off x="1691640" y="539496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120" name="Text 118"/>
          <p:cNvSpPr txBox="1"/>
          <p:nvPr/>
        </p:nvSpPr>
        <p:spPr>
          <a:xfrm>
            <a:off x="1691640" y="593445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121" name="Shape 119"/>
          <p:cNvSpPr/>
          <p:nvPr/>
        </p:nvSpPr>
        <p:spPr>
          <a:xfrm>
            <a:off x="2286000" y="5394960"/>
            <a:ext cx="512064" cy="512064"/>
          </a:xfrm>
          <a:prstGeom prst="roundRect">
            <a:avLst>
              <a:gd name="adj" fmla="val 21429"/>
            </a:avLst>
          </a:prstGeom>
          <a:solidFill>
            <a:srgbClr val="FFFFFF"/>
          </a:solidFill>
          <a:ln w="22225">
            <a:solidFill>
              <a:srgbClr val="3C4E8C"/>
            </a:solidFill>
            <a:prstDash val="solid"/>
          </a:ln>
        </p:spPr>
      </p:sp>
      <p:sp>
        <p:nvSpPr>
          <p:cNvPr id="122" name="Text 120"/>
          <p:cNvSpPr txBox="1"/>
          <p:nvPr/>
        </p:nvSpPr>
        <p:spPr>
          <a:xfrm>
            <a:off x="2286000" y="539496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123" name="Text 121"/>
          <p:cNvSpPr txBox="1"/>
          <p:nvPr/>
        </p:nvSpPr>
        <p:spPr>
          <a:xfrm>
            <a:off x="2286000" y="593445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124" name="Shape 122"/>
          <p:cNvSpPr/>
          <p:nvPr/>
        </p:nvSpPr>
        <p:spPr>
          <a:xfrm>
            <a:off x="2880360" y="5394960"/>
            <a:ext cx="512064" cy="512064"/>
          </a:xfrm>
          <a:prstGeom prst="roundRect">
            <a:avLst>
              <a:gd name="adj" fmla="val 21429"/>
            </a:avLst>
          </a:prstGeom>
          <a:solidFill>
            <a:srgbClr val="C1272D"/>
          </a:solidFill>
          <a:ln w="22225">
            <a:solidFill>
              <a:srgbClr val="C1272D"/>
            </a:solidFill>
            <a:prstDash val="solid"/>
          </a:ln>
        </p:spPr>
      </p:sp>
      <p:sp>
        <p:nvSpPr>
          <p:cNvPr id="125" name="Text 123"/>
          <p:cNvSpPr txBox="1"/>
          <p:nvPr/>
        </p:nvSpPr>
        <p:spPr>
          <a:xfrm>
            <a:off x="2880360" y="5394960"/>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26" name="Text 124"/>
          <p:cNvSpPr txBox="1"/>
          <p:nvPr/>
        </p:nvSpPr>
        <p:spPr>
          <a:xfrm>
            <a:off x="2880360" y="593445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127" name="Shape 125"/>
          <p:cNvSpPr/>
          <p:nvPr/>
        </p:nvSpPr>
        <p:spPr>
          <a:xfrm>
            <a:off x="3474720" y="5394960"/>
            <a:ext cx="512064" cy="512064"/>
          </a:xfrm>
          <a:prstGeom prst="roundRect">
            <a:avLst>
              <a:gd name="adj" fmla="val 21429"/>
            </a:avLst>
          </a:prstGeom>
          <a:solidFill>
            <a:srgbClr val="D9A404"/>
          </a:solidFill>
          <a:ln w="22225">
            <a:solidFill>
              <a:srgbClr val="D9A404"/>
            </a:solidFill>
            <a:prstDash val="solid"/>
          </a:ln>
        </p:spPr>
      </p:sp>
      <p:sp>
        <p:nvSpPr>
          <p:cNvPr id="128" name="Text 126"/>
          <p:cNvSpPr txBox="1"/>
          <p:nvPr/>
        </p:nvSpPr>
        <p:spPr>
          <a:xfrm>
            <a:off x="3474720" y="539496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129" name="Text 127"/>
          <p:cNvSpPr txBox="1"/>
          <p:nvPr/>
        </p:nvSpPr>
        <p:spPr>
          <a:xfrm>
            <a:off x="3474720" y="593445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130" name="Shape 128"/>
          <p:cNvSpPr/>
          <p:nvPr/>
        </p:nvSpPr>
        <p:spPr>
          <a:xfrm>
            <a:off x="4069080" y="5394960"/>
            <a:ext cx="512064" cy="512064"/>
          </a:xfrm>
          <a:prstGeom prst="roundRect">
            <a:avLst>
              <a:gd name="adj" fmla="val 21429"/>
            </a:avLst>
          </a:prstGeom>
          <a:solidFill>
            <a:srgbClr val="D9A404"/>
          </a:solidFill>
          <a:ln w="22225">
            <a:solidFill>
              <a:srgbClr val="D9A404"/>
            </a:solidFill>
            <a:prstDash val="solid"/>
          </a:ln>
        </p:spPr>
      </p:sp>
      <p:sp>
        <p:nvSpPr>
          <p:cNvPr id="131" name="Text 129"/>
          <p:cNvSpPr txBox="1"/>
          <p:nvPr/>
        </p:nvSpPr>
        <p:spPr>
          <a:xfrm>
            <a:off x="4069080" y="539496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132" name="Text 130"/>
          <p:cNvSpPr txBox="1"/>
          <p:nvPr/>
        </p:nvSpPr>
        <p:spPr>
          <a:xfrm>
            <a:off x="4069080" y="593445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133" name="Shape 131"/>
          <p:cNvSpPr/>
          <p:nvPr/>
        </p:nvSpPr>
        <p:spPr>
          <a:xfrm>
            <a:off x="4663440" y="5394960"/>
            <a:ext cx="512064" cy="512064"/>
          </a:xfrm>
          <a:prstGeom prst="roundRect">
            <a:avLst>
              <a:gd name="adj" fmla="val 21429"/>
            </a:avLst>
          </a:prstGeom>
          <a:solidFill>
            <a:srgbClr val="FFFFFF"/>
          </a:solidFill>
          <a:ln w="22225">
            <a:solidFill>
              <a:srgbClr val="3C4E8C"/>
            </a:solidFill>
            <a:prstDash val="solid"/>
          </a:ln>
        </p:spPr>
      </p:sp>
      <p:sp>
        <p:nvSpPr>
          <p:cNvPr id="134" name="Text 132"/>
          <p:cNvSpPr txBox="1"/>
          <p:nvPr/>
        </p:nvSpPr>
        <p:spPr>
          <a:xfrm>
            <a:off x="4663440" y="5394960"/>
            <a:ext cx="512064" cy="512064"/>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a:t>
            </a:r>
            <a:endParaRPr lang="en-US" sz="1300" dirty="0"/>
          </a:p>
        </p:txBody>
      </p:sp>
      <p:sp>
        <p:nvSpPr>
          <p:cNvPr id="135" name="Text 133"/>
          <p:cNvSpPr txBox="1"/>
          <p:nvPr/>
        </p:nvSpPr>
        <p:spPr>
          <a:xfrm>
            <a:off x="4663440" y="5934456"/>
            <a:ext cx="512064"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136" name="Shape 134"/>
          <p:cNvSpPr/>
          <p:nvPr/>
        </p:nvSpPr>
        <p:spPr>
          <a:xfrm>
            <a:off x="7772400" y="5504688"/>
            <a:ext cx="3840480" cy="365760"/>
          </a:xfrm>
          <a:prstGeom prst="roundRect">
            <a:avLst>
              <a:gd name="adj" fmla="val 50000"/>
            </a:avLst>
          </a:prstGeom>
          <a:solidFill>
            <a:srgbClr val="EEF2FC"/>
          </a:solidFill>
          <a:ln/>
        </p:spPr>
      </p:sp>
      <p:sp>
        <p:nvSpPr>
          <p:cNvPr id="137" name="Text 135"/>
          <p:cNvSpPr txBox="1"/>
          <p:nvPr/>
        </p:nvSpPr>
        <p:spPr>
          <a:xfrm>
            <a:off x="7772400" y="5504688"/>
            <a:ext cx="3840480" cy="365760"/>
          </a:xfrm>
          <a:prstGeom prst="rect">
            <a:avLst/>
          </a:prstGeom>
          <a:noFill/>
          <a:ln/>
        </p:spPr>
        <p:txBody>
          <a:bodyPr wrap="square" lIns="0" tIns="0" rIns="0" bIns="0" rtlCol="0" anchor="ctr"/>
          <a:lstStyle/>
          <a:p>
            <a:pPr marL="0" indent="0" algn="ctr">
              <a:buNone/>
            </a:pPr>
            <a:r>
              <a:rPr lang="en-US" sz="1600" b="1" dirty="0">
                <a:solidFill>
                  <a:srgbClr val="16204A"/>
                </a:solidFill>
                <a:latin typeface="Calibri" pitchFamily="34" charset="0"/>
                <a:ea typeface="Calibri" pitchFamily="34" charset="-122"/>
                <a:cs typeface="Calibri" pitchFamily="34" charset="-120"/>
              </a:rPr>
              <a:t>key=3, shift 2 elements</a:t>
            </a:r>
            <a:endParaRPr lang="en-US" sz="1600" dirty="0"/>
          </a:p>
        </p:txBody>
      </p:sp>
      <p:sp>
        <p:nvSpPr>
          <p:cNvPr id="138" name="Shape 136"/>
          <p:cNvSpPr/>
          <p:nvPr/>
        </p:nvSpPr>
        <p:spPr>
          <a:xfrm>
            <a:off x="548640" y="6172200"/>
            <a:ext cx="201168" cy="201168"/>
          </a:xfrm>
          <a:prstGeom prst="roundRect">
            <a:avLst/>
          </a:prstGeom>
          <a:solidFill>
            <a:srgbClr val="C1272D"/>
          </a:solidFill>
          <a:ln/>
        </p:spPr>
      </p:sp>
      <p:sp>
        <p:nvSpPr>
          <p:cNvPr id="139" name="Text 137"/>
          <p:cNvSpPr txBox="1"/>
          <p:nvPr/>
        </p:nvSpPr>
        <p:spPr>
          <a:xfrm>
            <a:off x="804672" y="6144768"/>
            <a:ext cx="1371600" cy="256032"/>
          </a:xfrm>
          <a:prstGeom prst="rect">
            <a:avLst/>
          </a:prstGeom>
          <a:noFill/>
          <a:ln/>
        </p:spPr>
        <p:txBody>
          <a:bodyPr wrap="square" lIns="0" tIns="0" rIns="0" bIns="0" rtlCol="0" anchor="ctr"/>
          <a:lstStyle/>
          <a:p>
            <a:pPr marL="0" indent="0">
              <a:buNone/>
            </a:pPr>
            <a:r>
              <a:rPr lang="en-US" sz="1050" dirty="0">
                <a:solidFill>
                  <a:srgbClr val="5B6584"/>
                </a:solidFill>
                <a:latin typeface="Calibri" pitchFamily="34" charset="0"/>
                <a:ea typeface="Calibri" pitchFamily="34" charset="-122"/>
                <a:cs typeface="Calibri" pitchFamily="34" charset="-120"/>
              </a:rPr>
              <a:t>Key element</a:t>
            </a:r>
            <a:endParaRPr lang="en-US" sz="1050" dirty="0"/>
          </a:p>
        </p:txBody>
      </p:sp>
      <p:sp>
        <p:nvSpPr>
          <p:cNvPr id="140" name="Shape 138"/>
          <p:cNvSpPr/>
          <p:nvPr/>
        </p:nvSpPr>
        <p:spPr>
          <a:xfrm>
            <a:off x="2286000" y="6172200"/>
            <a:ext cx="201168" cy="201168"/>
          </a:xfrm>
          <a:prstGeom prst="roundRect">
            <a:avLst/>
          </a:prstGeom>
          <a:solidFill>
            <a:srgbClr val="D9A404"/>
          </a:solidFill>
          <a:ln/>
        </p:spPr>
      </p:sp>
      <p:sp>
        <p:nvSpPr>
          <p:cNvPr id="141" name="Text 139"/>
          <p:cNvSpPr txBox="1"/>
          <p:nvPr/>
        </p:nvSpPr>
        <p:spPr>
          <a:xfrm>
            <a:off x="2542032" y="6144768"/>
            <a:ext cx="1737360" cy="256032"/>
          </a:xfrm>
          <a:prstGeom prst="rect">
            <a:avLst/>
          </a:prstGeom>
          <a:noFill/>
          <a:ln/>
        </p:spPr>
        <p:txBody>
          <a:bodyPr wrap="square" lIns="0" tIns="0" rIns="0" bIns="0" rtlCol="0" anchor="ctr"/>
          <a:lstStyle/>
          <a:p>
            <a:pPr marL="0" indent="0">
              <a:buNone/>
            </a:pPr>
            <a:r>
              <a:rPr lang="en-US" sz="1050" dirty="0">
                <a:solidFill>
                  <a:srgbClr val="5B6584"/>
                </a:solidFill>
                <a:latin typeface="Calibri" pitchFamily="34" charset="0"/>
                <a:ea typeface="Calibri" pitchFamily="34" charset="-122"/>
                <a:cs typeface="Calibri" pitchFamily="34" charset="-120"/>
              </a:rPr>
              <a:t>Shifted element</a:t>
            </a:r>
            <a:endParaRPr lang="en-US" sz="1050" dirty="0"/>
          </a:p>
        </p:txBody>
      </p:sp>
      <p:sp>
        <p:nvSpPr>
          <p:cNvPr id="142" name="Shape 140"/>
          <p:cNvSpPr/>
          <p:nvPr/>
        </p:nvSpPr>
        <p:spPr>
          <a:xfrm>
            <a:off x="4434840" y="6172200"/>
            <a:ext cx="201168" cy="201168"/>
          </a:xfrm>
          <a:prstGeom prst="roundRect">
            <a:avLst/>
          </a:prstGeom>
          <a:solidFill>
            <a:srgbClr val="DCEBDD"/>
          </a:solidFill>
          <a:ln w="12700">
            <a:solidFill>
              <a:srgbClr val="5FA778"/>
            </a:solidFill>
            <a:prstDash val="solid"/>
          </a:ln>
        </p:spPr>
      </p:sp>
      <p:sp>
        <p:nvSpPr>
          <p:cNvPr id="143" name="Text 141"/>
          <p:cNvSpPr txBox="1"/>
          <p:nvPr/>
        </p:nvSpPr>
        <p:spPr>
          <a:xfrm>
            <a:off x="4690872" y="6144768"/>
            <a:ext cx="1737360" cy="256032"/>
          </a:xfrm>
          <a:prstGeom prst="rect">
            <a:avLst/>
          </a:prstGeom>
          <a:noFill/>
          <a:ln/>
        </p:spPr>
        <p:txBody>
          <a:bodyPr wrap="square" lIns="0" tIns="0" rIns="0" bIns="0" rtlCol="0" anchor="ctr"/>
          <a:lstStyle/>
          <a:p>
            <a:pPr marL="0" indent="0">
              <a:buNone/>
            </a:pPr>
            <a:r>
              <a:rPr lang="en-US" sz="1050" dirty="0">
                <a:solidFill>
                  <a:srgbClr val="5B6584"/>
                </a:solidFill>
                <a:latin typeface="Calibri" pitchFamily="34" charset="0"/>
                <a:ea typeface="Calibri" pitchFamily="34" charset="-122"/>
                <a:cs typeface="Calibri" pitchFamily="34" charset="-120"/>
              </a:rPr>
              <a:t>Sorted portion</a:t>
            </a:r>
            <a:endParaRPr lang="en-US" sz="105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FFFFFF">
              <a:alpha val="8000"/>
            </a:srgbClr>
          </a:solidFill>
          <a:ln/>
        </p:spPr>
      </p:sp>
      <p:sp>
        <p:nvSpPr>
          <p:cNvPr id="3" name="Shape 1"/>
          <p:cNvSpPr/>
          <p:nvPr/>
        </p:nvSpPr>
        <p:spPr>
          <a:xfrm rot="1080000">
            <a:off x="-1005840" y="5669280"/>
            <a:ext cx="2011680" cy="2834640"/>
          </a:xfrm>
          <a:prstGeom prst="roundRect">
            <a:avLst>
              <a:gd name="adj" fmla="val 8182"/>
            </a:avLst>
          </a:prstGeom>
          <a:solidFill>
            <a:srgbClr val="FFFFFF">
              <a:alpha val="8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D9A404"/>
                </a:solidFill>
                <a:latin typeface="Calibri" pitchFamily="34" charset="0"/>
                <a:ea typeface="Calibri" pitchFamily="34" charset="-122"/>
                <a:cs typeface="Calibri" pitchFamily="34" charset="-120"/>
              </a:rPr>
              <a:t>THE ALGORITHM</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Pseudocode</a:t>
            </a:r>
            <a:endParaRPr lang="en-US" sz="3200" dirty="0"/>
          </a:p>
        </p:txBody>
      </p:sp>
      <p:sp>
        <p:nvSpPr>
          <p:cNvPr id="6" name="Shape 4"/>
          <p:cNvSpPr/>
          <p:nvPr/>
        </p:nvSpPr>
        <p:spPr>
          <a:xfrm>
            <a:off x="548640" y="1417320"/>
            <a:ext cx="5852160" cy="3291840"/>
          </a:xfrm>
          <a:prstGeom prst="roundRect">
            <a:avLst>
              <a:gd name="adj" fmla="val 2222"/>
            </a:avLst>
          </a:prstGeom>
          <a:solidFill>
            <a:schemeClr val="tx2">
              <a:lumMod val="20000"/>
              <a:lumOff val="80000"/>
            </a:schemeClr>
          </a:solidFill>
          <a:ln/>
        </p:spPr>
      </p:sp>
      <p:sp>
        <p:nvSpPr>
          <p:cNvPr id="7" name="Text 5"/>
          <p:cNvSpPr txBox="1"/>
          <p:nvPr/>
        </p:nvSpPr>
        <p:spPr>
          <a:xfrm>
            <a:off x="777240" y="1581912"/>
            <a:ext cx="5394960" cy="2962656"/>
          </a:xfrm>
          <a:prstGeom prst="rect">
            <a:avLst/>
          </a:prstGeom>
          <a:noFill/>
          <a:ln/>
        </p:spPr>
        <p:txBody>
          <a:bodyPr wrap="square" lIns="0" tIns="0" rIns="0" bIns="0" rtlCol="0" anchor="t"/>
          <a:lstStyle/>
          <a:p>
            <a:pPr marL="0" indent="0">
              <a:lnSpc>
                <a:spcPct val="140000"/>
              </a:lnSpc>
              <a:buNone/>
            </a:pPr>
            <a:r>
              <a:rPr lang="en-US" sz="1500" b="1" dirty="0">
                <a:latin typeface="Courier New" pitchFamily="34" charset="0"/>
                <a:ea typeface="Courier New" pitchFamily="34" charset="-122"/>
                <a:cs typeface="Courier New" pitchFamily="34" charset="-120"/>
              </a:rPr>
              <a:t>INSERTION-SORT(A, n)
</a:t>
            </a:r>
            <a:r>
              <a:rPr lang="en-US" sz="1500" dirty="0">
                <a:latin typeface="Courier New" pitchFamily="34" charset="0"/>
                <a:ea typeface="Courier New" pitchFamily="34" charset="-122"/>
                <a:cs typeface="Courier New" pitchFamily="34" charset="-120"/>
              </a:rPr>
              <a:t>  for i = 1 to n - 1
      key = A[i]
      j = i - 1
      while j &gt;= 0 and A[j] &gt; key
          A[j + 1] = A[j]
          j = j - 1
      A[j + 1] = key</a:t>
            </a:r>
            <a:endParaRPr lang="en-US" sz="1500" dirty="0"/>
          </a:p>
        </p:txBody>
      </p:sp>
      <p:sp>
        <p:nvSpPr>
          <p:cNvPr id="8" name="Shape 6"/>
          <p:cNvSpPr/>
          <p:nvPr/>
        </p:nvSpPr>
        <p:spPr>
          <a:xfrm>
            <a:off x="6629400" y="1417320"/>
            <a:ext cx="4983480" cy="4709160"/>
          </a:xfrm>
          <a:prstGeom prst="roundRect">
            <a:avLst>
              <a:gd name="adj" fmla="val 1942"/>
            </a:avLst>
          </a:prstGeom>
          <a:solidFill>
            <a:schemeClr val="bg2"/>
          </a:solidFill>
          <a:ln w="12700">
            <a:solidFill>
              <a:srgbClr val="3C4E8C"/>
            </a:solidFill>
            <a:prstDash val="solid"/>
          </a:ln>
        </p:spPr>
        <p:txBody>
          <a:bodyPr/>
          <a:lstStyle/>
          <a:p>
            <a:endParaRPr lang="en-IN" dirty="0"/>
          </a:p>
        </p:txBody>
      </p:sp>
      <p:sp>
        <p:nvSpPr>
          <p:cNvPr id="9" name="Text 7"/>
          <p:cNvSpPr txBox="1"/>
          <p:nvPr/>
        </p:nvSpPr>
        <p:spPr>
          <a:xfrm>
            <a:off x="6858000" y="1572768"/>
            <a:ext cx="4572000" cy="274320"/>
          </a:xfrm>
          <a:prstGeom prst="rect">
            <a:avLst/>
          </a:prstGeom>
          <a:noFill/>
          <a:ln/>
        </p:spPr>
        <p:txBody>
          <a:bodyPr wrap="square" lIns="0" tIns="0" rIns="0" bIns="0" rtlCol="0" anchor="ctr"/>
          <a:lstStyle/>
          <a:p>
            <a:pPr marL="0" indent="0">
              <a:buNone/>
            </a:pPr>
            <a:r>
              <a:rPr lang="en-US" sz="1100" b="1" kern="0" spc="150" dirty="0">
                <a:solidFill>
                  <a:srgbClr val="D9A404"/>
                </a:solidFill>
                <a:latin typeface="Calibri" pitchFamily="34" charset="0"/>
                <a:ea typeface="Calibri" pitchFamily="34" charset="-122"/>
                <a:cs typeface="Calibri" pitchFamily="34" charset="-120"/>
              </a:rPr>
              <a:t>LINE-BY-LINE</a:t>
            </a:r>
            <a:endParaRPr lang="en-US" sz="1100" dirty="0"/>
          </a:p>
        </p:txBody>
      </p:sp>
      <p:sp>
        <p:nvSpPr>
          <p:cNvPr id="10" name="Text 8"/>
          <p:cNvSpPr txBox="1"/>
          <p:nvPr/>
        </p:nvSpPr>
        <p:spPr>
          <a:xfrm>
            <a:off x="6858000" y="1920240"/>
            <a:ext cx="4526280" cy="548640"/>
          </a:xfrm>
          <a:prstGeom prst="rect">
            <a:avLst/>
          </a:prstGeom>
          <a:noFill/>
          <a:ln/>
        </p:spPr>
        <p:txBody>
          <a:bodyPr wrap="square" lIns="0" tIns="0" rIns="0" bIns="0" rtlCol="0" anchor="ctr"/>
          <a:lstStyle/>
          <a:p>
            <a:pPr marL="0" indent="0">
              <a:lnSpc>
                <a:spcPct val="120000"/>
              </a:lnSpc>
              <a:buNone/>
            </a:pPr>
            <a:r>
              <a:rPr lang="en-US" sz="1150" b="1" dirty="0">
                <a:latin typeface="Courier New" pitchFamily="34" charset="0"/>
                <a:ea typeface="Courier New" pitchFamily="34" charset="-122"/>
                <a:cs typeface="Courier New" pitchFamily="34" charset="-120"/>
              </a:rPr>
              <a:t>A, n  —  </a:t>
            </a:r>
            <a:r>
              <a:rPr lang="en-US" sz="1150" dirty="0">
                <a:latin typeface="Calibri" pitchFamily="34" charset="0"/>
                <a:ea typeface="Calibri" pitchFamily="34" charset="-122"/>
                <a:cs typeface="Calibri" pitchFamily="34" charset="-120"/>
              </a:rPr>
              <a:t>The array to sort and its number of elements.</a:t>
            </a:r>
            <a:endParaRPr lang="en-US" sz="1150" dirty="0"/>
          </a:p>
        </p:txBody>
      </p:sp>
      <p:sp>
        <p:nvSpPr>
          <p:cNvPr id="11" name="Text 9"/>
          <p:cNvSpPr txBox="1"/>
          <p:nvPr/>
        </p:nvSpPr>
        <p:spPr>
          <a:xfrm>
            <a:off x="6858000" y="2523744"/>
            <a:ext cx="4526280" cy="548640"/>
          </a:xfrm>
          <a:prstGeom prst="rect">
            <a:avLst/>
          </a:prstGeom>
          <a:noFill/>
          <a:ln/>
        </p:spPr>
        <p:txBody>
          <a:bodyPr wrap="square" lIns="0" tIns="0" rIns="0" bIns="0" rtlCol="0" anchor="ctr"/>
          <a:lstStyle/>
          <a:p>
            <a:pPr marL="0" indent="0">
              <a:lnSpc>
                <a:spcPct val="120000"/>
              </a:lnSpc>
              <a:buNone/>
            </a:pPr>
            <a:r>
              <a:rPr lang="en-US" sz="1150" b="1" dirty="0">
                <a:latin typeface="Courier New" pitchFamily="34" charset="0"/>
                <a:ea typeface="Courier New" pitchFamily="34" charset="-122"/>
                <a:cs typeface="Courier New" pitchFamily="34" charset="-120"/>
              </a:rPr>
              <a:t>for i = 1 to n−1  —  </a:t>
            </a:r>
            <a:r>
              <a:rPr lang="en-US" sz="1150" dirty="0">
                <a:latin typeface="Calibri" pitchFamily="34" charset="0"/>
                <a:ea typeface="Calibri" pitchFamily="34" charset="-122"/>
                <a:cs typeface="Calibri" pitchFamily="34" charset="-120"/>
              </a:rPr>
              <a:t>Iterates once for every element after the first.</a:t>
            </a:r>
            <a:endParaRPr lang="en-US" sz="1150" dirty="0"/>
          </a:p>
        </p:txBody>
      </p:sp>
      <p:sp>
        <p:nvSpPr>
          <p:cNvPr id="12" name="Text 10"/>
          <p:cNvSpPr txBox="1"/>
          <p:nvPr/>
        </p:nvSpPr>
        <p:spPr>
          <a:xfrm>
            <a:off x="6858000" y="3127248"/>
            <a:ext cx="4526280" cy="548640"/>
          </a:xfrm>
          <a:prstGeom prst="rect">
            <a:avLst/>
          </a:prstGeom>
          <a:noFill/>
          <a:ln/>
        </p:spPr>
        <p:txBody>
          <a:bodyPr wrap="square" lIns="0" tIns="0" rIns="0" bIns="0" rtlCol="0" anchor="ctr"/>
          <a:lstStyle/>
          <a:p>
            <a:pPr marL="0" indent="0">
              <a:lnSpc>
                <a:spcPct val="120000"/>
              </a:lnSpc>
              <a:buNone/>
            </a:pPr>
            <a:r>
              <a:rPr lang="en-US" sz="1150" b="1" dirty="0">
                <a:latin typeface="Courier New" pitchFamily="34" charset="0"/>
                <a:ea typeface="Courier New" pitchFamily="34" charset="-122"/>
                <a:cs typeface="Courier New" pitchFamily="34" charset="-120"/>
              </a:rPr>
              <a:t>key = A[i]  —  </a:t>
            </a:r>
            <a:r>
              <a:rPr lang="en-US" sz="1150" dirty="0">
                <a:latin typeface="Calibri" pitchFamily="34" charset="0"/>
                <a:ea typeface="Calibri" pitchFamily="34" charset="-122"/>
                <a:cs typeface="Calibri" pitchFamily="34" charset="-120"/>
              </a:rPr>
              <a:t>The element currently being inserted into the sorted part.</a:t>
            </a:r>
            <a:endParaRPr lang="en-US" sz="1150" dirty="0"/>
          </a:p>
        </p:txBody>
      </p:sp>
      <p:sp>
        <p:nvSpPr>
          <p:cNvPr id="13" name="Text 11"/>
          <p:cNvSpPr txBox="1"/>
          <p:nvPr/>
        </p:nvSpPr>
        <p:spPr>
          <a:xfrm>
            <a:off x="6858000" y="3730752"/>
            <a:ext cx="4526280" cy="548640"/>
          </a:xfrm>
          <a:prstGeom prst="rect">
            <a:avLst/>
          </a:prstGeom>
          <a:noFill/>
          <a:ln/>
        </p:spPr>
        <p:txBody>
          <a:bodyPr wrap="square" lIns="0" tIns="0" rIns="0" bIns="0" rtlCol="0" anchor="ctr"/>
          <a:lstStyle/>
          <a:p>
            <a:pPr marL="0" indent="0">
              <a:lnSpc>
                <a:spcPct val="120000"/>
              </a:lnSpc>
              <a:buNone/>
            </a:pPr>
            <a:r>
              <a:rPr lang="en-US" sz="1150" b="1" dirty="0">
                <a:latin typeface="Courier New" pitchFamily="34" charset="0"/>
                <a:ea typeface="Courier New" pitchFamily="34" charset="-122"/>
                <a:cs typeface="Courier New" pitchFamily="34" charset="-120"/>
              </a:rPr>
              <a:t>j = i − 1  —  </a:t>
            </a:r>
            <a:r>
              <a:rPr lang="en-US" sz="1150" dirty="0">
                <a:latin typeface="Calibri" pitchFamily="34" charset="0"/>
                <a:ea typeface="Calibri" pitchFamily="34" charset="-122"/>
                <a:cs typeface="Calibri" pitchFamily="34" charset="-120"/>
              </a:rPr>
              <a:t>Starts scanning from the last sorted index, moving left.</a:t>
            </a:r>
            <a:endParaRPr lang="en-US" sz="1150" dirty="0"/>
          </a:p>
        </p:txBody>
      </p:sp>
      <p:sp>
        <p:nvSpPr>
          <p:cNvPr id="14" name="Text 12"/>
          <p:cNvSpPr txBox="1"/>
          <p:nvPr/>
        </p:nvSpPr>
        <p:spPr>
          <a:xfrm>
            <a:off x="6858000" y="4334256"/>
            <a:ext cx="4526280" cy="548640"/>
          </a:xfrm>
          <a:prstGeom prst="rect">
            <a:avLst/>
          </a:prstGeom>
          <a:noFill/>
          <a:ln/>
        </p:spPr>
        <p:txBody>
          <a:bodyPr wrap="square" lIns="0" tIns="0" rIns="0" bIns="0" rtlCol="0" anchor="ctr"/>
          <a:lstStyle/>
          <a:p>
            <a:pPr marL="0" indent="0">
              <a:lnSpc>
                <a:spcPct val="120000"/>
              </a:lnSpc>
              <a:buNone/>
            </a:pPr>
            <a:r>
              <a:rPr lang="en-US" sz="1150" b="1" dirty="0">
                <a:latin typeface="Courier New" pitchFamily="34" charset="0"/>
                <a:ea typeface="Courier New" pitchFamily="34" charset="-122"/>
                <a:cs typeface="Courier New" pitchFamily="34" charset="-120"/>
              </a:rPr>
              <a:t>while j≥0 and A[j] &gt; key  —  </a:t>
            </a:r>
            <a:r>
              <a:rPr lang="en-US" sz="1150" dirty="0">
                <a:latin typeface="Calibri" pitchFamily="34" charset="0"/>
                <a:ea typeface="Calibri" pitchFamily="34" charset="-122"/>
                <a:cs typeface="Calibri" pitchFamily="34" charset="-120"/>
              </a:rPr>
              <a:t>Keeps shifting while an out-of-place larger element remains.</a:t>
            </a:r>
            <a:endParaRPr lang="en-US" sz="1150" dirty="0"/>
          </a:p>
        </p:txBody>
      </p:sp>
      <p:sp>
        <p:nvSpPr>
          <p:cNvPr id="15" name="Text 13"/>
          <p:cNvSpPr txBox="1"/>
          <p:nvPr/>
        </p:nvSpPr>
        <p:spPr>
          <a:xfrm>
            <a:off x="6858000" y="4937760"/>
            <a:ext cx="4526280" cy="548640"/>
          </a:xfrm>
          <a:prstGeom prst="rect">
            <a:avLst/>
          </a:prstGeom>
          <a:noFill/>
          <a:ln/>
        </p:spPr>
        <p:txBody>
          <a:bodyPr wrap="square" lIns="0" tIns="0" rIns="0" bIns="0" rtlCol="0" anchor="ctr"/>
          <a:lstStyle/>
          <a:p>
            <a:pPr marL="0" indent="0">
              <a:lnSpc>
                <a:spcPct val="120000"/>
              </a:lnSpc>
              <a:buNone/>
            </a:pPr>
            <a:r>
              <a:rPr lang="en-US" sz="1150" b="1" dirty="0">
                <a:latin typeface="Courier New" pitchFamily="34" charset="0"/>
                <a:ea typeface="Courier New" pitchFamily="34" charset="-122"/>
                <a:cs typeface="Courier New" pitchFamily="34" charset="-120"/>
              </a:rPr>
              <a:t>A[j+1] = A[j]; j−−  —  </a:t>
            </a:r>
            <a:r>
              <a:rPr lang="en-US" sz="1150" dirty="0">
                <a:latin typeface="Calibri" pitchFamily="34" charset="0"/>
                <a:ea typeface="Calibri" pitchFamily="34" charset="-122"/>
                <a:cs typeface="Calibri" pitchFamily="34" charset="-120"/>
              </a:rPr>
              <a:t>Shifts one element right and moves the scan pointer left.</a:t>
            </a:r>
            <a:endParaRPr lang="en-US" sz="1150" dirty="0"/>
          </a:p>
        </p:txBody>
      </p:sp>
      <p:sp>
        <p:nvSpPr>
          <p:cNvPr id="16" name="Text 14"/>
          <p:cNvSpPr txBox="1"/>
          <p:nvPr/>
        </p:nvSpPr>
        <p:spPr>
          <a:xfrm>
            <a:off x="6858000" y="5541264"/>
            <a:ext cx="4526280" cy="548640"/>
          </a:xfrm>
          <a:prstGeom prst="rect">
            <a:avLst/>
          </a:prstGeom>
          <a:noFill/>
          <a:ln/>
        </p:spPr>
        <p:txBody>
          <a:bodyPr wrap="square" lIns="0" tIns="0" rIns="0" bIns="0" rtlCol="0" anchor="ctr"/>
          <a:lstStyle/>
          <a:p>
            <a:pPr marL="0" indent="0">
              <a:lnSpc>
                <a:spcPct val="120000"/>
              </a:lnSpc>
              <a:buNone/>
            </a:pPr>
            <a:r>
              <a:rPr lang="en-US" sz="1150" b="1" dirty="0">
                <a:latin typeface="Courier New" pitchFamily="34" charset="0"/>
                <a:ea typeface="Courier New" pitchFamily="34" charset="-122"/>
                <a:cs typeface="Courier New" pitchFamily="34" charset="-120"/>
              </a:rPr>
              <a:t>A[j+1] = key  —  </a:t>
            </a:r>
            <a:r>
              <a:rPr lang="en-US" sz="1150" dirty="0">
                <a:latin typeface="Calibri" pitchFamily="34" charset="0"/>
                <a:ea typeface="Calibri" pitchFamily="34" charset="-122"/>
                <a:cs typeface="Calibri" pitchFamily="34" charset="-120"/>
              </a:rPr>
              <a:t>Drops the key into the gap left by the last shift.</a:t>
            </a:r>
            <a:endParaRPr lang="en-US" sz="1150" dirty="0"/>
          </a:p>
        </p:txBody>
      </p:sp>
      <p:sp>
        <p:nvSpPr>
          <p:cNvPr id="17" name="Text 15"/>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9FAFDD"/>
                </a:solidFill>
                <a:latin typeface="Calibri" pitchFamily="34" charset="0"/>
                <a:ea typeface="Calibri" pitchFamily="34" charset="-122"/>
                <a:cs typeface="Calibri" pitchFamily="34" charset="-120"/>
              </a:rPr>
              <a:t>Insertion Sort  |  Data Structures Using C</a:t>
            </a:r>
            <a:endParaRPr lang="en-US" sz="900" dirty="0"/>
          </a:p>
        </p:txBody>
      </p:sp>
      <p:sp>
        <p:nvSpPr>
          <p:cNvPr id="18" name="Text 16"/>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9FAFD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FFFFFF">
              <a:alpha val="8000"/>
            </a:srgbClr>
          </a:solidFill>
          <a:ln/>
        </p:spPr>
      </p:sp>
      <p:sp>
        <p:nvSpPr>
          <p:cNvPr id="3" name="Shape 1"/>
          <p:cNvSpPr/>
          <p:nvPr/>
        </p:nvSpPr>
        <p:spPr>
          <a:xfrm rot="1080000">
            <a:off x="-1005840" y="5669280"/>
            <a:ext cx="2011680" cy="2834640"/>
          </a:xfrm>
          <a:prstGeom prst="roundRect">
            <a:avLst>
              <a:gd name="adj" fmla="val 8182"/>
            </a:avLst>
          </a:prstGeom>
          <a:solidFill>
            <a:srgbClr val="FFFFFF">
              <a:alpha val="8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D9A404"/>
                </a:solidFill>
                <a:latin typeface="Calibri" pitchFamily="34" charset="0"/>
                <a:ea typeface="Calibri" pitchFamily="34" charset="-122"/>
                <a:cs typeface="Calibri" pitchFamily="34" charset="-120"/>
              </a:rPr>
              <a:t>IMPLEMENTATION</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Insertion Sort in C</a:t>
            </a:r>
            <a:endParaRPr lang="en-US" sz="3200" dirty="0"/>
          </a:p>
        </p:txBody>
      </p:sp>
      <p:sp>
        <p:nvSpPr>
          <p:cNvPr id="6" name="Shape 4"/>
          <p:cNvSpPr/>
          <p:nvPr/>
        </p:nvSpPr>
        <p:spPr>
          <a:xfrm>
            <a:off x="548640" y="1371600"/>
            <a:ext cx="6126480" cy="4983480"/>
          </a:xfrm>
          <a:prstGeom prst="roundRect">
            <a:avLst>
              <a:gd name="adj" fmla="val 1468"/>
            </a:avLst>
          </a:prstGeom>
          <a:solidFill>
            <a:schemeClr val="bg2"/>
          </a:solidFill>
          <a:ln/>
        </p:spPr>
      </p:sp>
      <p:sp>
        <p:nvSpPr>
          <p:cNvPr id="7" name="Text 5"/>
          <p:cNvSpPr txBox="1"/>
          <p:nvPr/>
        </p:nvSpPr>
        <p:spPr>
          <a:xfrm>
            <a:off x="777240" y="1536192"/>
            <a:ext cx="5669280" cy="4654296"/>
          </a:xfrm>
          <a:prstGeom prst="rect">
            <a:avLst/>
          </a:prstGeom>
          <a:noFill/>
          <a:ln/>
        </p:spPr>
        <p:txBody>
          <a:bodyPr wrap="square" lIns="0" tIns="0" rIns="0" bIns="0" rtlCol="0" anchor="t"/>
          <a:lstStyle/>
          <a:p>
            <a:pPr marL="0" indent="0">
              <a:lnSpc>
                <a:spcPct val="115000"/>
              </a:lnSpc>
              <a:buNone/>
            </a:pPr>
            <a:r>
              <a:rPr lang="en-US" sz="1600" dirty="0">
                <a:latin typeface="Courier New" pitchFamily="34" charset="0"/>
                <a:ea typeface="Courier New" pitchFamily="34" charset="-122"/>
                <a:cs typeface="Courier New" pitchFamily="34" charset="-120"/>
              </a:rPr>
              <a:t>void insertionSort(int A[], int n)
{
    int i, j, key;
    for (i = 1; i &lt; n; i++)
    {
</a:t>
            </a:r>
            <a:r>
              <a:rPr lang="en-US" sz="1600" b="1" dirty="0">
                <a:latin typeface="Courier New" pitchFamily="34" charset="0"/>
                <a:ea typeface="Courier New" pitchFamily="34" charset="-122"/>
                <a:cs typeface="Courier New" pitchFamily="34" charset="-120"/>
              </a:rPr>
              <a:t>        key = A[i];
        j = i - 1;
</a:t>
            </a:r>
            <a:r>
              <a:rPr lang="en-US" sz="1600" dirty="0">
                <a:latin typeface="Courier New" pitchFamily="34" charset="0"/>
                <a:ea typeface="Courier New" pitchFamily="34" charset="-122"/>
                <a:cs typeface="Courier New" pitchFamily="34" charset="-120"/>
              </a:rPr>
              <a:t>
        while (j &gt;= 0 &amp;&amp; A[j] &gt; key)
        {
            A[j + 1] = A[j];
            j--;
        }
        A[j + 1] = key;
    }
}</a:t>
            </a:r>
            <a:endParaRPr lang="en-US" sz="1600" dirty="0"/>
          </a:p>
        </p:txBody>
      </p:sp>
      <p:sp>
        <p:nvSpPr>
          <p:cNvPr id="8" name="Shape 6"/>
          <p:cNvSpPr/>
          <p:nvPr/>
        </p:nvSpPr>
        <p:spPr>
          <a:xfrm>
            <a:off x="6903720" y="1371600"/>
            <a:ext cx="4709160" cy="4983480"/>
          </a:xfrm>
          <a:prstGeom prst="roundRect">
            <a:avLst>
              <a:gd name="adj" fmla="val 1942"/>
            </a:avLst>
          </a:prstGeom>
          <a:solidFill>
            <a:schemeClr val="accent3">
              <a:lumMod val="20000"/>
              <a:lumOff val="80000"/>
            </a:schemeClr>
          </a:solidFill>
          <a:ln w="12700">
            <a:solidFill>
              <a:srgbClr val="3C4E8C"/>
            </a:solidFill>
            <a:prstDash val="solid"/>
          </a:ln>
        </p:spPr>
      </p:sp>
      <p:sp>
        <p:nvSpPr>
          <p:cNvPr id="9" name="Text 7"/>
          <p:cNvSpPr txBox="1"/>
          <p:nvPr/>
        </p:nvSpPr>
        <p:spPr>
          <a:xfrm>
            <a:off x="7132320" y="1536192"/>
            <a:ext cx="4206240" cy="274320"/>
          </a:xfrm>
          <a:prstGeom prst="rect">
            <a:avLst/>
          </a:prstGeom>
          <a:noFill/>
          <a:ln/>
        </p:spPr>
        <p:txBody>
          <a:bodyPr wrap="square" lIns="0" tIns="0" rIns="0" bIns="0" rtlCol="0" anchor="ctr"/>
          <a:lstStyle/>
          <a:p>
            <a:pPr marL="0" indent="0">
              <a:buNone/>
            </a:pPr>
            <a:r>
              <a:rPr lang="en-US" sz="1400" b="1" kern="0" spc="150" dirty="0">
                <a:solidFill>
                  <a:schemeClr val="accent4">
                    <a:lumMod val="50000"/>
                  </a:schemeClr>
                </a:solidFill>
                <a:latin typeface="Calibri" pitchFamily="34" charset="0"/>
                <a:ea typeface="Calibri" pitchFamily="34" charset="-122"/>
                <a:cs typeface="Calibri" pitchFamily="34" charset="-120"/>
              </a:rPr>
              <a:t>EXAMPLE main()</a:t>
            </a:r>
            <a:endParaRPr lang="en-US" sz="1400" dirty="0">
              <a:solidFill>
                <a:schemeClr val="accent4">
                  <a:lumMod val="50000"/>
                </a:schemeClr>
              </a:solidFill>
            </a:endParaRPr>
          </a:p>
        </p:txBody>
      </p:sp>
      <p:sp>
        <p:nvSpPr>
          <p:cNvPr id="10" name="Text 8"/>
          <p:cNvSpPr txBox="1"/>
          <p:nvPr/>
        </p:nvSpPr>
        <p:spPr>
          <a:xfrm>
            <a:off x="7132320" y="1874520"/>
            <a:ext cx="4251960" cy="2743200"/>
          </a:xfrm>
          <a:prstGeom prst="rect">
            <a:avLst/>
          </a:prstGeom>
          <a:noFill/>
          <a:ln/>
        </p:spPr>
        <p:txBody>
          <a:bodyPr wrap="square" lIns="0" tIns="0" rIns="0" bIns="0" rtlCol="0" anchor="t"/>
          <a:lstStyle/>
          <a:p>
            <a:pPr marL="0" indent="0">
              <a:lnSpc>
                <a:spcPct val="115000"/>
              </a:lnSpc>
              <a:buNone/>
            </a:pPr>
            <a:r>
              <a:rPr lang="en-US" sz="1150" dirty="0">
                <a:latin typeface="Courier New" pitchFamily="34" charset="0"/>
                <a:ea typeface="Courier New" pitchFamily="34" charset="-122"/>
                <a:cs typeface="Courier New" pitchFamily="34" charset="-120"/>
              </a:rPr>
              <a:t>int main()
{
    int A[] = {5, 2, 4, 6, 1, 3};
    int n = sizeof(A) / sizeof(A[0]);
    insertionSort(A, n);
    printf("Sorted array: ");
    for (i = 0; i &lt; n; i++)
        printf("%d ", A[i]);
    return 0;
}</a:t>
            </a:r>
            <a:endParaRPr lang="en-US" sz="1150" dirty="0"/>
          </a:p>
        </p:txBody>
      </p:sp>
      <p:sp>
        <p:nvSpPr>
          <p:cNvPr id="11" name="Shape 9"/>
          <p:cNvSpPr/>
          <p:nvPr/>
        </p:nvSpPr>
        <p:spPr>
          <a:xfrm>
            <a:off x="7132320" y="4800600"/>
            <a:ext cx="4206240" cy="0"/>
          </a:xfrm>
          <a:prstGeom prst="line">
            <a:avLst/>
          </a:prstGeom>
          <a:noFill/>
          <a:ln w="12700">
            <a:solidFill>
              <a:srgbClr val="3C4E8C"/>
            </a:solidFill>
            <a:prstDash val="solid"/>
          </a:ln>
        </p:spPr>
      </p:sp>
      <p:sp>
        <p:nvSpPr>
          <p:cNvPr id="12" name="Text 10"/>
          <p:cNvSpPr txBox="1"/>
          <p:nvPr/>
        </p:nvSpPr>
        <p:spPr>
          <a:xfrm>
            <a:off x="7132320" y="4983480"/>
            <a:ext cx="4251960" cy="1234440"/>
          </a:xfrm>
          <a:prstGeom prst="rect">
            <a:avLst/>
          </a:prstGeom>
          <a:noFill/>
          <a:ln/>
        </p:spPr>
        <p:txBody>
          <a:bodyPr wrap="square" lIns="0" tIns="0" rIns="0" bIns="0" rtlCol="0" anchor="ctr"/>
          <a:lstStyle/>
          <a:p>
            <a:pPr marL="0" indent="0">
              <a:lnSpc>
                <a:spcPct val="125000"/>
              </a:lnSpc>
              <a:buNone/>
            </a:pPr>
            <a:r>
              <a:rPr lang="en-US" sz="1150" i="1" dirty="0">
                <a:latin typeface="Calibri" pitchFamily="34" charset="0"/>
                <a:ea typeface="Calibri" pitchFamily="34" charset="-122"/>
                <a:cs typeface="Calibri" pitchFamily="34" charset="-120"/>
              </a:rPr>
              <a:t>Function signature mirrors the pseudocode exactly — A[] is passed by reference (as a pointer), and n is the array length.</a:t>
            </a:r>
            <a:endParaRPr lang="en-US" sz="1150" dirty="0"/>
          </a:p>
        </p:txBody>
      </p:sp>
      <p:sp>
        <p:nvSpPr>
          <p:cNvPr id="13" name="Text 11"/>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9FAFDD"/>
                </a:solidFill>
                <a:latin typeface="Calibri" pitchFamily="34" charset="0"/>
                <a:ea typeface="Calibri" pitchFamily="34" charset="-122"/>
                <a:cs typeface="Calibri" pitchFamily="34" charset="-120"/>
              </a:rPr>
              <a:t>Insertion Sort  |  Data Structures Using C</a:t>
            </a:r>
            <a:endParaRPr lang="en-US" sz="900" dirty="0"/>
          </a:p>
        </p:txBody>
      </p:sp>
      <p:sp>
        <p:nvSpPr>
          <p:cNvPr id="14" name="Text 12"/>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9FAFD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3C4E8C"/>
                </a:solidFill>
                <a:latin typeface="Calibri" pitchFamily="34" charset="0"/>
                <a:ea typeface="Calibri" pitchFamily="34" charset="-122"/>
                <a:cs typeface="Calibri" pitchFamily="34" charset="-120"/>
              </a:rPr>
              <a:t>CONNECTING CODE TO EXAMPLE</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Trace: Inserting key = 1  (i = 4)</a:t>
            </a:r>
            <a:endParaRPr lang="en-US" sz="3200" dirty="0"/>
          </a:p>
        </p:txBody>
      </p:sp>
      <p:sp>
        <p:nvSpPr>
          <p:cNvPr id="6" name="Text 4"/>
          <p:cNvSpPr txBox="1"/>
          <p:nvPr/>
        </p:nvSpPr>
        <p:spPr>
          <a:xfrm>
            <a:off x="548640" y="1371600"/>
            <a:ext cx="10972800" cy="365760"/>
          </a:xfrm>
          <a:prstGeom prst="rect">
            <a:avLst/>
          </a:prstGeom>
          <a:noFill/>
          <a:ln/>
        </p:spPr>
        <p:txBody>
          <a:bodyPr wrap="square" lIns="0" tIns="0" rIns="0" bIns="0" rtlCol="0" anchor="ctr"/>
          <a:lstStyle/>
          <a:p>
            <a:pPr marL="0" indent="0">
              <a:buNone/>
            </a:pPr>
            <a:r>
              <a:rPr lang="en-US" sz="1250" dirty="0">
                <a:solidFill>
                  <a:srgbClr val="5B6584"/>
                </a:solidFill>
                <a:latin typeface="Calibri" pitchFamily="34" charset="0"/>
                <a:ea typeface="Calibri" pitchFamily="34" charset="-122"/>
                <a:cs typeface="Calibri" pitchFamily="34" charset="-120"/>
              </a:rPr>
              <a:t>Starting array before this iteration:  [ 2, 4, 5, 6, 1, 3 ]     key = A[4] = 1,   j starts at 3</a:t>
            </a:r>
            <a:endParaRPr lang="en-US" sz="1250" dirty="0"/>
          </a:p>
        </p:txBody>
      </p:sp>
      <p:sp>
        <p:nvSpPr>
          <p:cNvPr id="7" name="Text 5"/>
          <p:cNvSpPr txBox="1"/>
          <p:nvPr/>
        </p:nvSpPr>
        <p:spPr>
          <a:xfrm>
            <a:off x="548640" y="2011680"/>
            <a:ext cx="777240" cy="457200"/>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j=3</a:t>
            </a:r>
            <a:endParaRPr lang="en-US" sz="1300" dirty="0"/>
          </a:p>
        </p:txBody>
      </p:sp>
      <p:sp>
        <p:nvSpPr>
          <p:cNvPr id="8" name="Shape 6"/>
          <p:cNvSpPr/>
          <p:nvPr/>
        </p:nvSpPr>
        <p:spPr>
          <a:xfrm>
            <a:off x="1417320" y="1874520"/>
            <a:ext cx="530352" cy="530352"/>
          </a:xfrm>
          <a:prstGeom prst="roundRect">
            <a:avLst>
              <a:gd name="adj" fmla="val 20690"/>
            </a:avLst>
          </a:prstGeom>
          <a:solidFill>
            <a:srgbClr val="FFFFFF"/>
          </a:solidFill>
          <a:ln w="22225">
            <a:solidFill>
              <a:srgbClr val="3C4E8C"/>
            </a:solidFill>
            <a:prstDash val="solid"/>
          </a:ln>
        </p:spPr>
      </p:sp>
      <p:sp>
        <p:nvSpPr>
          <p:cNvPr id="9" name="Text 7"/>
          <p:cNvSpPr txBox="1"/>
          <p:nvPr/>
        </p:nvSpPr>
        <p:spPr>
          <a:xfrm>
            <a:off x="1417320" y="187452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1417320" y="243230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11" name="Shape 9"/>
          <p:cNvSpPr/>
          <p:nvPr/>
        </p:nvSpPr>
        <p:spPr>
          <a:xfrm>
            <a:off x="2039112" y="1874520"/>
            <a:ext cx="530352" cy="530352"/>
          </a:xfrm>
          <a:prstGeom prst="roundRect">
            <a:avLst>
              <a:gd name="adj" fmla="val 20690"/>
            </a:avLst>
          </a:prstGeom>
          <a:solidFill>
            <a:srgbClr val="FFFFFF"/>
          </a:solidFill>
          <a:ln w="22225">
            <a:solidFill>
              <a:srgbClr val="3C4E8C"/>
            </a:solidFill>
            <a:prstDash val="solid"/>
          </a:ln>
        </p:spPr>
      </p:sp>
      <p:sp>
        <p:nvSpPr>
          <p:cNvPr id="12" name="Text 10"/>
          <p:cNvSpPr txBox="1"/>
          <p:nvPr/>
        </p:nvSpPr>
        <p:spPr>
          <a:xfrm>
            <a:off x="2039112" y="187452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4</a:t>
            </a:r>
            <a:endParaRPr lang="en-US" sz="1400" dirty="0"/>
          </a:p>
        </p:txBody>
      </p:sp>
      <p:sp>
        <p:nvSpPr>
          <p:cNvPr id="13" name="Text 11"/>
          <p:cNvSpPr txBox="1"/>
          <p:nvPr/>
        </p:nvSpPr>
        <p:spPr>
          <a:xfrm>
            <a:off x="2039112" y="243230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14" name="Shape 12"/>
          <p:cNvSpPr/>
          <p:nvPr/>
        </p:nvSpPr>
        <p:spPr>
          <a:xfrm>
            <a:off x="2660904" y="1874520"/>
            <a:ext cx="530352" cy="530352"/>
          </a:xfrm>
          <a:prstGeom prst="roundRect">
            <a:avLst>
              <a:gd name="adj" fmla="val 20690"/>
            </a:avLst>
          </a:prstGeom>
          <a:solidFill>
            <a:srgbClr val="FFFFFF"/>
          </a:solidFill>
          <a:ln w="22225">
            <a:solidFill>
              <a:srgbClr val="3C4E8C"/>
            </a:solidFill>
            <a:prstDash val="solid"/>
          </a:ln>
        </p:spPr>
      </p:sp>
      <p:sp>
        <p:nvSpPr>
          <p:cNvPr id="15" name="Text 13"/>
          <p:cNvSpPr txBox="1"/>
          <p:nvPr/>
        </p:nvSpPr>
        <p:spPr>
          <a:xfrm>
            <a:off x="2660904" y="187452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16" name="Text 14"/>
          <p:cNvSpPr txBox="1"/>
          <p:nvPr/>
        </p:nvSpPr>
        <p:spPr>
          <a:xfrm>
            <a:off x="2660904" y="243230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17" name="Shape 15"/>
          <p:cNvSpPr/>
          <p:nvPr/>
        </p:nvSpPr>
        <p:spPr>
          <a:xfrm>
            <a:off x="3282696" y="1874520"/>
            <a:ext cx="530352" cy="530352"/>
          </a:xfrm>
          <a:prstGeom prst="roundRect">
            <a:avLst>
              <a:gd name="adj" fmla="val 20690"/>
            </a:avLst>
          </a:prstGeom>
          <a:solidFill>
            <a:srgbClr val="D9A404"/>
          </a:solidFill>
          <a:ln w="22225">
            <a:solidFill>
              <a:srgbClr val="D9A404"/>
            </a:solidFill>
            <a:prstDash val="solid"/>
          </a:ln>
        </p:spPr>
      </p:sp>
      <p:sp>
        <p:nvSpPr>
          <p:cNvPr id="18" name="Text 16"/>
          <p:cNvSpPr txBox="1"/>
          <p:nvPr/>
        </p:nvSpPr>
        <p:spPr>
          <a:xfrm>
            <a:off x="3282696" y="187452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a:t>
            </a:r>
            <a:endParaRPr lang="en-US" sz="1400" dirty="0"/>
          </a:p>
        </p:txBody>
      </p:sp>
      <p:sp>
        <p:nvSpPr>
          <p:cNvPr id="19" name="Text 17"/>
          <p:cNvSpPr txBox="1"/>
          <p:nvPr/>
        </p:nvSpPr>
        <p:spPr>
          <a:xfrm>
            <a:off x="3282696" y="243230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20" name="Shape 18"/>
          <p:cNvSpPr/>
          <p:nvPr/>
        </p:nvSpPr>
        <p:spPr>
          <a:xfrm>
            <a:off x="3904488" y="1874520"/>
            <a:ext cx="530352" cy="530352"/>
          </a:xfrm>
          <a:prstGeom prst="roundRect">
            <a:avLst>
              <a:gd name="adj" fmla="val 20690"/>
            </a:avLst>
          </a:prstGeom>
          <a:solidFill>
            <a:srgbClr val="FFFFFF"/>
          </a:solidFill>
          <a:ln w="22225">
            <a:solidFill>
              <a:srgbClr val="5B6584"/>
            </a:solidFill>
            <a:prstDash val="dash"/>
          </a:ln>
        </p:spPr>
      </p:sp>
      <p:sp>
        <p:nvSpPr>
          <p:cNvPr id="21" name="Text 19"/>
          <p:cNvSpPr txBox="1"/>
          <p:nvPr/>
        </p:nvSpPr>
        <p:spPr>
          <a:xfrm>
            <a:off x="3904488" y="243230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22" name="Shape 20"/>
          <p:cNvSpPr/>
          <p:nvPr/>
        </p:nvSpPr>
        <p:spPr>
          <a:xfrm>
            <a:off x="4526280" y="1874520"/>
            <a:ext cx="530352" cy="530352"/>
          </a:xfrm>
          <a:prstGeom prst="roundRect">
            <a:avLst>
              <a:gd name="adj" fmla="val 20690"/>
            </a:avLst>
          </a:prstGeom>
          <a:solidFill>
            <a:srgbClr val="FFFFFF"/>
          </a:solidFill>
          <a:ln w="22225">
            <a:solidFill>
              <a:srgbClr val="3C4E8C"/>
            </a:solidFill>
            <a:prstDash val="solid"/>
          </a:ln>
        </p:spPr>
      </p:sp>
      <p:sp>
        <p:nvSpPr>
          <p:cNvPr id="23" name="Text 21"/>
          <p:cNvSpPr txBox="1"/>
          <p:nvPr/>
        </p:nvSpPr>
        <p:spPr>
          <a:xfrm>
            <a:off x="4526280" y="187452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a:t>
            </a:r>
            <a:endParaRPr lang="en-US" sz="1400" dirty="0"/>
          </a:p>
        </p:txBody>
      </p:sp>
      <p:sp>
        <p:nvSpPr>
          <p:cNvPr id="24" name="Text 22"/>
          <p:cNvSpPr txBox="1"/>
          <p:nvPr/>
        </p:nvSpPr>
        <p:spPr>
          <a:xfrm>
            <a:off x="4526280" y="243230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25" name="Shape 23"/>
          <p:cNvSpPr/>
          <p:nvPr/>
        </p:nvSpPr>
        <p:spPr>
          <a:xfrm>
            <a:off x="6035040" y="1993392"/>
            <a:ext cx="2468880" cy="365760"/>
          </a:xfrm>
          <a:prstGeom prst="roundRect">
            <a:avLst>
              <a:gd name="adj" fmla="val 50000"/>
            </a:avLst>
          </a:prstGeom>
          <a:solidFill>
            <a:srgbClr val="EEF2FC"/>
          </a:solidFill>
          <a:ln/>
        </p:spPr>
      </p:sp>
      <p:sp>
        <p:nvSpPr>
          <p:cNvPr id="26" name="Text 24"/>
          <p:cNvSpPr txBox="1"/>
          <p:nvPr/>
        </p:nvSpPr>
        <p:spPr>
          <a:xfrm>
            <a:off x="6035040" y="1993392"/>
            <a:ext cx="2468880" cy="365760"/>
          </a:xfrm>
          <a:prstGeom prst="rect">
            <a:avLst/>
          </a:prstGeom>
          <a:noFill/>
          <a:ln/>
        </p:spPr>
        <p:txBody>
          <a:bodyPr wrap="square" lIns="0" tIns="0" rIns="0" bIns="0" rtlCol="0" anchor="ctr"/>
          <a:lstStyle/>
          <a:p>
            <a:pPr marL="0" indent="0" algn="ctr">
              <a:buNone/>
            </a:pPr>
            <a:r>
              <a:rPr lang="en-US" sz="1400" b="1" dirty="0">
                <a:solidFill>
                  <a:srgbClr val="16204A"/>
                </a:solidFill>
                <a:latin typeface="Calibri" pitchFamily="34" charset="0"/>
                <a:ea typeface="Calibri" pitchFamily="34" charset="-122"/>
                <a:cs typeface="Calibri" pitchFamily="34" charset="-120"/>
              </a:rPr>
              <a:t>A[3]=6 &gt; 1</a:t>
            </a:r>
            <a:endParaRPr lang="en-US" sz="1400" dirty="0"/>
          </a:p>
        </p:txBody>
      </p:sp>
      <p:sp>
        <p:nvSpPr>
          <p:cNvPr id="27" name="Shape 25"/>
          <p:cNvSpPr/>
          <p:nvPr/>
        </p:nvSpPr>
        <p:spPr>
          <a:xfrm>
            <a:off x="8686800" y="1993392"/>
            <a:ext cx="2926080" cy="365760"/>
          </a:xfrm>
          <a:prstGeom prst="roundRect">
            <a:avLst>
              <a:gd name="adj" fmla="val 50000"/>
            </a:avLst>
          </a:prstGeom>
          <a:solidFill>
            <a:srgbClr val="D9A404"/>
          </a:solidFill>
          <a:ln/>
        </p:spPr>
      </p:sp>
      <p:sp>
        <p:nvSpPr>
          <p:cNvPr id="28" name="Text 26"/>
          <p:cNvSpPr txBox="1"/>
          <p:nvPr/>
        </p:nvSpPr>
        <p:spPr>
          <a:xfrm>
            <a:off x="8686800" y="1993392"/>
            <a:ext cx="2926080" cy="365760"/>
          </a:xfrm>
          <a:prstGeom prst="rect">
            <a:avLst/>
          </a:prstGeom>
          <a:noFill/>
          <a:ln/>
        </p:spPr>
        <p:txBody>
          <a:bodyPr wrap="square" lIns="0" tIns="0" rIns="0" bIns="0" rtlCol="0" anchor="ctr"/>
          <a:lstStyle/>
          <a:p>
            <a:pPr marL="0" indent="0" algn="ctr">
              <a:buNone/>
            </a:pPr>
            <a:r>
              <a:rPr lang="en-US" sz="1400" b="1" dirty="0">
                <a:solidFill>
                  <a:srgbClr val="1B2233"/>
                </a:solidFill>
                <a:latin typeface="Calibri" pitchFamily="34" charset="0"/>
                <a:ea typeface="Calibri" pitchFamily="34" charset="-122"/>
                <a:cs typeface="Calibri" pitchFamily="34" charset="-120"/>
              </a:rPr>
              <a:t>shift 6 → index 4</a:t>
            </a:r>
            <a:endParaRPr lang="en-US" sz="1400" dirty="0"/>
          </a:p>
        </p:txBody>
      </p:sp>
      <p:sp>
        <p:nvSpPr>
          <p:cNvPr id="29" name="Text 27"/>
          <p:cNvSpPr txBox="1"/>
          <p:nvPr/>
        </p:nvSpPr>
        <p:spPr>
          <a:xfrm>
            <a:off x="548640" y="2788920"/>
            <a:ext cx="777240" cy="457200"/>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j=2</a:t>
            </a:r>
            <a:endParaRPr lang="en-US" sz="1300" dirty="0"/>
          </a:p>
        </p:txBody>
      </p:sp>
      <p:sp>
        <p:nvSpPr>
          <p:cNvPr id="30" name="Shape 28"/>
          <p:cNvSpPr/>
          <p:nvPr/>
        </p:nvSpPr>
        <p:spPr>
          <a:xfrm>
            <a:off x="1417320" y="2651760"/>
            <a:ext cx="530352" cy="530352"/>
          </a:xfrm>
          <a:prstGeom prst="roundRect">
            <a:avLst>
              <a:gd name="adj" fmla="val 20690"/>
            </a:avLst>
          </a:prstGeom>
          <a:solidFill>
            <a:srgbClr val="FFFFFF"/>
          </a:solidFill>
          <a:ln w="22225">
            <a:solidFill>
              <a:srgbClr val="3C4E8C"/>
            </a:solidFill>
            <a:prstDash val="solid"/>
          </a:ln>
        </p:spPr>
      </p:sp>
      <p:sp>
        <p:nvSpPr>
          <p:cNvPr id="31" name="Text 29"/>
          <p:cNvSpPr txBox="1"/>
          <p:nvPr/>
        </p:nvSpPr>
        <p:spPr>
          <a:xfrm>
            <a:off x="1417320" y="265176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a:t>
            </a:r>
            <a:endParaRPr lang="en-US" sz="1400" dirty="0"/>
          </a:p>
        </p:txBody>
      </p:sp>
      <p:sp>
        <p:nvSpPr>
          <p:cNvPr id="32" name="Text 30"/>
          <p:cNvSpPr txBox="1"/>
          <p:nvPr/>
        </p:nvSpPr>
        <p:spPr>
          <a:xfrm>
            <a:off x="1417320" y="320954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33" name="Shape 31"/>
          <p:cNvSpPr/>
          <p:nvPr/>
        </p:nvSpPr>
        <p:spPr>
          <a:xfrm>
            <a:off x="2039112" y="2651760"/>
            <a:ext cx="530352" cy="530352"/>
          </a:xfrm>
          <a:prstGeom prst="roundRect">
            <a:avLst>
              <a:gd name="adj" fmla="val 20690"/>
            </a:avLst>
          </a:prstGeom>
          <a:solidFill>
            <a:srgbClr val="FFFFFF"/>
          </a:solidFill>
          <a:ln w="22225">
            <a:solidFill>
              <a:srgbClr val="3C4E8C"/>
            </a:solidFill>
            <a:prstDash val="solid"/>
          </a:ln>
        </p:spPr>
      </p:sp>
      <p:sp>
        <p:nvSpPr>
          <p:cNvPr id="34" name="Text 32"/>
          <p:cNvSpPr txBox="1"/>
          <p:nvPr/>
        </p:nvSpPr>
        <p:spPr>
          <a:xfrm>
            <a:off x="2039112" y="265176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4</a:t>
            </a:r>
            <a:endParaRPr lang="en-US" sz="1400" dirty="0"/>
          </a:p>
        </p:txBody>
      </p:sp>
      <p:sp>
        <p:nvSpPr>
          <p:cNvPr id="35" name="Text 33"/>
          <p:cNvSpPr txBox="1"/>
          <p:nvPr/>
        </p:nvSpPr>
        <p:spPr>
          <a:xfrm>
            <a:off x="2039112" y="320954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36" name="Shape 34"/>
          <p:cNvSpPr/>
          <p:nvPr/>
        </p:nvSpPr>
        <p:spPr>
          <a:xfrm>
            <a:off x="2660904" y="2651760"/>
            <a:ext cx="530352" cy="530352"/>
          </a:xfrm>
          <a:prstGeom prst="roundRect">
            <a:avLst>
              <a:gd name="adj" fmla="val 20690"/>
            </a:avLst>
          </a:prstGeom>
          <a:solidFill>
            <a:srgbClr val="D9A404"/>
          </a:solidFill>
          <a:ln w="22225">
            <a:solidFill>
              <a:srgbClr val="D9A404"/>
            </a:solidFill>
            <a:prstDash val="solid"/>
          </a:ln>
        </p:spPr>
      </p:sp>
      <p:sp>
        <p:nvSpPr>
          <p:cNvPr id="37" name="Text 35"/>
          <p:cNvSpPr txBox="1"/>
          <p:nvPr/>
        </p:nvSpPr>
        <p:spPr>
          <a:xfrm>
            <a:off x="2660904" y="265176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38" name="Text 36"/>
          <p:cNvSpPr txBox="1"/>
          <p:nvPr/>
        </p:nvSpPr>
        <p:spPr>
          <a:xfrm>
            <a:off x="2660904" y="320954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39" name="Shape 37"/>
          <p:cNvSpPr/>
          <p:nvPr/>
        </p:nvSpPr>
        <p:spPr>
          <a:xfrm>
            <a:off x="3282696" y="2651760"/>
            <a:ext cx="530352" cy="530352"/>
          </a:xfrm>
          <a:prstGeom prst="roundRect">
            <a:avLst>
              <a:gd name="adj" fmla="val 20690"/>
            </a:avLst>
          </a:prstGeom>
          <a:solidFill>
            <a:srgbClr val="FFFFFF"/>
          </a:solidFill>
          <a:ln w="22225">
            <a:solidFill>
              <a:srgbClr val="5B6584"/>
            </a:solidFill>
            <a:prstDash val="dash"/>
          </a:ln>
        </p:spPr>
      </p:sp>
      <p:sp>
        <p:nvSpPr>
          <p:cNvPr id="40" name="Text 38"/>
          <p:cNvSpPr txBox="1"/>
          <p:nvPr/>
        </p:nvSpPr>
        <p:spPr>
          <a:xfrm>
            <a:off x="3282696" y="320954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41" name="Shape 39"/>
          <p:cNvSpPr/>
          <p:nvPr/>
        </p:nvSpPr>
        <p:spPr>
          <a:xfrm>
            <a:off x="3904488" y="2651760"/>
            <a:ext cx="530352" cy="530352"/>
          </a:xfrm>
          <a:prstGeom prst="roundRect">
            <a:avLst>
              <a:gd name="adj" fmla="val 20690"/>
            </a:avLst>
          </a:prstGeom>
          <a:solidFill>
            <a:srgbClr val="FFFFFF"/>
          </a:solidFill>
          <a:ln w="22225">
            <a:solidFill>
              <a:srgbClr val="3C4E8C"/>
            </a:solidFill>
            <a:prstDash val="solid"/>
          </a:ln>
        </p:spPr>
      </p:sp>
      <p:sp>
        <p:nvSpPr>
          <p:cNvPr id="42" name="Text 40"/>
          <p:cNvSpPr txBox="1"/>
          <p:nvPr/>
        </p:nvSpPr>
        <p:spPr>
          <a:xfrm>
            <a:off x="3904488" y="265176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a:t>
            </a:r>
            <a:endParaRPr lang="en-US" sz="1400" dirty="0"/>
          </a:p>
        </p:txBody>
      </p:sp>
      <p:sp>
        <p:nvSpPr>
          <p:cNvPr id="43" name="Text 41"/>
          <p:cNvSpPr txBox="1"/>
          <p:nvPr/>
        </p:nvSpPr>
        <p:spPr>
          <a:xfrm>
            <a:off x="3904488" y="320954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44" name="Shape 42"/>
          <p:cNvSpPr/>
          <p:nvPr/>
        </p:nvSpPr>
        <p:spPr>
          <a:xfrm>
            <a:off x="4526280" y="2651760"/>
            <a:ext cx="530352" cy="530352"/>
          </a:xfrm>
          <a:prstGeom prst="roundRect">
            <a:avLst>
              <a:gd name="adj" fmla="val 20690"/>
            </a:avLst>
          </a:prstGeom>
          <a:solidFill>
            <a:srgbClr val="FFFFFF"/>
          </a:solidFill>
          <a:ln w="22225">
            <a:solidFill>
              <a:srgbClr val="3C4E8C"/>
            </a:solidFill>
            <a:prstDash val="solid"/>
          </a:ln>
        </p:spPr>
      </p:sp>
      <p:sp>
        <p:nvSpPr>
          <p:cNvPr id="45" name="Text 43"/>
          <p:cNvSpPr txBox="1"/>
          <p:nvPr/>
        </p:nvSpPr>
        <p:spPr>
          <a:xfrm>
            <a:off x="4526280" y="265176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a:t>
            </a:r>
            <a:endParaRPr lang="en-US" sz="1400" dirty="0"/>
          </a:p>
        </p:txBody>
      </p:sp>
      <p:sp>
        <p:nvSpPr>
          <p:cNvPr id="46" name="Text 44"/>
          <p:cNvSpPr txBox="1"/>
          <p:nvPr/>
        </p:nvSpPr>
        <p:spPr>
          <a:xfrm>
            <a:off x="4526280" y="320954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47" name="Shape 45"/>
          <p:cNvSpPr/>
          <p:nvPr/>
        </p:nvSpPr>
        <p:spPr>
          <a:xfrm>
            <a:off x="6035040" y="2770632"/>
            <a:ext cx="2468880" cy="365760"/>
          </a:xfrm>
          <a:prstGeom prst="roundRect">
            <a:avLst>
              <a:gd name="adj" fmla="val 50000"/>
            </a:avLst>
          </a:prstGeom>
          <a:solidFill>
            <a:srgbClr val="EEF2FC"/>
          </a:solidFill>
          <a:ln/>
        </p:spPr>
      </p:sp>
      <p:sp>
        <p:nvSpPr>
          <p:cNvPr id="48" name="Text 46"/>
          <p:cNvSpPr txBox="1"/>
          <p:nvPr/>
        </p:nvSpPr>
        <p:spPr>
          <a:xfrm>
            <a:off x="6035040" y="2770632"/>
            <a:ext cx="2468880" cy="365760"/>
          </a:xfrm>
          <a:prstGeom prst="rect">
            <a:avLst/>
          </a:prstGeom>
          <a:noFill/>
          <a:ln/>
        </p:spPr>
        <p:txBody>
          <a:bodyPr wrap="square" lIns="0" tIns="0" rIns="0" bIns="0" rtlCol="0" anchor="ctr"/>
          <a:lstStyle/>
          <a:p>
            <a:pPr marL="0" indent="0" algn="ctr">
              <a:buNone/>
            </a:pPr>
            <a:r>
              <a:rPr lang="en-US" sz="1400" b="1" dirty="0">
                <a:solidFill>
                  <a:srgbClr val="16204A"/>
                </a:solidFill>
                <a:latin typeface="Calibri" pitchFamily="34" charset="0"/>
                <a:ea typeface="Calibri" pitchFamily="34" charset="-122"/>
                <a:cs typeface="Calibri" pitchFamily="34" charset="-120"/>
              </a:rPr>
              <a:t>A[2]=5 &gt; 1</a:t>
            </a:r>
            <a:endParaRPr lang="en-US" sz="1400" dirty="0"/>
          </a:p>
        </p:txBody>
      </p:sp>
      <p:sp>
        <p:nvSpPr>
          <p:cNvPr id="49" name="Shape 47"/>
          <p:cNvSpPr/>
          <p:nvPr/>
        </p:nvSpPr>
        <p:spPr>
          <a:xfrm>
            <a:off x="8686800" y="2770632"/>
            <a:ext cx="2926080" cy="365760"/>
          </a:xfrm>
          <a:prstGeom prst="roundRect">
            <a:avLst>
              <a:gd name="adj" fmla="val 50000"/>
            </a:avLst>
          </a:prstGeom>
          <a:solidFill>
            <a:srgbClr val="D9A404"/>
          </a:solidFill>
          <a:ln/>
        </p:spPr>
      </p:sp>
      <p:sp>
        <p:nvSpPr>
          <p:cNvPr id="50" name="Text 48"/>
          <p:cNvSpPr txBox="1"/>
          <p:nvPr/>
        </p:nvSpPr>
        <p:spPr>
          <a:xfrm>
            <a:off x="8686800" y="2770632"/>
            <a:ext cx="2926080" cy="365760"/>
          </a:xfrm>
          <a:prstGeom prst="rect">
            <a:avLst/>
          </a:prstGeom>
          <a:noFill/>
          <a:ln/>
        </p:spPr>
        <p:txBody>
          <a:bodyPr wrap="square" lIns="0" tIns="0" rIns="0" bIns="0" rtlCol="0" anchor="ctr"/>
          <a:lstStyle/>
          <a:p>
            <a:pPr marL="0" indent="0" algn="ctr">
              <a:buNone/>
            </a:pPr>
            <a:r>
              <a:rPr lang="en-US" sz="1400" b="1" dirty="0">
                <a:solidFill>
                  <a:srgbClr val="1B2233"/>
                </a:solidFill>
                <a:latin typeface="Calibri" pitchFamily="34" charset="0"/>
                <a:ea typeface="Calibri" pitchFamily="34" charset="-122"/>
                <a:cs typeface="Calibri" pitchFamily="34" charset="-120"/>
              </a:rPr>
              <a:t>shift 5 → index 3</a:t>
            </a:r>
            <a:endParaRPr lang="en-US" sz="1400" dirty="0"/>
          </a:p>
        </p:txBody>
      </p:sp>
      <p:sp>
        <p:nvSpPr>
          <p:cNvPr id="51" name="Text 49"/>
          <p:cNvSpPr txBox="1"/>
          <p:nvPr/>
        </p:nvSpPr>
        <p:spPr>
          <a:xfrm>
            <a:off x="548640" y="3566160"/>
            <a:ext cx="777240" cy="457200"/>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j=1</a:t>
            </a:r>
            <a:endParaRPr lang="en-US" sz="1300" dirty="0"/>
          </a:p>
        </p:txBody>
      </p:sp>
      <p:sp>
        <p:nvSpPr>
          <p:cNvPr id="52" name="Shape 50"/>
          <p:cNvSpPr/>
          <p:nvPr/>
        </p:nvSpPr>
        <p:spPr>
          <a:xfrm>
            <a:off x="1417320" y="3429000"/>
            <a:ext cx="530352" cy="530352"/>
          </a:xfrm>
          <a:prstGeom prst="roundRect">
            <a:avLst>
              <a:gd name="adj" fmla="val 20690"/>
            </a:avLst>
          </a:prstGeom>
          <a:solidFill>
            <a:srgbClr val="FFFFFF"/>
          </a:solidFill>
          <a:ln w="22225">
            <a:solidFill>
              <a:srgbClr val="3C4E8C"/>
            </a:solidFill>
            <a:prstDash val="solid"/>
          </a:ln>
        </p:spPr>
      </p:sp>
      <p:sp>
        <p:nvSpPr>
          <p:cNvPr id="53" name="Text 51"/>
          <p:cNvSpPr txBox="1"/>
          <p:nvPr/>
        </p:nvSpPr>
        <p:spPr>
          <a:xfrm>
            <a:off x="1417320" y="342900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a:t>
            </a:r>
            <a:endParaRPr lang="en-US" sz="1400" dirty="0"/>
          </a:p>
        </p:txBody>
      </p:sp>
      <p:sp>
        <p:nvSpPr>
          <p:cNvPr id="54" name="Text 52"/>
          <p:cNvSpPr txBox="1"/>
          <p:nvPr/>
        </p:nvSpPr>
        <p:spPr>
          <a:xfrm>
            <a:off x="1417320" y="398678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2039112" y="3429000"/>
            <a:ext cx="530352" cy="530352"/>
          </a:xfrm>
          <a:prstGeom prst="roundRect">
            <a:avLst>
              <a:gd name="adj" fmla="val 20690"/>
            </a:avLst>
          </a:prstGeom>
          <a:solidFill>
            <a:srgbClr val="D9A404"/>
          </a:solidFill>
          <a:ln w="22225">
            <a:solidFill>
              <a:srgbClr val="D9A404"/>
            </a:solidFill>
            <a:prstDash val="solid"/>
          </a:ln>
        </p:spPr>
      </p:sp>
      <p:sp>
        <p:nvSpPr>
          <p:cNvPr id="56" name="Text 54"/>
          <p:cNvSpPr txBox="1"/>
          <p:nvPr/>
        </p:nvSpPr>
        <p:spPr>
          <a:xfrm>
            <a:off x="2039112" y="342900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4</a:t>
            </a:r>
            <a:endParaRPr lang="en-US" sz="1400" dirty="0"/>
          </a:p>
        </p:txBody>
      </p:sp>
      <p:sp>
        <p:nvSpPr>
          <p:cNvPr id="57" name="Text 55"/>
          <p:cNvSpPr txBox="1"/>
          <p:nvPr/>
        </p:nvSpPr>
        <p:spPr>
          <a:xfrm>
            <a:off x="2039112" y="398678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58" name="Shape 56"/>
          <p:cNvSpPr/>
          <p:nvPr/>
        </p:nvSpPr>
        <p:spPr>
          <a:xfrm>
            <a:off x="2660904" y="3429000"/>
            <a:ext cx="530352" cy="530352"/>
          </a:xfrm>
          <a:prstGeom prst="roundRect">
            <a:avLst>
              <a:gd name="adj" fmla="val 20690"/>
            </a:avLst>
          </a:prstGeom>
          <a:solidFill>
            <a:srgbClr val="FFFFFF"/>
          </a:solidFill>
          <a:ln w="22225">
            <a:solidFill>
              <a:srgbClr val="5B6584"/>
            </a:solidFill>
            <a:prstDash val="dash"/>
          </a:ln>
        </p:spPr>
      </p:sp>
      <p:sp>
        <p:nvSpPr>
          <p:cNvPr id="59" name="Text 57"/>
          <p:cNvSpPr txBox="1"/>
          <p:nvPr/>
        </p:nvSpPr>
        <p:spPr>
          <a:xfrm>
            <a:off x="2660904" y="398678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60" name="Shape 58"/>
          <p:cNvSpPr/>
          <p:nvPr/>
        </p:nvSpPr>
        <p:spPr>
          <a:xfrm>
            <a:off x="3282696" y="3429000"/>
            <a:ext cx="530352" cy="530352"/>
          </a:xfrm>
          <a:prstGeom prst="roundRect">
            <a:avLst>
              <a:gd name="adj" fmla="val 20690"/>
            </a:avLst>
          </a:prstGeom>
          <a:solidFill>
            <a:srgbClr val="FFFFFF"/>
          </a:solidFill>
          <a:ln w="22225">
            <a:solidFill>
              <a:srgbClr val="3C4E8C"/>
            </a:solidFill>
            <a:prstDash val="solid"/>
          </a:ln>
        </p:spPr>
      </p:sp>
      <p:sp>
        <p:nvSpPr>
          <p:cNvPr id="61" name="Text 59"/>
          <p:cNvSpPr txBox="1"/>
          <p:nvPr/>
        </p:nvSpPr>
        <p:spPr>
          <a:xfrm>
            <a:off x="3282696" y="342900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62" name="Text 60"/>
          <p:cNvSpPr txBox="1"/>
          <p:nvPr/>
        </p:nvSpPr>
        <p:spPr>
          <a:xfrm>
            <a:off x="3282696" y="398678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63" name="Shape 61"/>
          <p:cNvSpPr/>
          <p:nvPr/>
        </p:nvSpPr>
        <p:spPr>
          <a:xfrm>
            <a:off x="3904488" y="3429000"/>
            <a:ext cx="530352" cy="530352"/>
          </a:xfrm>
          <a:prstGeom prst="roundRect">
            <a:avLst>
              <a:gd name="adj" fmla="val 20690"/>
            </a:avLst>
          </a:prstGeom>
          <a:solidFill>
            <a:srgbClr val="FFFFFF"/>
          </a:solidFill>
          <a:ln w="22225">
            <a:solidFill>
              <a:srgbClr val="3C4E8C"/>
            </a:solidFill>
            <a:prstDash val="solid"/>
          </a:ln>
        </p:spPr>
      </p:sp>
      <p:sp>
        <p:nvSpPr>
          <p:cNvPr id="64" name="Text 62"/>
          <p:cNvSpPr txBox="1"/>
          <p:nvPr/>
        </p:nvSpPr>
        <p:spPr>
          <a:xfrm>
            <a:off x="3904488" y="342900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a:t>
            </a:r>
            <a:endParaRPr lang="en-US" sz="1400" dirty="0"/>
          </a:p>
        </p:txBody>
      </p:sp>
      <p:sp>
        <p:nvSpPr>
          <p:cNvPr id="65" name="Text 63"/>
          <p:cNvSpPr txBox="1"/>
          <p:nvPr/>
        </p:nvSpPr>
        <p:spPr>
          <a:xfrm>
            <a:off x="3904488" y="398678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66" name="Shape 64"/>
          <p:cNvSpPr/>
          <p:nvPr/>
        </p:nvSpPr>
        <p:spPr>
          <a:xfrm>
            <a:off x="4526280" y="3429000"/>
            <a:ext cx="530352" cy="530352"/>
          </a:xfrm>
          <a:prstGeom prst="roundRect">
            <a:avLst>
              <a:gd name="adj" fmla="val 20690"/>
            </a:avLst>
          </a:prstGeom>
          <a:solidFill>
            <a:srgbClr val="FFFFFF"/>
          </a:solidFill>
          <a:ln w="22225">
            <a:solidFill>
              <a:srgbClr val="3C4E8C"/>
            </a:solidFill>
            <a:prstDash val="solid"/>
          </a:ln>
        </p:spPr>
      </p:sp>
      <p:sp>
        <p:nvSpPr>
          <p:cNvPr id="67" name="Text 65"/>
          <p:cNvSpPr txBox="1"/>
          <p:nvPr/>
        </p:nvSpPr>
        <p:spPr>
          <a:xfrm>
            <a:off x="4526280" y="342900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a:t>
            </a:r>
            <a:endParaRPr lang="en-US" sz="1400" dirty="0"/>
          </a:p>
        </p:txBody>
      </p:sp>
      <p:sp>
        <p:nvSpPr>
          <p:cNvPr id="68" name="Text 66"/>
          <p:cNvSpPr txBox="1"/>
          <p:nvPr/>
        </p:nvSpPr>
        <p:spPr>
          <a:xfrm>
            <a:off x="4526280" y="398678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69" name="Shape 67"/>
          <p:cNvSpPr/>
          <p:nvPr/>
        </p:nvSpPr>
        <p:spPr>
          <a:xfrm>
            <a:off x="6035040" y="3547872"/>
            <a:ext cx="2468880" cy="365760"/>
          </a:xfrm>
          <a:prstGeom prst="roundRect">
            <a:avLst>
              <a:gd name="adj" fmla="val 50000"/>
            </a:avLst>
          </a:prstGeom>
          <a:solidFill>
            <a:srgbClr val="EEF2FC"/>
          </a:solidFill>
          <a:ln/>
        </p:spPr>
      </p:sp>
      <p:sp>
        <p:nvSpPr>
          <p:cNvPr id="70" name="Text 68"/>
          <p:cNvSpPr txBox="1"/>
          <p:nvPr/>
        </p:nvSpPr>
        <p:spPr>
          <a:xfrm>
            <a:off x="6035040" y="3547872"/>
            <a:ext cx="2468880" cy="365760"/>
          </a:xfrm>
          <a:prstGeom prst="rect">
            <a:avLst/>
          </a:prstGeom>
          <a:noFill/>
          <a:ln/>
        </p:spPr>
        <p:txBody>
          <a:bodyPr wrap="square" lIns="0" tIns="0" rIns="0" bIns="0" rtlCol="0" anchor="ctr"/>
          <a:lstStyle/>
          <a:p>
            <a:pPr marL="0" indent="0" algn="ctr">
              <a:buNone/>
            </a:pPr>
            <a:r>
              <a:rPr lang="en-US" sz="1400" b="1" dirty="0">
                <a:solidFill>
                  <a:srgbClr val="16204A"/>
                </a:solidFill>
                <a:latin typeface="Calibri" pitchFamily="34" charset="0"/>
                <a:ea typeface="Calibri" pitchFamily="34" charset="-122"/>
                <a:cs typeface="Calibri" pitchFamily="34" charset="-120"/>
              </a:rPr>
              <a:t>A[1]=4 &gt; 1</a:t>
            </a:r>
            <a:endParaRPr lang="en-US" sz="1400" dirty="0"/>
          </a:p>
        </p:txBody>
      </p:sp>
      <p:sp>
        <p:nvSpPr>
          <p:cNvPr id="71" name="Shape 69"/>
          <p:cNvSpPr/>
          <p:nvPr/>
        </p:nvSpPr>
        <p:spPr>
          <a:xfrm>
            <a:off x="8686800" y="3547872"/>
            <a:ext cx="2926080" cy="365760"/>
          </a:xfrm>
          <a:prstGeom prst="roundRect">
            <a:avLst>
              <a:gd name="adj" fmla="val 50000"/>
            </a:avLst>
          </a:prstGeom>
          <a:solidFill>
            <a:srgbClr val="D9A404"/>
          </a:solidFill>
          <a:ln/>
        </p:spPr>
      </p:sp>
      <p:sp>
        <p:nvSpPr>
          <p:cNvPr id="72" name="Text 70"/>
          <p:cNvSpPr txBox="1"/>
          <p:nvPr/>
        </p:nvSpPr>
        <p:spPr>
          <a:xfrm>
            <a:off x="8686800" y="3547872"/>
            <a:ext cx="2926080" cy="365760"/>
          </a:xfrm>
          <a:prstGeom prst="rect">
            <a:avLst/>
          </a:prstGeom>
          <a:noFill/>
          <a:ln/>
        </p:spPr>
        <p:txBody>
          <a:bodyPr wrap="square" lIns="0" tIns="0" rIns="0" bIns="0" rtlCol="0" anchor="ctr"/>
          <a:lstStyle/>
          <a:p>
            <a:pPr marL="0" indent="0" algn="ctr">
              <a:buNone/>
            </a:pPr>
            <a:r>
              <a:rPr lang="en-US" sz="1400" b="1" dirty="0">
                <a:solidFill>
                  <a:srgbClr val="1B2233"/>
                </a:solidFill>
                <a:latin typeface="Calibri" pitchFamily="34" charset="0"/>
                <a:ea typeface="Calibri" pitchFamily="34" charset="-122"/>
                <a:cs typeface="Calibri" pitchFamily="34" charset="-120"/>
              </a:rPr>
              <a:t>shift 4 → index 2</a:t>
            </a:r>
            <a:endParaRPr lang="en-US" sz="1400" dirty="0"/>
          </a:p>
        </p:txBody>
      </p:sp>
      <p:sp>
        <p:nvSpPr>
          <p:cNvPr id="73" name="Text 71"/>
          <p:cNvSpPr txBox="1"/>
          <p:nvPr/>
        </p:nvSpPr>
        <p:spPr>
          <a:xfrm>
            <a:off x="548640" y="4343400"/>
            <a:ext cx="777240" cy="457200"/>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j=0</a:t>
            </a:r>
            <a:endParaRPr lang="en-US" sz="1300" dirty="0"/>
          </a:p>
        </p:txBody>
      </p:sp>
      <p:sp>
        <p:nvSpPr>
          <p:cNvPr id="74" name="Shape 72"/>
          <p:cNvSpPr/>
          <p:nvPr/>
        </p:nvSpPr>
        <p:spPr>
          <a:xfrm>
            <a:off x="1417320" y="4206240"/>
            <a:ext cx="530352" cy="530352"/>
          </a:xfrm>
          <a:prstGeom prst="roundRect">
            <a:avLst>
              <a:gd name="adj" fmla="val 20690"/>
            </a:avLst>
          </a:prstGeom>
          <a:solidFill>
            <a:srgbClr val="D9A404"/>
          </a:solidFill>
          <a:ln w="22225">
            <a:solidFill>
              <a:srgbClr val="D9A404"/>
            </a:solidFill>
            <a:prstDash val="solid"/>
          </a:ln>
        </p:spPr>
      </p:sp>
      <p:sp>
        <p:nvSpPr>
          <p:cNvPr id="75" name="Text 73"/>
          <p:cNvSpPr txBox="1"/>
          <p:nvPr/>
        </p:nvSpPr>
        <p:spPr>
          <a:xfrm>
            <a:off x="1417320" y="42062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a:t>
            </a:r>
            <a:endParaRPr lang="en-US" sz="1400" dirty="0"/>
          </a:p>
        </p:txBody>
      </p:sp>
      <p:sp>
        <p:nvSpPr>
          <p:cNvPr id="76" name="Text 74"/>
          <p:cNvSpPr txBox="1"/>
          <p:nvPr/>
        </p:nvSpPr>
        <p:spPr>
          <a:xfrm>
            <a:off x="1417320" y="476402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77" name="Shape 75"/>
          <p:cNvSpPr/>
          <p:nvPr/>
        </p:nvSpPr>
        <p:spPr>
          <a:xfrm>
            <a:off x="2039112" y="4206240"/>
            <a:ext cx="530352" cy="530352"/>
          </a:xfrm>
          <a:prstGeom prst="roundRect">
            <a:avLst>
              <a:gd name="adj" fmla="val 20690"/>
            </a:avLst>
          </a:prstGeom>
          <a:solidFill>
            <a:srgbClr val="FFFFFF"/>
          </a:solidFill>
          <a:ln w="22225">
            <a:solidFill>
              <a:srgbClr val="5B6584"/>
            </a:solidFill>
            <a:prstDash val="dash"/>
          </a:ln>
        </p:spPr>
      </p:sp>
      <p:sp>
        <p:nvSpPr>
          <p:cNvPr id="78" name="Text 76"/>
          <p:cNvSpPr txBox="1"/>
          <p:nvPr/>
        </p:nvSpPr>
        <p:spPr>
          <a:xfrm>
            <a:off x="2039112" y="476402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79" name="Shape 77"/>
          <p:cNvSpPr/>
          <p:nvPr/>
        </p:nvSpPr>
        <p:spPr>
          <a:xfrm>
            <a:off x="2660904" y="4206240"/>
            <a:ext cx="530352" cy="530352"/>
          </a:xfrm>
          <a:prstGeom prst="roundRect">
            <a:avLst>
              <a:gd name="adj" fmla="val 20690"/>
            </a:avLst>
          </a:prstGeom>
          <a:solidFill>
            <a:srgbClr val="FFFFFF"/>
          </a:solidFill>
          <a:ln w="22225">
            <a:solidFill>
              <a:srgbClr val="3C4E8C"/>
            </a:solidFill>
            <a:prstDash val="solid"/>
          </a:ln>
        </p:spPr>
      </p:sp>
      <p:sp>
        <p:nvSpPr>
          <p:cNvPr id="80" name="Text 78"/>
          <p:cNvSpPr txBox="1"/>
          <p:nvPr/>
        </p:nvSpPr>
        <p:spPr>
          <a:xfrm>
            <a:off x="2660904" y="42062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4</a:t>
            </a:r>
            <a:endParaRPr lang="en-US" sz="1400" dirty="0"/>
          </a:p>
        </p:txBody>
      </p:sp>
      <p:sp>
        <p:nvSpPr>
          <p:cNvPr id="81" name="Text 79"/>
          <p:cNvSpPr txBox="1"/>
          <p:nvPr/>
        </p:nvSpPr>
        <p:spPr>
          <a:xfrm>
            <a:off x="2660904" y="476402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82" name="Shape 80"/>
          <p:cNvSpPr/>
          <p:nvPr/>
        </p:nvSpPr>
        <p:spPr>
          <a:xfrm>
            <a:off x="3282696" y="4206240"/>
            <a:ext cx="530352" cy="530352"/>
          </a:xfrm>
          <a:prstGeom prst="roundRect">
            <a:avLst>
              <a:gd name="adj" fmla="val 20690"/>
            </a:avLst>
          </a:prstGeom>
          <a:solidFill>
            <a:srgbClr val="FFFFFF"/>
          </a:solidFill>
          <a:ln w="22225">
            <a:solidFill>
              <a:srgbClr val="3C4E8C"/>
            </a:solidFill>
            <a:prstDash val="solid"/>
          </a:ln>
        </p:spPr>
      </p:sp>
      <p:sp>
        <p:nvSpPr>
          <p:cNvPr id="83" name="Text 81"/>
          <p:cNvSpPr txBox="1"/>
          <p:nvPr/>
        </p:nvSpPr>
        <p:spPr>
          <a:xfrm>
            <a:off x="3282696" y="42062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84" name="Text 82"/>
          <p:cNvSpPr txBox="1"/>
          <p:nvPr/>
        </p:nvSpPr>
        <p:spPr>
          <a:xfrm>
            <a:off x="3282696" y="476402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85" name="Shape 83"/>
          <p:cNvSpPr/>
          <p:nvPr/>
        </p:nvSpPr>
        <p:spPr>
          <a:xfrm>
            <a:off x="3904488" y="4206240"/>
            <a:ext cx="530352" cy="530352"/>
          </a:xfrm>
          <a:prstGeom prst="roundRect">
            <a:avLst>
              <a:gd name="adj" fmla="val 20690"/>
            </a:avLst>
          </a:prstGeom>
          <a:solidFill>
            <a:srgbClr val="FFFFFF"/>
          </a:solidFill>
          <a:ln w="22225">
            <a:solidFill>
              <a:srgbClr val="3C4E8C"/>
            </a:solidFill>
            <a:prstDash val="solid"/>
          </a:ln>
        </p:spPr>
      </p:sp>
      <p:sp>
        <p:nvSpPr>
          <p:cNvPr id="86" name="Text 84"/>
          <p:cNvSpPr txBox="1"/>
          <p:nvPr/>
        </p:nvSpPr>
        <p:spPr>
          <a:xfrm>
            <a:off x="3904488" y="42062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a:t>
            </a:r>
            <a:endParaRPr lang="en-US" sz="1400" dirty="0"/>
          </a:p>
        </p:txBody>
      </p:sp>
      <p:sp>
        <p:nvSpPr>
          <p:cNvPr id="87" name="Text 85"/>
          <p:cNvSpPr txBox="1"/>
          <p:nvPr/>
        </p:nvSpPr>
        <p:spPr>
          <a:xfrm>
            <a:off x="3904488" y="476402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88" name="Shape 86"/>
          <p:cNvSpPr/>
          <p:nvPr/>
        </p:nvSpPr>
        <p:spPr>
          <a:xfrm>
            <a:off x="4526280" y="4206240"/>
            <a:ext cx="530352" cy="530352"/>
          </a:xfrm>
          <a:prstGeom prst="roundRect">
            <a:avLst>
              <a:gd name="adj" fmla="val 20690"/>
            </a:avLst>
          </a:prstGeom>
          <a:solidFill>
            <a:srgbClr val="FFFFFF"/>
          </a:solidFill>
          <a:ln w="22225">
            <a:solidFill>
              <a:srgbClr val="3C4E8C"/>
            </a:solidFill>
            <a:prstDash val="solid"/>
          </a:ln>
        </p:spPr>
      </p:sp>
      <p:sp>
        <p:nvSpPr>
          <p:cNvPr id="89" name="Text 87"/>
          <p:cNvSpPr txBox="1"/>
          <p:nvPr/>
        </p:nvSpPr>
        <p:spPr>
          <a:xfrm>
            <a:off x="4526280" y="42062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a:t>
            </a:r>
            <a:endParaRPr lang="en-US" sz="1400" dirty="0"/>
          </a:p>
        </p:txBody>
      </p:sp>
      <p:sp>
        <p:nvSpPr>
          <p:cNvPr id="90" name="Text 88"/>
          <p:cNvSpPr txBox="1"/>
          <p:nvPr/>
        </p:nvSpPr>
        <p:spPr>
          <a:xfrm>
            <a:off x="4526280" y="476402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91" name="Shape 89"/>
          <p:cNvSpPr/>
          <p:nvPr/>
        </p:nvSpPr>
        <p:spPr>
          <a:xfrm>
            <a:off x="6035040" y="4325112"/>
            <a:ext cx="2468880" cy="365760"/>
          </a:xfrm>
          <a:prstGeom prst="roundRect">
            <a:avLst>
              <a:gd name="adj" fmla="val 50000"/>
            </a:avLst>
          </a:prstGeom>
          <a:solidFill>
            <a:srgbClr val="EEF2FC"/>
          </a:solidFill>
          <a:ln/>
        </p:spPr>
      </p:sp>
      <p:sp>
        <p:nvSpPr>
          <p:cNvPr id="92" name="Text 90"/>
          <p:cNvSpPr txBox="1"/>
          <p:nvPr/>
        </p:nvSpPr>
        <p:spPr>
          <a:xfrm>
            <a:off x="6035040" y="4325112"/>
            <a:ext cx="2468880" cy="365760"/>
          </a:xfrm>
          <a:prstGeom prst="rect">
            <a:avLst/>
          </a:prstGeom>
          <a:noFill/>
          <a:ln/>
        </p:spPr>
        <p:txBody>
          <a:bodyPr wrap="square" lIns="0" tIns="0" rIns="0" bIns="0" rtlCol="0" anchor="ctr"/>
          <a:lstStyle/>
          <a:p>
            <a:pPr marL="0" indent="0" algn="ctr">
              <a:buNone/>
            </a:pPr>
            <a:r>
              <a:rPr lang="en-US" sz="1400" b="1" dirty="0">
                <a:solidFill>
                  <a:srgbClr val="16204A"/>
                </a:solidFill>
                <a:latin typeface="Calibri" pitchFamily="34" charset="0"/>
                <a:ea typeface="Calibri" pitchFamily="34" charset="-122"/>
                <a:cs typeface="Calibri" pitchFamily="34" charset="-120"/>
              </a:rPr>
              <a:t>A[0]=2 &gt; 1</a:t>
            </a:r>
            <a:endParaRPr lang="en-US" sz="1400" dirty="0"/>
          </a:p>
        </p:txBody>
      </p:sp>
      <p:sp>
        <p:nvSpPr>
          <p:cNvPr id="93" name="Shape 91"/>
          <p:cNvSpPr/>
          <p:nvPr/>
        </p:nvSpPr>
        <p:spPr>
          <a:xfrm>
            <a:off x="8686800" y="4325112"/>
            <a:ext cx="2926080" cy="365760"/>
          </a:xfrm>
          <a:prstGeom prst="roundRect">
            <a:avLst>
              <a:gd name="adj" fmla="val 50000"/>
            </a:avLst>
          </a:prstGeom>
          <a:solidFill>
            <a:srgbClr val="D9A404"/>
          </a:solidFill>
          <a:ln/>
        </p:spPr>
      </p:sp>
      <p:sp>
        <p:nvSpPr>
          <p:cNvPr id="94" name="Text 92"/>
          <p:cNvSpPr txBox="1"/>
          <p:nvPr/>
        </p:nvSpPr>
        <p:spPr>
          <a:xfrm>
            <a:off x="8686800" y="4325112"/>
            <a:ext cx="2926080" cy="365760"/>
          </a:xfrm>
          <a:prstGeom prst="rect">
            <a:avLst/>
          </a:prstGeom>
          <a:noFill/>
          <a:ln/>
        </p:spPr>
        <p:txBody>
          <a:bodyPr wrap="square" lIns="0" tIns="0" rIns="0" bIns="0" rtlCol="0" anchor="ctr"/>
          <a:lstStyle/>
          <a:p>
            <a:pPr marL="0" indent="0" algn="ctr">
              <a:buNone/>
            </a:pPr>
            <a:r>
              <a:rPr lang="en-US" sz="1400" b="1" dirty="0">
                <a:solidFill>
                  <a:srgbClr val="1B2233"/>
                </a:solidFill>
                <a:latin typeface="Calibri" pitchFamily="34" charset="0"/>
                <a:ea typeface="Calibri" pitchFamily="34" charset="-122"/>
                <a:cs typeface="Calibri" pitchFamily="34" charset="-120"/>
              </a:rPr>
              <a:t>shift 2 → index 1</a:t>
            </a:r>
            <a:endParaRPr lang="en-US" sz="1400" dirty="0"/>
          </a:p>
        </p:txBody>
      </p:sp>
      <p:sp>
        <p:nvSpPr>
          <p:cNvPr id="95" name="Text 93"/>
          <p:cNvSpPr txBox="1"/>
          <p:nvPr/>
        </p:nvSpPr>
        <p:spPr>
          <a:xfrm>
            <a:off x="548640" y="5120640"/>
            <a:ext cx="777240" cy="457200"/>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j=-1</a:t>
            </a:r>
            <a:endParaRPr lang="en-US" sz="1300" dirty="0"/>
          </a:p>
        </p:txBody>
      </p:sp>
      <p:sp>
        <p:nvSpPr>
          <p:cNvPr id="96" name="Shape 94"/>
          <p:cNvSpPr/>
          <p:nvPr/>
        </p:nvSpPr>
        <p:spPr>
          <a:xfrm>
            <a:off x="1417320" y="4983480"/>
            <a:ext cx="530352" cy="530352"/>
          </a:xfrm>
          <a:prstGeom prst="roundRect">
            <a:avLst>
              <a:gd name="adj" fmla="val 20690"/>
            </a:avLst>
          </a:prstGeom>
          <a:solidFill>
            <a:srgbClr val="C1272D"/>
          </a:solidFill>
          <a:ln w="22225">
            <a:solidFill>
              <a:srgbClr val="C1272D"/>
            </a:solidFill>
            <a:prstDash val="solid"/>
          </a:ln>
        </p:spPr>
      </p:sp>
      <p:sp>
        <p:nvSpPr>
          <p:cNvPr id="97" name="Text 95"/>
          <p:cNvSpPr txBox="1"/>
          <p:nvPr/>
        </p:nvSpPr>
        <p:spPr>
          <a:xfrm>
            <a:off x="1417320" y="498348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98" name="Text 96"/>
          <p:cNvSpPr txBox="1"/>
          <p:nvPr/>
        </p:nvSpPr>
        <p:spPr>
          <a:xfrm>
            <a:off x="1417320" y="554126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0</a:t>
            </a:r>
            <a:endParaRPr lang="en-US" sz="1000" dirty="0"/>
          </a:p>
        </p:txBody>
      </p:sp>
      <p:sp>
        <p:nvSpPr>
          <p:cNvPr id="99" name="Shape 97"/>
          <p:cNvSpPr/>
          <p:nvPr/>
        </p:nvSpPr>
        <p:spPr>
          <a:xfrm>
            <a:off x="2039112" y="4983480"/>
            <a:ext cx="530352" cy="530352"/>
          </a:xfrm>
          <a:prstGeom prst="roundRect">
            <a:avLst>
              <a:gd name="adj" fmla="val 20690"/>
            </a:avLst>
          </a:prstGeom>
          <a:solidFill>
            <a:srgbClr val="FFFFFF"/>
          </a:solidFill>
          <a:ln w="22225">
            <a:solidFill>
              <a:srgbClr val="3C4E8C"/>
            </a:solidFill>
            <a:prstDash val="solid"/>
          </a:ln>
        </p:spPr>
      </p:sp>
      <p:sp>
        <p:nvSpPr>
          <p:cNvPr id="100" name="Text 98"/>
          <p:cNvSpPr txBox="1"/>
          <p:nvPr/>
        </p:nvSpPr>
        <p:spPr>
          <a:xfrm>
            <a:off x="2039112" y="498348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a:t>
            </a:r>
            <a:endParaRPr lang="en-US" sz="1400" dirty="0"/>
          </a:p>
        </p:txBody>
      </p:sp>
      <p:sp>
        <p:nvSpPr>
          <p:cNvPr id="101" name="Text 99"/>
          <p:cNvSpPr txBox="1"/>
          <p:nvPr/>
        </p:nvSpPr>
        <p:spPr>
          <a:xfrm>
            <a:off x="2039112" y="554126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sp>
        <p:nvSpPr>
          <p:cNvPr id="102" name="Shape 100"/>
          <p:cNvSpPr/>
          <p:nvPr/>
        </p:nvSpPr>
        <p:spPr>
          <a:xfrm>
            <a:off x="2660904" y="4983480"/>
            <a:ext cx="530352" cy="530352"/>
          </a:xfrm>
          <a:prstGeom prst="roundRect">
            <a:avLst>
              <a:gd name="adj" fmla="val 20690"/>
            </a:avLst>
          </a:prstGeom>
          <a:solidFill>
            <a:srgbClr val="FFFFFF"/>
          </a:solidFill>
          <a:ln w="22225">
            <a:solidFill>
              <a:srgbClr val="3C4E8C"/>
            </a:solidFill>
            <a:prstDash val="solid"/>
          </a:ln>
        </p:spPr>
      </p:sp>
      <p:sp>
        <p:nvSpPr>
          <p:cNvPr id="103" name="Text 101"/>
          <p:cNvSpPr txBox="1"/>
          <p:nvPr/>
        </p:nvSpPr>
        <p:spPr>
          <a:xfrm>
            <a:off x="2660904" y="498348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4</a:t>
            </a:r>
            <a:endParaRPr lang="en-US" sz="1400" dirty="0"/>
          </a:p>
        </p:txBody>
      </p:sp>
      <p:sp>
        <p:nvSpPr>
          <p:cNvPr id="104" name="Text 102"/>
          <p:cNvSpPr txBox="1"/>
          <p:nvPr/>
        </p:nvSpPr>
        <p:spPr>
          <a:xfrm>
            <a:off x="2660904" y="554126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
        <p:nvSpPr>
          <p:cNvPr id="105" name="Shape 103"/>
          <p:cNvSpPr/>
          <p:nvPr/>
        </p:nvSpPr>
        <p:spPr>
          <a:xfrm>
            <a:off x="3282696" y="4983480"/>
            <a:ext cx="530352" cy="530352"/>
          </a:xfrm>
          <a:prstGeom prst="roundRect">
            <a:avLst>
              <a:gd name="adj" fmla="val 20690"/>
            </a:avLst>
          </a:prstGeom>
          <a:solidFill>
            <a:srgbClr val="FFFFFF"/>
          </a:solidFill>
          <a:ln w="22225">
            <a:solidFill>
              <a:srgbClr val="3C4E8C"/>
            </a:solidFill>
            <a:prstDash val="solid"/>
          </a:ln>
        </p:spPr>
      </p:sp>
      <p:sp>
        <p:nvSpPr>
          <p:cNvPr id="106" name="Text 104"/>
          <p:cNvSpPr txBox="1"/>
          <p:nvPr/>
        </p:nvSpPr>
        <p:spPr>
          <a:xfrm>
            <a:off x="3282696" y="498348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107" name="Text 105"/>
          <p:cNvSpPr txBox="1"/>
          <p:nvPr/>
        </p:nvSpPr>
        <p:spPr>
          <a:xfrm>
            <a:off x="3282696" y="554126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
        <p:nvSpPr>
          <p:cNvPr id="108" name="Shape 106"/>
          <p:cNvSpPr/>
          <p:nvPr/>
        </p:nvSpPr>
        <p:spPr>
          <a:xfrm>
            <a:off x="3904488" y="4983480"/>
            <a:ext cx="530352" cy="530352"/>
          </a:xfrm>
          <a:prstGeom prst="roundRect">
            <a:avLst>
              <a:gd name="adj" fmla="val 20690"/>
            </a:avLst>
          </a:prstGeom>
          <a:solidFill>
            <a:srgbClr val="FFFFFF"/>
          </a:solidFill>
          <a:ln w="22225">
            <a:solidFill>
              <a:srgbClr val="3C4E8C"/>
            </a:solidFill>
            <a:prstDash val="solid"/>
          </a:ln>
        </p:spPr>
      </p:sp>
      <p:sp>
        <p:nvSpPr>
          <p:cNvPr id="109" name="Text 107"/>
          <p:cNvSpPr txBox="1"/>
          <p:nvPr/>
        </p:nvSpPr>
        <p:spPr>
          <a:xfrm>
            <a:off x="3904488" y="498348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a:t>
            </a:r>
            <a:endParaRPr lang="en-US" sz="1400" dirty="0"/>
          </a:p>
        </p:txBody>
      </p:sp>
      <p:sp>
        <p:nvSpPr>
          <p:cNvPr id="110" name="Text 108"/>
          <p:cNvSpPr txBox="1"/>
          <p:nvPr/>
        </p:nvSpPr>
        <p:spPr>
          <a:xfrm>
            <a:off x="3904488" y="554126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
        <p:nvSpPr>
          <p:cNvPr id="111" name="Shape 109"/>
          <p:cNvSpPr/>
          <p:nvPr/>
        </p:nvSpPr>
        <p:spPr>
          <a:xfrm>
            <a:off x="4526280" y="4983480"/>
            <a:ext cx="530352" cy="530352"/>
          </a:xfrm>
          <a:prstGeom prst="roundRect">
            <a:avLst>
              <a:gd name="adj" fmla="val 20690"/>
            </a:avLst>
          </a:prstGeom>
          <a:solidFill>
            <a:srgbClr val="FFFFFF"/>
          </a:solidFill>
          <a:ln w="22225">
            <a:solidFill>
              <a:srgbClr val="3C4E8C"/>
            </a:solidFill>
            <a:prstDash val="solid"/>
          </a:ln>
        </p:spPr>
      </p:sp>
      <p:sp>
        <p:nvSpPr>
          <p:cNvPr id="112" name="Text 110"/>
          <p:cNvSpPr txBox="1"/>
          <p:nvPr/>
        </p:nvSpPr>
        <p:spPr>
          <a:xfrm>
            <a:off x="4526280" y="498348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a:t>
            </a:r>
            <a:endParaRPr lang="en-US" sz="1400" dirty="0"/>
          </a:p>
        </p:txBody>
      </p:sp>
      <p:sp>
        <p:nvSpPr>
          <p:cNvPr id="113" name="Text 111"/>
          <p:cNvSpPr txBox="1"/>
          <p:nvPr/>
        </p:nvSpPr>
        <p:spPr>
          <a:xfrm>
            <a:off x="4526280" y="5541264"/>
            <a:ext cx="530352" cy="228600"/>
          </a:xfrm>
          <a:prstGeom prst="rect">
            <a:avLst/>
          </a:prstGeom>
          <a:noFill/>
          <a:ln/>
        </p:spPr>
        <p:txBody>
          <a:bodyPr wrap="square" lIns="0" tIns="0" rIns="0" bIns="0"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sp>
        <p:nvSpPr>
          <p:cNvPr id="114" name="Shape 112"/>
          <p:cNvSpPr/>
          <p:nvPr/>
        </p:nvSpPr>
        <p:spPr>
          <a:xfrm>
            <a:off x="6035040" y="5102352"/>
            <a:ext cx="2468880" cy="365760"/>
          </a:xfrm>
          <a:prstGeom prst="roundRect">
            <a:avLst>
              <a:gd name="adj" fmla="val 50000"/>
            </a:avLst>
          </a:prstGeom>
          <a:solidFill>
            <a:srgbClr val="EEF2FC"/>
          </a:solidFill>
          <a:ln/>
        </p:spPr>
      </p:sp>
      <p:sp>
        <p:nvSpPr>
          <p:cNvPr id="115" name="Text 113"/>
          <p:cNvSpPr txBox="1"/>
          <p:nvPr/>
        </p:nvSpPr>
        <p:spPr>
          <a:xfrm>
            <a:off x="6035040" y="5102352"/>
            <a:ext cx="2468880" cy="365760"/>
          </a:xfrm>
          <a:prstGeom prst="rect">
            <a:avLst/>
          </a:prstGeom>
          <a:noFill/>
          <a:ln/>
        </p:spPr>
        <p:txBody>
          <a:bodyPr wrap="square" lIns="0" tIns="0" rIns="0" bIns="0" rtlCol="0" anchor="ctr"/>
          <a:lstStyle/>
          <a:p>
            <a:pPr marL="0" indent="0" algn="ctr">
              <a:buNone/>
            </a:pPr>
            <a:r>
              <a:rPr lang="en-US" sz="1400" b="1" dirty="0">
                <a:solidFill>
                  <a:srgbClr val="16204A"/>
                </a:solidFill>
                <a:latin typeface="Calibri" pitchFamily="34" charset="0"/>
                <a:ea typeface="Calibri" pitchFamily="34" charset="-122"/>
                <a:cs typeface="Calibri" pitchFamily="34" charset="-120"/>
              </a:rPr>
              <a:t>j = -1 (loop ends)</a:t>
            </a:r>
            <a:endParaRPr lang="en-US" sz="1400" dirty="0"/>
          </a:p>
        </p:txBody>
      </p:sp>
      <p:sp>
        <p:nvSpPr>
          <p:cNvPr id="116" name="Shape 114"/>
          <p:cNvSpPr/>
          <p:nvPr/>
        </p:nvSpPr>
        <p:spPr>
          <a:xfrm>
            <a:off x="8686800" y="5102352"/>
            <a:ext cx="2926080" cy="365760"/>
          </a:xfrm>
          <a:prstGeom prst="roundRect">
            <a:avLst>
              <a:gd name="adj" fmla="val 50000"/>
            </a:avLst>
          </a:prstGeom>
          <a:solidFill>
            <a:srgbClr val="C1272D"/>
          </a:solidFill>
          <a:ln/>
        </p:spPr>
      </p:sp>
      <p:sp>
        <p:nvSpPr>
          <p:cNvPr id="117" name="Text 115"/>
          <p:cNvSpPr txBox="1"/>
          <p:nvPr/>
        </p:nvSpPr>
        <p:spPr>
          <a:xfrm>
            <a:off x="8686800" y="5102352"/>
            <a:ext cx="29260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insert key at index 0</a:t>
            </a:r>
            <a:endParaRPr lang="en-US" sz="1400" dirty="0"/>
          </a:p>
        </p:txBody>
      </p:sp>
      <p:sp>
        <p:nvSpPr>
          <p:cNvPr id="118" name="Shape 116"/>
          <p:cNvSpPr/>
          <p:nvPr/>
        </p:nvSpPr>
        <p:spPr>
          <a:xfrm>
            <a:off x="548640" y="5852160"/>
            <a:ext cx="11064240" cy="502920"/>
          </a:xfrm>
          <a:prstGeom prst="roundRect">
            <a:avLst>
              <a:gd name="adj" fmla="val 14545"/>
            </a:avLst>
          </a:prstGeom>
          <a:solidFill>
            <a:srgbClr val="DCEBDD"/>
          </a:solidFill>
          <a:ln w="12700">
            <a:solidFill>
              <a:srgbClr val="5FA778"/>
            </a:solidFill>
            <a:prstDash val="solid"/>
          </a:ln>
        </p:spPr>
      </p:sp>
      <p:sp>
        <p:nvSpPr>
          <p:cNvPr id="119" name="Text 117"/>
          <p:cNvSpPr txBox="1"/>
          <p:nvPr/>
        </p:nvSpPr>
        <p:spPr>
          <a:xfrm>
            <a:off x="777240" y="5852160"/>
            <a:ext cx="10607040" cy="502920"/>
          </a:xfrm>
          <a:prstGeom prst="rect">
            <a:avLst/>
          </a:prstGeom>
          <a:noFill/>
          <a:ln/>
        </p:spPr>
        <p:txBody>
          <a:bodyPr wrap="square" lIns="0" tIns="0" rIns="0" bIns="0" rtlCol="0" anchor="ctr"/>
          <a:lstStyle/>
          <a:p>
            <a:pPr marL="0" indent="0">
              <a:buNone/>
            </a:pPr>
            <a:r>
              <a:rPr lang="en-US" sz="1600" b="1" dirty="0">
                <a:solidFill>
                  <a:srgbClr val="16204A"/>
                </a:solidFill>
                <a:latin typeface="Calibri" pitchFamily="34" charset="0"/>
                <a:ea typeface="Calibri" pitchFamily="34" charset="-122"/>
                <a:cs typeface="Calibri" pitchFamily="34" charset="-120"/>
              </a:rPr>
              <a:t>Final position of key:  index 0   →   array is now [ 1, 2, 4, 5, 6, 3 ], with 5 elements sorted.</a:t>
            </a:r>
            <a:endParaRPr lang="en-US" sz="1600" dirty="0"/>
          </a:p>
        </p:txBody>
      </p:sp>
      <p:sp>
        <p:nvSpPr>
          <p:cNvPr id="120" name="Text 118"/>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21" name="Text 119"/>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3C4E8C"/>
                </a:solidFill>
                <a:latin typeface="Calibri" pitchFamily="34" charset="0"/>
                <a:ea typeface="Calibri" pitchFamily="34" charset="-122"/>
                <a:cs typeface="Calibri" pitchFamily="34" charset="-120"/>
              </a:rPr>
              <a:t>ANALYSIS</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Time &amp; Space Complexity</a:t>
            </a:r>
            <a:endParaRPr lang="en-US" sz="3200" dirty="0"/>
          </a:p>
        </p:txBody>
      </p:sp>
      <p:sp>
        <p:nvSpPr>
          <p:cNvPr id="6" name="Shape 4"/>
          <p:cNvSpPr/>
          <p:nvPr/>
        </p:nvSpPr>
        <p:spPr>
          <a:xfrm>
            <a:off x="548640" y="1417320"/>
            <a:ext cx="3520440" cy="2880360"/>
          </a:xfrm>
          <a:prstGeom prst="roundRect">
            <a:avLst>
              <a:gd name="adj" fmla="val 3175"/>
            </a:avLst>
          </a:prstGeom>
          <a:solidFill>
            <a:schemeClr val="accent6">
              <a:lumMod val="20000"/>
              <a:lumOff val="80000"/>
            </a:schemeClr>
          </a:solidFill>
          <a:ln/>
        </p:spPr>
      </p:sp>
      <p:sp>
        <p:nvSpPr>
          <p:cNvPr id="7" name="Text 5"/>
          <p:cNvSpPr txBox="1"/>
          <p:nvPr/>
        </p:nvSpPr>
        <p:spPr>
          <a:xfrm>
            <a:off x="777240" y="1627632"/>
            <a:ext cx="3063240" cy="320040"/>
          </a:xfrm>
          <a:prstGeom prst="rect">
            <a:avLst/>
          </a:prstGeom>
          <a:noFill/>
          <a:ln/>
        </p:spPr>
        <p:txBody>
          <a:bodyPr wrap="square" lIns="0" tIns="0" rIns="0" bIns="0" rtlCol="0" anchor="ctr"/>
          <a:lstStyle/>
          <a:p>
            <a:pPr marL="0" indent="0">
              <a:buNone/>
            </a:pPr>
            <a:r>
              <a:rPr lang="en-US" sz="1200" b="1" kern="0" spc="100" dirty="0">
                <a:latin typeface="Calibri" pitchFamily="34" charset="0"/>
                <a:ea typeface="Calibri" pitchFamily="34" charset="-122"/>
                <a:cs typeface="Calibri" pitchFamily="34" charset="-120"/>
              </a:rPr>
              <a:t>BEST CASE</a:t>
            </a:r>
            <a:endParaRPr lang="en-US" sz="1200" dirty="0"/>
          </a:p>
        </p:txBody>
      </p:sp>
      <p:sp>
        <p:nvSpPr>
          <p:cNvPr id="8" name="Text 6"/>
          <p:cNvSpPr txBox="1"/>
          <p:nvPr/>
        </p:nvSpPr>
        <p:spPr>
          <a:xfrm>
            <a:off x="777240" y="1938528"/>
            <a:ext cx="3063240" cy="777240"/>
          </a:xfrm>
          <a:prstGeom prst="rect">
            <a:avLst/>
          </a:prstGeom>
          <a:noFill/>
          <a:ln/>
        </p:spPr>
        <p:txBody>
          <a:bodyPr wrap="square" lIns="0" tIns="0" rIns="0" bIns="0" rtlCol="0" anchor="ctr"/>
          <a:lstStyle/>
          <a:p>
            <a:pPr marL="0" indent="0">
              <a:buNone/>
            </a:pPr>
            <a:r>
              <a:rPr lang="en-US" sz="4200" b="1" dirty="0">
                <a:latin typeface="Cambria" pitchFamily="34" charset="0"/>
                <a:ea typeface="Cambria" pitchFamily="34" charset="-122"/>
                <a:cs typeface="Cambria" pitchFamily="34" charset="-120"/>
              </a:rPr>
              <a:t>O(n)</a:t>
            </a:r>
            <a:endParaRPr lang="en-US" sz="4200" dirty="0"/>
          </a:p>
        </p:txBody>
      </p:sp>
      <p:sp>
        <p:nvSpPr>
          <p:cNvPr id="9" name="Text 7"/>
          <p:cNvSpPr txBox="1"/>
          <p:nvPr/>
        </p:nvSpPr>
        <p:spPr>
          <a:xfrm>
            <a:off x="777240" y="2724912"/>
            <a:ext cx="3063240" cy="1463040"/>
          </a:xfrm>
          <a:prstGeom prst="rect">
            <a:avLst/>
          </a:prstGeom>
          <a:noFill/>
          <a:ln/>
        </p:spPr>
        <p:txBody>
          <a:bodyPr wrap="square" lIns="0" tIns="0" rIns="0" bIns="0" rtlCol="0" anchor="ctr"/>
          <a:lstStyle/>
          <a:p>
            <a:pPr marL="0" indent="0">
              <a:lnSpc>
                <a:spcPct val="125000"/>
              </a:lnSpc>
              <a:buNone/>
            </a:pPr>
            <a:r>
              <a:rPr lang="en-US" sz="1600" dirty="0">
                <a:latin typeface="Calibri" pitchFamily="34" charset="0"/>
                <a:ea typeface="Calibri" pitchFamily="34" charset="-122"/>
                <a:cs typeface="Calibri" pitchFamily="34" charset="-120"/>
              </a:rPr>
              <a:t>Array is already sorted — the inner while-loop condition A[j] &gt; key is false immediately, so each key needs just one comparison.</a:t>
            </a:r>
            <a:endParaRPr lang="en-US" sz="1600" dirty="0"/>
          </a:p>
        </p:txBody>
      </p:sp>
      <p:sp>
        <p:nvSpPr>
          <p:cNvPr id="10" name="Shape 8"/>
          <p:cNvSpPr/>
          <p:nvPr/>
        </p:nvSpPr>
        <p:spPr>
          <a:xfrm>
            <a:off x="4343400" y="1417320"/>
            <a:ext cx="3520440" cy="2880360"/>
          </a:xfrm>
          <a:prstGeom prst="roundRect">
            <a:avLst>
              <a:gd name="adj" fmla="val 3175"/>
            </a:avLst>
          </a:prstGeom>
          <a:solidFill>
            <a:schemeClr val="tx2">
              <a:lumMod val="20000"/>
              <a:lumOff val="80000"/>
            </a:schemeClr>
          </a:solidFill>
          <a:ln/>
        </p:spPr>
      </p:sp>
      <p:sp>
        <p:nvSpPr>
          <p:cNvPr id="11" name="Text 9"/>
          <p:cNvSpPr txBox="1"/>
          <p:nvPr/>
        </p:nvSpPr>
        <p:spPr>
          <a:xfrm>
            <a:off x="4572000" y="1627632"/>
            <a:ext cx="3063240" cy="320040"/>
          </a:xfrm>
          <a:prstGeom prst="rect">
            <a:avLst/>
          </a:prstGeom>
          <a:noFill/>
          <a:ln/>
        </p:spPr>
        <p:txBody>
          <a:bodyPr wrap="square" lIns="0" tIns="0" rIns="0" bIns="0" rtlCol="0" anchor="ctr"/>
          <a:lstStyle/>
          <a:p>
            <a:pPr marL="0" indent="0">
              <a:buNone/>
            </a:pPr>
            <a:r>
              <a:rPr lang="en-US" sz="1200" b="1" kern="0" spc="100" dirty="0">
                <a:latin typeface="Calibri" pitchFamily="34" charset="0"/>
                <a:ea typeface="Calibri" pitchFamily="34" charset="-122"/>
                <a:cs typeface="Calibri" pitchFamily="34" charset="-120"/>
              </a:rPr>
              <a:t>AVERAGE CASE</a:t>
            </a:r>
            <a:endParaRPr lang="en-US" sz="1200" dirty="0"/>
          </a:p>
        </p:txBody>
      </p:sp>
      <p:sp>
        <p:nvSpPr>
          <p:cNvPr id="12" name="Text 10"/>
          <p:cNvSpPr txBox="1"/>
          <p:nvPr/>
        </p:nvSpPr>
        <p:spPr>
          <a:xfrm>
            <a:off x="4572000" y="1938528"/>
            <a:ext cx="3063240" cy="777240"/>
          </a:xfrm>
          <a:prstGeom prst="rect">
            <a:avLst/>
          </a:prstGeom>
          <a:noFill/>
          <a:ln/>
        </p:spPr>
        <p:txBody>
          <a:bodyPr wrap="square" lIns="0" tIns="0" rIns="0" bIns="0" rtlCol="0" anchor="ctr"/>
          <a:lstStyle/>
          <a:p>
            <a:pPr marL="0" indent="0">
              <a:buNone/>
            </a:pPr>
            <a:r>
              <a:rPr lang="en-US" sz="4200" b="1" dirty="0">
                <a:latin typeface="Cambria" pitchFamily="34" charset="0"/>
                <a:ea typeface="Cambria" pitchFamily="34" charset="-122"/>
                <a:cs typeface="Cambria" pitchFamily="34" charset="-120"/>
              </a:rPr>
              <a:t>O(n²)</a:t>
            </a:r>
            <a:endParaRPr lang="en-US" sz="4200" dirty="0"/>
          </a:p>
        </p:txBody>
      </p:sp>
      <p:sp>
        <p:nvSpPr>
          <p:cNvPr id="13" name="Text 11"/>
          <p:cNvSpPr txBox="1"/>
          <p:nvPr/>
        </p:nvSpPr>
        <p:spPr>
          <a:xfrm>
            <a:off x="4572000" y="2724912"/>
            <a:ext cx="3063240" cy="1463040"/>
          </a:xfrm>
          <a:prstGeom prst="rect">
            <a:avLst/>
          </a:prstGeom>
          <a:noFill/>
          <a:ln/>
        </p:spPr>
        <p:txBody>
          <a:bodyPr wrap="square" lIns="0" tIns="0" rIns="0" bIns="0" rtlCol="0" anchor="ctr"/>
          <a:lstStyle/>
          <a:p>
            <a:pPr marL="0" indent="0">
              <a:lnSpc>
                <a:spcPct val="125000"/>
              </a:lnSpc>
              <a:buNone/>
            </a:pPr>
            <a:r>
              <a:rPr lang="en-US" sz="1600" dirty="0">
                <a:latin typeface="Calibri" pitchFamily="34" charset="0"/>
                <a:ea typeface="Calibri" pitchFamily="34" charset="-122"/>
                <a:cs typeface="Calibri" pitchFamily="34" charset="-120"/>
              </a:rPr>
              <a:t>Elements are in random order — each key is expected to shift past roughly half of the sorted portion.</a:t>
            </a:r>
            <a:endParaRPr lang="en-US" sz="1600" dirty="0"/>
          </a:p>
        </p:txBody>
      </p:sp>
      <p:sp>
        <p:nvSpPr>
          <p:cNvPr id="14" name="Shape 12"/>
          <p:cNvSpPr/>
          <p:nvPr/>
        </p:nvSpPr>
        <p:spPr>
          <a:xfrm>
            <a:off x="8138160" y="1417320"/>
            <a:ext cx="3520440" cy="2880360"/>
          </a:xfrm>
          <a:prstGeom prst="roundRect">
            <a:avLst>
              <a:gd name="adj" fmla="val 3175"/>
            </a:avLst>
          </a:prstGeom>
          <a:solidFill>
            <a:schemeClr val="accent2">
              <a:lumMod val="20000"/>
              <a:lumOff val="80000"/>
            </a:schemeClr>
          </a:solidFill>
          <a:ln/>
        </p:spPr>
      </p:sp>
      <p:sp>
        <p:nvSpPr>
          <p:cNvPr id="15" name="Text 13"/>
          <p:cNvSpPr txBox="1"/>
          <p:nvPr/>
        </p:nvSpPr>
        <p:spPr>
          <a:xfrm>
            <a:off x="8366760" y="1627632"/>
            <a:ext cx="3063240" cy="320040"/>
          </a:xfrm>
          <a:prstGeom prst="rect">
            <a:avLst/>
          </a:prstGeom>
          <a:noFill/>
          <a:ln/>
        </p:spPr>
        <p:txBody>
          <a:bodyPr wrap="square" lIns="0" tIns="0" rIns="0" bIns="0" rtlCol="0" anchor="ctr"/>
          <a:lstStyle/>
          <a:p>
            <a:pPr marL="0" indent="0">
              <a:buNone/>
            </a:pPr>
            <a:r>
              <a:rPr lang="en-US" sz="1200" b="1" kern="0" spc="100" dirty="0">
                <a:latin typeface="Calibri" pitchFamily="34" charset="0"/>
                <a:ea typeface="Calibri" pitchFamily="34" charset="-122"/>
                <a:cs typeface="Calibri" pitchFamily="34" charset="-120"/>
              </a:rPr>
              <a:t>WORST CASE</a:t>
            </a:r>
            <a:endParaRPr lang="en-US" sz="1200" dirty="0"/>
          </a:p>
        </p:txBody>
      </p:sp>
      <p:sp>
        <p:nvSpPr>
          <p:cNvPr id="16" name="Text 14"/>
          <p:cNvSpPr txBox="1"/>
          <p:nvPr/>
        </p:nvSpPr>
        <p:spPr>
          <a:xfrm>
            <a:off x="8366760" y="1938528"/>
            <a:ext cx="3063240" cy="777240"/>
          </a:xfrm>
          <a:prstGeom prst="rect">
            <a:avLst/>
          </a:prstGeom>
          <a:noFill/>
          <a:ln/>
        </p:spPr>
        <p:txBody>
          <a:bodyPr wrap="square" lIns="0" tIns="0" rIns="0" bIns="0" rtlCol="0" anchor="ctr"/>
          <a:lstStyle/>
          <a:p>
            <a:pPr marL="0" indent="0">
              <a:buNone/>
            </a:pPr>
            <a:r>
              <a:rPr lang="en-US" sz="4200" b="1" dirty="0">
                <a:latin typeface="Cambria" pitchFamily="34" charset="0"/>
                <a:ea typeface="Cambria" pitchFamily="34" charset="-122"/>
                <a:cs typeface="Cambria" pitchFamily="34" charset="-120"/>
              </a:rPr>
              <a:t>O(n²)</a:t>
            </a:r>
            <a:endParaRPr lang="en-US" sz="4200" dirty="0"/>
          </a:p>
        </p:txBody>
      </p:sp>
      <p:sp>
        <p:nvSpPr>
          <p:cNvPr id="17" name="Text 15"/>
          <p:cNvSpPr txBox="1"/>
          <p:nvPr/>
        </p:nvSpPr>
        <p:spPr>
          <a:xfrm>
            <a:off x="8366760" y="2724912"/>
            <a:ext cx="3063240" cy="1463040"/>
          </a:xfrm>
          <a:prstGeom prst="rect">
            <a:avLst/>
          </a:prstGeom>
          <a:noFill/>
          <a:ln/>
        </p:spPr>
        <p:txBody>
          <a:bodyPr wrap="square" lIns="0" tIns="0" rIns="0" bIns="0" rtlCol="0" anchor="ctr"/>
          <a:lstStyle/>
          <a:p>
            <a:pPr marL="0" indent="0">
              <a:lnSpc>
                <a:spcPct val="125000"/>
              </a:lnSpc>
              <a:buNone/>
            </a:pPr>
            <a:r>
              <a:rPr lang="en-US" sz="1600" dirty="0">
                <a:latin typeface="Calibri" pitchFamily="34" charset="0"/>
                <a:ea typeface="Calibri" pitchFamily="34" charset="-122"/>
                <a:cs typeface="Calibri" pitchFamily="34" charset="-120"/>
              </a:rPr>
              <a:t>Array is sorted in reverse order — every key must shift past all previously sorted elements.</a:t>
            </a:r>
            <a:endParaRPr lang="en-US" sz="1600" dirty="0"/>
          </a:p>
        </p:txBody>
      </p:sp>
      <p:sp>
        <p:nvSpPr>
          <p:cNvPr id="18" name="Shape 16"/>
          <p:cNvSpPr/>
          <p:nvPr/>
        </p:nvSpPr>
        <p:spPr>
          <a:xfrm>
            <a:off x="548640" y="4572000"/>
            <a:ext cx="11064240" cy="1280160"/>
          </a:xfrm>
          <a:prstGeom prst="roundRect">
            <a:avLst>
              <a:gd name="adj" fmla="val 7143"/>
            </a:avLst>
          </a:prstGeom>
          <a:solidFill>
            <a:schemeClr val="accent4">
              <a:lumMod val="20000"/>
              <a:lumOff val="80000"/>
            </a:schemeClr>
          </a:solidFill>
          <a:ln w="12700">
            <a:solidFill>
              <a:srgbClr val="CADCFC"/>
            </a:solidFill>
            <a:prstDash val="solid"/>
          </a:ln>
        </p:spPr>
      </p:sp>
      <p:sp>
        <p:nvSpPr>
          <p:cNvPr id="19" name="Text 17"/>
          <p:cNvSpPr txBox="1"/>
          <p:nvPr/>
        </p:nvSpPr>
        <p:spPr>
          <a:xfrm>
            <a:off x="777240" y="4736592"/>
            <a:ext cx="3657600" cy="274320"/>
          </a:xfrm>
          <a:prstGeom prst="rect">
            <a:avLst/>
          </a:prstGeom>
          <a:noFill/>
          <a:ln/>
        </p:spPr>
        <p:txBody>
          <a:bodyPr wrap="square" lIns="0" tIns="0" rIns="0" bIns="0" rtlCol="0" anchor="ctr"/>
          <a:lstStyle/>
          <a:p>
            <a:pPr marL="0" indent="0">
              <a:buNone/>
            </a:pPr>
            <a:r>
              <a:rPr lang="en-US" sz="1600" b="1" kern="0" spc="150" dirty="0">
                <a:solidFill>
                  <a:srgbClr val="3C4E8C"/>
                </a:solidFill>
                <a:latin typeface="Calibri" pitchFamily="34" charset="0"/>
                <a:ea typeface="Calibri" pitchFamily="34" charset="-122"/>
                <a:cs typeface="Calibri" pitchFamily="34" charset="-120"/>
              </a:rPr>
              <a:t>SPACE COMPLEXITY</a:t>
            </a:r>
            <a:endParaRPr lang="en-US" sz="1600" dirty="0"/>
          </a:p>
        </p:txBody>
      </p:sp>
      <p:sp>
        <p:nvSpPr>
          <p:cNvPr id="20" name="Text 18"/>
          <p:cNvSpPr txBox="1"/>
          <p:nvPr/>
        </p:nvSpPr>
        <p:spPr>
          <a:xfrm>
            <a:off x="777240" y="5010912"/>
            <a:ext cx="4572000" cy="45720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O(1) auxiliary space</a:t>
            </a:r>
            <a:endParaRPr lang="en-US" sz="2000" dirty="0"/>
          </a:p>
        </p:txBody>
      </p:sp>
      <p:sp>
        <p:nvSpPr>
          <p:cNvPr id="21" name="Text 19"/>
          <p:cNvSpPr txBox="1"/>
          <p:nvPr/>
        </p:nvSpPr>
        <p:spPr>
          <a:xfrm>
            <a:off x="4775200" y="4800600"/>
            <a:ext cx="6654800" cy="868680"/>
          </a:xfrm>
          <a:prstGeom prst="rect">
            <a:avLst/>
          </a:prstGeom>
          <a:noFill/>
          <a:ln/>
        </p:spPr>
        <p:txBody>
          <a:bodyPr wrap="square" lIns="0" tIns="0" rIns="0" bIns="0" rtlCol="0" anchor="ctr"/>
          <a:lstStyle/>
          <a:p>
            <a:pPr marL="0" indent="0">
              <a:lnSpc>
                <a:spcPct val="125000"/>
              </a:lnSpc>
              <a:buNone/>
            </a:pPr>
            <a:r>
              <a:rPr lang="en-US" dirty="0">
                <a:solidFill>
                  <a:srgbClr val="5B6584"/>
                </a:solidFill>
                <a:latin typeface="Calibri" pitchFamily="34" charset="0"/>
                <a:ea typeface="Calibri" pitchFamily="34" charset="-122"/>
                <a:cs typeface="Calibri" pitchFamily="34" charset="-120"/>
              </a:rPr>
              <a:t>Sorting happens in-place; only the variables key, i, and j are needed regardless of array size — no auxiliary array is allocated.</a:t>
            </a:r>
            <a:endParaRPr lang="en-US" dirty="0"/>
          </a:p>
        </p:txBody>
      </p:sp>
      <p:sp>
        <p:nvSpPr>
          <p:cNvPr id="22" name="Text 20"/>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23" name="Text 21"/>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3C4E8C"/>
                </a:solidFill>
                <a:latin typeface="Calibri" pitchFamily="34" charset="0"/>
                <a:ea typeface="Calibri" pitchFamily="34" charset="-122"/>
                <a:cs typeface="Calibri" pitchFamily="34" charset="-120"/>
              </a:rPr>
              <a:t>PROPERTIES</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Characteristics of Insertion Sort</a:t>
            </a:r>
            <a:endParaRPr lang="en-US" sz="3200" dirty="0"/>
          </a:p>
        </p:txBody>
      </p:sp>
      <p:sp>
        <p:nvSpPr>
          <p:cNvPr id="6" name="Shape 4"/>
          <p:cNvSpPr/>
          <p:nvPr/>
        </p:nvSpPr>
        <p:spPr>
          <a:xfrm>
            <a:off x="548640" y="1417320"/>
            <a:ext cx="3566160" cy="1554480"/>
          </a:xfrm>
          <a:prstGeom prst="roundRect">
            <a:avLst>
              <a:gd name="adj" fmla="val 5882"/>
            </a:avLst>
          </a:prstGeom>
          <a:solidFill>
            <a:schemeClr val="bg2">
              <a:lumMod val="90000"/>
            </a:schemeClr>
          </a:solidFill>
          <a:ln/>
        </p:spPr>
      </p:sp>
      <p:sp>
        <p:nvSpPr>
          <p:cNvPr id="7" name="Shape 5"/>
          <p:cNvSpPr/>
          <p:nvPr/>
        </p:nvSpPr>
        <p:spPr>
          <a:xfrm>
            <a:off x="777240" y="1645920"/>
            <a:ext cx="384048" cy="384048"/>
          </a:xfrm>
          <a:prstGeom prst="ellipse">
            <a:avLst/>
          </a:prstGeom>
          <a:solidFill>
            <a:srgbClr val="D9A404"/>
          </a:solidFill>
          <a:ln/>
        </p:spPr>
      </p:sp>
      <p:sp>
        <p:nvSpPr>
          <p:cNvPr id="8" name="Text 6"/>
          <p:cNvSpPr txBox="1"/>
          <p:nvPr/>
        </p:nvSpPr>
        <p:spPr>
          <a:xfrm>
            <a:off x="777240" y="1645920"/>
            <a:ext cx="384048" cy="384048"/>
          </a:xfrm>
          <a:prstGeom prst="rect">
            <a:avLst/>
          </a:prstGeom>
          <a:noFill/>
          <a:ln/>
        </p:spPr>
        <p:txBody>
          <a:bodyPr wrap="square" lIns="0" tIns="0" rIns="0" bIns="0" rtlCol="0" anchor="ctr"/>
          <a:lstStyle/>
          <a:p>
            <a:pPr marL="0" indent="0" algn="ctr">
              <a:buNone/>
            </a:pPr>
            <a:r>
              <a:rPr lang="en-US" sz="1400" b="1" dirty="0">
                <a:solidFill>
                  <a:srgbClr val="16204A"/>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777240" y="2130552"/>
            <a:ext cx="3108960" cy="320040"/>
          </a:xfrm>
          <a:prstGeom prst="rect">
            <a:avLst/>
          </a:prstGeom>
          <a:noFill/>
          <a:ln/>
        </p:spPr>
        <p:txBody>
          <a:bodyPr wrap="square" lIns="0" tIns="0" rIns="0" bIns="0" rtlCol="0" anchor="ctr"/>
          <a:lstStyle/>
          <a:p>
            <a:pPr marL="0" indent="0">
              <a:buNone/>
            </a:pPr>
            <a:r>
              <a:rPr lang="en-US" sz="1500" b="1" dirty="0">
                <a:latin typeface="Cambria" pitchFamily="34" charset="0"/>
                <a:ea typeface="Cambria" pitchFamily="34" charset="-122"/>
                <a:cs typeface="Cambria" pitchFamily="34" charset="-120"/>
              </a:rPr>
              <a:t>In-Place</a:t>
            </a:r>
            <a:endParaRPr lang="en-US" sz="1500" dirty="0"/>
          </a:p>
        </p:txBody>
      </p:sp>
      <p:sp>
        <p:nvSpPr>
          <p:cNvPr id="10" name="Text 8"/>
          <p:cNvSpPr txBox="1"/>
          <p:nvPr/>
        </p:nvSpPr>
        <p:spPr>
          <a:xfrm>
            <a:off x="777240" y="2441448"/>
            <a:ext cx="3108960"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Sorts within the original array, using only a constant amount of extra memory.</a:t>
            </a:r>
            <a:endParaRPr lang="en-US" sz="1400" dirty="0"/>
          </a:p>
        </p:txBody>
      </p:sp>
      <p:sp>
        <p:nvSpPr>
          <p:cNvPr id="11" name="Shape 9"/>
          <p:cNvSpPr/>
          <p:nvPr/>
        </p:nvSpPr>
        <p:spPr>
          <a:xfrm>
            <a:off x="4297680" y="1417320"/>
            <a:ext cx="3566160" cy="1554480"/>
          </a:xfrm>
          <a:prstGeom prst="roundRect">
            <a:avLst>
              <a:gd name="adj" fmla="val 5882"/>
            </a:avLst>
          </a:prstGeom>
          <a:solidFill>
            <a:schemeClr val="accent1">
              <a:lumMod val="20000"/>
              <a:lumOff val="80000"/>
            </a:schemeClr>
          </a:solidFill>
          <a:ln/>
        </p:spPr>
      </p:sp>
      <p:sp>
        <p:nvSpPr>
          <p:cNvPr id="12" name="Shape 10"/>
          <p:cNvSpPr/>
          <p:nvPr/>
        </p:nvSpPr>
        <p:spPr>
          <a:xfrm>
            <a:off x="4526280" y="1645920"/>
            <a:ext cx="384048" cy="384048"/>
          </a:xfrm>
          <a:prstGeom prst="ellipse">
            <a:avLst/>
          </a:prstGeom>
          <a:solidFill>
            <a:srgbClr val="D9A404"/>
          </a:solidFill>
          <a:ln/>
        </p:spPr>
      </p:sp>
      <p:sp>
        <p:nvSpPr>
          <p:cNvPr id="13" name="Text 11"/>
          <p:cNvSpPr txBox="1"/>
          <p:nvPr/>
        </p:nvSpPr>
        <p:spPr>
          <a:xfrm>
            <a:off x="4526280" y="1645920"/>
            <a:ext cx="384048" cy="384048"/>
          </a:xfrm>
          <a:prstGeom prst="rect">
            <a:avLst/>
          </a:prstGeom>
          <a:noFill/>
          <a:ln/>
        </p:spPr>
        <p:txBody>
          <a:bodyPr wrap="square" lIns="0" tIns="0" rIns="0" bIns="0" rtlCol="0" anchor="ctr"/>
          <a:lstStyle/>
          <a:p>
            <a:pPr marL="0" indent="0" algn="ctr">
              <a:buNone/>
            </a:pPr>
            <a:r>
              <a:rPr lang="en-US" sz="1400" b="1" dirty="0">
                <a:solidFill>
                  <a:srgbClr val="16204A"/>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4526280" y="2130552"/>
            <a:ext cx="3108960" cy="320040"/>
          </a:xfrm>
          <a:prstGeom prst="rect">
            <a:avLst/>
          </a:prstGeom>
          <a:noFill/>
          <a:ln/>
        </p:spPr>
        <p:txBody>
          <a:bodyPr wrap="square" lIns="0" tIns="0" rIns="0" bIns="0" rtlCol="0" anchor="ctr"/>
          <a:lstStyle/>
          <a:p>
            <a:pPr marL="0" indent="0">
              <a:buNone/>
            </a:pPr>
            <a:r>
              <a:rPr lang="en-US" sz="1500" b="1" dirty="0">
                <a:latin typeface="Cambria" pitchFamily="34" charset="0"/>
                <a:ea typeface="Cambria" pitchFamily="34" charset="-122"/>
                <a:cs typeface="Cambria" pitchFamily="34" charset="-120"/>
              </a:rPr>
              <a:t>Stable</a:t>
            </a:r>
            <a:endParaRPr lang="en-US" sz="1500" dirty="0"/>
          </a:p>
        </p:txBody>
      </p:sp>
      <p:sp>
        <p:nvSpPr>
          <p:cNvPr id="15" name="Text 13"/>
          <p:cNvSpPr txBox="1"/>
          <p:nvPr/>
        </p:nvSpPr>
        <p:spPr>
          <a:xfrm>
            <a:off x="4526280" y="2441448"/>
            <a:ext cx="3108960"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Equal elements retain their original relative order after sorting.</a:t>
            </a:r>
            <a:endParaRPr lang="en-US" sz="1400" dirty="0"/>
          </a:p>
        </p:txBody>
      </p:sp>
      <p:sp>
        <p:nvSpPr>
          <p:cNvPr id="16" name="Shape 14"/>
          <p:cNvSpPr/>
          <p:nvPr/>
        </p:nvSpPr>
        <p:spPr>
          <a:xfrm>
            <a:off x="8046720" y="1417320"/>
            <a:ext cx="3566160" cy="1554480"/>
          </a:xfrm>
          <a:prstGeom prst="roundRect">
            <a:avLst>
              <a:gd name="adj" fmla="val 5882"/>
            </a:avLst>
          </a:prstGeom>
          <a:solidFill>
            <a:schemeClr val="accent3">
              <a:lumMod val="20000"/>
              <a:lumOff val="80000"/>
            </a:schemeClr>
          </a:solidFill>
          <a:ln/>
        </p:spPr>
      </p:sp>
      <p:sp>
        <p:nvSpPr>
          <p:cNvPr id="17" name="Shape 15"/>
          <p:cNvSpPr/>
          <p:nvPr/>
        </p:nvSpPr>
        <p:spPr>
          <a:xfrm>
            <a:off x="8275320" y="1645920"/>
            <a:ext cx="384048" cy="384048"/>
          </a:xfrm>
          <a:prstGeom prst="ellipse">
            <a:avLst/>
          </a:prstGeom>
          <a:solidFill>
            <a:srgbClr val="D9A404"/>
          </a:solidFill>
          <a:ln/>
        </p:spPr>
      </p:sp>
      <p:sp>
        <p:nvSpPr>
          <p:cNvPr id="18" name="Text 16"/>
          <p:cNvSpPr txBox="1"/>
          <p:nvPr/>
        </p:nvSpPr>
        <p:spPr>
          <a:xfrm>
            <a:off x="8275320" y="1645920"/>
            <a:ext cx="384048" cy="384048"/>
          </a:xfrm>
          <a:prstGeom prst="rect">
            <a:avLst/>
          </a:prstGeom>
          <a:noFill/>
          <a:ln/>
        </p:spPr>
        <p:txBody>
          <a:bodyPr wrap="square" lIns="0" tIns="0" rIns="0" bIns="0" rtlCol="0" anchor="ctr"/>
          <a:lstStyle/>
          <a:p>
            <a:pPr marL="0" indent="0" algn="ctr">
              <a:buNone/>
            </a:pPr>
            <a:r>
              <a:rPr lang="en-US" sz="1400" b="1" dirty="0">
                <a:solidFill>
                  <a:srgbClr val="16204A"/>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8275320" y="2130552"/>
            <a:ext cx="3108960" cy="320040"/>
          </a:xfrm>
          <a:prstGeom prst="rect">
            <a:avLst/>
          </a:prstGeom>
          <a:noFill/>
          <a:ln/>
        </p:spPr>
        <p:txBody>
          <a:bodyPr wrap="square" lIns="0" tIns="0" rIns="0" bIns="0" rtlCol="0" anchor="ctr"/>
          <a:lstStyle/>
          <a:p>
            <a:pPr marL="0" indent="0">
              <a:buNone/>
            </a:pPr>
            <a:r>
              <a:rPr lang="en-US" sz="1500" b="1" dirty="0">
                <a:latin typeface="Cambria" pitchFamily="34" charset="0"/>
                <a:ea typeface="Cambria" pitchFamily="34" charset="-122"/>
                <a:cs typeface="Cambria" pitchFamily="34" charset="-120"/>
              </a:rPr>
              <a:t>Adaptive</a:t>
            </a:r>
            <a:endParaRPr lang="en-US" sz="1500" dirty="0"/>
          </a:p>
        </p:txBody>
      </p:sp>
      <p:sp>
        <p:nvSpPr>
          <p:cNvPr id="20" name="Text 18"/>
          <p:cNvSpPr txBox="1"/>
          <p:nvPr/>
        </p:nvSpPr>
        <p:spPr>
          <a:xfrm>
            <a:off x="8275320" y="2441448"/>
            <a:ext cx="3108960"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Runs faster on data that is already partially sorted — fewer shifts are needed.</a:t>
            </a:r>
            <a:endParaRPr lang="en-US" sz="1400" dirty="0"/>
          </a:p>
        </p:txBody>
      </p:sp>
      <p:sp>
        <p:nvSpPr>
          <p:cNvPr id="21" name="Shape 19"/>
          <p:cNvSpPr/>
          <p:nvPr/>
        </p:nvSpPr>
        <p:spPr>
          <a:xfrm>
            <a:off x="548640" y="3200400"/>
            <a:ext cx="3566160" cy="1554480"/>
          </a:xfrm>
          <a:prstGeom prst="roundRect">
            <a:avLst>
              <a:gd name="adj" fmla="val 5882"/>
            </a:avLst>
          </a:prstGeom>
          <a:solidFill>
            <a:schemeClr val="accent2">
              <a:lumMod val="20000"/>
              <a:lumOff val="80000"/>
            </a:schemeClr>
          </a:solidFill>
          <a:ln/>
        </p:spPr>
      </p:sp>
      <p:sp>
        <p:nvSpPr>
          <p:cNvPr id="22" name="Shape 20"/>
          <p:cNvSpPr/>
          <p:nvPr/>
        </p:nvSpPr>
        <p:spPr>
          <a:xfrm>
            <a:off x="777240" y="3429000"/>
            <a:ext cx="384048" cy="384048"/>
          </a:xfrm>
          <a:prstGeom prst="ellipse">
            <a:avLst/>
          </a:prstGeom>
          <a:solidFill>
            <a:srgbClr val="D9A404"/>
          </a:solidFill>
          <a:ln/>
        </p:spPr>
      </p:sp>
      <p:sp>
        <p:nvSpPr>
          <p:cNvPr id="23" name="Text 21"/>
          <p:cNvSpPr txBox="1"/>
          <p:nvPr/>
        </p:nvSpPr>
        <p:spPr>
          <a:xfrm>
            <a:off x="777240" y="3429000"/>
            <a:ext cx="384048" cy="384048"/>
          </a:xfrm>
          <a:prstGeom prst="rect">
            <a:avLst/>
          </a:prstGeom>
          <a:noFill/>
          <a:ln/>
        </p:spPr>
        <p:txBody>
          <a:bodyPr wrap="square" lIns="0" tIns="0" rIns="0" bIns="0" rtlCol="0" anchor="ctr"/>
          <a:lstStyle/>
          <a:p>
            <a:pPr marL="0" indent="0" algn="ctr">
              <a:buNone/>
            </a:pPr>
            <a:r>
              <a:rPr lang="en-US" sz="1400" b="1" dirty="0">
                <a:solidFill>
                  <a:srgbClr val="16204A"/>
                </a:solidFill>
                <a:latin typeface="Cambria" pitchFamily="34" charset="0"/>
                <a:ea typeface="Cambria" pitchFamily="34" charset="-122"/>
                <a:cs typeface="Cambria" pitchFamily="34" charset="-120"/>
              </a:rPr>
              <a:t>4</a:t>
            </a:r>
            <a:endParaRPr lang="en-US" sz="1400" dirty="0"/>
          </a:p>
        </p:txBody>
      </p:sp>
      <p:sp>
        <p:nvSpPr>
          <p:cNvPr id="24" name="Text 22"/>
          <p:cNvSpPr txBox="1"/>
          <p:nvPr/>
        </p:nvSpPr>
        <p:spPr>
          <a:xfrm>
            <a:off x="777240" y="3913632"/>
            <a:ext cx="3108960" cy="320040"/>
          </a:xfrm>
          <a:prstGeom prst="rect">
            <a:avLst/>
          </a:prstGeom>
          <a:noFill/>
          <a:ln/>
        </p:spPr>
        <p:txBody>
          <a:bodyPr wrap="square" lIns="0" tIns="0" rIns="0" bIns="0" rtlCol="0" anchor="ctr"/>
          <a:lstStyle/>
          <a:p>
            <a:pPr marL="0" indent="0">
              <a:buNone/>
            </a:pPr>
            <a:r>
              <a:rPr lang="en-US" sz="1500" b="1" dirty="0">
                <a:latin typeface="Cambria" pitchFamily="34" charset="0"/>
                <a:ea typeface="Cambria" pitchFamily="34" charset="-122"/>
                <a:cs typeface="Cambria" pitchFamily="34" charset="-120"/>
              </a:rPr>
              <a:t>Simple</a:t>
            </a:r>
            <a:endParaRPr lang="en-US" sz="1500" dirty="0"/>
          </a:p>
        </p:txBody>
      </p:sp>
      <p:sp>
        <p:nvSpPr>
          <p:cNvPr id="25" name="Text 23"/>
          <p:cNvSpPr txBox="1"/>
          <p:nvPr/>
        </p:nvSpPr>
        <p:spPr>
          <a:xfrm>
            <a:off x="777240" y="4224528"/>
            <a:ext cx="3108960"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Easy to understand, implement, and trace — a common first algorithm taught.</a:t>
            </a:r>
            <a:endParaRPr lang="en-US" sz="1400" dirty="0"/>
          </a:p>
        </p:txBody>
      </p:sp>
      <p:sp>
        <p:nvSpPr>
          <p:cNvPr id="26" name="Shape 24"/>
          <p:cNvSpPr/>
          <p:nvPr/>
        </p:nvSpPr>
        <p:spPr>
          <a:xfrm>
            <a:off x="4297680" y="3200400"/>
            <a:ext cx="3566160" cy="1554480"/>
          </a:xfrm>
          <a:prstGeom prst="roundRect">
            <a:avLst>
              <a:gd name="adj" fmla="val 5882"/>
            </a:avLst>
          </a:prstGeom>
          <a:solidFill>
            <a:schemeClr val="accent6">
              <a:lumMod val="20000"/>
              <a:lumOff val="80000"/>
            </a:schemeClr>
          </a:solidFill>
          <a:ln/>
        </p:spPr>
      </p:sp>
      <p:sp>
        <p:nvSpPr>
          <p:cNvPr id="27" name="Shape 25"/>
          <p:cNvSpPr/>
          <p:nvPr/>
        </p:nvSpPr>
        <p:spPr>
          <a:xfrm>
            <a:off x="4526280" y="3429000"/>
            <a:ext cx="384048" cy="384048"/>
          </a:xfrm>
          <a:prstGeom prst="ellipse">
            <a:avLst/>
          </a:prstGeom>
          <a:solidFill>
            <a:srgbClr val="D9A404"/>
          </a:solidFill>
          <a:ln/>
        </p:spPr>
      </p:sp>
      <p:sp>
        <p:nvSpPr>
          <p:cNvPr id="28" name="Text 26"/>
          <p:cNvSpPr txBox="1"/>
          <p:nvPr/>
        </p:nvSpPr>
        <p:spPr>
          <a:xfrm>
            <a:off x="4526280" y="3429000"/>
            <a:ext cx="384048" cy="384048"/>
          </a:xfrm>
          <a:prstGeom prst="rect">
            <a:avLst/>
          </a:prstGeom>
          <a:noFill/>
          <a:ln/>
        </p:spPr>
        <p:txBody>
          <a:bodyPr wrap="square" lIns="0" tIns="0" rIns="0" bIns="0" rtlCol="0" anchor="ctr"/>
          <a:lstStyle/>
          <a:p>
            <a:pPr marL="0" indent="0" algn="ctr">
              <a:buNone/>
            </a:pPr>
            <a:r>
              <a:rPr lang="en-US" sz="1400" b="1" dirty="0">
                <a:solidFill>
                  <a:srgbClr val="16204A"/>
                </a:solidFill>
                <a:latin typeface="Cambria" pitchFamily="34" charset="0"/>
                <a:ea typeface="Cambria" pitchFamily="34" charset="-122"/>
                <a:cs typeface="Cambria" pitchFamily="34" charset="-120"/>
              </a:rPr>
              <a:t>5</a:t>
            </a:r>
            <a:endParaRPr lang="en-US" sz="1400" dirty="0"/>
          </a:p>
        </p:txBody>
      </p:sp>
      <p:sp>
        <p:nvSpPr>
          <p:cNvPr id="29" name="Text 27"/>
          <p:cNvSpPr txBox="1"/>
          <p:nvPr/>
        </p:nvSpPr>
        <p:spPr>
          <a:xfrm>
            <a:off x="4526280" y="3913632"/>
            <a:ext cx="3108960" cy="320040"/>
          </a:xfrm>
          <a:prstGeom prst="rect">
            <a:avLst/>
          </a:prstGeom>
          <a:noFill/>
          <a:ln/>
        </p:spPr>
        <p:txBody>
          <a:bodyPr wrap="square" lIns="0" tIns="0" rIns="0" bIns="0" rtlCol="0" anchor="ctr"/>
          <a:lstStyle/>
          <a:p>
            <a:pPr marL="0" indent="0">
              <a:buNone/>
            </a:pPr>
            <a:r>
              <a:rPr lang="en-US" sz="1500" b="1" dirty="0">
                <a:latin typeface="Cambria" pitchFamily="34" charset="0"/>
                <a:ea typeface="Cambria" pitchFamily="34" charset="-122"/>
                <a:cs typeface="Cambria" pitchFamily="34" charset="-120"/>
              </a:rPr>
              <a:t>Efficient for Small n</a:t>
            </a:r>
            <a:endParaRPr lang="en-US" sz="1500" dirty="0"/>
          </a:p>
        </p:txBody>
      </p:sp>
      <p:sp>
        <p:nvSpPr>
          <p:cNvPr id="30" name="Text 28"/>
          <p:cNvSpPr txBox="1"/>
          <p:nvPr/>
        </p:nvSpPr>
        <p:spPr>
          <a:xfrm>
            <a:off x="4526280" y="4224528"/>
            <a:ext cx="3108960"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Outperforms more complex algorithms on small or nearly sorted datasets.</a:t>
            </a:r>
            <a:endParaRPr lang="en-US" sz="1400" dirty="0"/>
          </a:p>
        </p:txBody>
      </p:sp>
      <p:sp>
        <p:nvSpPr>
          <p:cNvPr id="31" name="Shape 29"/>
          <p:cNvSpPr/>
          <p:nvPr/>
        </p:nvSpPr>
        <p:spPr>
          <a:xfrm>
            <a:off x="8046720" y="3200400"/>
            <a:ext cx="3566160" cy="1554480"/>
          </a:xfrm>
          <a:prstGeom prst="roundRect">
            <a:avLst>
              <a:gd name="adj" fmla="val 5882"/>
            </a:avLst>
          </a:prstGeom>
          <a:solidFill>
            <a:schemeClr val="accent4">
              <a:lumMod val="20000"/>
              <a:lumOff val="80000"/>
            </a:schemeClr>
          </a:solidFill>
          <a:ln/>
        </p:spPr>
      </p:sp>
      <p:sp>
        <p:nvSpPr>
          <p:cNvPr id="32" name="Shape 30"/>
          <p:cNvSpPr/>
          <p:nvPr/>
        </p:nvSpPr>
        <p:spPr>
          <a:xfrm>
            <a:off x="8275320" y="3429000"/>
            <a:ext cx="384048" cy="384048"/>
          </a:xfrm>
          <a:prstGeom prst="ellipse">
            <a:avLst/>
          </a:prstGeom>
          <a:solidFill>
            <a:srgbClr val="D9A404"/>
          </a:solidFill>
          <a:ln/>
        </p:spPr>
      </p:sp>
      <p:sp>
        <p:nvSpPr>
          <p:cNvPr id="33" name="Text 31"/>
          <p:cNvSpPr txBox="1"/>
          <p:nvPr/>
        </p:nvSpPr>
        <p:spPr>
          <a:xfrm>
            <a:off x="8275320" y="3429000"/>
            <a:ext cx="384048" cy="384048"/>
          </a:xfrm>
          <a:prstGeom prst="rect">
            <a:avLst/>
          </a:prstGeom>
          <a:noFill/>
          <a:ln/>
        </p:spPr>
        <p:txBody>
          <a:bodyPr wrap="square" lIns="0" tIns="0" rIns="0" bIns="0" rtlCol="0" anchor="ctr"/>
          <a:lstStyle/>
          <a:p>
            <a:pPr marL="0" indent="0" algn="ctr">
              <a:buNone/>
            </a:pPr>
            <a:r>
              <a:rPr lang="en-US" sz="1400" b="1" dirty="0">
                <a:solidFill>
                  <a:srgbClr val="16204A"/>
                </a:solidFill>
                <a:latin typeface="Cambria" pitchFamily="34" charset="0"/>
                <a:ea typeface="Cambria" pitchFamily="34" charset="-122"/>
                <a:cs typeface="Cambria" pitchFamily="34" charset="-120"/>
              </a:rPr>
              <a:t>6</a:t>
            </a:r>
            <a:endParaRPr lang="en-US" sz="1400" dirty="0"/>
          </a:p>
        </p:txBody>
      </p:sp>
      <p:sp>
        <p:nvSpPr>
          <p:cNvPr id="34" name="Text 32"/>
          <p:cNvSpPr txBox="1"/>
          <p:nvPr/>
        </p:nvSpPr>
        <p:spPr>
          <a:xfrm>
            <a:off x="8275320" y="3913632"/>
            <a:ext cx="3108960" cy="320040"/>
          </a:xfrm>
          <a:prstGeom prst="rect">
            <a:avLst/>
          </a:prstGeom>
          <a:noFill/>
          <a:ln/>
        </p:spPr>
        <p:txBody>
          <a:bodyPr wrap="square" lIns="0" tIns="0" rIns="0" bIns="0" rtlCol="0" anchor="ctr"/>
          <a:lstStyle/>
          <a:p>
            <a:pPr marL="0" indent="0">
              <a:buNone/>
            </a:pPr>
            <a:r>
              <a:rPr lang="en-US" sz="1500" b="1" dirty="0">
                <a:latin typeface="Cambria" pitchFamily="34" charset="0"/>
                <a:ea typeface="Cambria" pitchFamily="34" charset="-122"/>
                <a:cs typeface="Cambria" pitchFamily="34" charset="-120"/>
              </a:rPr>
              <a:t>No Extra Storage</a:t>
            </a:r>
            <a:endParaRPr lang="en-US" sz="1500" dirty="0"/>
          </a:p>
        </p:txBody>
      </p:sp>
      <p:sp>
        <p:nvSpPr>
          <p:cNvPr id="35" name="Text 33"/>
          <p:cNvSpPr txBox="1"/>
          <p:nvPr/>
        </p:nvSpPr>
        <p:spPr>
          <a:xfrm>
            <a:off x="8275320" y="4224528"/>
            <a:ext cx="3108960"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Does not require a second array — all shifting happens in A itself.</a:t>
            </a:r>
            <a:endParaRPr lang="en-US" sz="1400" dirty="0"/>
          </a:p>
        </p:txBody>
      </p:sp>
      <p:sp>
        <p:nvSpPr>
          <p:cNvPr id="36" name="Text 34"/>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37" name="Text 35"/>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080000">
            <a:off x="11109960" y="-822960"/>
            <a:ext cx="2011680" cy="2834640"/>
          </a:xfrm>
          <a:prstGeom prst="roundRect">
            <a:avLst>
              <a:gd name="adj" fmla="val 8182"/>
            </a:avLst>
          </a:prstGeom>
          <a:solidFill>
            <a:srgbClr val="1E2761">
              <a:alpha val="5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5000"/>
            </a:srgbClr>
          </a:solidFill>
          <a:ln/>
        </p:spPr>
      </p:sp>
      <p:sp>
        <p:nvSpPr>
          <p:cNvPr id="4" name="Text 2"/>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3C4E8C"/>
                </a:solidFill>
                <a:latin typeface="Calibri" pitchFamily="34" charset="0"/>
                <a:ea typeface="Calibri" pitchFamily="34" charset="-122"/>
                <a:cs typeface="Calibri" pitchFamily="34" charset="-120"/>
              </a:rPr>
              <a:t>TRADE-OFFS</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marL="0" indent="0">
              <a:buNone/>
            </a:pPr>
            <a:r>
              <a:rPr lang="en-US" sz="3200" b="1" dirty="0">
                <a:solidFill>
                  <a:srgbClr val="16204A"/>
                </a:solidFill>
                <a:latin typeface="Cambria" pitchFamily="34" charset="0"/>
                <a:ea typeface="Cambria" pitchFamily="34" charset="-122"/>
                <a:cs typeface="Cambria" pitchFamily="34" charset="-120"/>
              </a:rPr>
              <a:t>Advantages and Limitations</a:t>
            </a:r>
            <a:endParaRPr lang="en-US" sz="3200" dirty="0"/>
          </a:p>
        </p:txBody>
      </p:sp>
      <p:sp>
        <p:nvSpPr>
          <p:cNvPr id="6" name="Shape 4"/>
          <p:cNvSpPr/>
          <p:nvPr/>
        </p:nvSpPr>
        <p:spPr>
          <a:xfrm>
            <a:off x="548640" y="1417320"/>
            <a:ext cx="5440680" cy="4572000"/>
          </a:xfrm>
          <a:prstGeom prst="roundRect">
            <a:avLst>
              <a:gd name="adj" fmla="val 2000"/>
            </a:avLst>
          </a:prstGeom>
          <a:solidFill>
            <a:srgbClr val="EEF2FC"/>
          </a:solidFill>
          <a:ln w="12700">
            <a:solidFill>
              <a:srgbClr val="CADCFC"/>
            </a:solidFill>
            <a:prstDash val="solid"/>
          </a:ln>
        </p:spPr>
      </p:sp>
      <p:sp>
        <p:nvSpPr>
          <p:cNvPr id="7" name="Text 5"/>
          <p:cNvSpPr txBox="1"/>
          <p:nvPr/>
        </p:nvSpPr>
        <p:spPr>
          <a:xfrm>
            <a:off x="822960" y="1627632"/>
            <a:ext cx="4846320" cy="320040"/>
          </a:xfrm>
          <a:prstGeom prst="rect">
            <a:avLst/>
          </a:prstGeom>
          <a:noFill/>
          <a:ln/>
        </p:spPr>
        <p:txBody>
          <a:bodyPr wrap="square" lIns="0" tIns="0" rIns="0" bIns="0" rtlCol="0" anchor="ctr"/>
          <a:lstStyle/>
          <a:p>
            <a:pPr marL="0" indent="0">
              <a:buNone/>
            </a:pPr>
            <a:r>
              <a:rPr lang="en-US" sz="1300" b="1" kern="0" spc="150" dirty="0">
                <a:solidFill>
                  <a:srgbClr val="5FA778"/>
                </a:solidFill>
                <a:latin typeface="Calibri" pitchFamily="34" charset="0"/>
                <a:ea typeface="Calibri" pitchFamily="34" charset="-122"/>
                <a:cs typeface="Calibri" pitchFamily="34" charset="-120"/>
              </a:rPr>
              <a:t>ADVANTAGES</a:t>
            </a:r>
            <a:endParaRPr lang="en-US" sz="1300" dirty="0"/>
          </a:p>
        </p:txBody>
      </p:sp>
      <p:sp>
        <p:nvSpPr>
          <p:cNvPr id="8" name="Shape 6"/>
          <p:cNvSpPr/>
          <p:nvPr/>
        </p:nvSpPr>
        <p:spPr>
          <a:xfrm>
            <a:off x="822960" y="2148840"/>
            <a:ext cx="256032" cy="256032"/>
          </a:xfrm>
          <a:prstGeom prst="ellipse">
            <a:avLst/>
          </a:prstGeom>
          <a:solidFill>
            <a:srgbClr val="5FA778"/>
          </a:solidFill>
          <a:ln/>
        </p:spPr>
      </p:sp>
      <p:sp>
        <p:nvSpPr>
          <p:cNvPr id="9" name="Text 7"/>
          <p:cNvSpPr txBox="1"/>
          <p:nvPr/>
        </p:nvSpPr>
        <p:spPr>
          <a:xfrm>
            <a:off x="822960" y="214884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1207008" y="2084832"/>
            <a:ext cx="452628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Simple and easy to implement.</a:t>
            </a:r>
            <a:endParaRPr lang="en-US" dirty="0"/>
          </a:p>
        </p:txBody>
      </p:sp>
      <p:sp>
        <p:nvSpPr>
          <p:cNvPr id="11" name="Shape 9"/>
          <p:cNvSpPr/>
          <p:nvPr/>
        </p:nvSpPr>
        <p:spPr>
          <a:xfrm>
            <a:off x="822960" y="2770632"/>
            <a:ext cx="256032" cy="256032"/>
          </a:xfrm>
          <a:prstGeom prst="ellipse">
            <a:avLst/>
          </a:prstGeom>
          <a:solidFill>
            <a:srgbClr val="5FA778"/>
          </a:solidFill>
          <a:ln/>
        </p:spPr>
      </p:sp>
      <p:sp>
        <p:nvSpPr>
          <p:cNvPr id="12" name="Text 10"/>
          <p:cNvSpPr txBox="1"/>
          <p:nvPr/>
        </p:nvSpPr>
        <p:spPr>
          <a:xfrm>
            <a:off x="822960" y="277063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txBox="1"/>
          <p:nvPr/>
        </p:nvSpPr>
        <p:spPr>
          <a:xfrm>
            <a:off x="1207008" y="2706624"/>
            <a:ext cx="452628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Requires very little extra memory (O(1)).</a:t>
            </a:r>
            <a:endParaRPr lang="en-US" dirty="0"/>
          </a:p>
        </p:txBody>
      </p:sp>
      <p:sp>
        <p:nvSpPr>
          <p:cNvPr id="14" name="Shape 12"/>
          <p:cNvSpPr/>
          <p:nvPr/>
        </p:nvSpPr>
        <p:spPr>
          <a:xfrm>
            <a:off x="822960" y="3392424"/>
            <a:ext cx="256032" cy="256032"/>
          </a:xfrm>
          <a:prstGeom prst="ellipse">
            <a:avLst/>
          </a:prstGeom>
          <a:solidFill>
            <a:srgbClr val="5FA778"/>
          </a:solidFill>
          <a:ln/>
        </p:spPr>
      </p:sp>
      <p:sp>
        <p:nvSpPr>
          <p:cNvPr id="15" name="Text 13"/>
          <p:cNvSpPr txBox="1"/>
          <p:nvPr/>
        </p:nvSpPr>
        <p:spPr>
          <a:xfrm>
            <a:off x="822960" y="339242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1207008" y="3328416"/>
            <a:ext cx="452628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Performs well on small datasets.</a:t>
            </a:r>
            <a:endParaRPr lang="en-US" dirty="0"/>
          </a:p>
        </p:txBody>
      </p:sp>
      <p:sp>
        <p:nvSpPr>
          <p:cNvPr id="17" name="Shape 15"/>
          <p:cNvSpPr/>
          <p:nvPr/>
        </p:nvSpPr>
        <p:spPr>
          <a:xfrm>
            <a:off x="822960" y="4014216"/>
            <a:ext cx="256032" cy="256032"/>
          </a:xfrm>
          <a:prstGeom prst="ellipse">
            <a:avLst/>
          </a:prstGeom>
          <a:solidFill>
            <a:srgbClr val="5FA778"/>
          </a:solidFill>
          <a:ln/>
        </p:spPr>
      </p:sp>
      <p:sp>
        <p:nvSpPr>
          <p:cNvPr id="18" name="Text 16"/>
          <p:cNvSpPr txBox="1"/>
          <p:nvPr/>
        </p:nvSpPr>
        <p:spPr>
          <a:xfrm>
            <a:off x="822960" y="4014216"/>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1207008" y="3950208"/>
            <a:ext cx="452628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Efficient for nearly sorted arrays.</a:t>
            </a:r>
            <a:endParaRPr lang="en-US" dirty="0"/>
          </a:p>
        </p:txBody>
      </p:sp>
      <p:sp>
        <p:nvSpPr>
          <p:cNvPr id="20" name="Shape 18"/>
          <p:cNvSpPr/>
          <p:nvPr/>
        </p:nvSpPr>
        <p:spPr>
          <a:xfrm>
            <a:off x="822960" y="4636008"/>
            <a:ext cx="256032" cy="256032"/>
          </a:xfrm>
          <a:prstGeom prst="ellipse">
            <a:avLst/>
          </a:prstGeom>
          <a:solidFill>
            <a:srgbClr val="5FA778"/>
          </a:solidFill>
          <a:ln/>
        </p:spPr>
      </p:sp>
      <p:sp>
        <p:nvSpPr>
          <p:cNvPr id="21" name="Text 19"/>
          <p:cNvSpPr txBox="1"/>
          <p:nvPr/>
        </p:nvSpPr>
        <p:spPr>
          <a:xfrm>
            <a:off x="822960" y="4636008"/>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1207008" y="4572000"/>
            <a:ext cx="452628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A stable sorting algorithm.</a:t>
            </a:r>
            <a:endParaRPr lang="en-US" dirty="0"/>
          </a:p>
        </p:txBody>
      </p:sp>
      <p:sp>
        <p:nvSpPr>
          <p:cNvPr id="23" name="Shape 21"/>
          <p:cNvSpPr/>
          <p:nvPr/>
        </p:nvSpPr>
        <p:spPr>
          <a:xfrm>
            <a:off x="6217920" y="1417320"/>
            <a:ext cx="5394960" cy="4572000"/>
          </a:xfrm>
          <a:prstGeom prst="roundRect">
            <a:avLst>
              <a:gd name="adj" fmla="val 2000"/>
            </a:avLst>
          </a:prstGeom>
          <a:solidFill>
            <a:schemeClr val="bg2"/>
          </a:solidFill>
          <a:ln/>
        </p:spPr>
      </p:sp>
      <p:sp>
        <p:nvSpPr>
          <p:cNvPr id="24" name="Text 22"/>
          <p:cNvSpPr txBox="1"/>
          <p:nvPr/>
        </p:nvSpPr>
        <p:spPr>
          <a:xfrm>
            <a:off x="6492240" y="1627632"/>
            <a:ext cx="4846320" cy="320040"/>
          </a:xfrm>
          <a:prstGeom prst="rect">
            <a:avLst/>
          </a:prstGeom>
          <a:noFill/>
          <a:ln/>
        </p:spPr>
        <p:txBody>
          <a:bodyPr wrap="square" lIns="0" tIns="0" rIns="0" bIns="0" rtlCol="0" anchor="ctr"/>
          <a:lstStyle/>
          <a:p>
            <a:pPr marL="0" indent="0">
              <a:buNone/>
            </a:pPr>
            <a:r>
              <a:rPr lang="en-US" sz="1300" b="1" kern="0" spc="150" dirty="0">
                <a:solidFill>
                  <a:srgbClr val="C1272D"/>
                </a:solidFill>
                <a:latin typeface="Calibri" pitchFamily="34" charset="0"/>
                <a:ea typeface="Calibri" pitchFamily="34" charset="-122"/>
                <a:cs typeface="Calibri" pitchFamily="34" charset="-120"/>
              </a:rPr>
              <a:t>LIMITATIONS</a:t>
            </a:r>
            <a:endParaRPr lang="en-US" sz="1300" dirty="0"/>
          </a:p>
        </p:txBody>
      </p:sp>
      <p:sp>
        <p:nvSpPr>
          <p:cNvPr id="25" name="Shape 23"/>
          <p:cNvSpPr/>
          <p:nvPr/>
        </p:nvSpPr>
        <p:spPr>
          <a:xfrm>
            <a:off x="6492240" y="2194560"/>
            <a:ext cx="256032" cy="256032"/>
          </a:xfrm>
          <a:prstGeom prst="ellipse">
            <a:avLst/>
          </a:prstGeom>
          <a:solidFill>
            <a:srgbClr val="C1272D"/>
          </a:solidFill>
          <a:ln/>
        </p:spPr>
      </p:sp>
      <p:sp>
        <p:nvSpPr>
          <p:cNvPr id="26" name="Text 24"/>
          <p:cNvSpPr txBox="1"/>
          <p:nvPr/>
        </p:nvSpPr>
        <p:spPr>
          <a:xfrm>
            <a:off x="6492240" y="219456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6903720" y="2121408"/>
            <a:ext cx="4526280" cy="868680"/>
          </a:xfrm>
          <a:prstGeom prst="rect">
            <a:avLst/>
          </a:prstGeom>
          <a:noFill/>
          <a:ln/>
        </p:spPr>
        <p:txBody>
          <a:bodyPr wrap="square" lIns="0" tIns="0" rIns="0" bIns="0" rtlCol="0" anchor="ctr"/>
          <a:lstStyle/>
          <a:p>
            <a:pPr marL="0" indent="0">
              <a:lnSpc>
                <a:spcPct val="120000"/>
              </a:lnSpc>
              <a:buNone/>
            </a:pPr>
            <a:r>
              <a:rPr lang="en-US" dirty="0">
                <a:latin typeface="Calibri" pitchFamily="34" charset="0"/>
                <a:ea typeface="Calibri" pitchFamily="34" charset="-122"/>
                <a:cs typeface="Calibri" pitchFamily="34" charset="-120"/>
              </a:rPr>
              <a:t>Poor performance on large, unsorted datasets.</a:t>
            </a:r>
            <a:endParaRPr lang="en-US" dirty="0"/>
          </a:p>
        </p:txBody>
      </p:sp>
      <p:sp>
        <p:nvSpPr>
          <p:cNvPr id="28" name="Shape 26"/>
          <p:cNvSpPr/>
          <p:nvPr/>
        </p:nvSpPr>
        <p:spPr>
          <a:xfrm>
            <a:off x="6492240" y="3154680"/>
            <a:ext cx="256032" cy="256032"/>
          </a:xfrm>
          <a:prstGeom prst="ellipse">
            <a:avLst/>
          </a:prstGeom>
          <a:solidFill>
            <a:srgbClr val="C1272D"/>
          </a:solidFill>
          <a:ln/>
        </p:spPr>
      </p:sp>
      <p:sp>
        <p:nvSpPr>
          <p:cNvPr id="29" name="Text 27"/>
          <p:cNvSpPr txBox="1"/>
          <p:nvPr/>
        </p:nvSpPr>
        <p:spPr>
          <a:xfrm>
            <a:off x="6492240" y="315468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6903720" y="3081528"/>
            <a:ext cx="4526280" cy="868680"/>
          </a:xfrm>
          <a:prstGeom prst="rect">
            <a:avLst/>
          </a:prstGeom>
          <a:noFill/>
          <a:ln/>
        </p:spPr>
        <p:txBody>
          <a:bodyPr wrap="square" lIns="0" tIns="0" rIns="0" bIns="0" rtlCol="0" anchor="ctr"/>
          <a:lstStyle/>
          <a:p>
            <a:pPr marL="0" indent="0">
              <a:lnSpc>
                <a:spcPct val="120000"/>
              </a:lnSpc>
              <a:buNone/>
            </a:pPr>
            <a:r>
              <a:rPr lang="en-US" dirty="0">
                <a:latin typeface="Calibri" pitchFamily="34" charset="0"/>
                <a:ea typeface="Calibri" pitchFamily="34" charset="-122"/>
                <a:cs typeface="Calibri" pitchFamily="34" charset="-120"/>
              </a:rPr>
              <a:t>Average and worst-case time complexity is O(n²).</a:t>
            </a:r>
            <a:endParaRPr lang="en-US" dirty="0"/>
          </a:p>
        </p:txBody>
      </p:sp>
      <p:sp>
        <p:nvSpPr>
          <p:cNvPr id="31" name="Shape 29"/>
          <p:cNvSpPr/>
          <p:nvPr/>
        </p:nvSpPr>
        <p:spPr>
          <a:xfrm>
            <a:off x="6492240" y="4114800"/>
            <a:ext cx="256032" cy="256032"/>
          </a:xfrm>
          <a:prstGeom prst="ellipse">
            <a:avLst/>
          </a:prstGeom>
          <a:solidFill>
            <a:srgbClr val="C1272D"/>
          </a:solidFill>
          <a:ln/>
        </p:spPr>
      </p:sp>
      <p:sp>
        <p:nvSpPr>
          <p:cNvPr id="32" name="Text 30"/>
          <p:cNvSpPr txBox="1"/>
          <p:nvPr/>
        </p:nvSpPr>
        <p:spPr>
          <a:xfrm>
            <a:off x="6492240" y="41148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Text 31"/>
          <p:cNvSpPr txBox="1"/>
          <p:nvPr/>
        </p:nvSpPr>
        <p:spPr>
          <a:xfrm>
            <a:off x="6903720" y="4041648"/>
            <a:ext cx="4526280" cy="868680"/>
          </a:xfrm>
          <a:prstGeom prst="rect">
            <a:avLst/>
          </a:prstGeom>
          <a:noFill/>
          <a:ln/>
        </p:spPr>
        <p:txBody>
          <a:bodyPr wrap="square" lIns="0" tIns="0" rIns="0" bIns="0" rtlCol="0" anchor="ctr"/>
          <a:lstStyle/>
          <a:p>
            <a:pPr marL="0" indent="0">
              <a:lnSpc>
                <a:spcPct val="120000"/>
              </a:lnSpc>
              <a:buNone/>
            </a:pPr>
            <a:r>
              <a:rPr lang="en-US" dirty="0">
                <a:latin typeface="Calibri" pitchFamily="34" charset="0"/>
                <a:ea typeface="Calibri" pitchFamily="34" charset="-122"/>
                <a:cs typeface="Calibri" pitchFamily="34" charset="-120"/>
              </a:rPr>
              <a:t>Outperformed by O(n log n) algorithms (Merge Sort, Quick Sort) at scale.</a:t>
            </a:r>
            <a:endParaRPr lang="en-US" dirty="0"/>
          </a:p>
        </p:txBody>
      </p:sp>
      <p:sp>
        <p:nvSpPr>
          <p:cNvPr id="34" name="Text 3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35" name="Text 3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rot="1080000">
            <a:off x="11109960" y="-822960"/>
            <a:ext cx="2011680" cy="2834640"/>
          </a:xfrm>
          <a:prstGeom prst="roundRect">
            <a:avLst>
              <a:gd name="adj" fmla="val 8182"/>
            </a:avLst>
          </a:prstGeom>
          <a:solidFill>
            <a:srgbClr val="1E2761">
              <a:alpha val="4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4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indent="0" marL="0">
              <a:buNone/>
            </a:pPr>
            <a:r>
              <a:rPr lang="en-US" sz="1300" b="1" spc="200" kern="0" dirty="0">
                <a:solidFill>
                  <a:srgbClr val="3C4E8C"/>
                </a:solidFill>
                <a:latin typeface="Calibri" pitchFamily="34" charset="0"/>
                <a:ea typeface="Calibri" pitchFamily="34" charset="-122"/>
                <a:cs typeface="Calibri" pitchFamily="34" charset="-120"/>
              </a:rPr>
              <a:t>WORKED EXAMPLE — FULL DETAIL</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indent="0" marL="0">
              <a:buNone/>
            </a:pPr>
            <a:r>
              <a:rPr lang="en-US" sz="3200" b="1" dirty="0">
                <a:solidFill>
                  <a:srgbClr val="16204A"/>
                </a:solidFill>
                <a:latin typeface="Cambria" pitchFamily="34" charset="0"/>
                <a:ea typeface="Cambria" pitchFamily="34" charset="-122"/>
                <a:cs typeface="Cambria" pitchFamily="34" charset="-120"/>
              </a:rPr>
              <a:t>Complete Trace: Setup</a:t>
            </a:r>
            <a:endParaRPr lang="en-US" sz="3200" dirty="0"/>
          </a:p>
        </p:txBody>
      </p:sp>
      <p:sp>
        <p:nvSpPr>
          <p:cNvPr id="6" name="Text 4"/>
          <p:cNvSpPr txBox="1"/>
          <p:nvPr/>
        </p:nvSpPr>
        <p:spPr>
          <a:xfrm>
            <a:off x="548640" y="1691640"/>
            <a:ext cx="11064240" cy="1005840"/>
          </a:xfrm>
          <a:prstGeom prst="rect">
            <a:avLst/>
          </a:prstGeom>
          <a:noFill/>
          <a:ln/>
        </p:spPr>
        <p:txBody>
          <a:bodyPr wrap="square" lIns="0" tIns="0" rIns="0" bIns="0" rtlCol="0" anchor="ctr"/>
          <a:lstStyle/>
          <a:p>
            <a:pPr indent="0" marL="0">
              <a:lnSpc>
                <a:spcPct val="140000"/>
              </a:lnSpc>
              <a:buNone/>
            </a:pPr>
            <a:r>
              <a:rPr lang="en-US" sz="1600" dirty="0">
                <a:solidFill>
                  <a:srgbClr val="1B2233"/>
                </a:solidFill>
                <a:latin typeface="Calibri" pitchFamily="34" charset="0"/>
                <a:ea typeface="Calibri" pitchFamily="34" charset="-122"/>
                <a:cs typeface="Calibri" pitchFamily="34" charset="-120"/>
              </a:rPr>
              <a:t>The outer loop runs i = 1 to 5. For each i, we set </a:t>
            </a:r>
            <a:pPr indent="0" marL="0">
              <a:lnSpc>
                <a:spcPct val="140000"/>
              </a:lnSpc>
              <a:buNone/>
            </a:pPr>
            <a:r>
              <a:rPr lang="en-US" sz="1600" b="1" dirty="0">
                <a:solidFill>
                  <a:srgbClr val="1E2761"/>
                </a:solidFill>
                <a:latin typeface="Courier New" pitchFamily="34" charset="0"/>
                <a:ea typeface="Courier New" pitchFamily="34" charset="-122"/>
                <a:cs typeface="Courier New" pitchFamily="34" charset="-120"/>
              </a:rPr>
              <a:t>key = A[i]</a:t>
            </a:r>
            <a:pPr indent="0" marL="0">
              <a:lnSpc>
                <a:spcPct val="140000"/>
              </a:lnSpc>
              <a:buNone/>
            </a:pPr>
            <a:r>
              <a:rPr lang="en-US" sz="1600" dirty="0">
                <a:solidFill>
                  <a:srgbClr val="1B2233"/>
                </a:solidFill>
                <a:latin typeface="Calibri" pitchFamily="34" charset="0"/>
                <a:ea typeface="Calibri" pitchFamily="34" charset="-122"/>
                <a:cs typeface="Calibri" pitchFamily="34" charset="-120"/>
              </a:rPr>
              <a:t> and shift elements in the sorted portion (indices 0..i−1) rightward until we find the key's correct spot.</a:t>
            </a:r>
            <a:endParaRPr lang="en-US" sz="1600" dirty="0"/>
          </a:p>
        </p:txBody>
      </p:sp>
      <p:sp>
        <p:nvSpPr>
          <p:cNvPr id="7" name="Shape 5"/>
          <p:cNvSpPr/>
          <p:nvPr/>
        </p:nvSpPr>
        <p:spPr>
          <a:xfrm>
            <a:off x="548640" y="2880360"/>
            <a:ext cx="11064240" cy="1554480"/>
          </a:xfrm>
          <a:prstGeom prst="roundRect">
            <a:avLst>
              <a:gd name="adj" fmla="val 4706"/>
            </a:avLst>
          </a:prstGeom>
          <a:solidFill>
            <a:srgbClr val="16204A"/>
          </a:solidFill>
          <a:ln w="12700">
            <a:solidFill>
              <a:srgbClr val="16204A"/>
            </a:solidFill>
            <a:prstDash val="solid"/>
          </a:ln>
        </p:spPr>
      </p:sp>
      <p:sp>
        <p:nvSpPr>
          <p:cNvPr id="8" name="Text 6"/>
          <p:cNvSpPr txBox="1"/>
          <p:nvPr/>
        </p:nvSpPr>
        <p:spPr>
          <a:xfrm>
            <a:off x="822960" y="3063240"/>
            <a:ext cx="5486400" cy="274320"/>
          </a:xfrm>
          <a:prstGeom prst="rect">
            <a:avLst/>
          </a:prstGeom>
          <a:noFill/>
          <a:ln/>
        </p:spPr>
        <p:txBody>
          <a:bodyPr wrap="square" lIns="0" tIns="0" rIns="0" bIns="0" rtlCol="0" anchor="ctr"/>
          <a:lstStyle/>
          <a:p>
            <a:pPr indent="0" marL="0">
              <a:buNone/>
            </a:pPr>
            <a:r>
              <a:rPr lang="en-US" sz="1200" b="1" spc="150" kern="0" dirty="0">
                <a:solidFill>
                  <a:srgbClr val="D9A404"/>
                </a:solidFill>
                <a:latin typeface="Calibri" pitchFamily="34" charset="0"/>
                <a:ea typeface="Calibri" pitchFamily="34" charset="-122"/>
                <a:cs typeface="Calibri" pitchFamily="34" charset="-120"/>
              </a:rPr>
              <a:t>INITIAL STATE</a:t>
            </a:r>
            <a:endParaRPr lang="en-US" sz="1200" dirty="0"/>
          </a:p>
        </p:txBody>
      </p:sp>
      <p:sp>
        <p:nvSpPr>
          <p:cNvPr id="9" name="Text 7"/>
          <p:cNvSpPr txBox="1"/>
          <p:nvPr/>
        </p:nvSpPr>
        <p:spPr>
          <a:xfrm>
            <a:off x="822960" y="3364992"/>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Courier New" pitchFamily="34" charset="0"/>
                <a:ea typeface="Courier New" pitchFamily="34" charset="-122"/>
                <a:cs typeface="Courier New" pitchFamily="34" charset="-120"/>
              </a:rPr>
              <a:t>[5, 2, 4, 6, 1, 3]</a:t>
            </a:r>
            <a:endParaRPr lang="en-US" sz="3000" dirty="0"/>
          </a:p>
        </p:txBody>
      </p:sp>
      <p:sp>
        <p:nvSpPr>
          <p:cNvPr id="10" name="Text 8"/>
          <p:cNvSpPr txBox="1"/>
          <p:nvPr/>
        </p:nvSpPr>
        <p:spPr>
          <a:xfrm>
            <a:off x="822960" y="3977640"/>
            <a:ext cx="10332720" cy="365760"/>
          </a:xfrm>
          <a:prstGeom prst="rect">
            <a:avLst/>
          </a:prstGeom>
          <a:noFill/>
          <a:ln/>
        </p:spPr>
        <p:txBody>
          <a:bodyPr wrap="square" lIns="0" tIns="0" rIns="0" bIns="0" rtlCol="0" anchor="ctr"/>
          <a:lstStyle/>
          <a:p>
            <a:pPr indent="0" marL="0">
              <a:buNone/>
            </a:pPr>
            <a:r>
              <a:rPr lang="en-US" sz="1300" i="1" dirty="0">
                <a:solidFill>
                  <a:srgbClr val="C9D3F0"/>
                </a:solidFill>
                <a:latin typeface="Calibri" pitchFamily="34" charset="0"/>
                <a:ea typeface="Calibri" pitchFamily="34" charset="-122"/>
                <a:cs typeface="Calibri" pitchFamily="34" charset="-120"/>
              </a:rPr>
              <a:t>Index 0 (value 5) is treated as a trivially sorted array of size one — the starting point for every pass that follows.</a:t>
            </a:r>
            <a:endParaRPr lang="en-US" sz="1300" dirty="0"/>
          </a:p>
        </p:txBody>
      </p:sp>
      <p:sp>
        <p:nvSpPr>
          <p:cNvPr id="11" name="Shape 9"/>
          <p:cNvSpPr/>
          <p:nvPr/>
        </p:nvSpPr>
        <p:spPr>
          <a:xfrm>
            <a:off x="548640" y="4709160"/>
            <a:ext cx="2628900" cy="1051560"/>
          </a:xfrm>
          <a:prstGeom prst="roundRect">
            <a:avLst>
              <a:gd name="adj" fmla="val 6957"/>
            </a:avLst>
          </a:prstGeom>
          <a:solidFill>
            <a:srgbClr val="EEF2FC"/>
          </a:solidFill>
          <a:ln w="12700">
            <a:solidFill>
              <a:srgbClr val="CADCFC"/>
            </a:solidFill>
            <a:prstDash val="solid"/>
          </a:ln>
        </p:spPr>
      </p:sp>
      <p:sp>
        <p:nvSpPr>
          <p:cNvPr id="12" name="Text 10"/>
          <p:cNvSpPr txBox="1"/>
          <p:nvPr/>
        </p:nvSpPr>
        <p:spPr>
          <a:xfrm>
            <a:off x="548640" y="4846320"/>
            <a:ext cx="2628900" cy="54864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6</a:t>
            </a:r>
            <a:endParaRPr lang="en-US" sz="3000" dirty="0"/>
          </a:p>
        </p:txBody>
      </p:sp>
      <p:sp>
        <p:nvSpPr>
          <p:cNvPr id="13" name="Text 11"/>
          <p:cNvSpPr txBox="1"/>
          <p:nvPr/>
        </p:nvSpPr>
        <p:spPr>
          <a:xfrm>
            <a:off x="548640" y="5394960"/>
            <a:ext cx="2628900" cy="292608"/>
          </a:xfrm>
          <a:prstGeom prst="rect">
            <a:avLst/>
          </a:prstGeom>
          <a:noFill/>
          <a:ln/>
        </p:spPr>
        <p:txBody>
          <a:bodyPr wrap="square" lIns="0" tIns="0" rIns="0" bIns="0" rtlCol="0" anchor="ctr"/>
          <a:lstStyle/>
          <a:p>
            <a:pPr algn="ctr" indent="0" marL="0">
              <a:buNone/>
            </a:pPr>
            <a:r>
              <a:rPr lang="en-US" sz="1200" dirty="0">
                <a:solidFill>
                  <a:srgbClr val="5B6584"/>
                </a:solidFill>
                <a:latin typeface="Calibri" pitchFamily="34" charset="0"/>
                <a:ea typeface="Calibri" pitchFamily="34" charset="-122"/>
                <a:cs typeface="Calibri" pitchFamily="34" charset="-120"/>
              </a:rPr>
              <a:t>Elements</a:t>
            </a:r>
            <a:endParaRPr lang="en-US" sz="1200" dirty="0"/>
          </a:p>
        </p:txBody>
      </p:sp>
      <p:sp>
        <p:nvSpPr>
          <p:cNvPr id="14" name="Shape 12"/>
          <p:cNvSpPr/>
          <p:nvPr/>
        </p:nvSpPr>
        <p:spPr>
          <a:xfrm>
            <a:off x="3314700" y="4709160"/>
            <a:ext cx="2628900" cy="1051560"/>
          </a:xfrm>
          <a:prstGeom prst="roundRect">
            <a:avLst>
              <a:gd name="adj" fmla="val 6957"/>
            </a:avLst>
          </a:prstGeom>
          <a:solidFill>
            <a:srgbClr val="EEF2FC"/>
          </a:solidFill>
          <a:ln w="12700">
            <a:solidFill>
              <a:srgbClr val="CADCFC"/>
            </a:solidFill>
            <a:prstDash val="solid"/>
          </a:ln>
        </p:spPr>
      </p:sp>
      <p:sp>
        <p:nvSpPr>
          <p:cNvPr id="15" name="Text 13"/>
          <p:cNvSpPr txBox="1"/>
          <p:nvPr/>
        </p:nvSpPr>
        <p:spPr>
          <a:xfrm>
            <a:off x="3314700" y="4846320"/>
            <a:ext cx="2628900" cy="54864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5</a:t>
            </a:r>
            <a:endParaRPr lang="en-US" sz="3000" dirty="0"/>
          </a:p>
        </p:txBody>
      </p:sp>
      <p:sp>
        <p:nvSpPr>
          <p:cNvPr id="16" name="Text 14"/>
          <p:cNvSpPr txBox="1"/>
          <p:nvPr/>
        </p:nvSpPr>
        <p:spPr>
          <a:xfrm>
            <a:off x="3314700" y="5394960"/>
            <a:ext cx="2628900" cy="292608"/>
          </a:xfrm>
          <a:prstGeom prst="rect">
            <a:avLst/>
          </a:prstGeom>
          <a:noFill/>
          <a:ln/>
        </p:spPr>
        <p:txBody>
          <a:bodyPr wrap="square" lIns="0" tIns="0" rIns="0" bIns="0" rtlCol="0" anchor="ctr"/>
          <a:lstStyle/>
          <a:p>
            <a:pPr algn="ctr" indent="0" marL="0">
              <a:buNone/>
            </a:pPr>
            <a:r>
              <a:rPr lang="en-US" sz="1200" dirty="0">
                <a:solidFill>
                  <a:srgbClr val="5B6584"/>
                </a:solidFill>
                <a:latin typeface="Calibri" pitchFamily="34" charset="0"/>
                <a:ea typeface="Calibri" pitchFamily="34" charset="-122"/>
                <a:cs typeface="Calibri" pitchFamily="34" charset="-120"/>
              </a:rPr>
              <a:t>Passes</a:t>
            </a:r>
            <a:endParaRPr lang="en-US" sz="1200" dirty="0"/>
          </a:p>
        </p:txBody>
      </p:sp>
      <p:sp>
        <p:nvSpPr>
          <p:cNvPr id="17" name="Shape 15"/>
          <p:cNvSpPr/>
          <p:nvPr/>
        </p:nvSpPr>
        <p:spPr>
          <a:xfrm>
            <a:off x="6080760" y="4709160"/>
            <a:ext cx="2628900" cy="1051560"/>
          </a:xfrm>
          <a:prstGeom prst="roundRect">
            <a:avLst>
              <a:gd name="adj" fmla="val 6957"/>
            </a:avLst>
          </a:prstGeom>
          <a:solidFill>
            <a:srgbClr val="EEF2FC"/>
          </a:solidFill>
          <a:ln w="12700">
            <a:solidFill>
              <a:srgbClr val="CADCFC"/>
            </a:solidFill>
            <a:prstDash val="solid"/>
          </a:ln>
        </p:spPr>
      </p:sp>
      <p:sp>
        <p:nvSpPr>
          <p:cNvPr id="18" name="Text 16"/>
          <p:cNvSpPr txBox="1"/>
          <p:nvPr/>
        </p:nvSpPr>
        <p:spPr>
          <a:xfrm>
            <a:off x="6080760" y="4846320"/>
            <a:ext cx="2628900" cy="54864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12</a:t>
            </a:r>
            <a:endParaRPr lang="en-US" sz="3000" dirty="0"/>
          </a:p>
        </p:txBody>
      </p:sp>
      <p:sp>
        <p:nvSpPr>
          <p:cNvPr id="19" name="Text 17"/>
          <p:cNvSpPr txBox="1"/>
          <p:nvPr/>
        </p:nvSpPr>
        <p:spPr>
          <a:xfrm>
            <a:off x="6080760" y="5394960"/>
            <a:ext cx="2628900" cy="292608"/>
          </a:xfrm>
          <a:prstGeom prst="rect">
            <a:avLst/>
          </a:prstGeom>
          <a:noFill/>
          <a:ln/>
        </p:spPr>
        <p:txBody>
          <a:bodyPr wrap="square" lIns="0" tIns="0" rIns="0" bIns="0" rtlCol="0" anchor="ctr"/>
          <a:lstStyle/>
          <a:p>
            <a:pPr algn="ctr" indent="0" marL="0">
              <a:buNone/>
            </a:pPr>
            <a:r>
              <a:rPr lang="en-US" sz="1200" dirty="0">
                <a:solidFill>
                  <a:srgbClr val="5B6584"/>
                </a:solidFill>
                <a:latin typeface="Calibri" pitchFamily="34" charset="0"/>
                <a:ea typeface="Calibri" pitchFamily="34" charset="-122"/>
                <a:cs typeface="Calibri" pitchFamily="34" charset="-120"/>
              </a:rPr>
              <a:t>Total Comparisons</a:t>
            </a:r>
            <a:endParaRPr lang="en-US" sz="1200" dirty="0"/>
          </a:p>
        </p:txBody>
      </p:sp>
      <p:sp>
        <p:nvSpPr>
          <p:cNvPr id="20" name="Shape 18"/>
          <p:cNvSpPr/>
          <p:nvPr/>
        </p:nvSpPr>
        <p:spPr>
          <a:xfrm>
            <a:off x="8846820" y="4709160"/>
            <a:ext cx="2628900" cy="1051560"/>
          </a:xfrm>
          <a:prstGeom prst="roundRect">
            <a:avLst>
              <a:gd name="adj" fmla="val 6957"/>
            </a:avLst>
          </a:prstGeom>
          <a:solidFill>
            <a:srgbClr val="EEF2FC"/>
          </a:solidFill>
          <a:ln w="12700">
            <a:solidFill>
              <a:srgbClr val="CADCFC"/>
            </a:solidFill>
            <a:prstDash val="solid"/>
          </a:ln>
        </p:spPr>
      </p:sp>
      <p:sp>
        <p:nvSpPr>
          <p:cNvPr id="21" name="Text 19"/>
          <p:cNvSpPr txBox="1"/>
          <p:nvPr/>
        </p:nvSpPr>
        <p:spPr>
          <a:xfrm>
            <a:off x="8846820" y="4846320"/>
            <a:ext cx="2628900" cy="54864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9</a:t>
            </a:r>
            <a:endParaRPr lang="en-US" sz="3000" dirty="0"/>
          </a:p>
        </p:txBody>
      </p:sp>
      <p:sp>
        <p:nvSpPr>
          <p:cNvPr id="22" name="Text 20"/>
          <p:cNvSpPr txBox="1"/>
          <p:nvPr/>
        </p:nvSpPr>
        <p:spPr>
          <a:xfrm>
            <a:off x="8846820" y="5394960"/>
            <a:ext cx="2628900" cy="292608"/>
          </a:xfrm>
          <a:prstGeom prst="rect">
            <a:avLst/>
          </a:prstGeom>
          <a:noFill/>
          <a:ln/>
        </p:spPr>
        <p:txBody>
          <a:bodyPr wrap="square" lIns="0" tIns="0" rIns="0" bIns="0" rtlCol="0" anchor="ctr"/>
          <a:lstStyle/>
          <a:p>
            <a:pPr algn="ctr" indent="0" marL="0">
              <a:buNone/>
            </a:pPr>
            <a:r>
              <a:rPr lang="en-US" sz="1200" dirty="0">
                <a:solidFill>
                  <a:srgbClr val="5B6584"/>
                </a:solidFill>
                <a:latin typeface="Calibri" pitchFamily="34" charset="0"/>
                <a:ea typeface="Calibri" pitchFamily="34" charset="-122"/>
                <a:cs typeface="Calibri" pitchFamily="34" charset="-120"/>
              </a:rPr>
              <a:t>Total Shifts</a:t>
            </a:r>
            <a:endParaRPr lang="en-US" sz="120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rot="1080000">
            <a:off x="11109960" y="-822960"/>
            <a:ext cx="2011680" cy="2834640"/>
          </a:xfrm>
          <a:prstGeom prst="roundRect">
            <a:avLst>
              <a:gd name="adj" fmla="val 8182"/>
            </a:avLst>
          </a:prstGeom>
          <a:solidFill>
            <a:srgbClr val="1E2761">
              <a:alpha val="4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4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indent="0" marL="0">
              <a:buNone/>
            </a:pPr>
            <a:r>
              <a:rPr lang="en-US" sz="1300" b="1" spc="200" kern="0" dirty="0">
                <a:solidFill>
                  <a:srgbClr val="3C4E8C"/>
                </a:solidFill>
                <a:latin typeface="Calibri" pitchFamily="34" charset="0"/>
                <a:ea typeface="Calibri" pitchFamily="34" charset="-122"/>
                <a:cs typeface="Calibri" pitchFamily="34" charset="-120"/>
              </a:rPr>
              <a:t>FULL TRACE — PASS 1 OF 5</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indent="0" marL="0">
              <a:buNone/>
            </a:pPr>
            <a:r>
              <a:rPr lang="en-US" sz="3200" b="1" dirty="0">
                <a:solidFill>
                  <a:srgbClr val="16204A"/>
                </a:solidFill>
                <a:latin typeface="Cambria" pitchFamily="34" charset="0"/>
                <a:ea typeface="Cambria" pitchFamily="34" charset="-122"/>
                <a:cs typeface="Cambria" pitchFamily="34" charset="-120"/>
              </a:rPr>
              <a:t>Insert key = 2</a:t>
            </a:r>
            <a:endParaRPr lang="en-US" sz="3200" dirty="0"/>
          </a:p>
        </p:txBody>
      </p:sp>
      <p:sp>
        <p:nvSpPr>
          <p:cNvPr id="6" name="Text 4"/>
          <p:cNvSpPr txBox="1"/>
          <p:nvPr/>
        </p:nvSpPr>
        <p:spPr>
          <a:xfrm>
            <a:off x="548640" y="1600200"/>
            <a:ext cx="10972800" cy="36576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key = A[1] = 2</a:t>
            </a:r>
            <a:pPr indent="0" marL="0">
              <a:buNone/>
            </a:pPr>
            <a:r>
              <a:rPr lang="en-US" sz="1500" dirty="0">
                <a:solidFill>
                  <a:srgbClr val="5B6584"/>
                </a:solidFill>
                <a:latin typeface="Courier New" pitchFamily="34" charset="0"/>
                <a:ea typeface="Courier New" pitchFamily="34" charset="-122"/>
                <a:cs typeface="Courier New" pitchFamily="34" charset="-120"/>
              </a:rPr>
              <a:t>,   j starts at 0</a:t>
            </a:r>
            <a:endParaRPr lang="en-US" sz="1500" dirty="0"/>
          </a:p>
        </p:txBody>
      </p:sp>
      <p:sp>
        <p:nvSpPr>
          <p:cNvPr id="7" name="Shape 5"/>
          <p:cNvSpPr/>
          <p:nvPr/>
        </p:nvSpPr>
        <p:spPr>
          <a:xfrm>
            <a:off x="548640" y="2103120"/>
            <a:ext cx="11064240" cy="2615184"/>
          </a:xfrm>
          <a:prstGeom prst="roundRect">
            <a:avLst>
              <a:gd name="adj" fmla="val 2797"/>
            </a:avLst>
          </a:prstGeom>
          <a:solidFill>
            <a:srgbClr val="EEF2FC"/>
          </a:solidFill>
          <a:ln w="12700">
            <a:solidFill>
              <a:srgbClr val="CADCFC"/>
            </a:solidFill>
            <a:prstDash val="solid"/>
          </a:ln>
        </p:spPr>
      </p:sp>
      <p:sp>
        <p:nvSpPr>
          <p:cNvPr id="8" name="Shape 6"/>
          <p:cNvSpPr/>
          <p:nvPr/>
        </p:nvSpPr>
        <p:spPr>
          <a:xfrm>
            <a:off x="868680" y="2395728"/>
            <a:ext cx="146304" cy="146304"/>
          </a:xfrm>
          <a:prstGeom prst="ellipse">
            <a:avLst/>
          </a:prstGeom>
          <a:solidFill>
            <a:srgbClr val="C1272D"/>
          </a:solidFill>
          <a:ln/>
        </p:spPr>
      </p:sp>
      <p:sp>
        <p:nvSpPr>
          <p:cNvPr id="9" name="Text 7"/>
          <p:cNvSpPr txBox="1"/>
          <p:nvPr/>
        </p:nvSpPr>
        <p:spPr>
          <a:xfrm>
            <a:off x="1188720" y="2267712"/>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A[0]=5 &gt; 2  →  true  →  shift 5 right  →  [ _, 5, 4, 6, 1, 3 ]   (j = −1)</a:t>
            </a:r>
            <a:endParaRPr lang="en-US" sz="1500" dirty="0"/>
          </a:p>
        </p:txBody>
      </p:sp>
      <p:sp>
        <p:nvSpPr>
          <p:cNvPr id="10" name="Shape 8"/>
          <p:cNvSpPr/>
          <p:nvPr/>
        </p:nvSpPr>
        <p:spPr>
          <a:xfrm>
            <a:off x="868680" y="2871216"/>
            <a:ext cx="146304" cy="146304"/>
          </a:xfrm>
          <a:prstGeom prst="ellipse">
            <a:avLst/>
          </a:prstGeom>
          <a:solidFill>
            <a:srgbClr val="C1272D"/>
          </a:solidFill>
          <a:ln/>
        </p:spPr>
      </p:sp>
      <p:sp>
        <p:nvSpPr>
          <p:cNvPr id="11" name="Text 9"/>
          <p:cNvSpPr txBox="1"/>
          <p:nvPr/>
        </p:nvSpPr>
        <p:spPr>
          <a:xfrm>
            <a:off x="1188720" y="2743200"/>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j &lt; 0, loop stops  →  insert key at A[0]</a:t>
            </a:r>
            <a:endParaRPr lang="en-US" sz="1500" dirty="0"/>
          </a:p>
        </p:txBody>
      </p:sp>
      <p:sp>
        <p:nvSpPr>
          <p:cNvPr id="12" name="Shape 10"/>
          <p:cNvSpPr/>
          <p:nvPr/>
        </p:nvSpPr>
        <p:spPr>
          <a:xfrm>
            <a:off x="868680" y="3374136"/>
            <a:ext cx="10424160" cy="0"/>
          </a:xfrm>
          <a:prstGeom prst="line">
            <a:avLst/>
          </a:prstGeom>
          <a:noFill/>
          <a:ln w="12700">
            <a:solidFill>
              <a:srgbClr val="CADCFC"/>
            </a:solidFill>
            <a:prstDash val="solid"/>
          </a:ln>
        </p:spPr>
      </p:sp>
      <p:sp>
        <p:nvSpPr>
          <p:cNvPr id="13" name="Text 11"/>
          <p:cNvSpPr txBox="1"/>
          <p:nvPr/>
        </p:nvSpPr>
        <p:spPr>
          <a:xfrm>
            <a:off x="868680" y="3511296"/>
            <a:ext cx="10424160" cy="365760"/>
          </a:xfrm>
          <a:prstGeom prst="rect">
            <a:avLst/>
          </a:prstGeom>
          <a:noFill/>
          <a:ln/>
        </p:spPr>
        <p:txBody>
          <a:bodyPr wrap="square" lIns="0" tIns="0" rIns="0" bIns="0" rtlCol="0" anchor="ctr"/>
          <a:lstStyle/>
          <a:p>
            <a:pPr indent="0" marL="0">
              <a:buNone/>
            </a:pPr>
            <a:r>
              <a:rPr lang="en-US" sz="1600" b="1" dirty="0">
                <a:solidFill>
                  <a:srgbClr val="16204A"/>
                </a:solidFill>
                <a:latin typeface="Calibri" pitchFamily="34" charset="0"/>
                <a:ea typeface="Calibri" pitchFamily="34" charset="-122"/>
                <a:cs typeface="Calibri" pitchFamily="34" charset="-120"/>
              </a:rPr>
              <a:t>Result:  </a:t>
            </a:r>
            <a:pPr indent="0" marL="0">
              <a:buNone/>
            </a:pPr>
            <a:r>
              <a:rPr lang="en-US" sz="1600" b="1" dirty="0">
                <a:solidFill>
                  <a:srgbClr val="5FA778"/>
                </a:solidFill>
                <a:latin typeface="Courier New" pitchFamily="34" charset="0"/>
                <a:ea typeface="Courier New" pitchFamily="34" charset="-122"/>
                <a:cs typeface="Courier New" pitchFamily="34" charset="-120"/>
              </a:rPr>
              <a:t>[2, 5, 4, 6, 1, 3]</a:t>
            </a:r>
            <a:endParaRPr lang="en-US" sz="1600" dirty="0"/>
          </a:p>
        </p:txBody>
      </p:sp>
      <p:sp>
        <p:nvSpPr>
          <p:cNvPr id="14" name="Text 12"/>
          <p:cNvSpPr txBox="1"/>
          <p:nvPr/>
        </p:nvSpPr>
        <p:spPr>
          <a:xfrm>
            <a:off x="868680" y="3895344"/>
            <a:ext cx="10424160" cy="320040"/>
          </a:xfrm>
          <a:prstGeom prst="rect">
            <a:avLst/>
          </a:prstGeom>
          <a:noFill/>
          <a:ln/>
        </p:spPr>
        <p:txBody>
          <a:bodyPr wrap="square" lIns="0" tIns="0" rIns="0" bIns="0" rtlCol="0" anchor="ctr"/>
          <a:lstStyle/>
          <a:p>
            <a:pPr indent="0" marL="0">
              <a:buNone/>
            </a:pPr>
            <a:r>
              <a:rPr lang="en-US" sz="1350" i="1" dirty="0">
                <a:solidFill>
                  <a:srgbClr val="5B6584"/>
                </a:solidFill>
                <a:latin typeface="Calibri" pitchFamily="34" charset="0"/>
                <a:ea typeface="Calibri" pitchFamily="34" charset="-122"/>
                <a:cs typeface="Calibri" pitchFamily="34" charset="-120"/>
              </a:rPr>
              <a:t>Sorted portion:  </a:t>
            </a:r>
            <a:pPr indent="0" marL="0">
              <a:buNone/>
            </a:pPr>
            <a:r>
              <a:rPr lang="en-US" sz="1350" i="1" dirty="0">
                <a:solidFill>
                  <a:srgbClr val="5B6584"/>
                </a:solidFill>
                <a:latin typeface="Courier New" pitchFamily="34" charset="0"/>
                <a:ea typeface="Courier New" pitchFamily="34" charset="-122"/>
                <a:cs typeface="Courier New" pitchFamily="34" charset="-120"/>
              </a:rPr>
              <a:t>[2, 5]</a:t>
            </a:r>
            <a:endParaRPr lang="en-US" sz="135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rot="1080000">
            <a:off x="11109960" y="-822960"/>
            <a:ext cx="2011680" cy="2834640"/>
          </a:xfrm>
          <a:prstGeom prst="roundRect">
            <a:avLst>
              <a:gd name="adj" fmla="val 8182"/>
            </a:avLst>
          </a:prstGeom>
          <a:solidFill>
            <a:srgbClr val="1E2761">
              <a:alpha val="4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4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indent="0" marL="0">
              <a:buNone/>
            </a:pPr>
            <a:r>
              <a:rPr lang="en-US" sz="1300" b="1" spc="200" kern="0" dirty="0">
                <a:solidFill>
                  <a:srgbClr val="3C4E8C"/>
                </a:solidFill>
                <a:latin typeface="Calibri" pitchFamily="34" charset="0"/>
                <a:ea typeface="Calibri" pitchFamily="34" charset="-122"/>
                <a:cs typeface="Calibri" pitchFamily="34" charset="-120"/>
              </a:rPr>
              <a:t>FULL TRACE — PASS 2 OF 5</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indent="0" marL="0">
              <a:buNone/>
            </a:pPr>
            <a:r>
              <a:rPr lang="en-US" sz="3200" b="1" dirty="0">
                <a:solidFill>
                  <a:srgbClr val="16204A"/>
                </a:solidFill>
                <a:latin typeface="Cambria" pitchFamily="34" charset="0"/>
                <a:ea typeface="Cambria" pitchFamily="34" charset="-122"/>
                <a:cs typeface="Cambria" pitchFamily="34" charset="-120"/>
              </a:rPr>
              <a:t>Insert key = 4</a:t>
            </a:r>
            <a:endParaRPr lang="en-US" sz="3200" dirty="0"/>
          </a:p>
        </p:txBody>
      </p:sp>
      <p:sp>
        <p:nvSpPr>
          <p:cNvPr id="6" name="Text 4"/>
          <p:cNvSpPr txBox="1"/>
          <p:nvPr/>
        </p:nvSpPr>
        <p:spPr>
          <a:xfrm>
            <a:off x="548640" y="1600200"/>
            <a:ext cx="10972800" cy="36576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key = A[2] = 4</a:t>
            </a:r>
            <a:pPr indent="0" marL="0">
              <a:buNone/>
            </a:pPr>
            <a:r>
              <a:rPr lang="en-US" sz="1500" dirty="0">
                <a:solidFill>
                  <a:srgbClr val="5B6584"/>
                </a:solidFill>
                <a:latin typeface="Courier New" pitchFamily="34" charset="0"/>
                <a:ea typeface="Courier New" pitchFamily="34" charset="-122"/>
                <a:cs typeface="Courier New" pitchFamily="34" charset="-120"/>
              </a:rPr>
              <a:t>,   j starts at 1</a:t>
            </a:r>
            <a:endParaRPr lang="en-US" sz="1500" dirty="0"/>
          </a:p>
        </p:txBody>
      </p:sp>
      <p:sp>
        <p:nvSpPr>
          <p:cNvPr id="7" name="Shape 5"/>
          <p:cNvSpPr/>
          <p:nvPr/>
        </p:nvSpPr>
        <p:spPr>
          <a:xfrm>
            <a:off x="548640" y="2103120"/>
            <a:ext cx="11064240" cy="3090672"/>
          </a:xfrm>
          <a:prstGeom prst="roundRect">
            <a:avLst>
              <a:gd name="adj" fmla="val 2367"/>
            </a:avLst>
          </a:prstGeom>
          <a:solidFill>
            <a:srgbClr val="EEF2FC"/>
          </a:solidFill>
          <a:ln w="12700">
            <a:solidFill>
              <a:srgbClr val="CADCFC"/>
            </a:solidFill>
            <a:prstDash val="solid"/>
          </a:ln>
        </p:spPr>
      </p:sp>
      <p:sp>
        <p:nvSpPr>
          <p:cNvPr id="8" name="Shape 6"/>
          <p:cNvSpPr/>
          <p:nvPr/>
        </p:nvSpPr>
        <p:spPr>
          <a:xfrm>
            <a:off x="868680" y="2395728"/>
            <a:ext cx="146304" cy="146304"/>
          </a:xfrm>
          <a:prstGeom prst="ellipse">
            <a:avLst/>
          </a:prstGeom>
          <a:solidFill>
            <a:srgbClr val="C1272D"/>
          </a:solidFill>
          <a:ln/>
        </p:spPr>
      </p:sp>
      <p:sp>
        <p:nvSpPr>
          <p:cNvPr id="9" name="Text 7"/>
          <p:cNvSpPr txBox="1"/>
          <p:nvPr/>
        </p:nvSpPr>
        <p:spPr>
          <a:xfrm>
            <a:off x="1188720" y="2267712"/>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A[1]=5 &gt; 4  →  true  →  shift 5 right  →  [ 2, _, 5, 6, 1, 3 ]   (j = 0)</a:t>
            </a:r>
            <a:endParaRPr lang="en-US" sz="1500" dirty="0"/>
          </a:p>
        </p:txBody>
      </p:sp>
      <p:sp>
        <p:nvSpPr>
          <p:cNvPr id="10" name="Shape 8"/>
          <p:cNvSpPr/>
          <p:nvPr/>
        </p:nvSpPr>
        <p:spPr>
          <a:xfrm>
            <a:off x="868680" y="2871216"/>
            <a:ext cx="146304" cy="146304"/>
          </a:xfrm>
          <a:prstGeom prst="ellipse">
            <a:avLst/>
          </a:prstGeom>
          <a:solidFill>
            <a:srgbClr val="C1272D"/>
          </a:solidFill>
          <a:ln/>
        </p:spPr>
      </p:sp>
      <p:sp>
        <p:nvSpPr>
          <p:cNvPr id="11" name="Text 9"/>
          <p:cNvSpPr txBox="1"/>
          <p:nvPr/>
        </p:nvSpPr>
        <p:spPr>
          <a:xfrm>
            <a:off x="1188720" y="2743200"/>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A[0]=2 &gt; 4  →  false  →  stop</a:t>
            </a:r>
            <a:endParaRPr lang="en-US" sz="1500" dirty="0"/>
          </a:p>
        </p:txBody>
      </p:sp>
      <p:sp>
        <p:nvSpPr>
          <p:cNvPr id="12" name="Shape 10"/>
          <p:cNvSpPr/>
          <p:nvPr/>
        </p:nvSpPr>
        <p:spPr>
          <a:xfrm>
            <a:off x="868680" y="3346704"/>
            <a:ext cx="146304" cy="146304"/>
          </a:xfrm>
          <a:prstGeom prst="ellipse">
            <a:avLst/>
          </a:prstGeom>
          <a:solidFill>
            <a:srgbClr val="C1272D"/>
          </a:solidFill>
          <a:ln/>
        </p:spPr>
      </p:sp>
      <p:sp>
        <p:nvSpPr>
          <p:cNvPr id="13" name="Text 11"/>
          <p:cNvSpPr txBox="1"/>
          <p:nvPr/>
        </p:nvSpPr>
        <p:spPr>
          <a:xfrm>
            <a:off x="1188720" y="3218688"/>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Insert key at A[1]</a:t>
            </a:r>
            <a:endParaRPr lang="en-US" sz="1500" dirty="0"/>
          </a:p>
        </p:txBody>
      </p:sp>
      <p:sp>
        <p:nvSpPr>
          <p:cNvPr id="14" name="Shape 12"/>
          <p:cNvSpPr/>
          <p:nvPr/>
        </p:nvSpPr>
        <p:spPr>
          <a:xfrm>
            <a:off x="868680" y="3849624"/>
            <a:ext cx="10424160" cy="0"/>
          </a:xfrm>
          <a:prstGeom prst="line">
            <a:avLst/>
          </a:prstGeom>
          <a:noFill/>
          <a:ln w="12700">
            <a:solidFill>
              <a:srgbClr val="CADCFC"/>
            </a:solidFill>
            <a:prstDash val="solid"/>
          </a:ln>
        </p:spPr>
      </p:sp>
      <p:sp>
        <p:nvSpPr>
          <p:cNvPr id="15" name="Text 13"/>
          <p:cNvSpPr txBox="1"/>
          <p:nvPr/>
        </p:nvSpPr>
        <p:spPr>
          <a:xfrm>
            <a:off x="868680" y="3986784"/>
            <a:ext cx="10424160" cy="365760"/>
          </a:xfrm>
          <a:prstGeom prst="rect">
            <a:avLst/>
          </a:prstGeom>
          <a:noFill/>
          <a:ln/>
        </p:spPr>
        <p:txBody>
          <a:bodyPr wrap="square" lIns="0" tIns="0" rIns="0" bIns="0" rtlCol="0" anchor="ctr"/>
          <a:lstStyle/>
          <a:p>
            <a:pPr indent="0" marL="0">
              <a:buNone/>
            </a:pPr>
            <a:r>
              <a:rPr lang="en-US" sz="1600" b="1" dirty="0">
                <a:solidFill>
                  <a:srgbClr val="16204A"/>
                </a:solidFill>
                <a:latin typeface="Calibri" pitchFamily="34" charset="0"/>
                <a:ea typeface="Calibri" pitchFamily="34" charset="-122"/>
                <a:cs typeface="Calibri" pitchFamily="34" charset="-120"/>
              </a:rPr>
              <a:t>Result:  </a:t>
            </a:r>
            <a:pPr indent="0" marL="0">
              <a:buNone/>
            </a:pPr>
            <a:r>
              <a:rPr lang="en-US" sz="1600" b="1" dirty="0">
                <a:solidFill>
                  <a:srgbClr val="5FA778"/>
                </a:solidFill>
                <a:latin typeface="Courier New" pitchFamily="34" charset="0"/>
                <a:ea typeface="Courier New" pitchFamily="34" charset="-122"/>
                <a:cs typeface="Courier New" pitchFamily="34" charset="-120"/>
              </a:rPr>
              <a:t>[2, 4, 5, 6, 1, 3]</a:t>
            </a:r>
            <a:endParaRPr lang="en-US" sz="1600" dirty="0"/>
          </a:p>
        </p:txBody>
      </p:sp>
      <p:sp>
        <p:nvSpPr>
          <p:cNvPr id="16" name="Text 14"/>
          <p:cNvSpPr txBox="1"/>
          <p:nvPr/>
        </p:nvSpPr>
        <p:spPr>
          <a:xfrm>
            <a:off x="868680" y="4370832"/>
            <a:ext cx="10424160" cy="320040"/>
          </a:xfrm>
          <a:prstGeom prst="rect">
            <a:avLst/>
          </a:prstGeom>
          <a:noFill/>
          <a:ln/>
        </p:spPr>
        <p:txBody>
          <a:bodyPr wrap="square" lIns="0" tIns="0" rIns="0" bIns="0" rtlCol="0" anchor="ctr"/>
          <a:lstStyle/>
          <a:p>
            <a:pPr indent="0" marL="0">
              <a:buNone/>
            </a:pPr>
            <a:r>
              <a:rPr lang="en-US" sz="1350" i="1" dirty="0">
                <a:solidFill>
                  <a:srgbClr val="5B6584"/>
                </a:solidFill>
                <a:latin typeface="Calibri" pitchFamily="34" charset="0"/>
                <a:ea typeface="Calibri" pitchFamily="34" charset="-122"/>
                <a:cs typeface="Calibri" pitchFamily="34" charset="-120"/>
              </a:rPr>
              <a:t>Sorted portion:  </a:t>
            </a:r>
            <a:pPr indent="0" marL="0">
              <a:buNone/>
            </a:pPr>
            <a:r>
              <a:rPr lang="en-US" sz="1350" i="1" dirty="0">
                <a:solidFill>
                  <a:srgbClr val="5B6584"/>
                </a:solidFill>
                <a:latin typeface="Courier New" pitchFamily="34" charset="0"/>
                <a:ea typeface="Courier New" pitchFamily="34" charset="-122"/>
                <a:cs typeface="Courier New" pitchFamily="34" charset="-120"/>
              </a:rPr>
              <a:t>[2, 4, 5]</a:t>
            </a:r>
            <a:endParaRPr lang="en-US" sz="135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rot="1080000">
            <a:off x="11109960" y="-822960"/>
            <a:ext cx="2011680" cy="2834640"/>
          </a:xfrm>
          <a:prstGeom prst="roundRect">
            <a:avLst>
              <a:gd name="adj" fmla="val 8182"/>
            </a:avLst>
          </a:prstGeom>
          <a:solidFill>
            <a:srgbClr val="1E2761">
              <a:alpha val="4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4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indent="0" marL="0">
              <a:buNone/>
            </a:pPr>
            <a:r>
              <a:rPr lang="en-US" sz="1300" b="1" spc="200" kern="0" dirty="0">
                <a:solidFill>
                  <a:srgbClr val="3C4E8C"/>
                </a:solidFill>
                <a:latin typeface="Calibri" pitchFamily="34" charset="0"/>
                <a:ea typeface="Calibri" pitchFamily="34" charset="-122"/>
                <a:cs typeface="Calibri" pitchFamily="34" charset="-120"/>
              </a:rPr>
              <a:t>FULL TRACE — PASS 3 OF 5</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indent="0" marL="0">
              <a:buNone/>
            </a:pPr>
            <a:r>
              <a:rPr lang="en-US" sz="3200" b="1" dirty="0">
                <a:solidFill>
                  <a:srgbClr val="16204A"/>
                </a:solidFill>
                <a:latin typeface="Cambria" pitchFamily="34" charset="0"/>
                <a:ea typeface="Cambria" pitchFamily="34" charset="-122"/>
                <a:cs typeface="Cambria" pitchFamily="34" charset="-120"/>
              </a:rPr>
              <a:t>Insert key = 6  —  no shifting needed</a:t>
            </a:r>
            <a:endParaRPr lang="en-US" sz="3200" dirty="0"/>
          </a:p>
        </p:txBody>
      </p:sp>
      <p:sp>
        <p:nvSpPr>
          <p:cNvPr id="6" name="Text 4"/>
          <p:cNvSpPr txBox="1"/>
          <p:nvPr/>
        </p:nvSpPr>
        <p:spPr>
          <a:xfrm>
            <a:off x="548640" y="1600200"/>
            <a:ext cx="10972800" cy="36576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key = A[3] = 6</a:t>
            </a:r>
            <a:pPr indent="0" marL="0">
              <a:buNone/>
            </a:pPr>
            <a:r>
              <a:rPr lang="en-US" sz="1500" dirty="0">
                <a:solidFill>
                  <a:srgbClr val="5B6584"/>
                </a:solidFill>
                <a:latin typeface="Courier New" pitchFamily="34" charset="0"/>
                <a:ea typeface="Courier New" pitchFamily="34" charset="-122"/>
                <a:cs typeface="Courier New" pitchFamily="34" charset="-120"/>
              </a:rPr>
              <a:t>,   j starts at 2</a:t>
            </a:r>
            <a:endParaRPr lang="en-US" sz="1500" dirty="0"/>
          </a:p>
        </p:txBody>
      </p:sp>
      <p:sp>
        <p:nvSpPr>
          <p:cNvPr id="7" name="Shape 5"/>
          <p:cNvSpPr/>
          <p:nvPr/>
        </p:nvSpPr>
        <p:spPr>
          <a:xfrm>
            <a:off x="548640" y="2103120"/>
            <a:ext cx="11064240" cy="2615184"/>
          </a:xfrm>
          <a:prstGeom prst="roundRect">
            <a:avLst>
              <a:gd name="adj" fmla="val 2797"/>
            </a:avLst>
          </a:prstGeom>
          <a:solidFill>
            <a:srgbClr val="EEF2FC"/>
          </a:solidFill>
          <a:ln w="12700">
            <a:solidFill>
              <a:srgbClr val="CADCFC"/>
            </a:solidFill>
            <a:prstDash val="solid"/>
          </a:ln>
        </p:spPr>
      </p:sp>
      <p:sp>
        <p:nvSpPr>
          <p:cNvPr id="8" name="Shape 6"/>
          <p:cNvSpPr/>
          <p:nvPr/>
        </p:nvSpPr>
        <p:spPr>
          <a:xfrm>
            <a:off x="868680" y="2395728"/>
            <a:ext cx="146304" cy="146304"/>
          </a:xfrm>
          <a:prstGeom prst="ellipse">
            <a:avLst/>
          </a:prstGeom>
          <a:solidFill>
            <a:srgbClr val="C1272D"/>
          </a:solidFill>
          <a:ln/>
        </p:spPr>
      </p:sp>
      <p:sp>
        <p:nvSpPr>
          <p:cNvPr id="9" name="Text 7"/>
          <p:cNvSpPr txBox="1"/>
          <p:nvPr/>
        </p:nvSpPr>
        <p:spPr>
          <a:xfrm>
            <a:off x="1188720" y="2267712"/>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A[2]=5 &gt; 6  →  false  →  loop doesn't execute at all</a:t>
            </a:r>
            <a:endParaRPr lang="en-US" sz="1500" dirty="0"/>
          </a:p>
        </p:txBody>
      </p:sp>
      <p:sp>
        <p:nvSpPr>
          <p:cNvPr id="10" name="Shape 8"/>
          <p:cNvSpPr/>
          <p:nvPr/>
        </p:nvSpPr>
        <p:spPr>
          <a:xfrm>
            <a:off x="868680" y="2871216"/>
            <a:ext cx="146304" cy="146304"/>
          </a:xfrm>
          <a:prstGeom prst="ellipse">
            <a:avLst/>
          </a:prstGeom>
          <a:solidFill>
            <a:srgbClr val="C1272D"/>
          </a:solidFill>
          <a:ln/>
        </p:spPr>
      </p:sp>
      <p:sp>
        <p:nvSpPr>
          <p:cNvPr id="11" name="Text 9"/>
          <p:cNvSpPr txBox="1"/>
          <p:nvPr/>
        </p:nvSpPr>
        <p:spPr>
          <a:xfrm>
            <a:off x="1188720" y="2743200"/>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Insert key at A[3]  —  no movement needed, it's already in place</a:t>
            </a:r>
            <a:endParaRPr lang="en-US" sz="1500" dirty="0"/>
          </a:p>
        </p:txBody>
      </p:sp>
      <p:sp>
        <p:nvSpPr>
          <p:cNvPr id="12" name="Shape 10"/>
          <p:cNvSpPr/>
          <p:nvPr/>
        </p:nvSpPr>
        <p:spPr>
          <a:xfrm>
            <a:off x="868680" y="3374136"/>
            <a:ext cx="10424160" cy="0"/>
          </a:xfrm>
          <a:prstGeom prst="line">
            <a:avLst/>
          </a:prstGeom>
          <a:noFill/>
          <a:ln w="12700">
            <a:solidFill>
              <a:srgbClr val="CADCFC"/>
            </a:solidFill>
            <a:prstDash val="solid"/>
          </a:ln>
        </p:spPr>
      </p:sp>
      <p:sp>
        <p:nvSpPr>
          <p:cNvPr id="13" name="Text 11"/>
          <p:cNvSpPr txBox="1"/>
          <p:nvPr/>
        </p:nvSpPr>
        <p:spPr>
          <a:xfrm>
            <a:off x="868680" y="3511296"/>
            <a:ext cx="10424160" cy="365760"/>
          </a:xfrm>
          <a:prstGeom prst="rect">
            <a:avLst/>
          </a:prstGeom>
          <a:noFill/>
          <a:ln/>
        </p:spPr>
        <p:txBody>
          <a:bodyPr wrap="square" lIns="0" tIns="0" rIns="0" bIns="0" rtlCol="0" anchor="ctr"/>
          <a:lstStyle/>
          <a:p>
            <a:pPr indent="0" marL="0">
              <a:buNone/>
            </a:pPr>
            <a:r>
              <a:rPr lang="en-US" sz="1600" b="1" dirty="0">
                <a:solidFill>
                  <a:srgbClr val="16204A"/>
                </a:solidFill>
                <a:latin typeface="Calibri" pitchFamily="34" charset="0"/>
                <a:ea typeface="Calibri" pitchFamily="34" charset="-122"/>
                <a:cs typeface="Calibri" pitchFamily="34" charset="-120"/>
              </a:rPr>
              <a:t>Result:  </a:t>
            </a:r>
            <a:pPr indent="0" marL="0">
              <a:buNone/>
            </a:pPr>
            <a:r>
              <a:rPr lang="en-US" sz="1600" b="1" dirty="0">
                <a:solidFill>
                  <a:srgbClr val="5FA778"/>
                </a:solidFill>
                <a:latin typeface="Courier New" pitchFamily="34" charset="0"/>
                <a:ea typeface="Courier New" pitchFamily="34" charset="-122"/>
                <a:cs typeface="Courier New" pitchFamily="34" charset="-120"/>
              </a:rPr>
              <a:t>[2, 4, 5, 6, 1, 3]</a:t>
            </a:r>
            <a:endParaRPr lang="en-US" sz="1600" dirty="0"/>
          </a:p>
        </p:txBody>
      </p:sp>
      <p:sp>
        <p:nvSpPr>
          <p:cNvPr id="14" name="Text 12"/>
          <p:cNvSpPr txBox="1"/>
          <p:nvPr/>
        </p:nvSpPr>
        <p:spPr>
          <a:xfrm>
            <a:off x="868680" y="3895344"/>
            <a:ext cx="10424160" cy="320040"/>
          </a:xfrm>
          <a:prstGeom prst="rect">
            <a:avLst/>
          </a:prstGeom>
          <a:noFill/>
          <a:ln/>
        </p:spPr>
        <p:txBody>
          <a:bodyPr wrap="square" lIns="0" tIns="0" rIns="0" bIns="0" rtlCol="0" anchor="ctr"/>
          <a:lstStyle/>
          <a:p>
            <a:pPr indent="0" marL="0">
              <a:buNone/>
            </a:pPr>
            <a:r>
              <a:rPr lang="en-US" sz="1350" i="1" dirty="0">
                <a:solidFill>
                  <a:srgbClr val="5B6584"/>
                </a:solidFill>
                <a:latin typeface="Calibri" pitchFamily="34" charset="0"/>
                <a:ea typeface="Calibri" pitchFamily="34" charset="-122"/>
                <a:cs typeface="Calibri" pitchFamily="34" charset="-120"/>
              </a:rPr>
              <a:t>Sorted portion:  </a:t>
            </a:r>
            <a:pPr indent="0" marL="0">
              <a:buNone/>
            </a:pPr>
            <a:r>
              <a:rPr lang="en-US" sz="1350" i="1" dirty="0">
                <a:solidFill>
                  <a:srgbClr val="5B6584"/>
                </a:solidFill>
                <a:latin typeface="Courier New" pitchFamily="34" charset="0"/>
                <a:ea typeface="Courier New" pitchFamily="34" charset="-122"/>
                <a:cs typeface="Courier New" pitchFamily="34" charset="-120"/>
              </a:rPr>
              <a:t>[2, 4, 5, 6]</a:t>
            </a:r>
            <a:endParaRPr lang="en-US" sz="135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rot="1080000">
            <a:off x="11109960" y="-822960"/>
            <a:ext cx="2011680" cy="2834640"/>
          </a:xfrm>
          <a:prstGeom prst="roundRect">
            <a:avLst>
              <a:gd name="adj" fmla="val 8182"/>
            </a:avLst>
          </a:prstGeom>
          <a:solidFill>
            <a:srgbClr val="1E2761">
              <a:alpha val="4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4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indent="0" marL="0">
              <a:buNone/>
            </a:pPr>
            <a:r>
              <a:rPr lang="en-US" sz="1300" b="1" spc="200" kern="0" dirty="0">
                <a:solidFill>
                  <a:srgbClr val="3C4E8C"/>
                </a:solidFill>
                <a:latin typeface="Calibri" pitchFamily="34" charset="0"/>
                <a:ea typeface="Calibri" pitchFamily="34" charset="-122"/>
                <a:cs typeface="Calibri" pitchFamily="34" charset="-120"/>
              </a:rPr>
              <a:t>FULL TRACE — PASS 4 OF 5</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indent="0" marL="0">
              <a:buNone/>
            </a:pPr>
            <a:r>
              <a:rPr lang="en-US" sz="3200" b="1" dirty="0">
                <a:solidFill>
                  <a:srgbClr val="16204A"/>
                </a:solidFill>
                <a:latin typeface="Cambria" pitchFamily="34" charset="0"/>
                <a:ea typeface="Cambria" pitchFamily="34" charset="-122"/>
                <a:cs typeface="Cambria" pitchFamily="34" charset="-120"/>
              </a:rPr>
              <a:t>Insert key = 1  —  the most work-intensive pass</a:t>
            </a:r>
            <a:endParaRPr lang="en-US" sz="3200" dirty="0"/>
          </a:p>
        </p:txBody>
      </p:sp>
      <p:sp>
        <p:nvSpPr>
          <p:cNvPr id="6" name="Text 4"/>
          <p:cNvSpPr txBox="1"/>
          <p:nvPr/>
        </p:nvSpPr>
        <p:spPr>
          <a:xfrm>
            <a:off x="548640" y="1600200"/>
            <a:ext cx="10972800" cy="36576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key = A[4] = 1</a:t>
            </a:r>
            <a:pPr indent="0" marL="0">
              <a:buNone/>
            </a:pPr>
            <a:r>
              <a:rPr lang="en-US" sz="1500" dirty="0">
                <a:solidFill>
                  <a:srgbClr val="5B6584"/>
                </a:solidFill>
                <a:latin typeface="Courier New" pitchFamily="34" charset="0"/>
                <a:ea typeface="Courier New" pitchFamily="34" charset="-122"/>
                <a:cs typeface="Courier New" pitchFamily="34" charset="-120"/>
              </a:rPr>
              <a:t>,   j starts at 3</a:t>
            </a:r>
            <a:endParaRPr lang="en-US" sz="1500" dirty="0"/>
          </a:p>
        </p:txBody>
      </p:sp>
      <p:sp>
        <p:nvSpPr>
          <p:cNvPr id="7" name="Shape 5"/>
          <p:cNvSpPr/>
          <p:nvPr/>
        </p:nvSpPr>
        <p:spPr>
          <a:xfrm>
            <a:off x="548640" y="2103120"/>
            <a:ext cx="11064240" cy="4041648"/>
          </a:xfrm>
          <a:prstGeom prst="roundRect">
            <a:avLst>
              <a:gd name="adj" fmla="val 1810"/>
            </a:avLst>
          </a:prstGeom>
          <a:solidFill>
            <a:srgbClr val="EEF2FC"/>
          </a:solidFill>
          <a:ln w="12700">
            <a:solidFill>
              <a:srgbClr val="CADCFC"/>
            </a:solidFill>
            <a:prstDash val="solid"/>
          </a:ln>
        </p:spPr>
      </p:sp>
      <p:sp>
        <p:nvSpPr>
          <p:cNvPr id="8" name="Shape 6"/>
          <p:cNvSpPr/>
          <p:nvPr/>
        </p:nvSpPr>
        <p:spPr>
          <a:xfrm>
            <a:off x="868680" y="2395728"/>
            <a:ext cx="146304" cy="146304"/>
          </a:xfrm>
          <a:prstGeom prst="ellipse">
            <a:avLst/>
          </a:prstGeom>
          <a:solidFill>
            <a:srgbClr val="C1272D"/>
          </a:solidFill>
          <a:ln/>
        </p:spPr>
      </p:sp>
      <p:sp>
        <p:nvSpPr>
          <p:cNvPr id="9" name="Text 7"/>
          <p:cNvSpPr txBox="1"/>
          <p:nvPr/>
        </p:nvSpPr>
        <p:spPr>
          <a:xfrm>
            <a:off x="1188720" y="2267712"/>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A[3]=6 &gt; 1  →  true  →  shift 6 right  →  [ 2, 4, 5, _, 6, 3 ]   (j = 2)</a:t>
            </a:r>
            <a:endParaRPr lang="en-US" sz="1500" dirty="0"/>
          </a:p>
        </p:txBody>
      </p:sp>
      <p:sp>
        <p:nvSpPr>
          <p:cNvPr id="10" name="Shape 8"/>
          <p:cNvSpPr/>
          <p:nvPr/>
        </p:nvSpPr>
        <p:spPr>
          <a:xfrm>
            <a:off x="868680" y="2871216"/>
            <a:ext cx="146304" cy="146304"/>
          </a:xfrm>
          <a:prstGeom prst="ellipse">
            <a:avLst/>
          </a:prstGeom>
          <a:solidFill>
            <a:srgbClr val="C1272D"/>
          </a:solidFill>
          <a:ln/>
        </p:spPr>
      </p:sp>
      <p:sp>
        <p:nvSpPr>
          <p:cNvPr id="11" name="Text 9"/>
          <p:cNvSpPr txBox="1"/>
          <p:nvPr/>
        </p:nvSpPr>
        <p:spPr>
          <a:xfrm>
            <a:off x="1188720" y="2743200"/>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A[2]=5 &gt; 1  →  true  →  shift 5 right  →  [ 2, 4, _, 5, 6, 3 ]   (j = 1)</a:t>
            </a:r>
            <a:endParaRPr lang="en-US" sz="1500" dirty="0"/>
          </a:p>
        </p:txBody>
      </p:sp>
      <p:sp>
        <p:nvSpPr>
          <p:cNvPr id="12" name="Shape 10"/>
          <p:cNvSpPr/>
          <p:nvPr/>
        </p:nvSpPr>
        <p:spPr>
          <a:xfrm>
            <a:off x="868680" y="3346704"/>
            <a:ext cx="146304" cy="146304"/>
          </a:xfrm>
          <a:prstGeom prst="ellipse">
            <a:avLst/>
          </a:prstGeom>
          <a:solidFill>
            <a:srgbClr val="C1272D"/>
          </a:solidFill>
          <a:ln/>
        </p:spPr>
      </p:sp>
      <p:sp>
        <p:nvSpPr>
          <p:cNvPr id="13" name="Text 11"/>
          <p:cNvSpPr txBox="1"/>
          <p:nvPr/>
        </p:nvSpPr>
        <p:spPr>
          <a:xfrm>
            <a:off x="1188720" y="3218688"/>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A[1]=4 &gt; 1  →  true  →  shift 4 right  →  [ 2, _, 4, 5, 6, 3 ]   (j = 0)</a:t>
            </a:r>
            <a:endParaRPr lang="en-US" sz="1500" dirty="0"/>
          </a:p>
        </p:txBody>
      </p:sp>
      <p:sp>
        <p:nvSpPr>
          <p:cNvPr id="14" name="Shape 12"/>
          <p:cNvSpPr/>
          <p:nvPr/>
        </p:nvSpPr>
        <p:spPr>
          <a:xfrm>
            <a:off x="868680" y="3822192"/>
            <a:ext cx="146304" cy="146304"/>
          </a:xfrm>
          <a:prstGeom prst="ellipse">
            <a:avLst/>
          </a:prstGeom>
          <a:solidFill>
            <a:srgbClr val="C1272D"/>
          </a:solidFill>
          <a:ln/>
        </p:spPr>
      </p:sp>
      <p:sp>
        <p:nvSpPr>
          <p:cNvPr id="15" name="Text 13"/>
          <p:cNvSpPr txBox="1"/>
          <p:nvPr/>
        </p:nvSpPr>
        <p:spPr>
          <a:xfrm>
            <a:off x="1188720" y="3694176"/>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A[0]=2 &gt; 1  →  true  →  shift 2 right  →  [ _, 2, 4, 5, 6, 3 ]   (j = −1)</a:t>
            </a:r>
            <a:endParaRPr lang="en-US" sz="1500" dirty="0"/>
          </a:p>
        </p:txBody>
      </p:sp>
      <p:sp>
        <p:nvSpPr>
          <p:cNvPr id="16" name="Shape 14"/>
          <p:cNvSpPr/>
          <p:nvPr/>
        </p:nvSpPr>
        <p:spPr>
          <a:xfrm>
            <a:off x="868680" y="4297680"/>
            <a:ext cx="146304" cy="146304"/>
          </a:xfrm>
          <a:prstGeom prst="ellipse">
            <a:avLst/>
          </a:prstGeom>
          <a:solidFill>
            <a:srgbClr val="C1272D"/>
          </a:solidFill>
          <a:ln/>
        </p:spPr>
      </p:sp>
      <p:sp>
        <p:nvSpPr>
          <p:cNvPr id="17" name="Text 15"/>
          <p:cNvSpPr txBox="1"/>
          <p:nvPr/>
        </p:nvSpPr>
        <p:spPr>
          <a:xfrm>
            <a:off x="1188720" y="4169664"/>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j &lt; 0, loop stops  →  insert key at A[0]</a:t>
            </a:r>
            <a:endParaRPr lang="en-US" sz="1500" dirty="0"/>
          </a:p>
        </p:txBody>
      </p:sp>
      <p:sp>
        <p:nvSpPr>
          <p:cNvPr id="18" name="Shape 16"/>
          <p:cNvSpPr/>
          <p:nvPr/>
        </p:nvSpPr>
        <p:spPr>
          <a:xfrm>
            <a:off x="868680" y="4800600"/>
            <a:ext cx="10424160" cy="0"/>
          </a:xfrm>
          <a:prstGeom prst="line">
            <a:avLst/>
          </a:prstGeom>
          <a:noFill/>
          <a:ln w="12700">
            <a:solidFill>
              <a:srgbClr val="CADCFC"/>
            </a:solidFill>
            <a:prstDash val="solid"/>
          </a:ln>
        </p:spPr>
      </p:sp>
      <p:sp>
        <p:nvSpPr>
          <p:cNvPr id="19" name="Text 17"/>
          <p:cNvSpPr txBox="1"/>
          <p:nvPr/>
        </p:nvSpPr>
        <p:spPr>
          <a:xfrm>
            <a:off x="868680" y="4937760"/>
            <a:ext cx="10424160" cy="365760"/>
          </a:xfrm>
          <a:prstGeom prst="rect">
            <a:avLst/>
          </a:prstGeom>
          <a:noFill/>
          <a:ln/>
        </p:spPr>
        <p:txBody>
          <a:bodyPr wrap="square" lIns="0" tIns="0" rIns="0" bIns="0" rtlCol="0" anchor="ctr"/>
          <a:lstStyle/>
          <a:p>
            <a:pPr indent="0" marL="0">
              <a:buNone/>
            </a:pPr>
            <a:r>
              <a:rPr lang="en-US" sz="1600" b="1" dirty="0">
                <a:solidFill>
                  <a:srgbClr val="16204A"/>
                </a:solidFill>
                <a:latin typeface="Calibri" pitchFamily="34" charset="0"/>
                <a:ea typeface="Calibri" pitchFamily="34" charset="-122"/>
                <a:cs typeface="Calibri" pitchFamily="34" charset="-120"/>
              </a:rPr>
              <a:t>Result:  </a:t>
            </a:r>
            <a:pPr indent="0" marL="0">
              <a:buNone/>
            </a:pPr>
            <a:r>
              <a:rPr lang="en-US" sz="1600" b="1" dirty="0">
                <a:solidFill>
                  <a:srgbClr val="5FA778"/>
                </a:solidFill>
                <a:latin typeface="Courier New" pitchFamily="34" charset="0"/>
                <a:ea typeface="Courier New" pitchFamily="34" charset="-122"/>
                <a:cs typeface="Courier New" pitchFamily="34" charset="-120"/>
              </a:rPr>
              <a:t>[1, 2, 4, 5, 6, 3]</a:t>
            </a:r>
            <a:endParaRPr lang="en-US" sz="1600" dirty="0"/>
          </a:p>
        </p:txBody>
      </p:sp>
      <p:sp>
        <p:nvSpPr>
          <p:cNvPr id="20" name="Text 18"/>
          <p:cNvSpPr txBox="1"/>
          <p:nvPr/>
        </p:nvSpPr>
        <p:spPr>
          <a:xfrm>
            <a:off x="868680" y="5321808"/>
            <a:ext cx="10424160" cy="320040"/>
          </a:xfrm>
          <a:prstGeom prst="rect">
            <a:avLst/>
          </a:prstGeom>
          <a:noFill/>
          <a:ln/>
        </p:spPr>
        <p:txBody>
          <a:bodyPr wrap="square" lIns="0" tIns="0" rIns="0" bIns="0" rtlCol="0" anchor="ctr"/>
          <a:lstStyle/>
          <a:p>
            <a:pPr indent="0" marL="0">
              <a:buNone/>
            </a:pPr>
            <a:r>
              <a:rPr lang="en-US" sz="1350" i="1" dirty="0">
                <a:solidFill>
                  <a:srgbClr val="5B6584"/>
                </a:solidFill>
                <a:latin typeface="Calibri" pitchFamily="34" charset="0"/>
                <a:ea typeface="Calibri" pitchFamily="34" charset="-122"/>
                <a:cs typeface="Calibri" pitchFamily="34" charset="-120"/>
              </a:rPr>
              <a:t>Sorted portion:  </a:t>
            </a:r>
            <a:pPr indent="0" marL="0">
              <a:buNone/>
            </a:pPr>
            <a:r>
              <a:rPr lang="en-US" sz="1350" i="1" dirty="0">
                <a:solidFill>
                  <a:srgbClr val="5B6584"/>
                </a:solidFill>
                <a:latin typeface="Courier New" pitchFamily="34" charset="0"/>
                <a:ea typeface="Courier New" pitchFamily="34" charset="-122"/>
                <a:cs typeface="Courier New" pitchFamily="34" charset="-120"/>
              </a:rPr>
              <a:t>[1, 2, 4, 5, 6]</a:t>
            </a:r>
            <a:endParaRPr lang="en-US" sz="135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rot="1080000">
            <a:off x="11109960" y="-822960"/>
            <a:ext cx="2011680" cy="2834640"/>
          </a:xfrm>
          <a:prstGeom prst="roundRect">
            <a:avLst>
              <a:gd name="adj" fmla="val 8182"/>
            </a:avLst>
          </a:prstGeom>
          <a:solidFill>
            <a:srgbClr val="1E2761">
              <a:alpha val="4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4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indent="0" marL="0">
              <a:buNone/>
            </a:pPr>
            <a:r>
              <a:rPr lang="en-US" sz="1300" b="1" spc="200" kern="0" dirty="0">
                <a:solidFill>
                  <a:srgbClr val="3C4E8C"/>
                </a:solidFill>
                <a:latin typeface="Calibri" pitchFamily="34" charset="0"/>
                <a:ea typeface="Calibri" pitchFamily="34" charset="-122"/>
                <a:cs typeface="Calibri" pitchFamily="34" charset="-120"/>
              </a:rPr>
              <a:t>FULL TRACE — PASS 5 OF 5</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indent="0" marL="0">
              <a:buNone/>
            </a:pPr>
            <a:r>
              <a:rPr lang="en-US" sz="3200" b="1" dirty="0">
                <a:solidFill>
                  <a:srgbClr val="16204A"/>
                </a:solidFill>
                <a:latin typeface="Cambria" pitchFamily="34" charset="0"/>
                <a:ea typeface="Cambria" pitchFamily="34" charset="-122"/>
                <a:cs typeface="Cambria" pitchFamily="34" charset="-120"/>
              </a:rPr>
              <a:t>Insert key = 3</a:t>
            </a:r>
            <a:endParaRPr lang="en-US" sz="3200" dirty="0"/>
          </a:p>
        </p:txBody>
      </p:sp>
      <p:sp>
        <p:nvSpPr>
          <p:cNvPr id="6" name="Text 4"/>
          <p:cNvSpPr txBox="1"/>
          <p:nvPr/>
        </p:nvSpPr>
        <p:spPr>
          <a:xfrm>
            <a:off x="548640" y="1600200"/>
            <a:ext cx="10972800" cy="36576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key = A[5] = 3</a:t>
            </a:r>
            <a:pPr indent="0" marL="0">
              <a:buNone/>
            </a:pPr>
            <a:r>
              <a:rPr lang="en-US" sz="1500" dirty="0">
                <a:solidFill>
                  <a:srgbClr val="5B6584"/>
                </a:solidFill>
                <a:latin typeface="Courier New" pitchFamily="34" charset="0"/>
                <a:ea typeface="Courier New" pitchFamily="34" charset="-122"/>
                <a:cs typeface="Courier New" pitchFamily="34" charset="-120"/>
              </a:rPr>
              <a:t>,   j starts at 4</a:t>
            </a:r>
            <a:endParaRPr lang="en-US" sz="1500" dirty="0"/>
          </a:p>
        </p:txBody>
      </p:sp>
      <p:sp>
        <p:nvSpPr>
          <p:cNvPr id="7" name="Shape 5"/>
          <p:cNvSpPr/>
          <p:nvPr/>
        </p:nvSpPr>
        <p:spPr>
          <a:xfrm>
            <a:off x="548640" y="2103120"/>
            <a:ext cx="11064240" cy="4041648"/>
          </a:xfrm>
          <a:prstGeom prst="roundRect">
            <a:avLst>
              <a:gd name="adj" fmla="val 1810"/>
            </a:avLst>
          </a:prstGeom>
          <a:solidFill>
            <a:srgbClr val="EEF2FC"/>
          </a:solidFill>
          <a:ln w="12700">
            <a:solidFill>
              <a:srgbClr val="CADCFC"/>
            </a:solidFill>
            <a:prstDash val="solid"/>
          </a:ln>
        </p:spPr>
      </p:sp>
      <p:sp>
        <p:nvSpPr>
          <p:cNvPr id="8" name="Shape 6"/>
          <p:cNvSpPr/>
          <p:nvPr/>
        </p:nvSpPr>
        <p:spPr>
          <a:xfrm>
            <a:off x="868680" y="2395728"/>
            <a:ext cx="146304" cy="146304"/>
          </a:xfrm>
          <a:prstGeom prst="ellipse">
            <a:avLst/>
          </a:prstGeom>
          <a:solidFill>
            <a:srgbClr val="C1272D"/>
          </a:solidFill>
          <a:ln/>
        </p:spPr>
      </p:sp>
      <p:sp>
        <p:nvSpPr>
          <p:cNvPr id="9" name="Text 7"/>
          <p:cNvSpPr txBox="1"/>
          <p:nvPr/>
        </p:nvSpPr>
        <p:spPr>
          <a:xfrm>
            <a:off x="1188720" y="2267712"/>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A[4]=6 &gt; 3  →  true  →  shift 6 right  →  [ 1, 2, 4, 5, _, 6 ]   (j = 3)</a:t>
            </a:r>
            <a:endParaRPr lang="en-US" sz="1500" dirty="0"/>
          </a:p>
        </p:txBody>
      </p:sp>
      <p:sp>
        <p:nvSpPr>
          <p:cNvPr id="10" name="Shape 8"/>
          <p:cNvSpPr/>
          <p:nvPr/>
        </p:nvSpPr>
        <p:spPr>
          <a:xfrm>
            <a:off x="868680" y="2871216"/>
            <a:ext cx="146304" cy="146304"/>
          </a:xfrm>
          <a:prstGeom prst="ellipse">
            <a:avLst/>
          </a:prstGeom>
          <a:solidFill>
            <a:srgbClr val="C1272D"/>
          </a:solidFill>
          <a:ln/>
        </p:spPr>
      </p:sp>
      <p:sp>
        <p:nvSpPr>
          <p:cNvPr id="11" name="Text 9"/>
          <p:cNvSpPr txBox="1"/>
          <p:nvPr/>
        </p:nvSpPr>
        <p:spPr>
          <a:xfrm>
            <a:off x="1188720" y="2743200"/>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A[3]=5 &gt; 3  →  true  →  shift 5 right  →  [ 1, 2, 4, _, 5, 6 ]   (j = 2)</a:t>
            </a:r>
            <a:endParaRPr lang="en-US" sz="1500" dirty="0"/>
          </a:p>
        </p:txBody>
      </p:sp>
      <p:sp>
        <p:nvSpPr>
          <p:cNvPr id="12" name="Shape 10"/>
          <p:cNvSpPr/>
          <p:nvPr/>
        </p:nvSpPr>
        <p:spPr>
          <a:xfrm>
            <a:off x="868680" y="3346704"/>
            <a:ext cx="146304" cy="146304"/>
          </a:xfrm>
          <a:prstGeom prst="ellipse">
            <a:avLst/>
          </a:prstGeom>
          <a:solidFill>
            <a:srgbClr val="C1272D"/>
          </a:solidFill>
          <a:ln/>
        </p:spPr>
      </p:sp>
      <p:sp>
        <p:nvSpPr>
          <p:cNvPr id="13" name="Text 11"/>
          <p:cNvSpPr txBox="1"/>
          <p:nvPr/>
        </p:nvSpPr>
        <p:spPr>
          <a:xfrm>
            <a:off x="1188720" y="3218688"/>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A[2]=4 &gt; 3  →  true  →  shift 4 right  →  [ 1, 2, _, 4, 5, 6 ]   (j = 1)</a:t>
            </a:r>
            <a:endParaRPr lang="en-US" sz="1500" dirty="0"/>
          </a:p>
        </p:txBody>
      </p:sp>
      <p:sp>
        <p:nvSpPr>
          <p:cNvPr id="14" name="Shape 12"/>
          <p:cNvSpPr/>
          <p:nvPr/>
        </p:nvSpPr>
        <p:spPr>
          <a:xfrm>
            <a:off x="868680" y="3822192"/>
            <a:ext cx="146304" cy="146304"/>
          </a:xfrm>
          <a:prstGeom prst="ellipse">
            <a:avLst/>
          </a:prstGeom>
          <a:solidFill>
            <a:srgbClr val="C1272D"/>
          </a:solidFill>
          <a:ln/>
        </p:spPr>
      </p:sp>
      <p:sp>
        <p:nvSpPr>
          <p:cNvPr id="15" name="Text 13"/>
          <p:cNvSpPr txBox="1"/>
          <p:nvPr/>
        </p:nvSpPr>
        <p:spPr>
          <a:xfrm>
            <a:off x="1188720" y="3694176"/>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Compare A[1]=2 &gt; 3  →  false  →  stop</a:t>
            </a:r>
            <a:endParaRPr lang="en-US" sz="1500" dirty="0"/>
          </a:p>
        </p:txBody>
      </p:sp>
      <p:sp>
        <p:nvSpPr>
          <p:cNvPr id="16" name="Shape 14"/>
          <p:cNvSpPr/>
          <p:nvPr/>
        </p:nvSpPr>
        <p:spPr>
          <a:xfrm>
            <a:off x="868680" y="4297680"/>
            <a:ext cx="146304" cy="146304"/>
          </a:xfrm>
          <a:prstGeom prst="ellipse">
            <a:avLst/>
          </a:prstGeom>
          <a:solidFill>
            <a:srgbClr val="C1272D"/>
          </a:solidFill>
          <a:ln/>
        </p:spPr>
      </p:sp>
      <p:sp>
        <p:nvSpPr>
          <p:cNvPr id="17" name="Text 15"/>
          <p:cNvSpPr txBox="1"/>
          <p:nvPr/>
        </p:nvSpPr>
        <p:spPr>
          <a:xfrm>
            <a:off x="1188720" y="4169664"/>
            <a:ext cx="10149840" cy="384048"/>
          </a:xfrm>
          <a:prstGeom prst="rect">
            <a:avLst/>
          </a:prstGeom>
          <a:noFill/>
          <a:ln/>
        </p:spPr>
        <p:txBody>
          <a:bodyPr wrap="square" lIns="0" tIns="0" rIns="0" bIns="0" rtlCol="0" anchor="ctr"/>
          <a:lstStyle/>
          <a:p>
            <a:pPr indent="0" marL="0">
              <a:buNone/>
            </a:pPr>
            <a:r>
              <a:rPr lang="en-US" sz="1500" dirty="0">
                <a:solidFill>
                  <a:srgbClr val="1B2233"/>
                </a:solidFill>
                <a:latin typeface="Courier New" pitchFamily="34" charset="0"/>
                <a:ea typeface="Courier New" pitchFamily="34" charset="-122"/>
                <a:cs typeface="Courier New" pitchFamily="34" charset="-120"/>
              </a:rPr>
              <a:t>Insert key at A[2]</a:t>
            </a:r>
            <a:endParaRPr lang="en-US" sz="1500" dirty="0"/>
          </a:p>
        </p:txBody>
      </p:sp>
      <p:sp>
        <p:nvSpPr>
          <p:cNvPr id="18" name="Shape 16"/>
          <p:cNvSpPr/>
          <p:nvPr/>
        </p:nvSpPr>
        <p:spPr>
          <a:xfrm>
            <a:off x="868680" y="4800600"/>
            <a:ext cx="10424160" cy="0"/>
          </a:xfrm>
          <a:prstGeom prst="line">
            <a:avLst/>
          </a:prstGeom>
          <a:noFill/>
          <a:ln w="12700">
            <a:solidFill>
              <a:srgbClr val="CADCFC"/>
            </a:solidFill>
            <a:prstDash val="solid"/>
          </a:ln>
        </p:spPr>
      </p:sp>
      <p:sp>
        <p:nvSpPr>
          <p:cNvPr id="19" name="Text 17"/>
          <p:cNvSpPr txBox="1"/>
          <p:nvPr/>
        </p:nvSpPr>
        <p:spPr>
          <a:xfrm>
            <a:off x="868680" y="4937760"/>
            <a:ext cx="10424160" cy="365760"/>
          </a:xfrm>
          <a:prstGeom prst="rect">
            <a:avLst/>
          </a:prstGeom>
          <a:noFill/>
          <a:ln/>
        </p:spPr>
        <p:txBody>
          <a:bodyPr wrap="square" lIns="0" tIns="0" rIns="0" bIns="0" rtlCol="0" anchor="ctr"/>
          <a:lstStyle/>
          <a:p>
            <a:pPr indent="0" marL="0">
              <a:buNone/>
            </a:pPr>
            <a:r>
              <a:rPr lang="en-US" sz="1600" b="1" dirty="0">
                <a:solidFill>
                  <a:srgbClr val="16204A"/>
                </a:solidFill>
                <a:latin typeface="Calibri" pitchFamily="34" charset="0"/>
                <a:ea typeface="Calibri" pitchFamily="34" charset="-122"/>
                <a:cs typeface="Calibri" pitchFamily="34" charset="-120"/>
              </a:rPr>
              <a:t>Result:  </a:t>
            </a:r>
            <a:pPr indent="0" marL="0">
              <a:buNone/>
            </a:pPr>
            <a:r>
              <a:rPr lang="en-US" sz="1600" b="1" dirty="0">
                <a:solidFill>
                  <a:srgbClr val="5FA778"/>
                </a:solidFill>
                <a:latin typeface="Courier New" pitchFamily="34" charset="0"/>
                <a:ea typeface="Courier New" pitchFamily="34" charset="-122"/>
                <a:cs typeface="Courier New" pitchFamily="34" charset="-120"/>
              </a:rPr>
              <a:t>[1, 2, 3, 4, 5, 6]  —  fully sorted</a:t>
            </a:r>
            <a:endParaRPr lang="en-US" sz="1600" dirty="0"/>
          </a:p>
        </p:txBody>
      </p:sp>
      <p:sp>
        <p:nvSpPr>
          <p:cNvPr id="20" name="Text 18"/>
          <p:cNvSpPr txBox="1"/>
          <p:nvPr/>
        </p:nvSpPr>
        <p:spPr>
          <a:xfrm>
            <a:off x="868680" y="5321808"/>
            <a:ext cx="10424160" cy="320040"/>
          </a:xfrm>
          <a:prstGeom prst="rect">
            <a:avLst/>
          </a:prstGeom>
          <a:noFill/>
          <a:ln/>
        </p:spPr>
        <p:txBody>
          <a:bodyPr wrap="square" lIns="0" tIns="0" rIns="0" bIns="0" rtlCol="0" anchor="ctr"/>
          <a:lstStyle/>
          <a:p>
            <a:pPr indent="0" marL="0">
              <a:buNone/>
            </a:pPr>
            <a:r>
              <a:rPr lang="en-US" sz="1350" i="1" dirty="0">
                <a:solidFill>
                  <a:srgbClr val="5B6584"/>
                </a:solidFill>
                <a:latin typeface="Calibri" pitchFamily="34" charset="0"/>
                <a:ea typeface="Calibri" pitchFamily="34" charset="-122"/>
                <a:cs typeface="Calibri" pitchFamily="34" charset="-120"/>
              </a:rPr>
              <a:t>Sorted portion:  </a:t>
            </a:r>
            <a:pPr indent="0" marL="0">
              <a:buNone/>
            </a:pPr>
            <a:r>
              <a:rPr lang="en-US" sz="1350" i="1" dirty="0">
                <a:solidFill>
                  <a:srgbClr val="5B6584"/>
                </a:solidFill>
                <a:latin typeface="Courier New" pitchFamily="34" charset="0"/>
                <a:ea typeface="Courier New" pitchFamily="34" charset="-122"/>
                <a:cs typeface="Courier New" pitchFamily="34" charset="-120"/>
              </a:rPr>
              <a:t>[1, 2, 3, 4, 5, 6]  (all 6 elements)</a:t>
            </a:r>
            <a:endParaRPr lang="en-US" sz="135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rot="1080000">
            <a:off x="11109960" y="-822960"/>
            <a:ext cx="2011680" cy="2834640"/>
          </a:xfrm>
          <a:prstGeom prst="roundRect">
            <a:avLst>
              <a:gd name="adj" fmla="val 8182"/>
            </a:avLst>
          </a:prstGeom>
          <a:solidFill>
            <a:srgbClr val="1E2761">
              <a:alpha val="4000"/>
            </a:srgbClr>
          </a:solidFill>
          <a:ln/>
        </p:spPr>
      </p:sp>
      <p:sp>
        <p:nvSpPr>
          <p:cNvPr id="3" name="Shape 1"/>
          <p:cNvSpPr/>
          <p:nvPr/>
        </p:nvSpPr>
        <p:spPr>
          <a:xfrm rot="1080000">
            <a:off x="-1005840" y="5669280"/>
            <a:ext cx="2011680" cy="2834640"/>
          </a:xfrm>
          <a:prstGeom prst="roundRect">
            <a:avLst>
              <a:gd name="adj" fmla="val 8182"/>
            </a:avLst>
          </a:prstGeom>
          <a:solidFill>
            <a:srgbClr val="1E2761">
              <a:alpha val="4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indent="0" marL="0">
              <a:buNone/>
            </a:pPr>
            <a:r>
              <a:rPr lang="en-US" sz="1300" b="1" spc="200" kern="0" dirty="0">
                <a:solidFill>
                  <a:srgbClr val="3C4E8C"/>
                </a:solidFill>
                <a:latin typeface="Calibri" pitchFamily="34" charset="0"/>
                <a:ea typeface="Calibri" pitchFamily="34" charset="-122"/>
                <a:cs typeface="Calibri" pitchFamily="34" charset="-120"/>
              </a:rPr>
              <a:t>PUTTING IT TOGETHER</a:t>
            </a:r>
            <a:endParaRPr lang="en-US" sz="1300" dirty="0"/>
          </a:p>
        </p:txBody>
      </p:sp>
      <p:sp>
        <p:nvSpPr>
          <p:cNvPr id="5" name="Text 3"/>
          <p:cNvSpPr txBox="1"/>
          <p:nvPr/>
        </p:nvSpPr>
        <p:spPr>
          <a:xfrm>
            <a:off x="548640" y="621792"/>
            <a:ext cx="10972800" cy="731520"/>
          </a:xfrm>
          <a:prstGeom prst="rect">
            <a:avLst/>
          </a:prstGeom>
          <a:noFill/>
          <a:ln/>
        </p:spPr>
        <p:txBody>
          <a:bodyPr wrap="square" lIns="0" tIns="0" rIns="0" bIns="0" rtlCol="0" anchor="ctr"/>
          <a:lstStyle/>
          <a:p>
            <a:pPr indent="0" marL="0">
              <a:buNone/>
            </a:pPr>
            <a:r>
              <a:rPr lang="en-US" sz="3200" b="1" dirty="0">
                <a:solidFill>
                  <a:srgbClr val="16204A"/>
                </a:solidFill>
                <a:latin typeface="Cambria" pitchFamily="34" charset="0"/>
                <a:ea typeface="Cambria" pitchFamily="34" charset="-122"/>
                <a:cs typeface="Cambria" pitchFamily="34" charset="-120"/>
              </a:rPr>
              <a:t>Comparisons &amp; Shifts — All 5 Passes</a:t>
            </a:r>
            <a:endParaRPr lang="en-US" sz="3200" dirty="0"/>
          </a:p>
        </p:txBody>
      </p:sp>
      <p:sp>
        <p:nvSpPr>
          <p:cNvPr id="6" name="Shape 4"/>
          <p:cNvSpPr/>
          <p:nvPr/>
        </p:nvSpPr>
        <p:spPr>
          <a:xfrm>
            <a:off x="548640" y="1600200"/>
            <a:ext cx="11064240" cy="457200"/>
          </a:xfrm>
          <a:prstGeom prst="roundRect">
            <a:avLst>
              <a:gd name="adj" fmla="val 16000"/>
            </a:avLst>
          </a:prstGeom>
          <a:solidFill>
            <a:srgbClr val="1E2761"/>
          </a:solidFill>
          <a:ln w="12700">
            <a:solidFill>
              <a:srgbClr val="1E2761"/>
            </a:solidFill>
            <a:prstDash val="solid"/>
          </a:ln>
        </p:spPr>
      </p:sp>
      <p:sp>
        <p:nvSpPr>
          <p:cNvPr id="7" name="Text 5"/>
          <p:cNvSpPr txBox="1"/>
          <p:nvPr/>
        </p:nvSpPr>
        <p:spPr>
          <a:xfrm>
            <a:off x="548640" y="1600200"/>
            <a:ext cx="1097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Pass</a:t>
            </a:r>
            <a:endParaRPr lang="en-US" sz="1300" dirty="0"/>
          </a:p>
        </p:txBody>
      </p:sp>
      <p:sp>
        <p:nvSpPr>
          <p:cNvPr id="8" name="Text 6"/>
          <p:cNvSpPr txBox="1"/>
          <p:nvPr/>
        </p:nvSpPr>
        <p:spPr>
          <a:xfrm>
            <a:off x="1645920" y="1600200"/>
            <a:ext cx="10058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a:t>
            </a:r>
            <a:endParaRPr lang="en-US" sz="1300" dirty="0"/>
          </a:p>
        </p:txBody>
      </p:sp>
      <p:sp>
        <p:nvSpPr>
          <p:cNvPr id="9" name="Text 7"/>
          <p:cNvSpPr txBox="1"/>
          <p:nvPr/>
        </p:nvSpPr>
        <p:spPr>
          <a:xfrm>
            <a:off x="2651760" y="1600200"/>
            <a:ext cx="21031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Comparisons</a:t>
            </a:r>
            <a:endParaRPr lang="en-US" sz="1300" dirty="0"/>
          </a:p>
        </p:txBody>
      </p:sp>
      <p:sp>
        <p:nvSpPr>
          <p:cNvPr id="10" name="Text 8"/>
          <p:cNvSpPr txBox="1"/>
          <p:nvPr/>
        </p:nvSpPr>
        <p:spPr>
          <a:xfrm>
            <a:off x="4754880" y="1600200"/>
            <a:ext cx="14630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Shifts</a:t>
            </a:r>
            <a:endParaRPr lang="en-US" sz="1300" dirty="0"/>
          </a:p>
        </p:txBody>
      </p:sp>
      <p:sp>
        <p:nvSpPr>
          <p:cNvPr id="11" name="Text 9"/>
          <p:cNvSpPr txBox="1"/>
          <p:nvPr/>
        </p:nvSpPr>
        <p:spPr>
          <a:xfrm>
            <a:off x="6217920" y="1600200"/>
            <a:ext cx="5394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Array After Pass</a:t>
            </a:r>
            <a:endParaRPr lang="en-US" sz="1300" dirty="0"/>
          </a:p>
        </p:txBody>
      </p:sp>
      <p:sp>
        <p:nvSpPr>
          <p:cNvPr id="12" name="Shape 10"/>
          <p:cNvSpPr/>
          <p:nvPr/>
        </p:nvSpPr>
        <p:spPr>
          <a:xfrm>
            <a:off x="548640" y="2057400"/>
            <a:ext cx="11064240" cy="438912"/>
          </a:xfrm>
          <a:prstGeom prst="roundRect">
            <a:avLst>
              <a:gd name="adj" fmla="val 16667"/>
            </a:avLst>
          </a:prstGeom>
          <a:solidFill>
            <a:srgbClr val="EEF2FC"/>
          </a:solidFill>
          <a:ln w="12700">
            <a:solidFill>
              <a:srgbClr val="CADCFC"/>
            </a:solidFill>
            <a:prstDash val="solid"/>
          </a:ln>
        </p:spPr>
      </p:sp>
      <p:sp>
        <p:nvSpPr>
          <p:cNvPr id="13" name="Text 11"/>
          <p:cNvSpPr txBox="1"/>
          <p:nvPr/>
        </p:nvSpPr>
        <p:spPr>
          <a:xfrm>
            <a:off x="548640" y="2057400"/>
            <a:ext cx="109728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14" name="Text 12"/>
          <p:cNvSpPr txBox="1"/>
          <p:nvPr/>
        </p:nvSpPr>
        <p:spPr>
          <a:xfrm>
            <a:off x="1645920" y="2057400"/>
            <a:ext cx="100584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15" name="Text 13"/>
          <p:cNvSpPr txBox="1"/>
          <p:nvPr/>
        </p:nvSpPr>
        <p:spPr>
          <a:xfrm>
            <a:off x="2651760" y="2057400"/>
            <a:ext cx="210312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16" name="Text 14"/>
          <p:cNvSpPr txBox="1"/>
          <p:nvPr/>
        </p:nvSpPr>
        <p:spPr>
          <a:xfrm>
            <a:off x="4754880" y="2057400"/>
            <a:ext cx="146304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17" name="Text 15"/>
          <p:cNvSpPr txBox="1"/>
          <p:nvPr/>
        </p:nvSpPr>
        <p:spPr>
          <a:xfrm>
            <a:off x="6217920" y="2057400"/>
            <a:ext cx="5394960" cy="438912"/>
          </a:xfrm>
          <a:prstGeom prst="rect">
            <a:avLst/>
          </a:prstGeom>
          <a:noFill/>
          <a:ln/>
        </p:spPr>
        <p:txBody>
          <a:bodyPr wrap="square" lIns="0" tIns="2540" rIns="0" bIns="0" rtlCol="0" anchor="ctr"/>
          <a:lstStyle/>
          <a:p>
            <a:pPr algn="l" indent="0" marL="0">
              <a:buNone/>
            </a:pPr>
            <a:r>
              <a:rPr lang="en-US" sz="1300" dirty="0">
                <a:solidFill>
                  <a:srgbClr val="1B2233"/>
                </a:solidFill>
                <a:latin typeface="Courier New" pitchFamily="34" charset="0"/>
                <a:ea typeface="Courier New" pitchFamily="34" charset="-122"/>
                <a:cs typeface="Courier New" pitchFamily="34" charset="-120"/>
              </a:rPr>
              <a:t>[2, 5, 4, 6, 1, 3]</a:t>
            </a:r>
            <a:endParaRPr lang="en-US" sz="1300" dirty="0"/>
          </a:p>
        </p:txBody>
      </p:sp>
      <p:sp>
        <p:nvSpPr>
          <p:cNvPr id="18" name="Shape 16"/>
          <p:cNvSpPr/>
          <p:nvPr/>
        </p:nvSpPr>
        <p:spPr>
          <a:xfrm>
            <a:off x="548640" y="2496312"/>
            <a:ext cx="11064240" cy="438912"/>
          </a:xfrm>
          <a:prstGeom prst="roundRect">
            <a:avLst>
              <a:gd name="adj" fmla="val 16667"/>
            </a:avLst>
          </a:prstGeom>
          <a:solidFill>
            <a:srgbClr val="FFFFFF"/>
          </a:solidFill>
          <a:ln w="12700">
            <a:solidFill>
              <a:srgbClr val="CADCFC"/>
            </a:solidFill>
            <a:prstDash val="solid"/>
          </a:ln>
        </p:spPr>
      </p:sp>
      <p:sp>
        <p:nvSpPr>
          <p:cNvPr id="19" name="Text 17"/>
          <p:cNvSpPr txBox="1"/>
          <p:nvPr/>
        </p:nvSpPr>
        <p:spPr>
          <a:xfrm>
            <a:off x="548640" y="2496312"/>
            <a:ext cx="109728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20" name="Text 18"/>
          <p:cNvSpPr txBox="1"/>
          <p:nvPr/>
        </p:nvSpPr>
        <p:spPr>
          <a:xfrm>
            <a:off x="1645920" y="2496312"/>
            <a:ext cx="100584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21" name="Text 19"/>
          <p:cNvSpPr txBox="1"/>
          <p:nvPr/>
        </p:nvSpPr>
        <p:spPr>
          <a:xfrm>
            <a:off x="2651760" y="2496312"/>
            <a:ext cx="210312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22" name="Text 20"/>
          <p:cNvSpPr txBox="1"/>
          <p:nvPr/>
        </p:nvSpPr>
        <p:spPr>
          <a:xfrm>
            <a:off x="4754880" y="2496312"/>
            <a:ext cx="146304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23" name="Text 21"/>
          <p:cNvSpPr txBox="1"/>
          <p:nvPr/>
        </p:nvSpPr>
        <p:spPr>
          <a:xfrm>
            <a:off x="6217920" y="2496312"/>
            <a:ext cx="5394960" cy="438912"/>
          </a:xfrm>
          <a:prstGeom prst="rect">
            <a:avLst/>
          </a:prstGeom>
          <a:noFill/>
          <a:ln/>
        </p:spPr>
        <p:txBody>
          <a:bodyPr wrap="square" lIns="0" tIns="2540" rIns="0" bIns="0" rtlCol="0" anchor="ctr"/>
          <a:lstStyle/>
          <a:p>
            <a:pPr algn="l" indent="0" marL="0">
              <a:buNone/>
            </a:pPr>
            <a:r>
              <a:rPr lang="en-US" sz="1300" dirty="0">
                <a:solidFill>
                  <a:srgbClr val="1B2233"/>
                </a:solidFill>
                <a:latin typeface="Courier New" pitchFamily="34" charset="0"/>
                <a:ea typeface="Courier New" pitchFamily="34" charset="-122"/>
                <a:cs typeface="Courier New" pitchFamily="34" charset="-120"/>
              </a:rPr>
              <a:t>[2, 4, 5, 6, 1, 3]</a:t>
            </a:r>
            <a:endParaRPr lang="en-US" sz="1300" dirty="0"/>
          </a:p>
        </p:txBody>
      </p:sp>
      <p:sp>
        <p:nvSpPr>
          <p:cNvPr id="24" name="Shape 22"/>
          <p:cNvSpPr/>
          <p:nvPr/>
        </p:nvSpPr>
        <p:spPr>
          <a:xfrm>
            <a:off x="548640" y="2935224"/>
            <a:ext cx="11064240" cy="438912"/>
          </a:xfrm>
          <a:prstGeom prst="roundRect">
            <a:avLst>
              <a:gd name="adj" fmla="val 16667"/>
            </a:avLst>
          </a:prstGeom>
          <a:solidFill>
            <a:srgbClr val="EEF2FC"/>
          </a:solidFill>
          <a:ln w="12700">
            <a:solidFill>
              <a:srgbClr val="CADCFC"/>
            </a:solidFill>
            <a:prstDash val="solid"/>
          </a:ln>
        </p:spPr>
      </p:sp>
      <p:sp>
        <p:nvSpPr>
          <p:cNvPr id="25" name="Text 23"/>
          <p:cNvSpPr txBox="1"/>
          <p:nvPr/>
        </p:nvSpPr>
        <p:spPr>
          <a:xfrm>
            <a:off x="548640" y="2935224"/>
            <a:ext cx="109728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26" name="Text 24"/>
          <p:cNvSpPr txBox="1"/>
          <p:nvPr/>
        </p:nvSpPr>
        <p:spPr>
          <a:xfrm>
            <a:off x="1645920" y="2935224"/>
            <a:ext cx="100584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6</a:t>
            </a:r>
            <a:endParaRPr lang="en-US" sz="1300" dirty="0"/>
          </a:p>
        </p:txBody>
      </p:sp>
      <p:sp>
        <p:nvSpPr>
          <p:cNvPr id="27" name="Text 25"/>
          <p:cNvSpPr txBox="1"/>
          <p:nvPr/>
        </p:nvSpPr>
        <p:spPr>
          <a:xfrm>
            <a:off x="2651760" y="2935224"/>
            <a:ext cx="210312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28" name="Text 26"/>
          <p:cNvSpPr txBox="1"/>
          <p:nvPr/>
        </p:nvSpPr>
        <p:spPr>
          <a:xfrm>
            <a:off x="4754880" y="2935224"/>
            <a:ext cx="146304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0</a:t>
            </a:r>
            <a:endParaRPr lang="en-US" sz="1300" dirty="0"/>
          </a:p>
        </p:txBody>
      </p:sp>
      <p:sp>
        <p:nvSpPr>
          <p:cNvPr id="29" name="Text 27"/>
          <p:cNvSpPr txBox="1"/>
          <p:nvPr/>
        </p:nvSpPr>
        <p:spPr>
          <a:xfrm>
            <a:off x="6217920" y="2935224"/>
            <a:ext cx="5394960" cy="438912"/>
          </a:xfrm>
          <a:prstGeom prst="rect">
            <a:avLst/>
          </a:prstGeom>
          <a:noFill/>
          <a:ln/>
        </p:spPr>
        <p:txBody>
          <a:bodyPr wrap="square" lIns="0" tIns="2540" rIns="0" bIns="0" rtlCol="0" anchor="ctr"/>
          <a:lstStyle/>
          <a:p>
            <a:pPr algn="l" indent="0" marL="0">
              <a:buNone/>
            </a:pPr>
            <a:r>
              <a:rPr lang="en-US" sz="1300" dirty="0">
                <a:solidFill>
                  <a:srgbClr val="1B2233"/>
                </a:solidFill>
                <a:latin typeface="Courier New" pitchFamily="34" charset="0"/>
                <a:ea typeface="Courier New" pitchFamily="34" charset="-122"/>
                <a:cs typeface="Courier New" pitchFamily="34" charset="-120"/>
              </a:rPr>
              <a:t>[2, 4, 5, 6, 1, 3]</a:t>
            </a:r>
            <a:endParaRPr lang="en-US" sz="1300" dirty="0"/>
          </a:p>
        </p:txBody>
      </p:sp>
      <p:sp>
        <p:nvSpPr>
          <p:cNvPr id="30" name="Shape 28"/>
          <p:cNvSpPr/>
          <p:nvPr/>
        </p:nvSpPr>
        <p:spPr>
          <a:xfrm>
            <a:off x="548640" y="3374136"/>
            <a:ext cx="11064240" cy="438912"/>
          </a:xfrm>
          <a:prstGeom prst="roundRect">
            <a:avLst>
              <a:gd name="adj" fmla="val 16667"/>
            </a:avLst>
          </a:prstGeom>
          <a:solidFill>
            <a:srgbClr val="FFFFFF"/>
          </a:solidFill>
          <a:ln w="12700">
            <a:solidFill>
              <a:srgbClr val="CADCFC"/>
            </a:solidFill>
            <a:prstDash val="solid"/>
          </a:ln>
        </p:spPr>
      </p:sp>
      <p:sp>
        <p:nvSpPr>
          <p:cNvPr id="31" name="Text 29"/>
          <p:cNvSpPr txBox="1"/>
          <p:nvPr/>
        </p:nvSpPr>
        <p:spPr>
          <a:xfrm>
            <a:off x="548640" y="3374136"/>
            <a:ext cx="109728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32" name="Text 30"/>
          <p:cNvSpPr txBox="1"/>
          <p:nvPr/>
        </p:nvSpPr>
        <p:spPr>
          <a:xfrm>
            <a:off x="1645920" y="3374136"/>
            <a:ext cx="100584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33" name="Text 31"/>
          <p:cNvSpPr txBox="1"/>
          <p:nvPr/>
        </p:nvSpPr>
        <p:spPr>
          <a:xfrm>
            <a:off x="2651760" y="3374136"/>
            <a:ext cx="210312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34" name="Text 32"/>
          <p:cNvSpPr txBox="1"/>
          <p:nvPr/>
        </p:nvSpPr>
        <p:spPr>
          <a:xfrm>
            <a:off x="4754880" y="3374136"/>
            <a:ext cx="146304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35" name="Text 33"/>
          <p:cNvSpPr txBox="1"/>
          <p:nvPr/>
        </p:nvSpPr>
        <p:spPr>
          <a:xfrm>
            <a:off x="6217920" y="3374136"/>
            <a:ext cx="5394960" cy="438912"/>
          </a:xfrm>
          <a:prstGeom prst="rect">
            <a:avLst/>
          </a:prstGeom>
          <a:noFill/>
          <a:ln/>
        </p:spPr>
        <p:txBody>
          <a:bodyPr wrap="square" lIns="0" tIns="2540" rIns="0" bIns="0" rtlCol="0" anchor="ctr"/>
          <a:lstStyle/>
          <a:p>
            <a:pPr algn="l" indent="0" marL="0">
              <a:buNone/>
            </a:pPr>
            <a:r>
              <a:rPr lang="en-US" sz="1300" dirty="0">
                <a:solidFill>
                  <a:srgbClr val="1B2233"/>
                </a:solidFill>
                <a:latin typeface="Courier New" pitchFamily="34" charset="0"/>
                <a:ea typeface="Courier New" pitchFamily="34" charset="-122"/>
                <a:cs typeface="Courier New" pitchFamily="34" charset="-120"/>
              </a:rPr>
              <a:t>[1, 2, 4, 5, 6, 3]</a:t>
            </a:r>
            <a:endParaRPr lang="en-US" sz="1300" dirty="0"/>
          </a:p>
        </p:txBody>
      </p:sp>
      <p:sp>
        <p:nvSpPr>
          <p:cNvPr id="36" name="Shape 34"/>
          <p:cNvSpPr/>
          <p:nvPr/>
        </p:nvSpPr>
        <p:spPr>
          <a:xfrm>
            <a:off x="548640" y="3813048"/>
            <a:ext cx="11064240" cy="438912"/>
          </a:xfrm>
          <a:prstGeom prst="roundRect">
            <a:avLst>
              <a:gd name="adj" fmla="val 16667"/>
            </a:avLst>
          </a:prstGeom>
          <a:solidFill>
            <a:srgbClr val="EEF2FC"/>
          </a:solidFill>
          <a:ln w="12700">
            <a:solidFill>
              <a:srgbClr val="CADCFC"/>
            </a:solidFill>
            <a:prstDash val="solid"/>
          </a:ln>
        </p:spPr>
      </p:sp>
      <p:sp>
        <p:nvSpPr>
          <p:cNvPr id="37" name="Text 35"/>
          <p:cNvSpPr txBox="1"/>
          <p:nvPr/>
        </p:nvSpPr>
        <p:spPr>
          <a:xfrm>
            <a:off x="548640" y="3813048"/>
            <a:ext cx="109728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38" name="Text 36"/>
          <p:cNvSpPr txBox="1"/>
          <p:nvPr/>
        </p:nvSpPr>
        <p:spPr>
          <a:xfrm>
            <a:off x="1645920" y="3813048"/>
            <a:ext cx="1005840" cy="438912"/>
          </a:xfrm>
          <a:prstGeom prst="rect">
            <a:avLst/>
          </a:prstGeom>
          <a:noFill/>
          <a:ln/>
        </p:spPr>
        <p:txBody>
          <a:bodyPr wrap="square" lIns="0" tIns="0" rIns="0" bIns="0" rtlCol="0" anchor="ctr"/>
          <a:lstStyle/>
          <a:p>
            <a:pPr algn="ctr" indent="0" marL="0">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39" name="Text 37"/>
          <p:cNvSpPr txBox="1"/>
          <p:nvPr/>
        </p:nvSpPr>
        <p:spPr>
          <a:xfrm>
            <a:off x="2651760" y="3813048"/>
            <a:ext cx="210312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40" name="Text 38"/>
          <p:cNvSpPr txBox="1"/>
          <p:nvPr/>
        </p:nvSpPr>
        <p:spPr>
          <a:xfrm>
            <a:off x="4754880" y="3813048"/>
            <a:ext cx="1463040" cy="438912"/>
          </a:xfrm>
          <a:prstGeom prst="rect">
            <a:avLst/>
          </a:prstGeom>
          <a:noFill/>
          <a:ln/>
        </p:spPr>
        <p:txBody>
          <a:bodyPr wrap="square" lIns="0" tIns="0" rIns="0" bIns="0" rtlCol="0" anchor="ctr"/>
          <a:lstStyle/>
          <a:p>
            <a:pPr algn="ctr" indent="0" marL="0">
              <a:buNone/>
            </a:pPr>
            <a:r>
              <a:rPr lang="en-US" sz="1300"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41" name="Text 39"/>
          <p:cNvSpPr txBox="1"/>
          <p:nvPr/>
        </p:nvSpPr>
        <p:spPr>
          <a:xfrm>
            <a:off x="6217920" y="3813048"/>
            <a:ext cx="5394960" cy="438912"/>
          </a:xfrm>
          <a:prstGeom prst="rect">
            <a:avLst/>
          </a:prstGeom>
          <a:noFill/>
          <a:ln/>
        </p:spPr>
        <p:txBody>
          <a:bodyPr wrap="square" lIns="0" tIns="2540" rIns="0" bIns="0" rtlCol="0" anchor="ctr"/>
          <a:lstStyle/>
          <a:p>
            <a:pPr algn="l" indent="0" marL="0">
              <a:buNone/>
            </a:pPr>
            <a:r>
              <a:rPr lang="en-US" sz="1300" dirty="0">
                <a:solidFill>
                  <a:srgbClr val="1B2233"/>
                </a:solidFill>
                <a:latin typeface="Courier New" pitchFamily="34" charset="0"/>
                <a:ea typeface="Courier New" pitchFamily="34" charset="-122"/>
                <a:cs typeface="Courier New" pitchFamily="34" charset="-120"/>
              </a:rPr>
              <a:t>[1, 2, 3, 4, 5, 6]</a:t>
            </a:r>
            <a:endParaRPr lang="en-US" sz="1300" dirty="0"/>
          </a:p>
        </p:txBody>
      </p:sp>
      <p:sp>
        <p:nvSpPr>
          <p:cNvPr id="42" name="Shape 40"/>
          <p:cNvSpPr/>
          <p:nvPr/>
        </p:nvSpPr>
        <p:spPr>
          <a:xfrm>
            <a:off x="548640" y="4251960"/>
            <a:ext cx="11064240" cy="475488"/>
          </a:xfrm>
          <a:prstGeom prst="roundRect">
            <a:avLst>
              <a:gd name="adj" fmla="val 15385"/>
            </a:avLst>
          </a:prstGeom>
          <a:solidFill>
            <a:srgbClr val="DCEBDD"/>
          </a:solidFill>
          <a:ln w="12700">
            <a:solidFill>
              <a:srgbClr val="5FA778"/>
            </a:solidFill>
            <a:prstDash val="solid"/>
          </a:ln>
        </p:spPr>
      </p:sp>
      <p:sp>
        <p:nvSpPr>
          <p:cNvPr id="43" name="Text 41"/>
          <p:cNvSpPr txBox="1"/>
          <p:nvPr/>
        </p:nvSpPr>
        <p:spPr>
          <a:xfrm>
            <a:off x="548640" y="4251960"/>
            <a:ext cx="2103120" cy="475488"/>
          </a:xfrm>
          <a:prstGeom prst="rect">
            <a:avLst/>
          </a:prstGeom>
          <a:noFill/>
          <a:ln/>
        </p:spPr>
        <p:txBody>
          <a:bodyPr wrap="square" lIns="0" tIns="0" rIns="0" bIns="0" rtlCol="0" anchor="ctr"/>
          <a:lstStyle/>
          <a:p>
            <a:pPr algn="ctr" indent="0" marL="0">
              <a:buNone/>
            </a:pPr>
            <a:r>
              <a:rPr lang="en-US" sz="1300" b="1" dirty="0">
                <a:solidFill>
                  <a:srgbClr val="5FA778"/>
                </a:solidFill>
                <a:latin typeface="Calibri" pitchFamily="34" charset="0"/>
                <a:ea typeface="Calibri" pitchFamily="34" charset="-122"/>
                <a:cs typeface="Calibri" pitchFamily="34" charset="-120"/>
              </a:rPr>
              <a:t>TOTAL</a:t>
            </a:r>
            <a:endParaRPr lang="en-US" sz="1300" dirty="0"/>
          </a:p>
        </p:txBody>
      </p:sp>
      <p:sp>
        <p:nvSpPr>
          <p:cNvPr id="44" name="Text 42"/>
          <p:cNvSpPr txBox="1"/>
          <p:nvPr/>
        </p:nvSpPr>
        <p:spPr>
          <a:xfrm>
            <a:off x="2651760" y="4251960"/>
            <a:ext cx="2103120" cy="475488"/>
          </a:xfrm>
          <a:prstGeom prst="rect">
            <a:avLst/>
          </a:prstGeom>
          <a:noFill/>
          <a:ln/>
        </p:spPr>
        <p:txBody>
          <a:bodyPr wrap="square" lIns="0" tIns="0" rIns="0" bIns="0" rtlCol="0" anchor="ctr"/>
          <a:lstStyle/>
          <a:p>
            <a:pPr algn="ctr" indent="0" marL="0">
              <a:buNone/>
            </a:pPr>
            <a:r>
              <a:rPr lang="en-US" sz="1500" b="1" dirty="0">
                <a:solidFill>
                  <a:srgbClr val="16204A"/>
                </a:solidFill>
                <a:latin typeface="Courier New" pitchFamily="34" charset="0"/>
                <a:ea typeface="Courier New" pitchFamily="34" charset="-122"/>
                <a:cs typeface="Courier New" pitchFamily="34" charset="-120"/>
              </a:rPr>
              <a:t>12</a:t>
            </a:r>
            <a:endParaRPr lang="en-US" sz="1500" dirty="0"/>
          </a:p>
        </p:txBody>
      </p:sp>
      <p:sp>
        <p:nvSpPr>
          <p:cNvPr id="45" name="Text 43"/>
          <p:cNvSpPr txBox="1"/>
          <p:nvPr/>
        </p:nvSpPr>
        <p:spPr>
          <a:xfrm>
            <a:off x="4754880" y="4251960"/>
            <a:ext cx="1463040" cy="475488"/>
          </a:xfrm>
          <a:prstGeom prst="rect">
            <a:avLst/>
          </a:prstGeom>
          <a:noFill/>
          <a:ln/>
        </p:spPr>
        <p:txBody>
          <a:bodyPr wrap="square" lIns="0" tIns="0" rIns="0" bIns="0" rtlCol="0" anchor="ctr"/>
          <a:lstStyle/>
          <a:p>
            <a:pPr algn="ctr" indent="0" marL="0">
              <a:buNone/>
            </a:pPr>
            <a:r>
              <a:rPr lang="en-US" sz="1500" b="1" dirty="0">
                <a:solidFill>
                  <a:srgbClr val="16204A"/>
                </a:solidFill>
                <a:latin typeface="Courier New" pitchFamily="34" charset="0"/>
                <a:ea typeface="Courier New" pitchFamily="34" charset="-122"/>
                <a:cs typeface="Courier New" pitchFamily="34" charset="-120"/>
              </a:rPr>
              <a:t>9</a:t>
            </a:r>
            <a:endParaRPr lang="en-US" sz="1500" dirty="0"/>
          </a:p>
        </p:txBody>
      </p:sp>
      <p:sp>
        <p:nvSpPr>
          <p:cNvPr id="46" name="Text 44"/>
          <p:cNvSpPr txBox="1"/>
          <p:nvPr/>
        </p:nvSpPr>
        <p:spPr>
          <a:xfrm>
            <a:off x="6217920" y="4251960"/>
            <a:ext cx="5394960" cy="475488"/>
          </a:xfrm>
          <a:prstGeom prst="rect">
            <a:avLst/>
          </a:prstGeom>
          <a:noFill/>
          <a:ln/>
        </p:spPr>
        <p:txBody>
          <a:bodyPr wrap="square" lIns="0" tIns="2540" rIns="0" bIns="0" rtlCol="0" anchor="ctr"/>
          <a:lstStyle/>
          <a:p>
            <a:pPr indent="0" marL="0">
              <a:buNone/>
            </a:pPr>
            <a:r>
              <a:rPr lang="en-US" sz="1300" i="1" dirty="0">
                <a:solidFill>
                  <a:srgbClr val="16204A"/>
                </a:solidFill>
                <a:latin typeface="Calibri" pitchFamily="34" charset="0"/>
                <a:ea typeface="Calibri" pitchFamily="34" charset="-122"/>
                <a:cs typeface="Calibri" pitchFamily="34" charset="-120"/>
              </a:rPr>
              <a:t>to fully sort this 6-element array</a:t>
            </a:r>
            <a:endParaRPr lang="en-US" sz="1300" dirty="0"/>
          </a:p>
        </p:txBody>
      </p:sp>
      <p:sp>
        <p:nvSpPr>
          <p:cNvPr id="47" name="Shape 45"/>
          <p:cNvSpPr/>
          <p:nvPr/>
        </p:nvSpPr>
        <p:spPr>
          <a:xfrm>
            <a:off x="548640" y="4873752"/>
            <a:ext cx="11064240" cy="1691640"/>
          </a:xfrm>
          <a:prstGeom prst="roundRect">
            <a:avLst>
              <a:gd name="adj" fmla="val 4324"/>
            </a:avLst>
          </a:prstGeom>
          <a:solidFill>
            <a:srgbClr val="16204A"/>
          </a:solidFill>
          <a:ln w="12700">
            <a:solidFill>
              <a:srgbClr val="16204A"/>
            </a:solidFill>
            <a:prstDash val="solid"/>
          </a:ln>
        </p:spPr>
      </p:sp>
      <p:sp>
        <p:nvSpPr>
          <p:cNvPr id="48" name="Text 46"/>
          <p:cNvSpPr txBox="1"/>
          <p:nvPr/>
        </p:nvSpPr>
        <p:spPr>
          <a:xfrm>
            <a:off x="822960" y="5020056"/>
            <a:ext cx="5486400" cy="274320"/>
          </a:xfrm>
          <a:prstGeom prst="rect">
            <a:avLst/>
          </a:prstGeom>
          <a:noFill/>
          <a:ln/>
        </p:spPr>
        <p:txBody>
          <a:bodyPr wrap="square" lIns="0" tIns="0" rIns="0" bIns="0" rtlCol="0" anchor="ctr"/>
          <a:lstStyle/>
          <a:p>
            <a:pPr indent="0" marL="0">
              <a:buNone/>
            </a:pPr>
            <a:r>
              <a:rPr lang="en-US" sz="1250" b="1" spc="120" kern="0" dirty="0">
                <a:solidFill>
                  <a:srgbClr val="D9A404"/>
                </a:solidFill>
                <a:latin typeface="Calibri" pitchFamily="34" charset="0"/>
                <a:ea typeface="Calibri" pitchFamily="34" charset="-122"/>
                <a:cs typeface="Calibri" pitchFamily="34" charset="-120"/>
              </a:rPr>
              <a:t>KEY OBSERVATIONS</a:t>
            </a:r>
            <a:endParaRPr lang="en-US" sz="1250" dirty="0"/>
          </a:p>
        </p:txBody>
      </p:sp>
      <p:sp>
        <p:nvSpPr>
          <p:cNvPr id="49" name="Text 47"/>
          <p:cNvSpPr txBox="1"/>
          <p:nvPr/>
        </p:nvSpPr>
        <p:spPr>
          <a:xfrm>
            <a:off x="822960" y="5349240"/>
            <a:ext cx="10515600" cy="384048"/>
          </a:xfrm>
          <a:prstGeom prst="rect">
            <a:avLst/>
          </a:prstGeom>
          <a:noFill/>
          <a:ln/>
        </p:spPr>
        <p:txBody>
          <a:bodyPr wrap="square" lIns="0" tIns="0" rIns="0" bIns="0" rtlCol="0" anchor="ctr"/>
          <a:lstStyle/>
          <a:p>
            <a:pPr indent="0" marL="0">
              <a:lnSpc>
                <a:spcPct val="120000"/>
              </a:lnSpc>
              <a:buNone/>
            </a:pPr>
            <a:r>
              <a:rPr lang="en-US" sz="1250" b="1" dirty="0">
                <a:solidFill>
                  <a:srgbClr val="D9A404"/>
                </a:solidFill>
                <a:latin typeface="Calibri" pitchFamily="34" charset="0"/>
                <a:ea typeface="Calibri" pitchFamily="34" charset="-122"/>
                <a:cs typeface="Calibri" pitchFamily="34" charset="-120"/>
              </a:rPr>
              <a:t>•  </a:t>
            </a:r>
            <a:pPr indent="0" marL="0">
              <a:lnSpc>
                <a:spcPct val="120000"/>
              </a:lnSpc>
              <a:buNone/>
            </a:pPr>
            <a:r>
              <a:rPr lang="en-US" sz="1250" dirty="0">
                <a:solidFill>
                  <a:srgbClr val="DDE1FA"/>
                </a:solidFill>
                <a:latin typeface="Calibri" pitchFamily="34" charset="0"/>
                <a:ea typeface="Calibri" pitchFamily="34" charset="-122"/>
                <a:cs typeface="Calibri" pitchFamily="34" charset="-120"/>
              </a:rPr>
              <a:t>Pass 3 (key=6) needed zero shifts — adaptive behavior in action: 6 was already the largest value and belonged right where it was.</a:t>
            </a:r>
            <a:endParaRPr lang="en-US" sz="1250" dirty="0"/>
          </a:p>
        </p:txBody>
      </p:sp>
      <p:sp>
        <p:nvSpPr>
          <p:cNvPr id="50" name="Text 48"/>
          <p:cNvSpPr txBox="1"/>
          <p:nvPr/>
        </p:nvSpPr>
        <p:spPr>
          <a:xfrm>
            <a:off x="822960" y="5733288"/>
            <a:ext cx="10515600" cy="384048"/>
          </a:xfrm>
          <a:prstGeom prst="rect">
            <a:avLst/>
          </a:prstGeom>
          <a:noFill/>
          <a:ln/>
        </p:spPr>
        <p:txBody>
          <a:bodyPr wrap="square" lIns="0" tIns="0" rIns="0" bIns="0" rtlCol="0" anchor="ctr"/>
          <a:lstStyle/>
          <a:p>
            <a:pPr indent="0" marL="0">
              <a:lnSpc>
                <a:spcPct val="120000"/>
              </a:lnSpc>
              <a:buNone/>
            </a:pPr>
            <a:r>
              <a:rPr lang="en-US" sz="1250" b="1" dirty="0">
                <a:solidFill>
                  <a:srgbClr val="D9A404"/>
                </a:solidFill>
                <a:latin typeface="Calibri" pitchFamily="34" charset="0"/>
                <a:ea typeface="Calibri" pitchFamily="34" charset="-122"/>
                <a:cs typeface="Calibri" pitchFamily="34" charset="-120"/>
              </a:rPr>
              <a:t>•  </a:t>
            </a:r>
            <a:pPr indent="0" marL="0">
              <a:lnSpc>
                <a:spcPct val="120000"/>
              </a:lnSpc>
              <a:buNone/>
            </a:pPr>
            <a:r>
              <a:rPr lang="en-US" sz="1250" dirty="0">
                <a:solidFill>
                  <a:srgbClr val="DDE1FA"/>
                </a:solidFill>
                <a:latin typeface="Calibri" pitchFamily="34" charset="0"/>
                <a:ea typeface="Calibri" pitchFamily="34" charset="-122"/>
                <a:cs typeface="Calibri" pitchFamily="34" charset="-120"/>
              </a:rPr>
              <a:t>Pass 4 (key=1) was the worst case in this example — it shifted past all four previously-sorted elements because it was the smallest value, arriving last.</a:t>
            </a:r>
            <a:endParaRPr lang="en-US" sz="1250" dirty="0"/>
          </a:p>
        </p:txBody>
      </p:sp>
      <p:sp>
        <p:nvSpPr>
          <p:cNvPr id="51" name="Text 49"/>
          <p:cNvSpPr txBox="1"/>
          <p:nvPr/>
        </p:nvSpPr>
        <p:spPr>
          <a:xfrm>
            <a:off x="822960" y="6117336"/>
            <a:ext cx="10515600" cy="384048"/>
          </a:xfrm>
          <a:prstGeom prst="rect">
            <a:avLst/>
          </a:prstGeom>
          <a:noFill/>
          <a:ln/>
        </p:spPr>
        <p:txBody>
          <a:bodyPr wrap="square" lIns="0" tIns="0" rIns="0" bIns="0" rtlCol="0" anchor="ctr"/>
          <a:lstStyle/>
          <a:p>
            <a:pPr indent="0" marL="0">
              <a:lnSpc>
                <a:spcPct val="120000"/>
              </a:lnSpc>
              <a:buNone/>
            </a:pPr>
            <a:r>
              <a:rPr lang="en-US" sz="1250" b="1" dirty="0">
                <a:solidFill>
                  <a:srgbClr val="D9A404"/>
                </a:solidFill>
                <a:latin typeface="Calibri" pitchFamily="34" charset="0"/>
                <a:ea typeface="Calibri" pitchFamily="34" charset="-122"/>
                <a:cs typeface="Calibri" pitchFamily="34" charset="-120"/>
              </a:rPr>
              <a:t>•  </a:t>
            </a:r>
            <a:pPr indent="0" marL="0">
              <a:lnSpc>
                <a:spcPct val="120000"/>
              </a:lnSpc>
              <a:buNone/>
            </a:pPr>
            <a:r>
              <a:rPr lang="en-US" sz="1250" dirty="0">
                <a:solidFill>
                  <a:srgbClr val="DDE1FA"/>
                </a:solidFill>
                <a:latin typeface="Calibri" pitchFamily="34" charset="0"/>
                <a:ea typeface="Calibri" pitchFamily="34" charset="-122"/>
                <a:cs typeface="Calibri" pitchFamily="34" charset="-120"/>
              </a:rPr>
              <a:t>The sorted portion (left) grows by exactly one element after every pass, while the unsorted portion (right) shrinks correspondingly.</a:t>
            </a:r>
            <a:endParaRPr lang="en-US" sz="1250" dirty="0"/>
          </a:p>
        </p:txBody>
      </p:sp>
      <p:sp>
        <p:nvSpPr>
          <p:cNvPr id="144" name="Text 142"/>
          <p:cNvSpPr txBox="1"/>
          <p:nvPr/>
        </p:nvSpPr>
        <p:spPr>
          <a:xfrm>
            <a:off x="548640" y="6537960"/>
            <a:ext cx="6400800" cy="274320"/>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Insertion Sort  |  Data Structures Using C</a:t>
            </a:r>
            <a:endParaRPr lang="en-US" sz="900" dirty="0"/>
          </a:p>
        </p:txBody>
      </p:sp>
      <p:sp>
        <p:nvSpPr>
          <p:cNvPr id="145" name="Text 143"/>
          <p:cNvSpPr txBox="1"/>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2108</Words>
  <Application>Microsoft Office PowerPoint</Application>
  <PresentationFormat>Widescreen</PresentationFormat>
  <Paragraphs>355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scss</cp:lastModifiedBy>
  <cp:revision>3</cp:revision>
  <dcterms:created xsi:type="dcterms:W3CDTF">2026-09-07T06:18:21Z</dcterms:created>
  <dcterms:modified xsi:type="dcterms:W3CDTF">2026-09-07T08:12:59Z</dcterms:modified>
</cp:coreProperties>
</file>