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34"/>
    <p:restoredTop sz="94610"/>
  </p:normalViewPr>
  <p:slideViewPr>
    <p:cSldViewPr snapToGrid="0" snapToObjects="1">
      <p:cViewPr varScale="1">
        <p:scale>
          <a:sx n="95" d="100"/>
          <a:sy n="95" d="100"/>
        </p:scale>
        <p:origin x="256" y="10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174073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two fundamental search strategies. Linear search makes no assumptions about the data and costs up to n comparisons; binary search requires sorted data but needs only about log2(n) probes. The highlighted elements are the keys traced later in this deck: 5 in the unsorted array (linear search) and 23 in the sorted array (binary search).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how they look up a word in a paper dictionary versus how they look for a lost sock in a drawer. The first exploits order (binary), the second cannot (linear). Mention that hashing and interpolation search appear in later units.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that linear search is the ONLY option when data is unsorted and no index exists. Ask: 'Why can linear search handle a linked list but binary search cannot?' (A linked list has no O(1) access to the middle element.)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phone-book analogy: open to the middle, see which half the name must be in, and ignore the other half entirely. Common misconception: students apply binary search to unsorted arrays and get wrong answers. Ask: 'What would binary search return for key 7 in [34, 7, 23, 32, 5, 62, 14, 19]?' (It would probe 32, go left, probe 7... try it: low=0, high=7, mid=3 (32 &gt; 7) -&gt; high=2; mid=1 (7) found -- lucky here, but for key 5 it fails.)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invariant is the correctness argument for binary search: initially the range is the whole array, so the invariant holds. Each step either returns or discards only elements that provably cannot equal the key. Ask: 'Why does the loop condition use low &lt;= high rather than low &lt; high?' (With low == high there is still one candidate left to test.)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that U and S contain exactly the same eight values; S is simply U sorted. This lets us compare costs fairly. Sorting itself costs O(n log n) and is NOT included in binary-search's cost here -- we revisit that trade-off on the comparison slide.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 aloud: for key 5 we compare against 34, 7, 23, 32, then 5 -- five comparisons. Ask: 'If the key were 34, how many comparisons?' (1 -- the best case.) 'If the key were 19?' (8 -- found only at the very last position.)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range visually: grey boxes are eliminated and never looked at again. After probe 1, half the array is gone; after probe 2, three more are gone. Point out that in total only 3 of the 8 elements were ever compared with the key. Define 'probe' as one three-way comparison of A[mid] with the key.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lessons: (1) an absent key still costs only about log2(n) probes, because the range shrinks to empty; (2) the worst case, 4 probes for n = 8, equals floor(log2 8) + 1. Ask: 'Which keys in S would need exactly 4 probes?' (Only 62 -- the leaf at the deepest level of the decision tree shown next.)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decision tree is the mathematical heart of binary search: the tree has n nodes and is as balanced as possible, so its height is floor(log2 n) + 1. The distribution of probes is 1 key at depth 1, 2 at depth 2, 4 at depth 3, and 1 at depth 4: (1*1 + 2*2 + 4*3 + 1*4)/8 = 21/8 = 2.625.</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the pseudocode back to the traces: the three probes for key 23 are exactly three executions of the while-loop body. Ask: 'What happens with low = 0, high = 1 if we wrongly write high = mid?' (mid = 0; if A[0] &gt; key then high = 0 and the range shrinks, but if A[0] &lt; key and we write low = mid, low stays 0 forever.)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functions return the index or -1, matching the convention from the introduction. Binary search is written iteratively, so it uses O(1) extra space. Mention that the standard library function bsearch() in &lt;stdlib.h&gt; implements the same idea on arbitrary element types via a comparison callback.</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every column back to a line of the C function. In iteration 2: (7-4)/2 uses integer division, 3/2 = 1, so mid = 5. Ask: 'Which iteration would run next if key were 33?' (Iteration 3 probes A[4]=23 &lt; 33 -&gt; low = 5... trace it with the class.)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sum 1+2+...+n = n(n+1)/2 is the same arithmetic series that appeared in Quick Sort's worst case. Ask: 'Doubling n does what to the average cost?' (Doubles it -- linear growth.) Note that the best case O(1) is rarely useful in practice; the average and worst cases govern performance.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with Merge Sort's recurrence 2T(n/2) + n: here there is only ONE recursive call (a = 1) and constant combine work, which is why the result is log n rather than n log n. Ask: 'Doubling n adds how many probes?' (Exactly one.) One billion elements need only 30 probes.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nanosecond figures are idealized (they ignore memory and cache effects) but make the point: a logarithmic algorithm is essentially instantaneous at any practical size. 1,000,000 / 20 = 50,000 and 1,000,000,000 / 30 is about 33,333,333.</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break-even calculation is the practical punchline: binary search is not free because its precondition (sorted data) must be paid for. Many real systems keep data sorted permanently (or indexed) precisely so that this cost is amortized over millions of queries.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for additional examples. A good bonus: 'binary search on the answer' -- e.g. finding the smallest capacity that satisfies a condition -- uses the same halving idea on a monotone predicate rather than a sorted array.</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trade-off: linear search buys generality at the price of speed; binary search buys speed at the price of a precondition and a trickier implementation. A famous bug: the overflow in (low + high)/2 lay undiscovered in widely used library code for years.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returning to the central contrast: linear search needs no assumptions but scales linearly; binary search needs sortedness but scales logarithmically. Invite students to name a situation for each.</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rot="1500000">
            <a:off x="10972800" y="-1005840"/>
            <a:ext cx="2377440" cy="2377440"/>
          </a:xfrm>
          <a:prstGeom prst="triangle">
            <a:avLst/>
          </a:prstGeom>
          <a:solidFill>
            <a:srgbClr val="FFFFFF">
              <a:alpha val="8000"/>
            </a:srgbClr>
          </a:solidFill>
          <a:ln/>
        </p:spPr>
      </p:sp>
      <p:sp>
        <p:nvSpPr>
          <p:cNvPr id="3" name="Shape 1"/>
          <p:cNvSpPr/>
          <p:nvPr/>
        </p:nvSpPr>
        <p:spPr>
          <a:xfrm rot="12300000">
            <a:off x="-1097280" y="5760720"/>
            <a:ext cx="2377440" cy="2377440"/>
          </a:xfrm>
          <a:prstGeom prst="triangle">
            <a:avLst/>
          </a:prstGeom>
          <a:solidFill>
            <a:srgbClr val="FFFFFF">
              <a:alpha val="8000"/>
            </a:srgbClr>
          </a:solidFill>
          <a:ln/>
        </p:spPr>
      </p:sp>
      <p:sp>
        <p:nvSpPr>
          <p:cNvPr id="4" name="Text 2"/>
          <p:cNvSpPr txBox="1"/>
          <p:nvPr/>
        </p:nvSpPr>
        <p:spPr>
          <a:xfrm>
            <a:off x="822960" y="1371600"/>
            <a:ext cx="9144000" cy="365760"/>
          </a:xfrm>
          <a:prstGeom prst="rect">
            <a:avLst/>
          </a:prstGeom>
          <a:noFill/>
          <a:ln/>
        </p:spPr>
        <p:txBody>
          <a:bodyPr wrap="square" lIns="0" tIns="0" rIns="0" bIns="0" rtlCol="0" anchor="ctr"/>
          <a:lstStyle/>
          <a:p>
            <a:pPr marL="0" indent="0">
              <a:buNone/>
            </a:pPr>
            <a:r>
              <a:rPr lang="en-US" sz="1400" b="1" kern="0" spc="300" dirty="0">
                <a:solidFill>
                  <a:srgbClr val="D97706"/>
                </a:solidFill>
                <a:latin typeface="Calibri" pitchFamily="34" charset="0"/>
                <a:ea typeface="Calibri" pitchFamily="34" charset="-122"/>
                <a:cs typeface="Calibri" pitchFamily="34" charset="-120"/>
              </a:rPr>
              <a:t>DATA STRUCTURES USING C</a:t>
            </a:r>
            <a:endParaRPr lang="en-US" sz="1400" dirty="0"/>
          </a:p>
        </p:txBody>
      </p:sp>
      <p:sp>
        <p:nvSpPr>
          <p:cNvPr id="5" name="Text 3"/>
          <p:cNvSpPr txBox="1"/>
          <p:nvPr/>
        </p:nvSpPr>
        <p:spPr>
          <a:xfrm>
            <a:off x="777240" y="1737360"/>
            <a:ext cx="10607040" cy="914400"/>
          </a:xfrm>
          <a:prstGeom prst="rect">
            <a:avLst/>
          </a:prstGeom>
          <a:noFill/>
          <a:ln/>
        </p:spPr>
        <p:txBody>
          <a:bodyPr wrap="square" lIns="0" tIns="0" rIns="0" bIns="0" rtlCol="0" anchor="ctr"/>
          <a:lstStyle/>
          <a:p>
            <a:pPr marL="0" indent="0">
              <a:buNone/>
            </a:pPr>
            <a:r>
              <a:rPr lang="en-US" sz="4800" b="1" dirty="0">
                <a:solidFill>
                  <a:srgbClr val="C00000"/>
                </a:solidFill>
                <a:latin typeface="Cambria" pitchFamily="34" charset="0"/>
                <a:ea typeface="Cambria" pitchFamily="34" charset="-122"/>
                <a:cs typeface="Cambria" pitchFamily="34" charset="-120"/>
              </a:rPr>
              <a:t>Linear Search &amp; Binary Search</a:t>
            </a:r>
            <a:endParaRPr lang="en-US" sz="4800" dirty="0">
              <a:solidFill>
                <a:srgbClr val="C00000"/>
              </a:solidFill>
            </a:endParaRPr>
          </a:p>
        </p:txBody>
      </p:sp>
      <p:sp>
        <p:nvSpPr>
          <p:cNvPr id="6" name="Text 4"/>
          <p:cNvSpPr txBox="1"/>
          <p:nvPr/>
        </p:nvSpPr>
        <p:spPr>
          <a:xfrm>
            <a:off x="822960" y="2697480"/>
            <a:ext cx="10515600" cy="457200"/>
          </a:xfrm>
          <a:prstGeom prst="rect">
            <a:avLst/>
          </a:prstGeom>
          <a:noFill/>
          <a:ln/>
        </p:spPr>
        <p:txBody>
          <a:bodyPr wrap="square" lIns="0" tIns="0" rIns="0" bIns="0" rtlCol="0" anchor="ctr"/>
          <a:lstStyle/>
          <a:p>
            <a:pPr marL="0" indent="0">
              <a:buNone/>
            </a:pPr>
            <a:r>
              <a:rPr lang="en-US" sz="1700" i="1" dirty="0">
                <a:latin typeface="Calibri" pitchFamily="34" charset="0"/>
                <a:ea typeface="Calibri" pitchFamily="34" charset="-122"/>
                <a:cs typeface="Calibri" pitchFamily="34" charset="-120"/>
              </a:rPr>
              <a:t>Finding an Element: Scan One-by-One  vs  Halve the Range Every Probe</a:t>
            </a:r>
            <a:endParaRPr lang="en-US" sz="1700" dirty="0"/>
          </a:p>
        </p:txBody>
      </p:sp>
      <p:sp>
        <p:nvSpPr>
          <p:cNvPr id="7" name="Text 5"/>
          <p:cNvSpPr txBox="1"/>
          <p:nvPr/>
        </p:nvSpPr>
        <p:spPr>
          <a:xfrm>
            <a:off x="822960" y="3291840"/>
            <a:ext cx="10515600" cy="457200"/>
          </a:xfrm>
          <a:prstGeom prst="rect">
            <a:avLst/>
          </a:prstGeom>
          <a:noFill/>
          <a:ln/>
        </p:spPr>
        <p:txBody>
          <a:bodyPr wrap="square" lIns="0" tIns="0" rIns="0" bIns="0" rtlCol="0" anchor="ctr"/>
          <a:lstStyle/>
          <a:p>
            <a:pPr marL="0" indent="0">
              <a:buNone/>
            </a:pPr>
            <a:r>
              <a:rPr lang="en-US" sz="1500" b="1" dirty="0">
                <a:latin typeface="Courier New" pitchFamily="34" charset="0"/>
                <a:ea typeface="Courier New" pitchFamily="34" charset="-122"/>
                <a:cs typeface="Courier New" pitchFamily="34" charset="-120"/>
              </a:rPr>
              <a:t>Linear: O(n)        Binary: T(n) = T(n/2) + Θ(1)  →  O(log n)</a:t>
            </a:r>
            <a:endParaRPr lang="en-US" sz="1500" dirty="0"/>
          </a:p>
        </p:txBody>
      </p:sp>
      <p:sp>
        <p:nvSpPr>
          <p:cNvPr id="8" name="Text 6"/>
          <p:cNvSpPr txBox="1"/>
          <p:nvPr/>
        </p:nvSpPr>
        <p:spPr>
          <a:xfrm>
            <a:off x="822960" y="3931920"/>
            <a:ext cx="4572000" cy="256032"/>
          </a:xfrm>
          <a:prstGeom prst="rect">
            <a:avLst/>
          </a:prstGeom>
          <a:noFill/>
          <a:ln/>
        </p:spPr>
        <p:txBody>
          <a:bodyPr wrap="square" lIns="0" tIns="0" rIns="0" bIns="0" rtlCol="0" anchor="ctr"/>
          <a:lstStyle/>
          <a:p>
            <a:pPr marL="0" indent="0">
              <a:buNone/>
            </a:pPr>
            <a:r>
              <a:rPr lang="en-US" sz="1050" b="1" kern="0" spc="100" dirty="0">
                <a:solidFill>
                  <a:srgbClr val="8FC7D6"/>
                </a:solidFill>
                <a:latin typeface="Calibri" pitchFamily="34" charset="0"/>
                <a:ea typeface="Calibri" pitchFamily="34" charset="-122"/>
                <a:cs typeface="Calibri" pitchFamily="34" charset="-120"/>
              </a:rPr>
              <a:t>UNSORTED  —  Linear Search</a:t>
            </a:r>
            <a:endParaRPr lang="en-US" sz="1050" dirty="0"/>
          </a:p>
        </p:txBody>
      </p:sp>
      <p:sp>
        <p:nvSpPr>
          <p:cNvPr id="9" name="Shape 7"/>
          <p:cNvSpPr/>
          <p:nvPr/>
        </p:nvSpPr>
        <p:spPr>
          <a:xfrm>
            <a:off x="822960" y="4206240"/>
            <a:ext cx="457200" cy="457200"/>
          </a:xfrm>
          <a:prstGeom prst="roundRect">
            <a:avLst>
              <a:gd name="adj" fmla="val 16000"/>
            </a:avLst>
          </a:prstGeom>
          <a:solidFill>
            <a:srgbClr val="FFFFFF"/>
          </a:solidFill>
          <a:ln w="22225">
            <a:solidFill>
              <a:srgbClr val="22A6C4"/>
            </a:solidFill>
            <a:prstDash val="solid"/>
          </a:ln>
        </p:spPr>
      </p:sp>
      <p:sp>
        <p:nvSpPr>
          <p:cNvPr id="10" name="Text 8"/>
          <p:cNvSpPr txBox="1"/>
          <p:nvPr/>
        </p:nvSpPr>
        <p:spPr>
          <a:xfrm>
            <a:off x="822960" y="4206240"/>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34</a:t>
            </a:r>
            <a:endParaRPr lang="en-US" sz="1300" dirty="0"/>
          </a:p>
        </p:txBody>
      </p:sp>
      <p:sp>
        <p:nvSpPr>
          <p:cNvPr id="11" name="Shape 9"/>
          <p:cNvSpPr/>
          <p:nvPr/>
        </p:nvSpPr>
        <p:spPr>
          <a:xfrm>
            <a:off x="1353312" y="4206240"/>
            <a:ext cx="457200" cy="457200"/>
          </a:xfrm>
          <a:prstGeom prst="roundRect">
            <a:avLst>
              <a:gd name="adj" fmla="val 16000"/>
            </a:avLst>
          </a:prstGeom>
          <a:solidFill>
            <a:srgbClr val="FFFFFF"/>
          </a:solidFill>
          <a:ln w="22225">
            <a:solidFill>
              <a:srgbClr val="22A6C4"/>
            </a:solidFill>
            <a:prstDash val="solid"/>
          </a:ln>
        </p:spPr>
      </p:sp>
      <p:sp>
        <p:nvSpPr>
          <p:cNvPr id="12" name="Text 10"/>
          <p:cNvSpPr txBox="1"/>
          <p:nvPr/>
        </p:nvSpPr>
        <p:spPr>
          <a:xfrm>
            <a:off x="1353312" y="4206240"/>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7</a:t>
            </a:r>
            <a:endParaRPr lang="en-US" sz="1300" dirty="0"/>
          </a:p>
        </p:txBody>
      </p:sp>
      <p:sp>
        <p:nvSpPr>
          <p:cNvPr id="13" name="Shape 11"/>
          <p:cNvSpPr/>
          <p:nvPr/>
        </p:nvSpPr>
        <p:spPr>
          <a:xfrm>
            <a:off x="1883664" y="4206240"/>
            <a:ext cx="457200" cy="457200"/>
          </a:xfrm>
          <a:prstGeom prst="roundRect">
            <a:avLst>
              <a:gd name="adj" fmla="val 16000"/>
            </a:avLst>
          </a:prstGeom>
          <a:solidFill>
            <a:srgbClr val="FFFFFF"/>
          </a:solidFill>
          <a:ln w="22225">
            <a:solidFill>
              <a:srgbClr val="22A6C4"/>
            </a:solidFill>
            <a:prstDash val="solid"/>
          </a:ln>
        </p:spPr>
      </p:sp>
      <p:sp>
        <p:nvSpPr>
          <p:cNvPr id="14" name="Text 12"/>
          <p:cNvSpPr txBox="1"/>
          <p:nvPr/>
        </p:nvSpPr>
        <p:spPr>
          <a:xfrm>
            <a:off x="1883664" y="4206240"/>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23</a:t>
            </a:r>
            <a:endParaRPr lang="en-US" sz="1300" dirty="0"/>
          </a:p>
        </p:txBody>
      </p:sp>
      <p:sp>
        <p:nvSpPr>
          <p:cNvPr id="15" name="Shape 13"/>
          <p:cNvSpPr/>
          <p:nvPr/>
        </p:nvSpPr>
        <p:spPr>
          <a:xfrm>
            <a:off x="2414016" y="4206240"/>
            <a:ext cx="457200" cy="457200"/>
          </a:xfrm>
          <a:prstGeom prst="roundRect">
            <a:avLst>
              <a:gd name="adj" fmla="val 16000"/>
            </a:avLst>
          </a:prstGeom>
          <a:solidFill>
            <a:srgbClr val="FFFFFF"/>
          </a:solidFill>
          <a:ln w="22225">
            <a:solidFill>
              <a:srgbClr val="22A6C4"/>
            </a:solidFill>
            <a:prstDash val="solid"/>
          </a:ln>
        </p:spPr>
      </p:sp>
      <p:sp>
        <p:nvSpPr>
          <p:cNvPr id="16" name="Text 14"/>
          <p:cNvSpPr txBox="1"/>
          <p:nvPr/>
        </p:nvSpPr>
        <p:spPr>
          <a:xfrm>
            <a:off x="2414016" y="4206240"/>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32</a:t>
            </a:r>
            <a:endParaRPr lang="en-US" sz="1300" dirty="0"/>
          </a:p>
        </p:txBody>
      </p:sp>
      <p:sp>
        <p:nvSpPr>
          <p:cNvPr id="17" name="Shape 15"/>
          <p:cNvSpPr/>
          <p:nvPr/>
        </p:nvSpPr>
        <p:spPr>
          <a:xfrm>
            <a:off x="2944368" y="4206240"/>
            <a:ext cx="457200" cy="457200"/>
          </a:xfrm>
          <a:prstGeom prst="roundRect">
            <a:avLst>
              <a:gd name="adj" fmla="val 16000"/>
            </a:avLst>
          </a:prstGeom>
          <a:solidFill>
            <a:srgbClr val="D97706"/>
          </a:solidFill>
          <a:ln w="22225">
            <a:solidFill>
              <a:srgbClr val="D97706"/>
            </a:solidFill>
            <a:prstDash val="solid"/>
          </a:ln>
        </p:spPr>
      </p:sp>
      <p:sp>
        <p:nvSpPr>
          <p:cNvPr id="18" name="Text 16"/>
          <p:cNvSpPr txBox="1"/>
          <p:nvPr/>
        </p:nvSpPr>
        <p:spPr>
          <a:xfrm>
            <a:off x="2944368" y="420624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5</a:t>
            </a:r>
            <a:endParaRPr lang="en-US" sz="1300" dirty="0"/>
          </a:p>
        </p:txBody>
      </p:sp>
      <p:sp>
        <p:nvSpPr>
          <p:cNvPr id="19" name="Shape 17"/>
          <p:cNvSpPr/>
          <p:nvPr/>
        </p:nvSpPr>
        <p:spPr>
          <a:xfrm>
            <a:off x="3474720" y="4206240"/>
            <a:ext cx="457200" cy="457200"/>
          </a:xfrm>
          <a:prstGeom prst="roundRect">
            <a:avLst>
              <a:gd name="adj" fmla="val 16000"/>
            </a:avLst>
          </a:prstGeom>
          <a:solidFill>
            <a:srgbClr val="FFFFFF"/>
          </a:solidFill>
          <a:ln w="22225">
            <a:solidFill>
              <a:srgbClr val="22A6C4"/>
            </a:solidFill>
            <a:prstDash val="solid"/>
          </a:ln>
        </p:spPr>
      </p:sp>
      <p:sp>
        <p:nvSpPr>
          <p:cNvPr id="20" name="Text 18"/>
          <p:cNvSpPr txBox="1"/>
          <p:nvPr/>
        </p:nvSpPr>
        <p:spPr>
          <a:xfrm>
            <a:off x="3474720" y="4206240"/>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62</a:t>
            </a:r>
            <a:endParaRPr lang="en-US" sz="1300" dirty="0"/>
          </a:p>
        </p:txBody>
      </p:sp>
      <p:sp>
        <p:nvSpPr>
          <p:cNvPr id="21" name="Shape 19"/>
          <p:cNvSpPr/>
          <p:nvPr/>
        </p:nvSpPr>
        <p:spPr>
          <a:xfrm>
            <a:off x="4005072" y="4206240"/>
            <a:ext cx="457200" cy="457200"/>
          </a:xfrm>
          <a:prstGeom prst="roundRect">
            <a:avLst>
              <a:gd name="adj" fmla="val 16000"/>
            </a:avLst>
          </a:prstGeom>
          <a:solidFill>
            <a:srgbClr val="FFFFFF"/>
          </a:solidFill>
          <a:ln w="22225">
            <a:solidFill>
              <a:srgbClr val="22A6C4"/>
            </a:solidFill>
            <a:prstDash val="solid"/>
          </a:ln>
        </p:spPr>
      </p:sp>
      <p:sp>
        <p:nvSpPr>
          <p:cNvPr id="22" name="Text 20"/>
          <p:cNvSpPr txBox="1"/>
          <p:nvPr/>
        </p:nvSpPr>
        <p:spPr>
          <a:xfrm>
            <a:off x="4005072" y="4206240"/>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14</a:t>
            </a:r>
            <a:endParaRPr lang="en-US" sz="1300" dirty="0"/>
          </a:p>
        </p:txBody>
      </p:sp>
      <p:sp>
        <p:nvSpPr>
          <p:cNvPr id="23" name="Shape 21"/>
          <p:cNvSpPr/>
          <p:nvPr/>
        </p:nvSpPr>
        <p:spPr>
          <a:xfrm>
            <a:off x="4535424" y="4206240"/>
            <a:ext cx="457200" cy="457200"/>
          </a:xfrm>
          <a:prstGeom prst="roundRect">
            <a:avLst>
              <a:gd name="adj" fmla="val 16000"/>
            </a:avLst>
          </a:prstGeom>
          <a:solidFill>
            <a:srgbClr val="FFFFFF"/>
          </a:solidFill>
          <a:ln w="22225">
            <a:solidFill>
              <a:srgbClr val="22A6C4"/>
            </a:solidFill>
            <a:prstDash val="solid"/>
          </a:ln>
        </p:spPr>
      </p:sp>
      <p:sp>
        <p:nvSpPr>
          <p:cNvPr id="24" name="Text 22"/>
          <p:cNvSpPr txBox="1"/>
          <p:nvPr/>
        </p:nvSpPr>
        <p:spPr>
          <a:xfrm>
            <a:off x="4535424" y="4206240"/>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19</a:t>
            </a:r>
            <a:endParaRPr lang="en-US" sz="1300" dirty="0"/>
          </a:p>
        </p:txBody>
      </p:sp>
      <p:sp>
        <p:nvSpPr>
          <p:cNvPr id="25" name="Text 23"/>
          <p:cNvSpPr txBox="1"/>
          <p:nvPr/>
        </p:nvSpPr>
        <p:spPr>
          <a:xfrm>
            <a:off x="6309360" y="3931920"/>
            <a:ext cx="4572000" cy="256032"/>
          </a:xfrm>
          <a:prstGeom prst="rect">
            <a:avLst/>
          </a:prstGeom>
          <a:noFill/>
          <a:ln/>
        </p:spPr>
        <p:txBody>
          <a:bodyPr wrap="square" lIns="0" tIns="0" rIns="0" bIns="0" rtlCol="0" anchor="ctr"/>
          <a:lstStyle/>
          <a:p>
            <a:pPr marL="0" indent="0">
              <a:buNone/>
            </a:pPr>
            <a:r>
              <a:rPr lang="en-US" sz="1050" b="1" kern="0" spc="100" dirty="0">
                <a:solidFill>
                  <a:srgbClr val="8FC7D6"/>
                </a:solidFill>
                <a:latin typeface="Calibri" pitchFamily="34" charset="0"/>
                <a:ea typeface="Calibri" pitchFamily="34" charset="-122"/>
                <a:cs typeface="Calibri" pitchFamily="34" charset="-120"/>
              </a:rPr>
              <a:t>SORTED  —  Binary Search</a:t>
            </a:r>
            <a:endParaRPr lang="en-US" sz="1050" dirty="0"/>
          </a:p>
        </p:txBody>
      </p:sp>
      <p:sp>
        <p:nvSpPr>
          <p:cNvPr id="26" name="Shape 24"/>
          <p:cNvSpPr/>
          <p:nvPr/>
        </p:nvSpPr>
        <p:spPr>
          <a:xfrm>
            <a:off x="6309360" y="4206240"/>
            <a:ext cx="457200" cy="457200"/>
          </a:xfrm>
          <a:prstGeom prst="roundRect">
            <a:avLst>
              <a:gd name="adj" fmla="val 16000"/>
            </a:avLst>
          </a:prstGeom>
          <a:solidFill>
            <a:srgbClr val="FFFFFF"/>
          </a:solidFill>
          <a:ln w="22225">
            <a:solidFill>
              <a:srgbClr val="22A6C4"/>
            </a:solidFill>
            <a:prstDash val="solid"/>
          </a:ln>
        </p:spPr>
      </p:sp>
      <p:sp>
        <p:nvSpPr>
          <p:cNvPr id="27" name="Text 25"/>
          <p:cNvSpPr txBox="1"/>
          <p:nvPr/>
        </p:nvSpPr>
        <p:spPr>
          <a:xfrm>
            <a:off x="6309360" y="4206240"/>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5</a:t>
            </a:r>
            <a:endParaRPr lang="en-US" sz="1300" dirty="0"/>
          </a:p>
        </p:txBody>
      </p:sp>
      <p:sp>
        <p:nvSpPr>
          <p:cNvPr id="28" name="Shape 26"/>
          <p:cNvSpPr/>
          <p:nvPr/>
        </p:nvSpPr>
        <p:spPr>
          <a:xfrm>
            <a:off x="6839712" y="4206240"/>
            <a:ext cx="457200" cy="457200"/>
          </a:xfrm>
          <a:prstGeom prst="roundRect">
            <a:avLst>
              <a:gd name="adj" fmla="val 16000"/>
            </a:avLst>
          </a:prstGeom>
          <a:solidFill>
            <a:srgbClr val="FFFFFF"/>
          </a:solidFill>
          <a:ln w="22225">
            <a:solidFill>
              <a:srgbClr val="22A6C4"/>
            </a:solidFill>
            <a:prstDash val="solid"/>
          </a:ln>
        </p:spPr>
      </p:sp>
      <p:sp>
        <p:nvSpPr>
          <p:cNvPr id="29" name="Text 27"/>
          <p:cNvSpPr txBox="1"/>
          <p:nvPr/>
        </p:nvSpPr>
        <p:spPr>
          <a:xfrm>
            <a:off x="6839712" y="4206240"/>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7</a:t>
            </a:r>
            <a:endParaRPr lang="en-US" sz="1300" dirty="0"/>
          </a:p>
        </p:txBody>
      </p:sp>
      <p:sp>
        <p:nvSpPr>
          <p:cNvPr id="30" name="Shape 28"/>
          <p:cNvSpPr/>
          <p:nvPr/>
        </p:nvSpPr>
        <p:spPr>
          <a:xfrm>
            <a:off x="7370064" y="4206240"/>
            <a:ext cx="457200" cy="457200"/>
          </a:xfrm>
          <a:prstGeom prst="roundRect">
            <a:avLst>
              <a:gd name="adj" fmla="val 16000"/>
            </a:avLst>
          </a:prstGeom>
          <a:solidFill>
            <a:srgbClr val="FFFFFF"/>
          </a:solidFill>
          <a:ln w="22225">
            <a:solidFill>
              <a:srgbClr val="22A6C4"/>
            </a:solidFill>
            <a:prstDash val="solid"/>
          </a:ln>
        </p:spPr>
      </p:sp>
      <p:sp>
        <p:nvSpPr>
          <p:cNvPr id="31" name="Text 29"/>
          <p:cNvSpPr txBox="1"/>
          <p:nvPr/>
        </p:nvSpPr>
        <p:spPr>
          <a:xfrm>
            <a:off x="7370064" y="4206240"/>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14</a:t>
            </a:r>
            <a:endParaRPr lang="en-US" sz="1300" dirty="0"/>
          </a:p>
        </p:txBody>
      </p:sp>
      <p:sp>
        <p:nvSpPr>
          <p:cNvPr id="32" name="Shape 30"/>
          <p:cNvSpPr/>
          <p:nvPr/>
        </p:nvSpPr>
        <p:spPr>
          <a:xfrm>
            <a:off x="7900416" y="4206240"/>
            <a:ext cx="457200" cy="457200"/>
          </a:xfrm>
          <a:prstGeom prst="roundRect">
            <a:avLst>
              <a:gd name="adj" fmla="val 16000"/>
            </a:avLst>
          </a:prstGeom>
          <a:solidFill>
            <a:srgbClr val="FFFFFF"/>
          </a:solidFill>
          <a:ln w="22225">
            <a:solidFill>
              <a:srgbClr val="22A6C4"/>
            </a:solidFill>
            <a:prstDash val="solid"/>
          </a:ln>
        </p:spPr>
      </p:sp>
      <p:sp>
        <p:nvSpPr>
          <p:cNvPr id="33" name="Text 31"/>
          <p:cNvSpPr txBox="1"/>
          <p:nvPr/>
        </p:nvSpPr>
        <p:spPr>
          <a:xfrm>
            <a:off x="7900416" y="4206240"/>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19</a:t>
            </a:r>
            <a:endParaRPr lang="en-US" sz="1300" dirty="0"/>
          </a:p>
        </p:txBody>
      </p:sp>
      <p:sp>
        <p:nvSpPr>
          <p:cNvPr id="34" name="Shape 32"/>
          <p:cNvSpPr/>
          <p:nvPr/>
        </p:nvSpPr>
        <p:spPr>
          <a:xfrm>
            <a:off x="8430768" y="4206240"/>
            <a:ext cx="457200" cy="457200"/>
          </a:xfrm>
          <a:prstGeom prst="roundRect">
            <a:avLst>
              <a:gd name="adj" fmla="val 16000"/>
            </a:avLst>
          </a:prstGeom>
          <a:solidFill>
            <a:srgbClr val="D97706"/>
          </a:solidFill>
          <a:ln w="22225">
            <a:solidFill>
              <a:srgbClr val="D97706"/>
            </a:solidFill>
            <a:prstDash val="solid"/>
          </a:ln>
        </p:spPr>
      </p:sp>
      <p:sp>
        <p:nvSpPr>
          <p:cNvPr id="35" name="Text 33"/>
          <p:cNvSpPr txBox="1"/>
          <p:nvPr/>
        </p:nvSpPr>
        <p:spPr>
          <a:xfrm>
            <a:off x="8430768" y="420624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23</a:t>
            </a:r>
            <a:endParaRPr lang="en-US" sz="1300" dirty="0"/>
          </a:p>
        </p:txBody>
      </p:sp>
      <p:sp>
        <p:nvSpPr>
          <p:cNvPr id="36" name="Shape 34"/>
          <p:cNvSpPr/>
          <p:nvPr/>
        </p:nvSpPr>
        <p:spPr>
          <a:xfrm>
            <a:off x="8961120" y="4206240"/>
            <a:ext cx="457200" cy="457200"/>
          </a:xfrm>
          <a:prstGeom prst="roundRect">
            <a:avLst>
              <a:gd name="adj" fmla="val 16000"/>
            </a:avLst>
          </a:prstGeom>
          <a:solidFill>
            <a:srgbClr val="FFFFFF"/>
          </a:solidFill>
          <a:ln w="22225">
            <a:solidFill>
              <a:srgbClr val="22A6C4"/>
            </a:solidFill>
            <a:prstDash val="solid"/>
          </a:ln>
        </p:spPr>
      </p:sp>
      <p:sp>
        <p:nvSpPr>
          <p:cNvPr id="37" name="Text 35"/>
          <p:cNvSpPr txBox="1"/>
          <p:nvPr/>
        </p:nvSpPr>
        <p:spPr>
          <a:xfrm>
            <a:off x="8961120" y="4206240"/>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32</a:t>
            </a:r>
            <a:endParaRPr lang="en-US" sz="1300" dirty="0"/>
          </a:p>
        </p:txBody>
      </p:sp>
      <p:sp>
        <p:nvSpPr>
          <p:cNvPr id="38" name="Shape 36"/>
          <p:cNvSpPr/>
          <p:nvPr/>
        </p:nvSpPr>
        <p:spPr>
          <a:xfrm>
            <a:off x="9491472" y="4206240"/>
            <a:ext cx="457200" cy="457200"/>
          </a:xfrm>
          <a:prstGeom prst="roundRect">
            <a:avLst>
              <a:gd name="adj" fmla="val 16000"/>
            </a:avLst>
          </a:prstGeom>
          <a:solidFill>
            <a:srgbClr val="FFFFFF"/>
          </a:solidFill>
          <a:ln w="22225">
            <a:solidFill>
              <a:srgbClr val="22A6C4"/>
            </a:solidFill>
            <a:prstDash val="solid"/>
          </a:ln>
        </p:spPr>
      </p:sp>
      <p:sp>
        <p:nvSpPr>
          <p:cNvPr id="39" name="Text 37"/>
          <p:cNvSpPr txBox="1"/>
          <p:nvPr/>
        </p:nvSpPr>
        <p:spPr>
          <a:xfrm>
            <a:off x="9491472" y="4206240"/>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34</a:t>
            </a:r>
            <a:endParaRPr lang="en-US" sz="1300" dirty="0"/>
          </a:p>
        </p:txBody>
      </p:sp>
      <p:sp>
        <p:nvSpPr>
          <p:cNvPr id="40" name="Shape 38"/>
          <p:cNvSpPr/>
          <p:nvPr/>
        </p:nvSpPr>
        <p:spPr>
          <a:xfrm>
            <a:off x="10021824" y="4206240"/>
            <a:ext cx="457200" cy="457200"/>
          </a:xfrm>
          <a:prstGeom prst="roundRect">
            <a:avLst>
              <a:gd name="adj" fmla="val 16000"/>
            </a:avLst>
          </a:prstGeom>
          <a:solidFill>
            <a:srgbClr val="FFFFFF"/>
          </a:solidFill>
          <a:ln w="22225">
            <a:solidFill>
              <a:srgbClr val="22A6C4"/>
            </a:solidFill>
            <a:prstDash val="solid"/>
          </a:ln>
        </p:spPr>
      </p:sp>
      <p:sp>
        <p:nvSpPr>
          <p:cNvPr id="41" name="Text 39"/>
          <p:cNvSpPr txBox="1"/>
          <p:nvPr/>
        </p:nvSpPr>
        <p:spPr>
          <a:xfrm>
            <a:off x="10021824" y="4206240"/>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62</a:t>
            </a:r>
            <a:endParaRPr lang="en-US" sz="1300" dirty="0"/>
          </a:p>
        </p:txBody>
      </p:sp>
      <p:sp>
        <p:nvSpPr>
          <p:cNvPr id="44" name="Text 42"/>
          <p:cNvSpPr txBox="1"/>
          <p:nvPr/>
        </p:nvSpPr>
        <p:spPr>
          <a:xfrm>
            <a:off x="548640" y="6547104"/>
            <a:ext cx="6858000" cy="256032"/>
          </a:xfrm>
          <a:prstGeom prst="rect">
            <a:avLst/>
          </a:prstGeom>
          <a:noFill/>
          <a:ln/>
        </p:spPr>
        <p:txBody>
          <a:bodyPr wrap="square" lIns="0" tIns="0" rIns="0" bIns="0" rtlCol="0" anchor="ctr"/>
          <a:lstStyle/>
          <a:p>
            <a:pPr marL="0" indent="0">
              <a:buNone/>
            </a:pPr>
            <a:r>
              <a:rPr lang="en-US" sz="900" dirty="0">
                <a:solidFill>
                  <a:srgbClr val="8FC7D6"/>
                </a:solidFill>
                <a:latin typeface="Calibri" pitchFamily="34" charset="0"/>
                <a:ea typeface="Calibri" pitchFamily="34" charset="-122"/>
                <a:cs typeface="Calibri" pitchFamily="34" charset="-120"/>
              </a:rPr>
              <a:t>Linear &amp; Binary Search  |  Data Structures Using C</a:t>
            </a:r>
            <a:endParaRPr lang="en-US" sz="900" dirty="0"/>
          </a:p>
        </p:txBody>
      </p:sp>
      <p:sp>
        <p:nvSpPr>
          <p:cNvPr id="45" name="Text 43"/>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900" dirty="0">
                <a:solidFill>
                  <a:srgbClr val="8FC7D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500000">
            <a:off x="10972800" y="-1005840"/>
            <a:ext cx="2377440" cy="2377440"/>
          </a:xfrm>
          <a:prstGeom prst="triangle">
            <a:avLst/>
          </a:prstGeom>
          <a:solidFill>
            <a:srgbClr val="0E7490">
              <a:alpha val="5000"/>
            </a:srgbClr>
          </a:solidFill>
          <a:ln/>
        </p:spPr>
      </p:sp>
      <p:sp>
        <p:nvSpPr>
          <p:cNvPr id="3" name="Shape 1"/>
          <p:cNvSpPr/>
          <p:nvPr/>
        </p:nvSpPr>
        <p:spPr>
          <a:xfrm rot="12300000">
            <a:off x="-1097280" y="5760720"/>
            <a:ext cx="2377440" cy="2377440"/>
          </a:xfrm>
          <a:prstGeom prst="triangle">
            <a:avLst/>
          </a:prstGeom>
          <a:solidFill>
            <a:srgbClr val="0E7490">
              <a:alpha val="5000"/>
            </a:srgbClr>
          </a:solidFill>
          <a:ln/>
        </p:spPr>
      </p:sp>
      <p:sp>
        <p:nvSpPr>
          <p:cNvPr id="5" name="Text 3"/>
          <p:cNvSpPr txBox="1"/>
          <p:nvPr/>
        </p:nvSpPr>
        <p:spPr>
          <a:xfrm>
            <a:off x="563880" y="352044"/>
            <a:ext cx="11064240" cy="731520"/>
          </a:xfrm>
          <a:prstGeom prst="rect">
            <a:avLst/>
          </a:prstGeom>
          <a:noFill/>
          <a:ln/>
        </p:spPr>
        <p:txBody>
          <a:bodyPr wrap="square" lIns="0" tIns="0" rIns="0" bIns="0" rtlCol="0" anchor="ctr"/>
          <a:lstStyle/>
          <a:p>
            <a:pPr marL="0" indent="0">
              <a:buNone/>
            </a:pPr>
            <a:r>
              <a:rPr lang="en-US" sz="3000" b="1" dirty="0">
                <a:solidFill>
                  <a:srgbClr val="10242E"/>
                </a:solidFill>
                <a:latin typeface="Cambria" pitchFamily="34" charset="0"/>
                <a:ea typeface="Cambria" pitchFamily="34" charset="-122"/>
                <a:cs typeface="Cambria" pitchFamily="34" charset="-120"/>
              </a:rPr>
              <a:t>Introduction to Searching</a:t>
            </a:r>
            <a:endParaRPr lang="en-US" sz="3000" dirty="0"/>
          </a:p>
        </p:txBody>
      </p:sp>
      <p:sp>
        <p:nvSpPr>
          <p:cNvPr id="6" name="Text 4"/>
          <p:cNvSpPr txBox="1"/>
          <p:nvPr/>
        </p:nvSpPr>
        <p:spPr>
          <a:xfrm>
            <a:off x="563880" y="1101852"/>
            <a:ext cx="5577840" cy="1005840"/>
          </a:xfrm>
          <a:prstGeom prst="rect">
            <a:avLst/>
          </a:prstGeom>
          <a:noFill/>
          <a:ln/>
        </p:spPr>
        <p:txBody>
          <a:bodyPr wrap="square" lIns="0" tIns="0" rIns="0" bIns="0" rtlCol="0" anchor="ctr"/>
          <a:lstStyle/>
          <a:p>
            <a:pPr marL="0" indent="0">
              <a:lnSpc>
                <a:spcPct val="130000"/>
              </a:lnSpc>
              <a:buNone/>
            </a:pPr>
            <a:r>
              <a:rPr lang="en-US" sz="2000" b="1" dirty="0">
                <a:solidFill>
                  <a:srgbClr val="10242E"/>
                </a:solidFill>
                <a:latin typeface="Calibri" pitchFamily="34" charset="0"/>
                <a:ea typeface="Calibri" pitchFamily="34" charset="-122"/>
                <a:cs typeface="Calibri" pitchFamily="34" charset="-120"/>
              </a:rPr>
              <a:t>Searching </a:t>
            </a:r>
            <a:r>
              <a:rPr lang="en-US" sz="2000" dirty="0">
                <a:solidFill>
                  <a:srgbClr val="1B2233"/>
                </a:solidFill>
                <a:latin typeface="Calibri" pitchFamily="34" charset="0"/>
                <a:ea typeface="Calibri" pitchFamily="34" charset="-122"/>
                <a:cs typeface="Calibri" pitchFamily="34" charset="-120"/>
              </a:rPr>
              <a:t>means locating a target value (the key) in a collection and reporting where it is — its index — or reporting that it is absent.</a:t>
            </a:r>
            <a:endParaRPr lang="en-US" sz="2000" dirty="0"/>
          </a:p>
        </p:txBody>
      </p:sp>
      <p:sp>
        <p:nvSpPr>
          <p:cNvPr id="7" name="Text 5"/>
          <p:cNvSpPr txBox="1"/>
          <p:nvPr/>
        </p:nvSpPr>
        <p:spPr>
          <a:xfrm>
            <a:off x="563880" y="2334006"/>
            <a:ext cx="5486400" cy="320040"/>
          </a:xfrm>
          <a:prstGeom prst="rect">
            <a:avLst/>
          </a:prstGeom>
          <a:noFill/>
          <a:ln/>
        </p:spPr>
        <p:txBody>
          <a:bodyPr wrap="square" lIns="0" tIns="0" rIns="0" bIns="0" rtlCol="0" anchor="ctr"/>
          <a:lstStyle/>
          <a:p>
            <a:pPr marL="0" indent="0">
              <a:buNone/>
            </a:pPr>
            <a:r>
              <a:rPr lang="en-US" b="1" dirty="0">
                <a:solidFill>
                  <a:srgbClr val="10242E"/>
                </a:solidFill>
                <a:latin typeface="Cambria" pitchFamily="34" charset="0"/>
                <a:ea typeface="Cambria" pitchFamily="34" charset="-122"/>
                <a:cs typeface="Cambria" pitchFamily="34" charset="-120"/>
              </a:rPr>
              <a:t>Two basic strategies:</a:t>
            </a:r>
            <a:endParaRPr lang="en-US" dirty="0"/>
          </a:p>
        </p:txBody>
      </p:sp>
      <p:sp>
        <p:nvSpPr>
          <p:cNvPr id="8" name="Shape 6"/>
          <p:cNvSpPr/>
          <p:nvPr/>
        </p:nvSpPr>
        <p:spPr>
          <a:xfrm>
            <a:off x="548640" y="3017520"/>
            <a:ext cx="146304" cy="146304"/>
          </a:xfrm>
          <a:prstGeom prst="ellipse">
            <a:avLst/>
          </a:prstGeom>
          <a:solidFill>
            <a:srgbClr val="0E7490"/>
          </a:solidFill>
          <a:ln/>
        </p:spPr>
      </p:sp>
      <p:sp>
        <p:nvSpPr>
          <p:cNvPr id="9" name="Text 7"/>
          <p:cNvSpPr txBox="1"/>
          <p:nvPr/>
        </p:nvSpPr>
        <p:spPr>
          <a:xfrm>
            <a:off x="822960" y="2880360"/>
            <a:ext cx="5394960" cy="566928"/>
          </a:xfrm>
          <a:prstGeom prst="rect">
            <a:avLst/>
          </a:prstGeom>
          <a:noFill/>
          <a:ln/>
        </p:spPr>
        <p:txBody>
          <a:bodyPr wrap="square" lIns="0" tIns="0" rIns="0" bIns="0" rtlCol="0" anchor="ctr"/>
          <a:lstStyle/>
          <a:p>
            <a:pPr marL="0" indent="0">
              <a:buNone/>
            </a:pPr>
            <a:r>
              <a:rPr lang="en-US" dirty="0">
                <a:solidFill>
                  <a:srgbClr val="1B2233"/>
                </a:solidFill>
                <a:latin typeface="Calibri" pitchFamily="34" charset="0"/>
                <a:ea typeface="Calibri" pitchFamily="34" charset="-122"/>
                <a:cs typeface="Calibri" pitchFamily="34" charset="-120"/>
              </a:rPr>
              <a:t>Sequential (linear) — look at elements one after another; needs no ordering.</a:t>
            </a:r>
            <a:endParaRPr lang="en-US" dirty="0"/>
          </a:p>
        </p:txBody>
      </p:sp>
      <p:sp>
        <p:nvSpPr>
          <p:cNvPr id="10" name="Shape 8"/>
          <p:cNvSpPr/>
          <p:nvPr/>
        </p:nvSpPr>
        <p:spPr>
          <a:xfrm>
            <a:off x="548640" y="3657600"/>
            <a:ext cx="146304" cy="146304"/>
          </a:xfrm>
          <a:prstGeom prst="ellipse">
            <a:avLst/>
          </a:prstGeom>
          <a:solidFill>
            <a:srgbClr val="0E7490"/>
          </a:solidFill>
          <a:ln/>
        </p:spPr>
      </p:sp>
      <p:sp>
        <p:nvSpPr>
          <p:cNvPr id="11" name="Text 9"/>
          <p:cNvSpPr txBox="1"/>
          <p:nvPr/>
        </p:nvSpPr>
        <p:spPr>
          <a:xfrm>
            <a:off x="822960" y="3520440"/>
            <a:ext cx="5394960" cy="566928"/>
          </a:xfrm>
          <a:prstGeom prst="rect">
            <a:avLst/>
          </a:prstGeom>
          <a:noFill/>
          <a:ln/>
        </p:spPr>
        <p:txBody>
          <a:bodyPr wrap="square" lIns="0" tIns="0" rIns="0" bIns="0" rtlCol="0" anchor="ctr"/>
          <a:lstStyle/>
          <a:p>
            <a:pPr marL="0" indent="0">
              <a:buNone/>
            </a:pPr>
            <a:r>
              <a:rPr lang="en-US" dirty="0">
                <a:solidFill>
                  <a:srgbClr val="1B2233"/>
                </a:solidFill>
                <a:latin typeface="Calibri" pitchFamily="34" charset="0"/>
                <a:ea typeface="Calibri" pitchFamily="34" charset="-122"/>
                <a:cs typeface="Calibri" pitchFamily="34" charset="-120"/>
              </a:rPr>
              <a:t>Interval (binary) — exploit sorted order to discard half of the remaining data each step.</a:t>
            </a:r>
            <a:endParaRPr lang="en-US" dirty="0"/>
          </a:p>
        </p:txBody>
      </p:sp>
      <p:sp>
        <p:nvSpPr>
          <p:cNvPr id="12" name="Shape 10"/>
          <p:cNvSpPr/>
          <p:nvPr/>
        </p:nvSpPr>
        <p:spPr>
          <a:xfrm>
            <a:off x="548640" y="4297680"/>
            <a:ext cx="146304" cy="146304"/>
          </a:xfrm>
          <a:prstGeom prst="ellipse">
            <a:avLst/>
          </a:prstGeom>
          <a:solidFill>
            <a:srgbClr val="0E7490"/>
          </a:solidFill>
          <a:ln/>
        </p:spPr>
      </p:sp>
      <p:sp>
        <p:nvSpPr>
          <p:cNvPr id="13" name="Text 11"/>
          <p:cNvSpPr txBox="1"/>
          <p:nvPr/>
        </p:nvSpPr>
        <p:spPr>
          <a:xfrm>
            <a:off x="822960" y="4160520"/>
            <a:ext cx="5394960" cy="566928"/>
          </a:xfrm>
          <a:prstGeom prst="rect">
            <a:avLst/>
          </a:prstGeom>
          <a:noFill/>
          <a:ln/>
        </p:spPr>
        <p:txBody>
          <a:bodyPr wrap="square" lIns="0" tIns="0" rIns="0" bIns="0" rtlCol="0" anchor="ctr"/>
          <a:lstStyle/>
          <a:p>
            <a:pPr marL="0" indent="0">
              <a:buNone/>
            </a:pPr>
            <a:r>
              <a:rPr lang="en-US" dirty="0">
                <a:solidFill>
                  <a:srgbClr val="1B2233"/>
                </a:solidFill>
                <a:latin typeface="Calibri" pitchFamily="34" charset="0"/>
                <a:ea typeface="Calibri" pitchFamily="34" charset="-122"/>
                <a:cs typeface="Calibri" pitchFamily="34" charset="-120"/>
              </a:rPr>
              <a:t>Return value convention in C: the index if found, −1 if not found.</a:t>
            </a:r>
            <a:endParaRPr lang="en-US" dirty="0"/>
          </a:p>
        </p:txBody>
      </p:sp>
      <p:sp>
        <p:nvSpPr>
          <p:cNvPr id="14" name="Text 12"/>
          <p:cNvSpPr txBox="1"/>
          <p:nvPr/>
        </p:nvSpPr>
        <p:spPr>
          <a:xfrm>
            <a:off x="6873240" y="1330452"/>
            <a:ext cx="4754880" cy="274320"/>
          </a:xfrm>
          <a:prstGeom prst="rect">
            <a:avLst/>
          </a:prstGeom>
          <a:noFill/>
          <a:ln/>
        </p:spPr>
        <p:txBody>
          <a:bodyPr wrap="square" lIns="0" tIns="0" rIns="0" bIns="0" rtlCol="0" anchor="ctr"/>
          <a:lstStyle/>
          <a:p>
            <a:pPr marL="0" indent="0">
              <a:buNone/>
            </a:pPr>
            <a:r>
              <a:rPr lang="en-US" sz="1600" b="1" kern="0" spc="150" dirty="0">
                <a:solidFill>
                  <a:srgbClr val="22A6C4"/>
                </a:solidFill>
                <a:latin typeface="Calibri" pitchFamily="34" charset="0"/>
                <a:ea typeface="Calibri" pitchFamily="34" charset="-122"/>
                <a:cs typeface="Calibri" pitchFamily="34" charset="-120"/>
              </a:rPr>
              <a:t>COMMON SEARCHING TECHNIQUES</a:t>
            </a:r>
            <a:endParaRPr lang="en-US" sz="1600" dirty="0"/>
          </a:p>
        </p:txBody>
      </p:sp>
      <p:sp>
        <p:nvSpPr>
          <p:cNvPr id="15" name="Shape 13"/>
          <p:cNvSpPr/>
          <p:nvPr/>
        </p:nvSpPr>
        <p:spPr>
          <a:xfrm>
            <a:off x="6492240" y="1828800"/>
            <a:ext cx="4480560" cy="365760"/>
          </a:xfrm>
          <a:prstGeom prst="roundRect">
            <a:avLst>
              <a:gd name="adj" fmla="val 50000"/>
            </a:avLst>
          </a:prstGeom>
          <a:solidFill>
            <a:srgbClr val="0E7490"/>
          </a:solidFill>
          <a:ln/>
        </p:spPr>
      </p:sp>
      <p:sp>
        <p:nvSpPr>
          <p:cNvPr id="16" name="Text 14"/>
          <p:cNvSpPr txBox="1"/>
          <p:nvPr/>
        </p:nvSpPr>
        <p:spPr>
          <a:xfrm>
            <a:off x="6492240" y="1828800"/>
            <a:ext cx="44805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Linear Search</a:t>
            </a:r>
            <a:endParaRPr lang="en-US" sz="1300" dirty="0"/>
          </a:p>
        </p:txBody>
      </p:sp>
      <p:sp>
        <p:nvSpPr>
          <p:cNvPr id="17" name="Shape 15"/>
          <p:cNvSpPr/>
          <p:nvPr/>
        </p:nvSpPr>
        <p:spPr>
          <a:xfrm>
            <a:off x="6492240" y="2359152"/>
            <a:ext cx="4480560" cy="365760"/>
          </a:xfrm>
          <a:prstGeom prst="roundRect">
            <a:avLst>
              <a:gd name="adj" fmla="val 50000"/>
            </a:avLst>
          </a:prstGeom>
          <a:solidFill>
            <a:srgbClr val="0E7490"/>
          </a:solidFill>
          <a:ln/>
        </p:spPr>
      </p:sp>
      <p:sp>
        <p:nvSpPr>
          <p:cNvPr id="18" name="Text 16"/>
          <p:cNvSpPr txBox="1"/>
          <p:nvPr/>
        </p:nvSpPr>
        <p:spPr>
          <a:xfrm>
            <a:off x="6492240" y="2359152"/>
            <a:ext cx="44805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Binary Search</a:t>
            </a:r>
            <a:endParaRPr lang="en-US" sz="1300" dirty="0"/>
          </a:p>
        </p:txBody>
      </p:sp>
      <p:sp>
        <p:nvSpPr>
          <p:cNvPr id="19" name="Shape 17"/>
          <p:cNvSpPr/>
          <p:nvPr/>
        </p:nvSpPr>
        <p:spPr>
          <a:xfrm>
            <a:off x="6492240" y="2889504"/>
            <a:ext cx="4480560" cy="365760"/>
          </a:xfrm>
          <a:prstGeom prst="roundRect">
            <a:avLst>
              <a:gd name="adj" fmla="val 50000"/>
            </a:avLst>
          </a:prstGeom>
          <a:solidFill>
            <a:srgbClr val="E6F5F9"/>
          </a:solidFill>
          <a:ln/>
        </p:spPr>
      </p:sp>
      <p:sp>
        <p:nvSpPr>
          <p:cNvPr id="20" name="Text 18"/>
          <p:cNvSpPr txBox="1"/>
          <p:nvPr/>
        </p:nvSpPr>
        <p:spPr>
          <a:xfrm>
            <a:off x="6492240" y="2889504"/>
            <a:ext cx="4480560" cy="365760"/>
          </a:xfrm>
          <a:prstGeom prst="rect">
            <a:avLst/>
          </a:prstGeom>
          <a:noFill/>
          <a:ln/>
        </p:spPr>
        <p:txBody>
          <a:bodyPr wrap="square" lIns="0" tIns="0" rIns="0" bIns="0" rtlCol="0" anchor="ctr"/>
          <a:lstStyle/>
          <a:p>
            <a:pPr marL="0" indent="0" algn="ctr">
              <a:buNone/>
            </a:pPr>
            <a:r>
              <a:rPr lang="en-US" sz="1300" b="1" dirty="0">
                <a:solidFill>
                  <a:srgbClr val="10242E"/>
                </a:solidFill>
                <a:latin typeface="Calibri" pitchFamily="34" charset="0"/>
                <a:ea typeface="Calibri" pitchFamily="34" charset="-122"/>
                <a:cs typeface="Calibri" pitchFamily="34" charset="-120"/>
              </a:rPr>
              <a:t>Jump Search</a:t>
            </a:r>
            <a:endParaRPr lang="en-US" sz="1300" dirty="0"/>
          </a:p>
        </p:txBody>
      </p:sp>
      <p:sp>
        <p:nvSpPr>
          <p:cNvPr id="21" name="Shape 19"/>
          <p:cNvSpPr/>
          <p:nvPr/>
        </p:nvSpPr>
        <p:spPr>
          <a:xfrm>
            <a:off x="6492240" y="3419856"/>
            <a:ext cx="4480560" cy="365760"/>
          </a:xfrm>
          <a:prstGeom prst="roundRect">
            <a:avLst>
              <a:gd name="adj" fmla="val 50000"/>
            </a:avLst>
          </a:prstGeom>
          <a:solidFill>
            <a:srgbClr val="E6F5F9"/>
          </a:solidFill>
          <a:ln/>
        </p:spPr>
      </p:sp>
      <p:sp>
        <p:nvSpPr>
          <p:cNvPr id="22" name="Text 20"/>
          <p:cNvSpPr txBox="1"/>
          <p:nvPr/>
        </p:nvSpPr>
        <p:spPr>
          <a:xfrm>
            <a:off x="6492240" y="3419856"/>
            <a:ext cx="4480560" cy="365760"/>
          </a:xfrm>
          <a:prstGeom prst="rect">
            <a:avLst/>
          </a:prstGeom>
          <a:noFill/>
          <a:ln/>
        </p:spPr>
        <p:txBody>
          <a:bodyPr wrap="square" lIns="0" tIns="0" rIns="0" bIns="0" rtlCol="0" anchor="ctr"/>
          <a:lstStyle/>
          <a:p>
            <a:pPr marL="0" indent="0" algn="ctr">
              <a:buNone/>
            </a:pPr>
            <a:r>
              <a:rPr lang="en-US" sz="1300" b="1" dirty="0">
                <a:solidFill>
                  <a:srgbClr val="10242E"/>
                </a:solidFill>
                <a:latin typeface="Calibri" pitchFamily="34" charset="0"/>
                <a:ea typeface="Calibri" pitchFamily="34" charset="-122"/>
                <a:cs typeface="Calibri" pitchFamily="34" charset="-120"/>
              </a:rPr>
              <a:t>Interpolation Search</a:t>
            </a:r>
            <a:endParaRPr lang="en-US" sz="1300" dirty="0"/>
          </a:p>
        </p:txBody>
      </p:sp>
      <p:sp>
        <p:nvSpPr>
          <p:cNvPr id="23" name="Shape 21"/>
          <p:cNvSpPr/>
          <p:nvPr/>
        </p:nvSpPr>
        <p:spPr>
          <a:xfrm>
            <a:off x="6492240" y="3950208"/>
            <a:ext cx="4480560" cy="365760"/>
          </a:xfrm>
          <a:prstGeom prst="roundRect">
            <a:avLst>
              <a:gd name="adj" fmla="val 50000"/>
            </a:avLst>
          </a:prstGeom>
          <a:solidFill>
            <a:srgbClr val="E6F5F9"/>
          </a:solidFill>
          <a:ln/>
        </p:spPr>
      </p:sp>
      <p:sp>
        <p:nvSpPr>
          <p:cNvPr id="24" name="Text 22"/>
          <p:cNvSpPr txBox="1"/>
          <p:nvPr/>
        </p:nvSpPr>
        <p:spPr>
          <a:xfrm>
            <a:off x="6492240" y="3950208"/>
            <a:ext cx="4480560" cy="365760"/>
          </a:xfrm>
          <a:prstGeom prst="rect">
            <a:avLst/>
          </a:prstGeom>
          <a:noFill/>
          <a:ln/>
        </p:spPr>
        <p:txBody>
          <a:bodyPr wrap="square" lIns="0" tIns="0" rIns="0" bIns="0" rtlCol="0" anchor="ctr"/>
          <a:lstStyle/>
          <a:p>
            <a:pPr marL="0" indent="0" algn="ctr">
              <a:buNone/>
            </a:pPr>
            <a:r>
              <a:rPr lang="en-US" sz="1300" b="1" dirty="0">
                <a:solidFill>
                  <a:srgbClr val="10242E"/>
                </a:solidFill>
                <a:latin typeface="Calibri" pitchFamily="34" charset="0"/>
                <a:ea typeface="Calibri" pitchFamily="34" charset="-122"/>
                <a:cs typeface="Calibri" pitchFamily="34" charset="-120"/>
              </a:rPr>
              <a:t>Hash-Table Lookup</a:t>
            </a:r>
            <a:endParaRPr lang="en-US" sz="1300" dirty="0"/>
          </a:p>
        </p:txBody>
      </p:sp>
      <p:sp>
        <p:nvSpPr>
          <p:cNvPr id="25" name="Shape 23"/>
          <p:cNvSpPr/>
          <p:nvPr/>
        </p:nvSpPr>
        <p:spPr>
          <a:xfrm>
            <a:off x="6492240" y="4754880"/>
            <a:ext cx="4937760" cy="1737360"/>
          </a:xfrm>
          <a:prstGeom prst="roundRect">
            <a:avLst>
              <a:gd name="adj" fmla="val 5263"/>
            </a:avLst>
          </a:prstGeom>
          <a:solidFill>
            <a:schemeClr val="bg2">
              <a:lumMod val="90000"/>
            </a:schemeClr>
          </a:solidFill>
          <a:ln w="12700">
            <a:solidFill>
              <a:srgbClr val="10242E"/>
            </a:solidFill>
            <a:prstDash val="solid"/>
          </a:ln>
        </p:spPr>
      </p:sp>
      <p:sp>
        <p:nvSpPr>
          <p:cNvPr id="26" name="Text 24"/>
          <p:cNvSpPr txBox="1"/>
          <p:nvPr/>
        </p:nvSpPr>
        <p:spPr>
          <a:xfrm>
            <a:off x="6720840" y="4910328"/>
            <a:ext cx="4480560" cy="274320"/>
          </a:xfrm>
          <a:prstGeom prst="rect">
            <a:avLst/>
          </a:prstGeom>
          <a:noFill/>
          <a:ln/>
        </p:spPr>
        <p:txBody>
          <a:bodyPr wrap="square" lIns="0" tIns="0" rIns="0" bIns="0" rtlCol="0" anchor="ctr"/>
          <a:lstStyle/>
          <a:p>
            <a:pPr marL="0" indent="0">
              <a:buNone/>
            </a:pPr>
            <a:r>
              <a:rPr lang="en-US" sz="1600" b="1" kern="0" spc="100" dirty="0">
                <a:latin typeface="Calibri" pitchFamily="34" charset="0"/>
                <a:ea typeface="Calibri" pitchFamily="34" charset="-122"/>
                <a:cs typeface="Calibri" pitchFamily="34" charset="-120"/>
              </a:rPr>
              <a:t>THIS DECK — A QUICK PREVIEW</a:t>
            </a:r>
            <a:endParaRPr lang="en-US" sz="1600" dirty="0"/>
          </a:p>
        </p:txBody>
      </p:sp>
      <p:sp>
        <p:nvSpPr>
          <p:cNvPr id="27" name="Text 25"/>
          <p:cNvSpPr txBox="1"/>
          <p:nvPr/>
        </p:nvSpPr>
        <p:spPr>
          <a:xfrm>
            <a:off x="6720840" y="5212080"/>
            <a:ext cx="4480560" cy="1188720"/>
          </a:xfrm>
          <a:prstGeom prst="rect">
            <a:avLst/>
          </a:prstGeom>
          <a:noFill/>
          <a:ln/>
        </p:spPr>
        <p:txBody>
          <a:bodyPr wrap="square" lIns="0" tIns="0" rIns="0" bIns="0" rtlCol="0" anchor="ctr"/>
          <a:lstStyle/>
          <a:p>
            <a:pPr marL="0" indent="0">
              <a:lnSpc>
                <a:spcPct val="130000"/>
              </a:lnSpc>
              <a:buNone/>
            </a:pPr>
            <a:r>
              <a:rPr lang="en-US" sz="1600" dirty="0">
                <a:latin typeface="Calibri" pitchFamily="34" charset="0"/>
                <a:ea typeface="Calibri" pitchFamily="34" charset="-122"/>
                <a:cs typeface="Calibri" pitchFamily="34" charset="-120"/>
              </a:rPr>
              <a:t>The two classics, traced step by step on the same eight numbers, with the mathematics of why one needs ≈ n/2 comparisons and the other only ≈ log₂ n.</a:t>
            </a:r>
            <a:endParaRPr lang="en-US" sz="1600" dirty="0"/>
          </a:p>
        </p:txBody>
      </p:sp>
      <p:sp>
        <p:nvSpPr>
          <p:cNvPr id="28" name="Text 26"/>
          <p:cNvSpPr txBox="1"/>
          <p:nvPr/>
        </p:nvSpPr>
        <p:spPr>
          <a:xfrm>
            <a:off x="548640" y="6547104"/>
            <a:ext cx="6858000" cy="256032"/>
          </a:xfrm>
          <a:prstGeom prst="rect">
            <a:avLst/>
          </a:prstGeom>
          <a:noFill/>
          <a:ln/>
        </p:spPr>
        <p:txBody>
          <a:bodyPr wrap="square" lIns="0" tIns="0" rIns="0" bIns="0" rtlCol="0" anchor="ctr"/>
          <a:lstStyle/>
          <a:p>
            <a:pPr marL="0" indent="0">
              <a:buNone/>
            </a:pPr>
            <a:r>
              <a:rPr lang="en-US" sz="900" dirty="0">
                <a:solidFill>
                  <a:srgbClr val="5B6584"/>
                </a:solidFill>
                <a:latin typeface="Calibri" pitchFamily="34" charset="0"/>
                <a:ea typeface="Calibri" pitchFamily="34" charset="-122"/>
                <a:cs typeface="Calibri" pitchFamily="34" charset="-120"/>
              </a:rPr>
              <a:t>Linear &amp; Binary Search  |  Data Structures Using C</a:t>
            </a:r>
            <a:endParaRPr lang="en-US" sz="900" dirty="0"/>
          </a:p>
        </p:txBody>
      </p:sp>
      <p:sp>
        <p:nvSpPr>
          <p:cNvPr id="29" name="Text 27"/>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500000">
            <a:off x="10972800" y="-1005840"/>
            <a:ext cx="2377440" cy="2377440"/>
          </a:xfrm>
          <a:prstGeom prst="triangle">
            <a:avLst/>
          </a:prstGeom>
          <a:solidFill>
            <a:srgbClr val="0E7490">
              <a:alpha val="5000"/>
            </a:srgbClr>
          </a:solidFill>
          <a:ln/>
        </p:spPr>
      </p:sp>
      <p:sp>
        <p:nvSpPr>
          <p:cNvPr id="3" name="Shape 1"/>
          <p:cNvSpPr/>
          <p:nvPr/>
        </p:nvSpPr>
        <p:spPr>
          <a:xfrm rot="12300000">
            <a:off x="-1097280" y="5760720"/>
            <a:ext cx="2377440" cy="2377440"/>
          </a:xfrm>
          <a:prstGeom prst="triangle">
            <a:avLst/>
          </a:prstGeom>
          <a:solidFill>
            <a:srgbClr val="0E7490">
              <a:alpha val="5000"/>
            </a:srgbClr>
          </a:solidFill>
          <a:ln/>
        </p:spPr>
      </p:sp>
      <p:sp>
        <p:nvSpPr>
          <p:cNvPr id="4" name="Text 2"/>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22A6C4"/>
                </a:solidFill>
                <a:latin typeface="Calibri" pitchFamily="34" charset="0"/>
                <a:ea typeface="Calibri" pitchFamily="34" charset="-122"/>
                <a:cs typeface="Calibri" pitchFamily="34" charset="-120"/>
              </a:rPr>
              <a:t>ALGORITHM 1</a:t>
            </a:r>
            <a:endParaRPr lang="en-US" sz="1300" dirty="0"/>
          </a:p>
        </p:txBody>
      </p:sp>
      <p:sp>
        <p:nvSpPr>
          <p:cNvPr id="5" name="Text 3"/>
          <p:cNvSpPr txBox="1"/>
          <p:nvPr/>
        </p:nvSpPr>
        <p:spPr>
          <a:xfrm>
            <a:off x="548640" y="621792"/>
            <a:ext cx="11064240" cy="731520"/>
          </a:xfrm>
          <a:prstGeom prst="rect">
            <a:avLst/>
          </a:prstGeom>
          <a:noFill/>
          <a:ln/>
        </p:spPr>
        <p:txBody>
          <a:bodyPr wrap="square" lIns="0" tIns="0" rIns="0" bIns="0" rtlCol="0" anchor="ctr"/>
          <a:lstStyle/>
          <a:p>
            <a:pPr marL="0" indent="0">
              <a:buNone/>
            </a:pPr>
            <a:r>
              <a:rPr lang="en-US" sz="3000" b="1" dirty="0">
                <a:solidFill>
                  <a:srgbClr val="10242E"/>
                </a:solidFill>
                <a:latin typeface="Cambria" pitchFamily="34" charset="0"/>
                <a:ea typeface="Cambria" pitchFamily="34" charset="-122"/>
                <a:cs typeface="Cambria" pitchFamily="34" charset="-120"/>
              </a:rPr>
              <a:t>What Is Linear Search?</a:t>
            </a:r>
            <a:endParaRPr lang="en-US" sz="3000" dirty="0"/>
          </a:p>
        </p:txBody>
      </p:sp>
      <p:sp>
        <p:nvSpPr>
          <p:cNvPr id="6" name="Shape 4"/>
          <p:cNvSpPr/>
          <p:nvPr/>
        </p:nvSpPr>
        <p:spPr>
          <a:xfrm>
            <a:off x="548640" y="1463040"/>
            <a:ext cx="5486400" cy="1554480"/>
          </a:xfrm>
          <a:prstGeom prst="roundRect">
            <a:avLst>
              <a:gd name="adj" fmla="val 5882"/>
            </a:avLst>
          </a:prstGeom>
          <a:solidFill>
            <a:srgbClr val="E6F5F9"/>
          </a:solidFill>
          <a:ln w="12700">
            <a:solidFill>
              <a:srgbClr val="B8E0EA"/>
            </a:solidFill>
            <a:prstDash val="solid"/>
          </a:ln>
        </p:spPr>
      </p:sp>
      <p:sp>
        <p:nvSpPr>
          <p:cNvPr id="8" name="Text 6"/>
          <p:cNvSpPr txBox="1"/>
          <p:nvPr/>
        </p:nvSpPr>
        <p:spPr>
          <a:xfrm>
            <a:off x="764620" y="1679538"/>
            <a:ext cx="5029200" cy="1051560"/>
          </a:xfrm>
          <a:prstGeom prst="rect">
            <a:avLst/>
          </a:prstGeom>
          <a:noFill/>
          <a:ln/>
        </p:spPr>
        <p:txBody>
          <a:bodyPr wrap="square" lIns="0" tIns="0" rIns="0" bIns="0" rtlCol="0" anchor="ctr"/>
          <a:lstStyle/>
          <a:p>
            <a:pPr marL="0" indent="0">
              <a:lnSpc>
                <a:spcPct val="125000"/>
              </a:lnSpc>
              <a:buNone/>
            </a:pPr>
            <a:r>
              <a:rPr lang="en-US" dirty="0">
                <a:solidFill>
                  <a:srgbClr val="1B2233"/>
                </a:solidFill>
                <a:latin typeface="Calibri" pitchFamily="34" charset="0"/>
                <a:ea typeface="Calibri" pitchFamily="34" charset="-122"/>
                <a:cs typeface="Calibri" pitchFamily="34" charset="-120"/>
              </a:rPr>
              <a:t>Linear (sequential) search compares the key with each element in turn, from the first to the last, and stops as soon as a match is found — or after the last element if there is none.</a:t>
            </a:r>
            <a:endParaRPr lang="en-US" dirty="0"/>
          </a:p>
        </p:txBody>
      </p:sp>
      <p:sp>
        <p:nvSpPr>
          <p:cNvPr id="10" name="Text 8"/>
          <p:cNvSpPr txBox="1"/>
          <p:nvPr/>
        </p:nvSpPr>
        <p:spPr>
          <a:xfrm>
            <a:off x="548640" y="3319272"/>
            <a:ext cx="5486400" cy="1097280"/>
          </a:xfrm>
          <a:prstGeom prst="rect">
            <a:avLst/>
          </a:prstGeom>
          <a:noFill/>
          <a:ln/>
        </p:spPr>
        <p:txBody>
          <a:bodyPr wrap="square" lIns="0" tIns="0" rIns="0" bIns="0" rtlCol="0" anchor="ctr"/>
          <a:lstStyle/>
          <a:p>
            <a:pPr marL="0" indent="0">
              <a:lnSpc>
                <a:spcPct val="130000"/>
              </a:lnSpc>
              <a:buNone/>
            </a:pPr>
            <a:r>
              <a:rPr lang="en-US" dirty="0">
                <a:latin typeface="Calibri" pitchFamily="34" charset="0"/>
                <a:ea typeface="Calibri" pitchFamily="34" charset="-122"/>
                <a:cs typeface="Calibri" pitchFamily="34" charset="-120"/>
              </a:rPr>
              <a:t>Nothing is assumed about the order of the data, so every element is a candidate until it is examined. That generality is both its strength (works anywhere) and its cost (up to n comparisons).</a:t>
            </a:r>
            <a:endParaRPr lang="en-US" dirty="0"/>
          </a:p>
        </p:txBody>
      </p:sp>
      <p:sp>
        <p:nvSpPr>
          <p:cNvPr id="11" name="Text 9"/>
          <p:cNvSpPr txBox="1"/>
          <p:nvPr/>
        </p:nvSpPr>
        <p:spPr>
          <a:xfrm>
            <a:off x="548640" y="4709160"/>
            <a:ext cx="7315200" cy="274320"/>
          </a:xfrm>
          <a:prstGeom prst="rect">
            <a:avLst/>
          </a:prstGeom>
          <a:noFill/>
          <a:ln/>
        </p:spPr>
        <p:txBody>
          <a:bodyPr wrap="square" lIns="0" tIns="0" rIns="0" bIns="0" rtlCol="0" anchor="ctr"/>
          <a:lstStyle/>
          <a:p>
            <a:pPr marL="0" indent="0">
              <a:buNone/>
            </a:pPr>
            <a:r>
              <a:rPr lang="en-US" b="1" kern="0" spc="100" dirty="0">
                <a:solidFill>
                  <a:srgbClr val="22A6C4"/>
                </a:solidFill>
                <a:latin typeface="Calibri" pitchFamily="34" charset="0"/>
                <a:ea typeface="Calibri" pitchFamily="34" charset="-122"/>
                <a:cs typeface="Calibri" pitchFamily="34" charset="-120"/>
              </a:rPr>
              <a:t>SCANNING FOR KEY = 5</a:t>
            </a:r>
            <a:endParaRPr lang="en-US" dirty="0"/>
          </a:p>
        </p:txBody>
      </p:sp>
      <p:sp>
        <p:nvSpPr>
          <p:cNvPr id="12" name="Shape 10"/>
          <p:cNvSpPr/>
          <p:nvPr/>
        </p:nvSpPr>
        <p:spPr>
          <a:xfrm>
            <a:off x="548640" y="5029200"/>
            <a:ext cx="457200" cy="457200"/>
          </a:xfrm>
          <a:prstGeom prst="roundRect">
            <a:avLst>
              <a:gd name="adj" fmla="val 16000"/>
            </a:avLst>
          </a:prstGeom>
          <a:solidFill>
            <a:srgbClr val="E5E7EB"/>
          </a:solidFill>
          <a:ln w="22225">
            <a:solidFill>
              <a:srgbClr val="CBD0D6"/>
            </a:solidFill>
            <a:prstDash val="solid"/>
          </a:ln>
        </p:spPr>
      </p:sp>
      <p:sp>
        <p:nvSpPr>
          <p:cNvPr id="13" name="Text 11"/>
          <p:cNvSpPr txBox="1"/>
          <p:nvPr/>
        </p:nvSpPr>
        <p:spPr>
          <a:xfrm>
            <a:off x="548640" y="5029200"/>
            <a:ext cx="457200" cy="457200"/>
          </a:xfrm>
          <a:prstGeom prst="rect">
            <a:avLst/>
          </a:prstGeom>
          <a:noFill/>
          <a:ln/>
        </p:spPr>
        <p:txBody>
          <a:bodyPr wrap="square" lIns="0" tIns="0" rIns="0" bIns="0" rtlCol="0" anchor="ctr"/>
          <a:lstStyle/>
          <a:p>
            <a:pPr marL="0" indent="0" algn="ctr">
              <a:buNone/>
            </a:pPr>
            <a:r>
              <a:rPr lang="en-US" sz="1300" b="1" dirty="0">
                <a:solidFill>
                  <a:srgbClr val="9CA3AF"/>
                </a:solidFill>
                <a:latin typeface="Courier New" pitchFamily="34" charset="0"/>
                <a:ea typeface="Courier New" pitchFamily="34" charset="-122"/>
                <a:cs typeface="Courier New" pitchFamily="34" charset="-120"/>
              </a:rPr>
              <a:t>34</a:t>
            </a:r>
            <a:endParaRPr lang="en-US" sz="1300" dirty="0"/>
          </a:p>
        </p:txBody>
      </p:sp>
      <p:sp>
        <p:nvSpPr>
          <p:cNvPr id="14" name="Text 12"/>
          <p:cNvSpPr txBox="1"/>
          <p:nvPr/>
        </p:nvSpPr>
        <p:spPr>
          <a:xfrm>
            <a:off x="548640" y="5504688"/>
            <a:ext cx="457200"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0</a:t>
            </a:r>
            <a:endParaRPr lang="en-US" sz="850" dirty="0"/>
          </a:p>
        </p:txBody>
      </p:sp>
      <p:sp>
        <p:nvSpPr>
          <p:cNvPr id="15" name="Shape 13"/>
          <p:cNvSpPr/>
          <p:nvPr/>
        </p:nvSpPr>
        <p:spPr>
          <a:xfrm>
            <a:off x="1078992" y="5029200"/>
            <a:ext cx="457200" cy="457200"/>
          </a:xfrm>
          <a:prstGeom prst="roundRect">
            <a:avLst>
              <a:gd name="adj" fmla="val 16000"/>
            </a:avLst>
          </a:prstGeom>
          <a:solidFill>
            <a:srgbClr val="E5E7EB"/>
          </a:solidFill>
          <a:ln w="22225">
            <a:solidFill>
              <a:srgbClr val="CBD0D6"/>
            </a:solidFill>
            <a:prstDash val="solid"/>
          </a:ln>
        </p:spPr>
      </p:sp>
      <p:sp>
        <p:nvSpPr>
          <p:cNvPr id="16" name="Text 14"/>
          <p:cNvSpPr txBox="1"/>
          <p:nvPr/>
        </p:nvSpPr>
        <p:spPr>
          <a:xfrm>
            <a:off x="1078992" y="5029200"/>
            <a:ext cx="457200" cy="457200"/>
          </a:xfrm>
          <a:prstGeom prst="rect">
            <a:avLst/>
          </a:prstGeom>
          <a:noFill/>
          <a:ln/>
        </p:spPr>
        <p:txBody>
          <a:bodyPr wrap="square" lIns="0" tIns="0" rIns="0" bIns="0" rtlCol="0" anchor="ctr"/>
          <a:lstStyle/>
          <a:p>
            <a:pPr marL="0" indent="0" algn="ctr">
              <a:buNone/>
            </a:pPr>
            <a:r>
              <a:rPr lang="en-US" sz="1300" b="1" dirty="0">
                <a:solidFill>
                  <a:srgbClr val="9CA3AF"/>
                </a:solidFill>
                <a:latin typeface="Courier New" pitchFamily="34" charset="0"/>
                <a:ea typeface="Courier New" pitchFamily="34" charset="-122"/>
                <a:cs typeface="Courier New" pitchFamily="34" charset="-120"/>
              </a:rPr>
              <a:t>7</a:t>
            </a:r>
            <a:endParaRPr lang="en-US" sz="1300" dirty="0"/>
          </a:p>
        </p:txBody>
      </p:sp>
      <p:sp>
        <p:nvSpPr>
          <p:cNvPr id="17" name="Text 15"/>
          <p:cNvSpPr txBox="1"/>
          <p:nvPr/>
        </p:nvSpPr>
        <p:spPr>
          <a:xfrm>
            <a:off x="1078992" y="5504688"/>
            <a:ext cx="457200"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1</a:t>
            </a:r>
            <a:endParaRPr lang="en-US" sz="850" dirty="0"/>
          </a:p>
        </p:txBody>
      </p:sp>
      <p:sp>
        <p:nvSpPr>
          <p:cNvPr id="18" name="Shape 16"/>
          <p:cNvSpPr/>
          <p:nvPr/>
        </p:nvSpPr>
        <p:spPr>
          <a:xfrm>
            <a:off x="1609344" y="5029200"/>
            <a:ext cx="457200" cy="457200"/>
          </a:xfrm>
          <a:prstGeom prst="roundRect">
            <a:avLst>
              <a:gd name="adj" fmla="val 16000"/>
            </a:avLst>
          </a:prstGeom>
          <a:solidFill>
            <a:srgbClr val="E5E7EB"/>
          </a:solidFill>
          <a:ln w="22225">
            <a:solidFill>
              <a:srgbClr val="CBD0D6"/>
            </a:solidFill>
            <a:prstDash val="solid"/>
          </a:ln>
        </p:spPr>
      </p:sp>
      <p:sp>
        <p:nvSpPr>
          <p:cNvPr id="19" name="Text 17"/>
          <p:cNvSpPr txBox="1"/>
          <p:nvPr/>
        </p:nvSpPr>
        <p:spPr>
          <a:xfrm>
            <a:off x="1609344" y="5029200"/>
            <a:ext cx="457200" cy="457200"/>
          </a:xfrm>
          <a:prstGeom prst="rect">
            <a:avLst/>
          </a:prstGeom>
          <a:noFill/>
          <a:ln/>
        </p:spPr>
        <p:txBody>
          <a:bodyPr wrap="square" lIns="0" tIns="0" rIns="0" bIns="0" rtlCol="0" anchor="ctr"/>
          <a:lstStyle/>
          <a:p>
            <a:pPr marL="0" indent="0" algn="ctr">
              <a:buNone/>
            </a:pPr>
            <a:r>
              <a:rPr lang="en-US" sz="1300" b="1" dirty="0">
                <a:solidFill>
                  <a:srgbClr val="9CA3AF"/>
                </a:solidFill>
                <a:latin typeface="Courier New" pitchFamily="34" charset="0"/>
                <a:ea typeface="Courier New" pitchFamily="34" charset="-122"/>
                <a:cs typeface="Courier New" pitchFamily="34" charset="-120"/>
              </a:rPr>
              <a:t>23</a:t>
            </a:r>
            <a:endParaRPr lang="en-US" sz="1300" dirty="0"/>
          </a:p>
        </p:txBody>
      </p:sp>
      <p:sp>
        <p:nvSpPr>
          <p:cNvPr id="20" name="Text 18"/>
          <p:cNvSpPr txBox="1"/>
          <p:nvPr/>
        </p:nvSpPr>
        <p:spPr>
          <a:xfrm>
            <a:off x="1609344" y="5504688"/>
            <a:ext cx="457200"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2</a:t>
            </a:r>
            <a:endParaRPr lang="en-US" sz="850" dirty="0"/>
          </a:p>
        </p:txBody>
      </p:sp>
      <p:sp>
        <p:nvSpPr>
          <p:cNvPr id="21" name="Shape 19"/>
          <p:cNvSpPr/>
          <p:nvPr/>
        </p:nvSpPr>
        <p:spPr>
          <a:xfrm>
            <a:off x="2139696" y="5029200"/>
            <a:ext cx="457200" cy="457200"/>
          </a:xfrm>
          <a:prstGeom prst="roundRect">
            <a:avLst>
              <a:gd name="adj" fmla="val 16000"/>
            </a:avLst>
          </a:prstGeom>
          <a:solidFill>
            <a:srgbClr val="E5E7EB"/>
          </a:solidFill>
          <a:ln w="22225">
            <a:solidFill>
              <a:srgbClr val="CBD0D6"/>
            </a:solidFill>
            <a:prstDash val="solid"/>
          </a:ln>
        </p:spPr>
      </p:sp>
      <p:sp>
        <p:nvSpPr>
          <p:cNvPr id="22" name="Text 20"/>
          <p:cNvSpPr txBox="1"/>
          <p:nvPr/>
        </p:nvSpPr>
        <p:spPr>
          <a:xfrm>
            <a:off x="2139696" y="5029200"/>
            <a:ext cx="457200" cy="457200"/>
          </a:xfrm>
          <a:prstGeom prst="rect">
            <a:avLst/>
          </a:prstGeom>
          <a:noFill/>
          <a:ln/>
        </p:spPr>
        <p:txBody>
          <a:bodyPr wrap="square" lIns="0" tIns="0" rIns="0" bIns="0" rtlCol="0" anchor="ctr"/>
          <a:lstStyle/>
          <a:p>
            <a:pPr marL="0" indent="0" algn="ctr">
              <a:buNone/>
            </a:pPr>
            <a:r>
              <a:rPr lang="en-US" sz="1300" b="1" dirty="0">
                <a:solidFill>
                  <a:srgbClr val="9CA3AF"/>
                </a:solidFill>
                <a:latin typeface="Courier New" pitchFamily="34" charset="0"/>
                <a:ea typeface="Courier New" pitchFamily="34" charset="-122"/>
                <a:cs typeface="Courier New" pitchFamily="34" charset="-120"/>
              </a:rPr>
              <a:t>32</a:t>
            </a:r>
            <a:endParaRPr lang="en-US" sz="1300" dirty="0"/>
          </a:p>
        </p:txBody>
      </p:sp>
      <p:sp>
        <p:nvSpPr>
          <p:cNvPr id="23" name="Text 21"/>
          <p:cNvSpPr txBox="1"/>
          <p:nvPr/>
        </p:nvSpPr>
        <p:spPr>
          <a:xfrm>
            <a:off x="2139696" y="5504688"/>
            <a:ext cx="457200"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3</a:t>
            </a:r>
            <a:endParaRPr lang="en-US" sz="850" dirty="0"/>
          </a:p>
        </p:txBody>
      </p:sp>
      <p:sp>
        <p:nvSpPr>
          <p:cNvPr id="24" name="Shape 22"/>
          <p:cNvSpPr/>
          <p:nvPr/>
        </p:nvSpPr>
        <p:spPr>
          <a:xfrm>
            <a:off x="2670048" y="5029200"/>
            <a:ext cx="457200" cy="457200"/>
          </a:xfrm>
          <a:prstGeom prst="roundRect">
            <a:avLst>
              <a:gd name="adj" fmla="val 16000"/>
            </a:avLst>
          </a:prstGeom>
          <a:solidFill>
            <a:srgbClr val="059669"/>
          </a:solidFill>
          <a:ln w="22225">
            <a:solidFill>
              <a:srgbClr val="059669"/>
            </a:solidFill>
            <a:prstDash val="solid"/>
          </a:ln>
        </p:spPr>
      </p:sp>
      <p:sp>
        <p:nvSpPr>
          <p:cNvPr id="25" name="Text 23"/>
          <p:cNvSpPr txBox="1"/>
          <p:nvPr/>
        </p:nvSpPr>
        <p:spPr>
          <a:xfrm>
            <a:off x="2670048" y="502920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5</a:t>
            </a:r>
            <a:endParaRPr lang="en-US" sz="1300" dirty="0"/>
          </a:p>
        </p:txBody>
      </p:sp>
      <p:sp>
        <p:nvSpPr>
          <p:cNvPr id="26" name="Text 24"/>
          <p:cNvSpPr txBox="1"/>
          <p:nvPr/>
        </p:nvSpPr>
        <p:spPr>
          <a:xfrm>
            <a:off x="2670048" y="5504688"/>
            <a:ext cx="457200"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4</a:t>
            </a:r>
            <a:endParaRPr lang="en-US" sz="850" dirty="0"/>
          </a:p>
        </p:txBody>
      </p:sp>
      <p:sp>
        <p:nvSpPr>
          <p:cNvPr id="27" name="Shape 25"/>
          <p:cNvSpPr/>
          <p:nvPr/>
        </p:nvSpPr>
        <p:spPr>
          <a:xfrm>
            <a:off x="3200400" y="5029200"/>
            <a:ext cx="457200" cy="457200"/>
          </a:xfrm>
          <a:prstGeom prst="roundRect">
            <a:avLst>
              <a:gd name="adj" fmla="val 16000"/>
            </a:avLst>
          </a:prstGeom>
          <a:solidFill>
            <a:srgbClr val="FFFFFF"/>
          </a:solidFill>
          <a:ln w="22225">
            <a:solidFill>
              <a:srgbClr val="0E7490"/>
            </a:solidFill>
            <a:prstDash val="solid"/>
          </a:ln>
        </p:spPr>
      </p:sp>
      <p:sp>
        <p:nvSpPr>
          <p:cNvPr id="28" name="Text 26"/>
          <p:cNvSpPr txBox="1"/>
          <p:nvPr/>
        </p:nvSpPr>
        <p:spPr>
          <a:xfrm>
            <a:off x="3200400" y="5029200"/>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62</a:t>
            </a:r>
            <a:endParaRPr lang="en-US" sz="1300" dirty="0"/>
          </a:p>
        </p:txBody>
      </p:sp>
      <p:sp>
        <p:nvSpPr>
          <p:cNvPr id="29" name="Text 27"/>
          <p:cNvSpPr txBox="1"/>
          <p:nvPr/>
        </p:nvSpPr>
        <p:spPr>
          <a:xfrm>
            <a:off x="3200400" y="5504688"/>
            <a:ext cx="457200"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5</a:t>
            </a:r>
            <a:endParaRPr lang="en-US" sz="850" dirty="0"/>
          </a:p>
        </p:txBody>
      </p:sp>
      <p:sp>
        <p:nvSpPr>
          <p:cNvPr id="30" name="Shape 28"/>
          <p:cNvSpPr/>
          <p:nvPr/>
        </p:nvSpPr>
        <p:spPr>
          <a:xfrm>
            <a:off x="3730752" y="5029200"/>
            <a:ext cx="457200" cy="457200"/>
          </a:xfrm>
          <a:prstGeom prst="roundRect">
            <a:avLst>
              <a:gd name="adj" fmla="val 16000"/>
            </a:avLst>
          </a:prstGeom>
          <a:solidFill>
            <a:srgbClr val="FFFFFF"/>
          </a:solidFill>
          <a:ln w="22225">
            <a:solidFill>
              <a:srgbClr val="0E7490"/>
            </a:solidFill>
            <a:prstDash val="solid"/>
          </a:ln>
        </p:spPr>
      </p:sp>
      <p:sp>
        <p:nvSpPr>
          <p:cNvPr id="31" name="Text 29"/>
          <p:cNvSpPr txBox="1"/>
          <p:nvPr/>
        </p:nvSpPr>
        <p:spPr>
          <a:xfrm>
            <a:off x="3730752" y="5029200"/>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14</a:t>
            </a:r>
            <a:endParaRPr lang="en-US" sz="1300" dirty="0"/>
          </a:p>
        </p:txBody>
      </p:sp>
      <p:sp>
        <p:nvSpPr>
          <p:cNvPr id="32" name="Text 30"/>
          <p:cNvSpPr txBox="1"/>
          <p:nvPr/>
        </p:nvSpPr>
        <p:spPr>
          <a:xfrm>
            <a:off x="3730752" y="5504688"/>
            <a:ext cx="457200"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6</a:t>
            </a:r>
            <a:endParaRPr lang="en-US" sz="850" dirty="0"/>
          </a:p>
        </p:txBody>
      </p:sp>
      <p:sp>
        <p:nvSpPr>
          <p:cNvPr id="33" name="Shape 31"/>
          <p:cNvSpPr/>
          <p:nvPr/>
        </p:nvSpPr>
        <p:spPr>
          <a:xfrm>
            <a:off x="4261104" y="5029200"/>
            <a:ext cx="457200" cy="457200"/>
          </a:xfrm>
          <a:prstGeom prst="roundRect">
            <a:avLst>
              <a:gd name="adj" fmla="val 16000"/>
            </a:avLst>
          </a:prstGeom>
          <a:solidFill>
            <a:srgbClr val="FFFFFF"/>
          </a:solidFill>
          <a:ln w="22225">
            <a:solidFill>
              <a:srgbClr val="0E7490"/>
            </a:solidFill>
            <a:prstDash val="solid"/>
          </a:ln>
        </p:spPr>
      </p:sp>
      <p:sp>
        <p:nvSpPr>
          <p:cNvPr id="34" name="Text 32"/>
          <p:cNvSpPr txBox="1"/>
          <p:nvPr/>
        </p:nvSpPr>
        <p:spPr>
          <a:xfrm>
            <a:off x="4261104" y="5029200"/>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19</a:t>
            </a:r>
            <a:endParaRPr lang="en-US" sz="1300" dirty="0"/>
          </a:p>
        </p:txBody>
      </p:sp>
      <p:sp>
        <p:nvSpPr>
          <p:cNvPr id="35" name="Text 33"/>
          <p:cNvSpPr txBox="1"/>
          <p:nvPr/>
        </p:nvSpPr>
        <p:spPr>
          <a:xfrm>
            <a:off x="4261104" y="5504688"/>
            <a:ext cx="457200"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7</a:t>
            </a:r>
            <a:endParaRPr lang="en-US" sz="850" dirty="0"/>
          </a:p>
        </p:txBody>
      </p:sp>
      <p:sp>
        <p:nvSpPr>
          <p:cNvPr id="36" name="Text 34"/>
          <p:cNvSpPr txBox="1"/>
          <p:nvPr/>
        </p:nvSpPr>
        <p:spPr>
          <a:xfrm>
            <a:off x="548640" y="5760720"/>
            <a:ext cx="5669280" cy="256032"/>
          </a:xfrm>
          <a:prstGeom prst="rect">
            <a:avLst/>
          </a:prstGeom>
          <a:noFill/>
          <a:ln/>
        </p:spPr>
        <p:txBody>
          <a:bodyPr wrap="square" lIns="0" tIns="0" rIns="0" bIns="0" rtlCol="0" anchor="ctr"/>
          <a:lstStyle/>
          <a:p>
            <a:pPr marL="0" indent="0">
              <a:buNone/>
            </a:pPr>
            <a:r>
              <a:rPr lang="en-US" i="1" dirty="0">
                <a:solidFill>
                  <a:srgbClr val="5B6584"/>
                </a:solidFill>
                <a:latin typeface="Calibri" pitchFamily="34" charset="0"/>
                <a:ea typeface="Calibri" pitchFamily="34" charset="-122"/>
                <a:cs typeface="Calibri" pitchFamily="34" charset="-120"/>
              </a:rPr>
              <a:t>grey = already compared, green = match found at index 4</a:t>
            </a:r>
            <a:endParaRPr lang="en-US" dirty="0"/>
          </a:p>
        </p:txBody>
      </p:sp>
      <p:sp>
        <p:nvSpPr>
          <p:cNvPr id="37" name="Shape 35"/>
          <p:cNvSpPr/>
          <p:nvPr/>
        </p:nvSpPr>
        <p:spPr>
          <a:xfrm>
            <a:off x="6355080" y="1463040"/>
            <a:ext cx="5257800" cy="4572000"/>
          </a:xfrm>
          <a:prstGeom prst="roundRect">
            <a:avLst>
              <a:gd name="adj" fmla="val 2000"/>
            </a:avLst>
          </a:prstGeom>
          <a:solidFill>
            <a:schemeClr val="bg2">
              <a:lumMod val="90000"/>
            </a:schemeClr>
          </a:solidFill>
          <a:ln w="12700">
            <a:solidFill>
              <a:srgbClr val="10242E"/>
            </a:solidFill>
            <a:prstDash val="solid"/>
          </a:ln>
        </p:spPr>
      </p:sp>
      <p:sp>
        <p:nvSpPr>
          <p:cNvPr id="38" name="Text 36"/>
          <p:cNvSpPr txBox="1"/>
          <p:nvPr/>
        </p:nvSpPr>
        <p:spPr>
          <a:xfrm>
            <a:off x="6583680" y="1627632"/>
            <a:ext cx="4754880" cy="274320"/>
          </a:xfrm>
          <a:prstGeom prst="rect">
            <a:avLst/>
          </a:prstGeom>
          <a:noFill/>
          <a:ln/>
        </p:spPr>
        <p:txBody>
          <a:bodyPr wrap="square" lIns="0" tIns="0" rIns="0" bIns="0" rtlCol="0" anchor="ctr"/>
          <a:lstStyle/>
          <a:p>
            <a:pPr marL="0" indent="0">
              <a:buNone/>
            </a:pPr>
            <a:r>
              <a:rPr lang="en-US" sz="1600" b="1" kern="0" spc="150" dirty="0">
                <a:solidFill>
                  <a:srgbClr val="D97706"/>
                </a:solidFill>
                <a:latin typeface="Calibri" pitchFamily="34" charset="0"/>
                <a:ea typeface="Calibri" pitchFamily="34" charset="-122"/>
                <a:cs typeface="Calibri" pitchFamily="34" charset="-120"/>
              </a:rPr>
              <a:t>KEY CHARACTERISTICS</a:t>
            </a:r>
            <a:endParaRPr lang="en-US" sz="1600" dirty="0"/>
          </a:p>
        </p:txBody>
      </p:sp>
      <p:sp>
        <p:nvSpPr>
          <p:cNvPr id="39" name="Shape 37"/>
          <p:cNvSpPr/>
          <p:nvPr/>
        </p:nvSpPr>
        <p:spPr>
          <a:xfrm>
            <a:off x="6583680" y="2048256"/>
            <a:ext cx="146304" cy="146304"/>
          </a:xfrm>
          <a:prstGeom prst="ellipse">
            <a:avLst/>
          </a:prstGeom>
          <a:solidFill>
            <a:srgbClr val="22A6C4"/>
          </a:solidFill>
          <a:ln/>
        </p:spPr>
      </p:sp>
      <p:sp>
        <p:nvSpPr>
          <p:cNvPr id="40" name="Text 38"/>
          <p:cNvSpPr txBox="1"/>
          <p:nvPr/>
        </p:nvSpPr>
        <p:spPr>
          <a:xfrm>
            <a:off x="6858000" y="1920240"/>
            <a:ext cx="4617720" cy="685800"/>
          </a:xfrm>
          <a:prstGeom prst="rect">
            <a:avLst/>
          </a:prstGeom>
          <a:noFill/>
          <a:ln/>
        </p:spPr>
        <p:txBody>
          <a:bodyPr wrap="square" lIns="0" tIns="0" rIns="0" bIns="0" rtlCol="0" anchor="ctr"/>
          <a:lstStyle/>
          <a:p>
            <a:pPr marL="0" indent="0">
              <a:lnSpc>
                <a:spcPct val="125000"/>
              </a:lnSpc>
              <a:buNone/>
            </a:pPr>
            <a:r>
              <a:rPr lang="en-US" b="1" dirty="0">
                <a:latin typeface="Calibri" pitchFamily="34" charset="0"/>
                <a:ea typeface="Calibri" pitchFamily="34" charset="-122"/>
                <a:cs typeface="Calibri" pitchFamily="34" charset="-120"/>
              </a:rPr>
              <a:t>Works on Unsorted Data:  </a:t>
            </a:r>
            <a:r>
              <a:rPr lang="en-US" dirty="0">
                <a:latin typeface="Calibri" pitchFamily="34" charset="0"/>
                <a:ea typeface="Calibri" pitchFamily="34" charset="-122"/>
                <a:cs typeface="Calibri" pitchFamily="34" charset="-120"/>
              </a:rPr>
              <a:t>No preprocessing and no ordering requirement.</a:t>
            </a:r>
            <a:endParaRPr lang="en-US" dirty="0"/>
          </a:p>
        </p:txBody>
      </p:sp>
      <p:sp>
        <p:nvSpPr>
          <p:cNvPr id="41" name="Shape 39"/>
          <p:cNvSpPr/>
          <p:nvPr/>
        </p:nvSpPr>
        <p:spPr>
          <a:xfrm>
            <a:off x="6583680" y="2798064"/>
            <a:ext cx="146304" cy="146304"/>
          </a:xfrm>
          <a:prstGeom prst="ellipse">
            <a:avLst/>
          </a:prstGeom>
          <a:solidFill>
            <a:srgbClr val="22A6C4"/>
          </a:solidFill>
          <a:ln/>
        </p:spPr>
      </p:sp>
      <p:sp>
        <p:nvSpPr>
          <p:cNvPr id="42" name="Text 40"/>
          <p:cNvSpPr txBox="1"/>
          <p:nvPr/>
        </p:nvSpPr>
        <p:spPr>
          <a:xfrm>
            <a:off x="6858000" y="2670048"/>
            <a:ext cx="4617720" cy="685800"/>
          </a:xfrm>
          <a:prstGeom prst="rect">
            <a:avLst/>
          </a:prstGeom>
          <a:noFill/>
          <a:ln/>
        </p:spPr>
        <p:txBody>
          <a:bodyPr wrap="square" lIns="0" tIns="0" rIns="0" bIns="0" rtlCol="0" anchor="ctr"/>
          <a:lstStyle/>
          <a:p>
            <a:pPr marL="0" indent="0">
              <a:lnSpc>
                <a:spcPct val="125000"/>
              </a:lnSpc>
              <a:buNone/>
            </a:pPr>
            <a:r>
              <a:rPr lang="en-US" b="1" dirty="0">
                <a:latin typeface="Calibri" pitchFamily="34" charset="0"/>
                <a:ea typeface="Calibri" pitchFamily="34" charset="-122"/>
                <a:cs typeface="Calibri" pitchFamily="34" charset="-120"/>
              </a:rPr>
              <a:t>Sequential Access:  </a:t>
            </a:r>
            <a:r>
              <a:rPr lang="en-US" dirty="0">
                <a:latin typeface="Calibri" pitchFamily="34" charset="0"/>
                <a:ea typeface="Calibri" pitchFamily="34" charset="-122"/>
                <a:cs typeface="Calibri" pitchFamily="34" charset="-120"/>
              </a:rPr>
              <a:t>Needs only to visit elements one at a time — so it works on arrays AND linked lists.</a:t>
            </a:r>
            <a:endParaRPr lang="en-US" dirty="0"/>
          </a:p>
        </p:txBody>
      </p:sp>
      <p:sp>
        <p:nvSpPr>
          <p:cNvPr id="43" name="Shape 41"/>
          <p:cNvSpPr/>
          <p:nvPr/>
        </p:nvSpPr>
        <p:spPr>
          <a:xfrm>
            <a:off x="6583680" y="3547872"/>
            <a:ext cx="146304" cy="146304"/>
          </a:xfrm>
          <a:prstGeom prst="ellipse">
            <a:avLst/>
          </a:prstGeom>
          <a:solidFill>
            <a:srgbClr val="22A6C4"/>
          </a:solidFill>
          <a:ln/>
        </p:spPr>
      </p:sp>
      <p:sp>
        <p:nvSpPr>
          <p:cNvPr id="44" name="Text 42"/>
          <p:cNvSpPr txBox="1"/>
          <p:nvPr/>
        </p:nvSpPr>
        <p:spPr>
          <a:xfrm>
            <a:off x="6858000" y="3419856"/>
            <a:ext cx="4617720" cy="685800"/>
          </a:xfrm>
          <a:prstGeom prst="rect">
            <a:avLst/>
          </a:prstGeom>
          <a:noFill/>
          <a:ln/>
        </p:spPr>
        <p:txBody>
          <a:bodyPr wrap="square" lIns="0" tIns="0" rIns="0" bIns="0" rtlCol="0" anchor="ctr"/>
          <a:lstStyle/>
          <a:p>
            <a:pPr marL="0" indent="0">
              <a:lnSpc>
                <a:spcPct val="125000"/>
              </a:lnSpc>
              <a:buNone/>
            </a:pPr>
            <a:r>
              <a:rPr lang="en-US" b="1" dirty="0">
                <a:latin typeface="Calibri" pitchFamily="34" charset="0"/>
                <a:ea typeface="Calibri" pitchFamily="34" charset="-122"/>
                <a:cs typeface="Calibri" pitchFamily="34" charset="-120"/>
              </a:rPr>
              <a:t>Simple:  </a:t>
            </a:r>
            <a:r>
              <a:rPr lang="en-US" dirty="0">
                <a:latin typeface="Calibri" pitchFamily="34" charset="0"/>
                <a:ea typeface="Calibri" pitchFamily="34" charset="-122"/>
                <a:cs typeface="Calibri" pitchFamily="34" charset="-120"/>
              </a:rPr>
              <a:t>A single loop and one comparison per element.</a:t>
            </a:r>
            <a:endParaRPr lang="en-US" dirty="0"/>
          </a:p>
        </p:txBody>
      </p:sp>
      <p:sp>
        <p:nvSpPr>
          <p:cNvPr id="45" name="Shape 43"/>
          <p:cNvSpPr/>
          <p:nvPr/>
        </p:nvSpPr>
        <p:spPr>
          <a:xfrm>
            <a:off x="6583680" y="4297680"/>
            <a:ext cx="146304" cy="146304"/>
          </a:xfrm>
          <a:prstGeom prst="ellipse">
            <a:avLst/>
          </a:prstGeom>
          <a:solidFill>
            <a:srgbClr val="22A6C4"/>
          </a:solidFill>
          <a:ln/>
        </p:spPr>
      </p:sp>
      <p:sp>
        <p:nvSpPr>
          <p:cNvPr id="46" name="Text 44"/>
          <p:cNvSpPr txBox="1"/>
          <p:nvPr/>
        </p:nvSpPr>
        <p:spPr>
          <a:xfrm>
            <a:off x="6858000" y="4169664"/>
            <a:ext cx="4617720" cy="685800"/>
          </a:xfrm>
          <a:prstGeom prst="rect">
            <a:avLst/>
          </a:prstGeom>
          <a:noFill/>
          <a:ln/>
        </p:spPr>
        <p:txBody>
          <a:bodyPr wrap="square" lIns="0" tIns="0" rIns="0" bIns="0" rtlCol="0" anchor="ctr"/>
          <a:lstStyle/>
          <a:p>
            <a:pPr marL="0" indent="0">
              <a:lnSpc>
                <a:spcPct val="125000"/>
              </a:lnSpc>
              <a:buNone/>
            </a:pPr>
            <a:r>
              <a:rPr lang="en-US" b="1" dirty="0">
                <a:latin typeface="Calibri" pitchFamily="34" charset="0"/>
                <a:ea typeface="Calibri" pitchFamily="34" charset="-122"/>
                <a:cs typeface="Calibri" pitchFamily="34" charset="-120"/>
              </a:rPr>
              <a:t>Linear Cost:  </a:t>
            </a:r>
            <a:r>
              <a:rPr lang="en-US" dirty="0">
                <a:latin typeface="Calibri" pitchFamily="34" charset="0"/>
                <a:ea typeface="Calibri" pitchFamily="34" charset="-122"/>
                <a:cs typeface="Calibri" pitchFamily="34" charset="-120"/>
              </a:rPr>
              <a:t>O(n) comparisons in the worst and average case.</a:t>
            </a:r>
            <a:endParaRPr lang="en-US" dirty="0"/>
          </a:p>
        </p:txBody>
      </p:sp>
      <p:sp>
        <p:nvSpPr>
          <p:cNvPr id="47" name="Shape 45"/>
          <p:cNvSpPr/>
          <p:nvPr/>
        </p:nvSpPr>
        <p:spPr>
          <a:xfrm>
            <a:off x="6583680" y="5047488"/>
            <a:ext cx="146304" cy="146304"/>
          </a:xfrm>
          <a:prstGeom prst="ellipse">
            <a:avLst/>
          </a:prstGeom>
          <a:solidFill>
            <a:srgbClr val="22A6C4"/>
          </a:solidFill>
          <a:ln/>
        </p:spPr>
      </p:sp>
      <p:sp>
        <p:nvSpPr>
          <p:cNvPr id="48" name="Text 46"/>
          <p:cNvSpPr txBox="1"/>
          <p:nvPr/>
        </p:nvSpPr>
        <p:spPr>
          <a:xfrm>
            <a:off x="6858000" y="4919472"/>
            <a:ext cx="4617720" cy="685800"/>
          </a:xfrm>
          <a:prstGeom prst="rect">
            <a:avLst/>
          </a:prstGeom>
          <a:noFill/>
          <a:ln/>
        </p:spPr>
        <p:txBody>
          <a:bodyPr wrap="square" lIns="0" tIns="0" rIns="0" bIns="0" rtlCol="0" anchor="ctr"/>
          <a:lstStyle/>
          <a:p>
            <a:pPr marL="0" indent="0">
              <a:lnSpc>
                <a:spcPct val="125000"/>
              </a:lnSpc>
              <a:buNone/>
            </a:pPr>
            <a:r>
              <a:rPr lang="en-US" b="1" dirty="0">
                <a:latin typeface="Calibri" pitchFamily="34" charset="0"/>
                <a:ea typeface="Calibri" pitchFamily="34" charset="-122"/>
                <a:cs typeface="Calibri" pitchFamily="34" charset="-120"/>
              </a:rPr>
              <a:t>Early Exit:  </a:t>
            </a:r>
            <a:r>
              <a:rPr lang="en-US" dirty="0">
                <a:latin typeface="Calibri" pitchFamily="34" charset="0"/>
                <a:ea typeface="Calibri" pitchFamily="34" charset="-122"/>
                <a:cs typeface="Calibri" pitchFamily="34" charset="-120"/>
              </a:rPr>
              <a:t>Stops at the first match — best case is just 1 comparison.</a:t>
            </a:r>
            <a:endParaRPr lang="en-US" dirty="0"/>
          </a:p>
        </p:txBody>
      </p:sp>
      <p:sp>
        <p:nvSpPr>
          <p:cNvPr id="49" name="Text 47"/>
          <p:cNvSpPr txBox="1"/>
          <p:nvPr/>
        </p:nvSpPr>
        <p:spPr>
          <a:xfrm>
            <a:off x="548640" y="6547104"/>
            <a:ext cx="6858000" cy="256032"/>
          </a:xfrm>
          <a:prstGeom prst="rect">
            <a:avLst/>
          </a:prstGeom>
          <a:noFill/>
          <a:ln/>
        </p:spPr>
        <p:txBody>
          <a:bodyPr wrap="square" lIns="0" tIns="0" rIns="0" bIns="0" rtlCol="0" anchor="ctr"/>
          <a:lstStyle/>
          <a:p>
            <a:pPr marL="0" indent="0">
              <a:buNone/>
            </a:pPr>
            <a:r>
              <a:rPr lang="en-US" sz="900" dirty="0">
                <a:solidFill>
                  <a:srgbClr val="5B6584"/>
                </a:solidFill>
                <a:latin typeface="Calibri" pitchFamily="34" charset="0"/>
                <a:ea typeface="Calibri" pitchFamily="34" charset="-122"/>
                <a:cs typeface="Calibri" pitchFamily="34" charset="-120"/>
              </a:rPr>
              <a:t>Linear &amp; Binary Search  |  Data Structures Using C</a:t>
            </a:r>
            <a:endParaRPr lang="en-US" sz="900" dirty="0"/>
          </a:p>
        </p:txBody>
      </p:sp>
      <p:sp>
        <p:nvSpPr>
          <p:cNvPr id="50" name="Text 48"/>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500000">
            <a:off x="10972800" y="-1005840"/>
            <a:ext cx="2377440" cy="2377440"/>
          </a:xfrm>
          <a:prstGeom prst="triangle">
            <a:avLst/>
          </a:prstGeom>
          <a:solidFill>
            <a:srgbClr val="0E7490">
              <a:alpha val="5000"/>
            </a:srgbClr>
          </a:solidFill>
          <a:ln/>
        </p:spPr>
      </p:sp>
      <p:sp>
        <p:nvSpPr>
          <p:cNvPr id="3" name="Shape 1"/>
          <p:cNvSpPr/>
          <p:nvPr/>
        </p:nvSpPr>
        <p:spPr>
          <a:xfrm rot="12300000">
            <a:off x="-1097280" y="5760720"/>
            <a:ext cx="2377440" cy="2377440"/>
          </a:xfrm>
          <a:prstGeom prst="triangle">
            <a:avLst/>
          </a:prstGeom>
          <a:solidFill>
            <a:srgbClr val="0E7490">
              <a:alpha val="5000"/>
            </a:srgbClr>
          </a:solidFill>
          <a:ln/>
        </p:spPr>
      </p:sp>
      <p:sp>
        <p:nvSpPr>
          <p:cNvPr id="4" name="Text 2"/>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22A6C4"/>
                </a:solidFill>
                <a:latin typeface="Calibri" pitchFamily="34" charset="0"/>
                <a:ea typeface="Calibri" pitchFamily="34" charset="-122"/>
                <a:cs typeface="Calibri" pitchFamily="34" charset="-120"/>
              </a:rPr>
              <a:t>ALGORITHM 2</a:t>
            </a:r>
            <a:endParaRPr lang="en-US" sz="1300" dirty="0"/>
          </a:p>
        </p:txBody>
      </p:sp>
      <p:sp>
        <p:nvSpPr>
          <p:cNvPr id="5" name="Text 3"/>
          <p:cNvSpPr txBox="1"/>
          <p:nvPr/>
        </p:nvSpPr>
        <p:spPr>
          <a:xfrm>
            <a:off x="548640" y="621792"/>
            <a:ext cx="11064240" cy="731520"/>
          </a:xfrm>
          <a:prstGeom prst="rect">
            <a:avLst/>
          </a:prstGeom>
          <a:noFill/>
          <a:ln/>
        </p:spPr>
        <p:txBody>
          <a:bodyPr wrap="square" lIns="0" tIns="0" rIns="0" bIns="0" rtlCol="0" anchor="ctr"/>
          <a:lstStyle/>
          <a:p>
            <a:pPr marL="0" indent="0">
              <a:buNone/>
            </a:pPr>
            <a:r>
              <a:rPr lang="en-US" sz="3000" b="1" dirty="0">
                <a:solidFill>
                  <a:srgbClr val="10242E"/>
                </a:solidFill>
                <a:latin typeface="Cambria" pitchFamily="34" charset="0"/>
                <a:ea typeface="Cambria" pitchFamily="34" charset="-122"/>
                <a:cs typeface="Cambria" pitchFamily="34" charset="-120"/>
              </a:rPr>
              <a:t>What Is Binary Search?</a:t>
            </a:r>
            <a:endParaRPr lang="en-US" sz="3000" dirty="0"/>
          </a:p>
        </p:txBody>
      </p:sp>
      <p:sp>
        <p:nvSpPr>
          <p:cNvPr id="6" name="Shape 4"/>
          <p:cNvSpPr/>
          <p:nvPr/>
        </p:nvSpPr>
        <p:spPr>
          <a:xfrm>
            <a:off x="548640" y="1463040"/>
            <a:ext cx="5486400" cy="1554480"/>
          </a:xfrm>
          <a:prstGeom prst="roundRect">
            <a:avLst>
              <a:gd name="adj" fmla="val 5882"/>
            </a:avLst>
          </a:prstGeom>
          <a:solidFill>
            <a:srgbClr val="FDF3E7"/>
          </a:solidFill>
          <a:ln w="12700">
            <a:solidFill>
              <a:srgbClr val="F0C89A"/>
            </a:solidFill>
            <a:prstDash val="solid"/>
          </a:ln>
        </p:spPr>
      </p:sp>
      <p:sp>
        <p:nvSpPr>
          <p:cNvPr id="8" name="Text 6"/>
          <p:cNvSpPr txBox="1"/>
          <p:nvPr/>
        </p:nvSpPr>
        <p:spPr>
          <a:xfrm>
            <a:off x="716280" y="1715267"/>
            <a:ext cx="5318760" cy="1051560"/>
          </a:xfrm>
          <a:prstGeom prst="rect">
            <a:avLst/>
          </a:prstGeom>
          <a:noFill/>
          <a:ln/>
        </p:spPr>
        <p:txBody>
          <a:bodyPr wrap="square" lIns="0" tIns="0" rIns="0" bIns="0" rtlCol="0" anchor="ctr"/>
          <a:lstStyle/>
          <a:p>
            <a:pPr marL="0" indent="0">
              <a:lnSpc>
                <a:spcPct val="125000"/>
              </a:lnSpc>
              <a:buNone/>
            </a:pPr>
            <a:r>
              <a:rPr lang="en-US" dirty="0">
                <a:solidFill>
                  <a:srgbClr val="1B2233"/>
                </a:solidFill>
                <a:latin typeface="Calibri" pitchFamily="34" charset="0"/>
                <a:ea typeface="Calibri" pitchFamily="34" charset="-122"/>
                <a:cs typeface="Calibri" pitchFamily="34" charset="-120"/>
              </a:rPr>
              <a:t>Binary search finds a key in a SORTED array by comparing it with the middle element and discarding the half that cannot contain it — repeating on the remaining half until the key is found or the range is empty.</a:t>
            </a:r>
            <a:endParaRPr lang="en-US" dirty="0"/>
          </a:p>
        </p:txBody>
      </p:sp>
      <p:sp>
        <p:nvSpPr>
          <p:cNvPr id="10" name="Text 8"/>
          <p:cNvSpPr txBox="1"/>
          <p:nvPr/>
        </p:nvSpPr>
        <p:spPr>
          <a:xfrm>
            <a:off x="572985" y="3291840"/>
            <a:ext cx="5486400" cy="1097280"/>
          </a:xfrm>
          <a:prstGeom prst="rect">
            <a:avLst/>
          </a:prstGeom>
          <a:noFill/>
          <a:ln/>
        </p:spPr>
        <p:txBody>
          <a:bodyPr wrap="square" lIns="0" tIns="0" rIns="0" bIns="0" rtlCol="0" anchor="ctr"/>
          <a:lstStyle/>
          <a:p>
            <a:pPr marL="0" indent="0">
              <a:lnSpc>
                <a:spcPct val="130000"/>
              </a:lnSpc>
              <a:buNone/>
            </a:pPr>
            <a:r>
              <a:rPr lang="en-US" dirty="0">
                <a:latin typeface="Calibri" pitchFamily="34" charset="0"/>
                <a:ea typeface="Calibri" pitchFamily="34" charset="-122"/>
                <a:cs typeface="Calibri" pitchFamily="34" charset="-120"/>
              </a:rPr>
              <a:t>Sortedness turns one comparison into a lot of information: if A[mid] &lt; key, then EVERY element at or left of mid is also &lt; key, so all of them are eliminated at once.</a:t>
            </a:r>
            <a:endParaRPr lang="en-US" dirty="0"/>
          </a:p>
        </p:txBody>
      </p:sp>
      <p:sp>
        <p:nvSpPr>
          <p:cNvPr id="11" name="Text 9"/>
          <p:cNvSpPr txBox="1"/>
          <p:nvPr/>
        </p:nvSpPr>
        <p:spPr>
          <a:xfrm>
            <a:off x="548640" y="4709160"/>
            <a:ext cx="7315200" cy="274320"/>
          </a:xfrm>
          <a:prstGeom prst="rect">
            <a:avLst/>
          </a:prstGeom>
          <a:noFill/>
          <a:ln/>
        </p:spPr>
        <p:txBody>
          <a:bodyPr wrap="square" lIns="0" tIns="0" rIns="0" bIns="0" rtlCol="0" anchor="ctr"/>
          <a:lstStyle/>
          <a:p>
            <a:pPr marL="0" indent="0">
              <a:buNone/>
            </a:pPr>
            <a:r>
              <a:rPr lang="en-US" sz="1600" b="1" kern="0" spc="50" dirty="0">
                <a:solidFill>
                  <a:srgbClr val="D97706"/>
                </a:solidFill>
                <a:latin typeface="Calibri" pitchFamily="34" charset="0"/>
                <a:ea typeface="Calibri" pitchFamily="34" charset="-122"/>
                <a:cs typeface="Calibri" pitchFamily="34" charset="-120"/>
              </a:rPr>
              <a:t>FIRST PROBE FOR KEY = 23  (L = low, M = mid, H = high)</a:t>
            </a:r>
            <a:endParaRPr lang="en-US" sz="1600" dirty="0"/>
          </a:p>
        </p:txBody>
      </p:sp>
      <p:sp>
        <p:nvSpPr>
          <p:cNvPr id="12" name="Shape 10"/>
          <p:cNvSpPr/>
          <p:nvPr/>
        </p:nvSpPr>
        <p:spPr>
          <a:xfrm>
            <a:off x="548640" y="5029200"/>
            <a:ext cx="457200" cy="457200"/>
          </a:xfrm>
          <a:prstGeom prst="roundRect">
            <a:avLst>
              <a:gd name="adj" fmla="val 16000"/>
            </a:avLst>
          </a:prstGeom>
          <a:solidFill>
            <a:srgbClr val="FFFFFF"/>
          </a:solidFill>
          <a:ln w="22225">
            <a:solidFill>
              <a:srgbClr val="0E7490"/>
            </a:solidFill>
            <a:prstDash val="solid"/>
          </a:ln>
        </p:spPr>
      </p:sp>
      <p:sp>
        <p:nvSpPr>
          <p:cNvPr id="13" name="Text 11"/>
          <p:cNvSpPr txBox="1"/>
          <p:nvPr/>
        </p:nvSpPr>
        <p:spPr>
          <a:xfrm>
            <a:off x="548640" y="5029200"/>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5</a:t>
            </a:r>
            <a:endParaRPr lang="en-US" sz="1300" dirty="0"/>
          </a:p>
        </p:txBody>
      </p:sp>
      <p:sp>
        <p:nvSpPr>
          <p:cNvPr id="14" name="Text 12"/>
          <p:cNvSpPr txBox="1"/>
          <p:nvPr/>
        </p:nvSpPr>
        <p:spPr>
          <a:xfrm>
            <a:off x="548640" y="5504688"/>
            <a:ext cx="457200"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0</a:t>
            </a:r>
            <a:endParaRPr lang="en-US" sz="850" dirty="0"/>
          </a:p>
        </p:txBody>
      </p:sp>
      <p:sp>
        <p:nvSpPr>
          <p:cNvPr id="15" name="Shape 13"/>
          <p:cNvSpPr/>
          <p:nvPr/>
        </p:nvSpPr>
        <p:spPr>
          <a:xfrm>
            <a:off x="1078992" y="5029200"/>
            <a:ext cx="457200" cy="457200"/>
          </a:xfrm>
          <a:prstGeom prst="roundRect">
            <a:avLst>
              <a:gd name="adj" fmla="val 16000"/>
            </a:avLst>
          </a:prstGeom>
          <a:solidFill>
            <a:srgbClr val="FFFFFF"/>
          </a:solidFill>
          <a:ln w="22225">
            <a:solidFill>
              <a:srgbClr val="0E7490"/>
            </a:solidFill>
            <a:prstDash val="solid"/>
          </a:ln>
        </p:spPr>
      </p:sp>
      <p:sp>
        <p:nvSpPr>
          <p:cNvPr id="16" name="Text 14"/>
          <p:cNvSpPr txBox="1"/>
          <p:nvPr/>
        </p:nvSpPr>
        <p:spPr>
          <a:xfrm>
            <a:off x="1078992" y="5029200"/>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7</a:t>
            </a:r>
            <a:endParaRPr lang="en-US" sz="1300" dirty="0"/>
          </a:p>
        </p:txBody>
      </p:sp>
      <p:sp>
        <p:nvSpPr>
          <p:cNvPr id="17" name="Text 15"/>
          <p:cNvSpPr txBox="1"/>
          <p:nvPr/>
        </p:nvSpPr>
        <p:spPr>
          <a:xfrm>
            <a:off x="1078992" y="5504688"/>
            <a:ext cx="457200"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1</a:t>
            </a:r>
            <a:endParaRPr lang="en-US" sz="850" dirty="0"/>
          </a:p>
        </p:txBody>
      </p:sp>
      <p:sp>
        <p:nvSpPr>
          <p:cNvPr id="18" name="Shape 16"/>
          <p:cNvSpPr/>
          <p:nvPr/>
        </p:nvSpPr>
        <p:spPr>
          <a:xfrm>
            <a:off x="1609344" y="5029200"/>
            <a:ext cx="457200" cy="457200"/>
          </a:xfrm>
          <a:prstGeom prst="roundRect">
            <a:avLst>
              <a:gd name="adj" fmla="val 16000"/>
            </a:avLst>
          </a:prstGeom>
          <a:solidFill>
            <a:srgbClr val="FFFFFF"/>
          </a:solidFill>
          <a:ln w="22225">
            <a:solidFill>
              <a:srgbClr val="0E7490"/>
            </a:solidFill>
            <a:prstDash val="solid"/>
          </a:ln>
        </p:spPr>
      </p:sp>
      <p:sp>
        <p:nvSpPr>
          <p:cNvPr id="19" name="Text 17"/>
          <p:cNvSpPr txBox="1"/>
          <p:nvPr/>
        </p:nvSpPr>
        <p:spPr>
          <a:xfrm>
            <a:off x="1609344" y="5029200"/>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14</a:t>
            </a:r>
            <a:endParaRPr lang="en-US" sz="1300" dirty="0"/>
          </a:p>
        </p:txBody>
      </p:sp>
      <p:sp>
        <p:nvSpPr>
          <p:cNvPr id="20" name="Text 18"/>
          <p:cNvSpPr txBox="1"/>
          <p:nvPr/>
        </p:nvSpPr>
        <p:spPr>
          <a:xfrm>
            <a:off x="1609344" y="5504688"/>
            <a:ext cx="457200"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2</a:t>
            </a:r>
            <a:endParaRPr lang="en-US" sz="850" dirty="0"/>
          </a:p>
        </p:txBody>
      </p:sp>
      <p:sp>
        <p:nvSpPr>
          <p:cNvPr id="21" name="Shape 19"/>
          <p:cNvSpPr/>
          <p:nvPr/>
        </p:nvSpPr>
        <p:spPr>
          <a:xfrm>
            <a:off x="2139696" y="5029200"/>
            <a:ext cx="457200" cy="457200"/>
          </a:xfrm>
          <a:prstGeom prst="roundRect">
            <a:avLst>
              <a:gd name="adj" fmla="val 16000"/>
            </a:avLst>
          </a:prstGeom>
          <a:solidFill>
            <a:srgbClr val="D97706"/>
          </a:solidFill>
          <a:ln w="22225">
            <a:solidFill>
              <a:srgbClr val="D97706"/>
            </a:solidFill>
            <a:prstDash val="solid"/>
          </a:ln>
        </p:spPr>
      </p:sp>
      <p:sp>
        <p:nvSpPr>
          <p:cNvPr id="22" name="Text 20"/>
          <p:cNvSpPr txBox="1"/>
          <p:nvPr/>
        </p:nvSpPr>
        <p:spPr>
          <a:xfrm>
            <a:off x="2139696" y="502920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19</a:t>
            </a:r>
            <a:endParaRPr lang="en-US" sz="1300" dirty="0"/>
          </a:p>
        </p:txBody>
      </p:sp>
      <p:sp>
        <p:nvSpPr>
          <p:cNvPr id="23" name="Text 21"/>
          <p:cNvSpPr txBox="1"/>
          <p:nvPr/>
        </p:nvSpPr>
        <p:spPr>
          <a:xfrm>
            <a:off x="2139696" y="5504688"/>
            <a:ext cx="457200"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3</a:t>
            </a:r>
            <a:endParaRPr lang="en-US" sz="850" dirty="0"/>
          </a:p>
        </p:txBody>
      </p:sp>
      <p:sp>
        <p:nvSpPr>
          <p:cNvPr id="24" name="Shape 22"/>
          <p:cNvSpPr/>
          <p:nvPr/>
        </p:nvSpPr>
        <p:spPr>
          <a:xfrm>
            <a:off x="2670048" y="5029200"/>
            <a:ext cx="457200" cy="457200"/>
          </a:xfrm>
          <a:prstGeom prst="roundRect">
            <a:avLst>
              <a:gd name="adj" fmla="val 16000"/>
            </a:avLst>
          </a:prstGeom>
          <a:solidFill>
            <a:srgbClr val="FFFFFF"/>
          </a:solidFill>
          <a:ln w="22225">
            <a:solidFill>
              <a:srgbClr val="0E7490"/>
            </a:solidFill>
            <a:prstDash val="solid"/>
          </a:ln>
        </p:spPr>
      </p:sp>
      <p:sp>
        <p:nvSpPr>
          <p:cNvPr id="25" name="Text 23"/>
          <p:cNvSpPr txBox="1"/>
          <p:nvPr/>
        </p:nvSpPr>
        <p:spPr>
          <a:xfrm>
            <a:off x="2670048" y="5029200"/>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23</a:t>
            </a:r>
            <a:endParaRPr lang="en-US" sz="1300" dirty="0"/>
          </a:p>
        </p:txBody>
      </p:sp>
      <p:sp>
        <p:nvSpPr>
          <p:cNvPr id="26" name="Text 24"/>
          <p:cNvSpPr txBox="1"/>
          <p:nvPr/>
        </p:nvSpPr>
        <p:spPr>
          <a:xfrm>
            <a:off x="2670048" y="5504688"/>
            <a:ext cx="457200"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4</a:t>
            </a:r>
            <a:endParaRPr lang="en-US" sz="850" dirty="0"/>
          </a:p>
        </p:txBody>
      </p:sp>
      <p:sp>
        <p:nvSpPr>
          <p:cNvPr id="27" name="Shape 25"/>
          <p:cNvSpPr/>
          <p:nvPr/>
        </p:nvSpPr>
        <p:spPr>
          <a:xfrm>
            <a:off x="3200400" y="5029200"/>
            <a:ext cx="457200" cy="457200"/>
          </a:xfrm>
          <a:prstGeom prst="roundRect">
            <a:avLst>
              <a:gd name="adj" fmla="val 16000"/>
            </a:avLst>
          </a:prstGeom>
          <a:solidFill>
            <a:srgbClr val="FFFFFF"/>
          </a:solidFill>
          <a:ln w="22225">
            <a:solidFill>
              <a:srgbClr val="0E7490"/>
            </a:solidFill>
            <a:prstDash val="solid"/>
          </a:ln>
        </p:spPr>
      </p:sp>
      <p:sp>
        <p:nvSpPr>
          <p:cNvPr id="28" name="Text 26"/>
          <p:cNvSpPr txBox="1"/>
          <p:nvPr/>
        </p:nvSpPr>
        <p:spPr>
          <a:xfrm>
            <a:off x="3200400" y="5029200"/>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32</a:t>
            </a:r>
            <a:endParaRPr lang="en-US" sz="1300" dirty="0"/>
          </a:p>
        </p:txBody>
      </p:sp>
      <p:sp>
        <p:nvSpPr>
          <p:cNvPr id="29" name="Text 27"/>
          <p:cNvSpPr txBox="1"/>
          <p:nvPr/>
        </p:nvSpPr>
        <p:spPr>
          <a:xfrm>
            <a:off x="3200400" y="5504688"/>
            <a:ext cx="457200"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5</a:t>
            </a:r>
            <a:endParaRPr lang="en-US" sz="850" dirty="0"/>
          </a:p>
        </p:txBody>
      </p:sp>
      <p:sp>
        <p:nvSpPr>
          <p:cNvPr id="30" name="Shape 28"/>
          <p:cNvSpPr/>
          <p:nvPr/>
        </p:nvSpPr>
        <p:spPr>
          <a:xfrm>
            <a:off x="3730752" y="5029200"/>
            <a:ext cx="457200" cy="457200"/>
          </a:xfrm>
          <a:prstGeom prst="roundRect">
            <a:avLst>
              <a:gd name="adj" fmla="val 16000"/>
            </a:avLst>
          </a:prstGeom>
          <a:solidFill>
            <a:srgbClr val="FFFFFF"/>
          </a:solidFill>
          <a:ln w="22225">
            <a:solidFill>
              <a:srgbClr val="0E7490"/>
            </a:solidFill>
            <a:prstDash val="solid"/>
          </a:ln>
        </p:spPr>
      </p:sp>
      <p:sp>
        <p:nvSpPr>
          <p:cNvPr id="31" name="Text 29"/>
          <p:cNvSpPr txBox="1"/>
          <p:nvPr/>
        </p:nvSpPr>
        <p:spPr>
          <a:xfrm>
            <a:off x="3730752" y="5029200"/>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34</a:t>
            </a:r>
            <a:endParaRPr lang="en-US" sz="1300" dirty="0"/>
          </a:p>
        </p:txBody>
      </p:sp>
      <p:sp>
        <p:nvSpPr>
          <p:cNvPr id="32" name="Text 30"/>
          <p:cNvSpPr txBox="1"/>
          <p:nvPr/>
        </p:nvSpPr>
        <p:spPr>
          <a:xfrm>
            <a:off x="3730752" y="5504688"/>
            <a:ext cx="457200"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6</a:t>
            </a:r>
            <a:endParaRPr lang="en-US" sz="850" dirty="0"/>
          </a:p>
        </p:txBody>
      </p:sp>
      <p:sp>
        <p:nvSpPr>
          <p:cNvPr id="33" name="Shape 31"/>
          <p:cNvSpPr/>
          <p:nvPr/>
        </p:nvSpPr>
        <p:spPr>
          <a:xfrm>
            <a:off x="4261104" y="5029200"/>
            <a:ext cx="457200" cy="457200"/>
          </a:xfrm>
          <a:prstGeom prst="roundRect">
            <a:avLst>
              <a:gd name="adj" fmla="val 16000"/>
            </a:avLst>
          </a:prstGeom>
          <a:solidFill>
            <a:srgbClr val="FFFFFF"/>
          </a:solidFill>
          <a:ln w="22225">
            <a:solidFill>
              <a:srgbClr val="0E7490"/>
            </a:solidFill>
            <a:prstDash val="solid"/>
          </a:ln>
        </p:spPr>
      </p:sp>
      <p:sp>
        <p:nvSpPr>
          <p:cNvPr id="34" name="Text 32"/>
          <p:cNvSpPr txBox="1"/>
          <p:nvPr/>
        </p:nvSpPr>
        <p:spPr>
          <a:xfrm>
            <a:off x="4261104" y="5029200"/>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62</a:t>
            </a:r>
            <a:endParaRPr lang="en-US" sz="1300" dirty="0"/>
          </a:p>
        </p:txBody>
      </p:sp>
      <p:sp>
        <p:nvSpPr>
          <p:cNvPr id="35" name="Text 33"/>
          <p:cNvSpPr txBox="1"/>
          <p:nvPr/>
        </p:nvSpPr>
        <p:spPr>
          <a:xfrm>
            <a:off x="4261104" y="5504688"/>
            <a:ext cx="457200"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7</a:t>
            </a:r>
            <a:endParaRPr lang="en-US" sz="850" dirty="0"/>
          </a:p>
        </p:txBody>
      </p:sp>
      <p:sp>
        <p:nvSpPr>
          <p:cNvPr id="36" name="Text 34"/>
          <p:cNvSpPr txBox="1"/>
          <p:nvPr/>
        </p:nvSpPr>
        <p:spPr>
          <a:xfrm>
            <a:off x="457200" y="5669280"/>
            <a:ext cx="640080" cy="201168"/>
          </a:xfrm>
          <a:prstGeom prst="rect">
            <a:avLst/>
          </a:prstGeom>
          <a:noFill/>
          <a:ln/>
        </p:spPr>
        <p:txBody>
          <a:bodyPr wrap="square" lIns="0" tIns="0" rIns="0" bIns="0" rtlCol="0" anchor="ctr"/>
          <a:lstStyle/>
          <a:p>
            <a:pPr marL="0" indent="0" algn="ctr">
              <a:buNone/>
            </a:pPr>
            <a:r>
              <a:rPr lang="en-US" sz="1600" b="1" dirty="0">
                <a:solidFill>
                  <a:srgbClr val="0E7490"/>
                </a:solidFill>
                <a:latin typeface="Courier New" pitchFamily="34" charset="0"/>
                <a:ea typeface="Courier New" pitchFamily="34" charset="-122"/>
                <a:cs typeface="Courier New" pitchFamily="34" charset="-120"/>
              </a:rPr>
              <a:t>L</a:t>
            </a:r>
            <a:endParaRPr lang="en-US" sz="1600" dirty="0"/>
          </a:p>
        </p:txBody>
      </p:sp>
      <p:sp>
        <p:nvSpPr>
          <p:cNvPr id="37" name="Text 35"/>
          <p:cNvSpPr txBox="1"/>
          <p:nvPr/>
        </p:nvSpPr>
        <p:spPr>
          <a:xfrm>
            <a:off x="2048256" y="5669280"/>
            <a:ext cx="640080" cy="201168"/>
          </a:xfrm>
          <a:prstGeom prst="rect">
            <a:avLst/>
          </a:prstGeom>
          <a:noFill/>
          <a:ln/>
        </p:spPr>
        <p:txBody>
          <a:bodyPr wrap="square" lIns="0" tIns="0" rIns="0" bIns="0" rtlCol="0" anchor="ctr"/>
          <a:lstStyle/>
          <a:p>
            <a:pPr marL="0" indent="0" algn="ctr">
              <a:buNone/>
            </a:pPr>
            <a:r>
              <a:rPr lang="en-US" sz="1600" b="1" dirty="0">
                <a:solidFill>
                  <a:srgbClr val="D97706"/>
                </a:solidFill>
                <a:latin typeface="Courier New" pitchFamily="34" charset="0"/>
                <a:ea typeface="Courier New" pitchFamily="34" charset="-122"/>
                <a:cs typeface="Courier New" pitchFamily="34" charset="-120"/>
              </a:rPr>
              <a:t>M</a:t>
            </a:r>
            <a:endParaRPr lang="en-US" sz="1600" dirty="0"/>
          </a:p>
        </p:txBody>
      </p:sp>
      <p:sp>
        <p:nvSpPr>
          <p:cNvPr id="38" name="Text 36"/>
          <p:cNvSpPr txBox="1"/>
          <p:nvPr/>
        </p:nvSpPr>
        <p:spPr>
          <a:xfrm>
            <a:off x="4169664" y="5669280"/>
            <a:ext cx="640080" cy="201168"/>
          </a:xfrm>
          <a:prstGeom prst="rect">
            <a:avLst/>
          </a:prstGeom>
          <a:noFill/>
          <a:ln/>
        </p:spPr>
        <p:txBody>
          <a:bodyPr wrap="square" lIns="0" tIns="0" rIns="0" bIns="0" rtlCol="0" anchor="ctr"/>
          <a:lstStyle/>
          <a:p>
            <a:pPr marL="0" indent="0" algn="ctr">
              <a:buNone/>
            </a:pPr>
            <a:r>
              <a:rPr lang="en-US" sz="1600" b="1" dirty="0">
                <a:solidFill>
                  <a:srgbClr val="DC2626"/>
                </a:solidFill>
                <a:latin typeface="Courier New" pitchFamily="34" charset="0"/>
                <a:ea typeface="Courier New" pitchFamily="34" charset="-122"/>
                <a:cs typeface="Courier New" pitchFamily="34" charset="-120"/>
              </a:rPr>
              <a:t>H</a:t>
            </a:r>
            <a:endParaRPr lang="en-US" sz="1600" dirty="0"/>
          </a:p>
        </p:txBody>
      </p:sp>
      <p:sp>
        <p:nvSpPr>
          <p:cNvPr id="39" name="Shape 37"/>
          <p:cNvSpPr/>
          <p:nvPr/>
        </p:nvSpPr>
        <p:spPr>
          <a:xfrm>
            <a:off x="6355080" y="1463040"/>
            <a:ext cx="5257800" cy="4572000"/>
          </a:xfrm>
          <a:prstGeom prst="roundRect">
            <a:avLst>
              <a:gd name="adj" fmla="val 2000"/>
            </a:avLst>
          </a:prstGeom>
          <a:solidFill>
            <a:schemeClr val="accent3">
              <a:lumMod val="20000"/>
              <a:lumOff val="80000"/>
            </a:schemeClr>
          </a:solidFill>
          <a:ln w="12700">
            <a:solidFill>
              <a:srgbClr val="10242E"/>
            </a:solidFill>
            <a:prstDash val="solid"/>
          </a:ln>
        </p:spPr>
      </p:sp>
      <p:sp>
        <p:nvSpPr>
          <p:cNvPr id="40" name="Text 38"/>
          <p:cNvSpPr txBox="1"/>
          <p:nvPr/>
        </p:nvSpPr>
        <p:spPr>
          <a:xfrm>
            <a:off x="6583680" y="1627632"/>
            <a:ext cx="4754880" cy="274320"/>
          </a:xfrm>
          <a:prstGeom prst="rect">
            <a:avLst/>
          </a:prstGeom>
          <a:noFill/>
          <a:ln/>
        </p:spPr>
        <p:txBody>
          <a:bodyPr wrap="square" lIns="0" tIns="0" rIns="0" bIns="0" rtlCol="0" anchor="ctr"/>
          <a:lstStyle/>
          <a:p>
            <a:pPr marL="0" indent="0">
              <a:buNone/>
            </a:pPr>
            <a:r>
              <a:rPr lang="en-US" b="1" kern="0" spc="150" dirty="0">
                <a:solidFill>
                  <a:srgbClr val="D97706"/>
                </a:solidFill>
                <a:latin typeface="Calibri" pitchFamily="34" charset="0"/>
                <a:ea typeface="Calibri" pitchFamily="34" charset="-122"/>
                <a:cs typeface="Calibri" pitchFamily="34" charset="-120"/>
              </a:rPr>
              <a:t>KEY CHARACTERISTICS</a:t>
            </a:r>
            <a:endParaRPr lang="en-US" dirty="0"/>
          </a:p>
        </p:txBody>
      </p:sp>
      <p:sp>
        <p:nvSpPr>
          <p:cNvPr id="41" name="Shape 39"/>
          <p:cNvSpPr/>
          <p:nvPr/>
        </p:nvSpPr>
        <p:spPr>
          <a:xfrm>
            <a:off x="6583680" y="2048256"/>
            <a:ext cx="146304" cy="146304"/>
          </a:xfrm>
          <a:prstGeom prst="ellipse">
            <a:avLst/>
          </a:prstGeom>
          <a:solidFill>
            <a:srgbClr val="D97706"/>
          </a:solidFill>
          <a:ln/>
        </p:spPr>
      </p:sp>
      <p:sp>
        <p:nvSpPr>
          <p:cNvPr id="42" name="Text 40"/>
          <p:cNvSpPr txBox="1"/>
          <p:nvPr/>
        </p:nvSpPr>
        <p:spPr>
          <a:xfrm>
            <a:off x="6858000" y="1920240"/>
            <a:ext cx="4617720" cy="685800"/>
          </a:xfrm>
          <a:prstGeom prst="rect">
            <a:avLst/>
          </a:prstGeom>
          <a:noFill/>
          <a:ln/>
        </p:spPr>
        <p:txBody>
          <a:bodyPr wrap="square" lIns="0" tIns="0" rIns="0" bIns="0" rtlCol="0" anchor="ctr"/>
          <a:lstStyle/>
          <a:p>
            <a:pPr marL="0" indent="0">
              <a:lnSpc>
                <a:spcPct val="125000"/>
              </a:lnSpc>
              <a:buNone/>
            </a:pPr>
            <a:r>
              <a:rPr lang="en-US" b="1" dirty="0">
                <a:latin typeface="Calibri" pitchFamily="34" charset="0"/>
                <a:ea typeface="Calibri" pitchFamily="34" charset="-122"/>
                <a:cs typeface="Calibri" pitchFamily="34" charset="-120"/>
              </a:rPr>
              <a:t>Requires Sorted Data:  </a:t>
            </a:r>
            <a:r>
              <a:rPr lang="en-US" dirty="0">
                <a:latin typeface="Calibri" pitchFamily="34" charset="0"/>
                <a:ea typeface="Calibri" pitchFamily="34" charset="-122"/>
                <a:cs typeface="Calibri" pitchFamily="34" charset="-120"/>
              </a:rPr>
              <a:t>On unsorted data the “discard half” step is simply wrong.</a:t>
            </a:r>
            <a:endParaRPr lang="en-US" dirty="0"/>
          </a:p>
        </p:txBody>
      </p:sp>
      <p:sp>
        <p:nvSpPr>
          <p:cNvPr id="43" name="Shape 41"/>
          <p:cNvSpPr/>
          <p:nvPr/>
        </p:nvSpPr>
        <p:spPr>
          <a:xfrm>
            <a:off x="6583680" y="2798064"/>
            <a:ext cx="146304" cy="146304"/>
          </a:xfrm>
          <a:prstGeom prst="ellipse">
            <a:avLst/>
          </a:prstGeom>
          <a:solidFill>
            <a:srgbClr val="D97706"/>
          </a:solidFill>
          <a:ln/>
        </p:spPr>
      </p:sp>
      <p:sp>
        <p:nvSpPr>
          <p:cNvPr id="44" name="Text 42"/>
          <p:cNvSpPr txBox="1"/>
          <p:nvPr/>
        </p:nvSpPr>
        <p:spPr>
          <a:xfrm>
            <a:off x="6858000" y="2670048"/>
            <a:ext cx="4617720" cy="685800"/>
          </a:xfrm>
          <a:prstGeom prst="rect">
            <a:avLst/>
          </a:prstGeom>
          <a:noFill/>
          <a:ln/>
        </p:spPr>
        <p:txBody>
          <a:bodyPr wrap="square" lIns="0" tIns="0" rIns="0" bIns="0" rtlCol="0" anchor="ctr"/>
          <a:lstStyle/>
          <a:p>
            <a:pPr marL="0" indent="0">
              <a:lnSpc>
                <a:spcPct val="125000"/>
              </a:lnSpc>
              <a:buNone/>
            </a:pPr>
            <a:r>
              <a:rPr lang="en-US" b="1" dirty="0">
                <a:latin typeface="Calibri" pitchFamily="34" charset="0"/>
                <a:ea typeface="Calibri" pitchFamily="34" charset="-122"/>
                <a:cs typeface="Calibri" pitchFamily="34" charset="-120"/>
              </a:rPr>
              <a:t>Needs Random Access:  </a:t>
            </a:r>
            <a:r>
              <a:rPr lang="en-US" dirty="0">
                <a:latin typeface="Calibri" pitchFamily="34" charset="0"/>
                <a:ea typeface="Calibri" pitchFamily="34" charset="-122"/>
                <a:cs typeface="Calibri" pitchFamily="34" charset="-120"/>
              </a:rPr>
              <a:t>Must jump to A[mid] in O(1) — so arrays, not linked lists.</a:t>
            </a:r>
            <a:endParaRPr lang="en-US" dirty="0"/>
          </a:p>
        </p:txBody>
      </p:sp>
      <p:sp>
        <p:nvSpPr>
          <p:cNvPr id="45" name="Shape 43"/>
          <p:cNvSpPr/>
          <p:nvPr/>
        </p:nvSpPr>
        <p:spPr>
          <a:xfrm>
            <a:off x="6583680" y="3547872"/>
            <a:ext cx="146304" cy="146304"/>
          </a:xfrm>
          <a:prstGeom prst="ellipse">
            <a:avLst/>
          </a:prstGeom>
          <a:solidFill>
            <a:srgbClr val="D97706"/>
          </a:solidFill>
          <a:ln/>
        </p:spPr>
      </p:sp>
      <p:sp>
        <p:nvSpPr>
          <p:cNvPr id="46" name="Text 44"/>
          <p:cNvSpPr txBox="1"/>
          <p:nvPr/>
        </p:nvSpPr>
        <p:spPr>
          <a:xfrm>
            <a:off x="6858000" y="3419856"/>
            <a:ext cx="4617720" cy="685800"/>
          </a:xfrm>
          <a:prstGeom prst="rect">
            <a:avLst/>
          </a:prstGeom>
          <a:noFill/>
          <a:ln/>
        </p:spPr>
        <p:txBody>
          <a:bodyPr wrap="square" lIns="0" tIns="0" rIns="0" bIns="0" rtlCol="0" anchor="ctr"/>
          <a:lstStyle/>
          <a:p>
            <a:pPr marL="0" indent="0">
              <a:lnSpc>
                <a:spcPct val="125000"/>
              </a:lnSpc>
              <a:buNone/>
            </a:pPr>
            <a:r>
              <a:rPr lang="en-US" b="1" dirty="0">
                <a:latin typeface="Calibri" pitchFamily="34" charset="0"/>
                <a:ea typeface="Calibri" pitchFamily="34" charset="-122"/>
                <a:cs typeface="Calibri" pitchFamily="34" charset="-120"/>
              </a:rPr>
              <a:t>Halving:  </a:t>
            </a:r>
            <a:r>
              <a:rPr lang="en-US" dirty="0">
                <a:latin typeface="Calibri" pitchFamily="34" charset="0"/>
                <a:ea typeface="Calibri" pitchFamily="34" charset="-122"/>
                <a:cs typeface="Calibri" pitchFamily="34" charset="-120"/>
              </a:rPr>
              <a:t>Each probe removes at least half of the remaining candidates.</a:t>
            </a:r>
            <a:endParaRPr lang="en-US" dirty="0"/>
          </a:p>
        </p:txBody>
      </p:sp>
      <p:sp>
        <p:nvSpPr>
          <p:cNvPr id="47" name="Shape 45"/>
          <p:cNvSpPr/>
          <p:nvPr/>
        </p:nvSpPr>
        <p:spPr>
          <a:xfrm>
            <a:off x="6583680" y="4297680"/>
            <a:ext cx="146304" cy="146304"/>
          </a:xfrm>
          <a:prstGeom prst="ellipse">
            <a:avLst/>
          </a:prstGeom>
          <a:solidFill>
            <a:srgbClr val="D97706"/>
          </a:solidFill>
          <a:ln/>
        </p:spPr>
      </p:sp>
      <p:sp>
        <p:nvSpPr>
          <p:cNvPr id="48" name="Text 46"/>
          <p:cNvSpPr txBox="1"/>
          <p:nvPr/>
        </p:nvSpPr>
        <p:spPr>
          <a:xfrm>
            <a:off x="6858000" y="4169664"/>
            <a:ext cx="4617720" cy="685800"/>
          </a:xfrm>
          <a:prstGeom prst="rect">
            <a:avLst/>
          </a:prstGeom>
          <a:noFill/>
          <a:ln/>
        </p:spPr>
        <p:txBody>
          <a:bodyPr wrap="square" lIns="0" tIns="0" rIns="0" bIns="0" rtlCol="0" anchor="ctr"/>
          <a:lstStyle/>
          <a:p>
            <a:pPr marL="0" indent="0">
              <a:lnSpc>
                <a:spcPct val="125000"/>
              </a:lnSpc>
              <a:buNone/>
            </a:pPr>
            <a:r>
              <a:rPr lang="en-US" b="1" dirty="0">
                <a:latin typeface="Calibri" pitchFamily="34" charset="0"/>
                <a:ea typeface="Calibri" pitchFamily="34" charset="-122"/>
                <a:cs typeface="Calibri" pitchFamily="34" charset="-120"/>
              </a:rPr>
              <a:t>Logarithmic Cost:  </a:t>
            </a:r>
            <a:r>
              <a:rPr lang="en-US" dirty="0">
                <a:latin typeface="Calibri" pitchFamily="34" charset="0"/>
                <a:ea typeface="Calibri" pitchFamily="34" charset="-122"/>
                <a:cs typeface="Calibri" pitchFamily="34" charset="-120"/>
              </a:rPr>
              <a:t>At most ⌊log₂ n⌋ + 1 probes, even for huge n.</a:t>
            </a:r>
            <a:endParaRPr lang="en-US" dirty="0"/>
          </a:p>
        </p:txBody>
      </p:sp>
      <p:sp>
        <p:nvSpPr>
          <p:cNvPr id="49" name="Shape 47"/>
          <p:cNvSpPr/>
          <p:nvPr/>
        </p:nvSpPr>
        <p:spPr>
          <a:xfrm>
            <a:off x="6583680" y="5047488"/>
            <a:ext cx="146304" cy="146304"/>
          </a:xfrm>
          <a:prstGeom prst="ellipse">
            <a:avLst/>
          </a:prstGeom>
          <a:solidFill>
            <a:srgbClr val="D97706"/>
          </a:solidFill>
          <a:ln/>
        </p:spPr>
      </p:sp>
      <p:sp>
        <p:nvSpPr>
          <p:cNvPr id="50" name="Text 48"/>
          <p:cNvSpPr txBox="1"/>
          <p:nvPr/>
        </p:nvSpPr>
        <p:spPr>
          <a:xfrm>
            <a:off x="6858000" y="4919472"/>
            <a:ext cx="4617720" cy="685800"/>
          </a:xfrm>
          <a:prstGeom prst="rect">
            <a:avLst/>
          </a:prstGeom>
          <a:noFill/>
          <a:ln/>
        </p:spPr>
        <p:txBody>
          <a:bodyPr wrap="square" lIns="0" tIns="0" rIns="0" bIns="0" rtlCol="0" anchor="ctr"/>
          <a:lstStyle/>
          <a:p>
            <a:pPr marL="0" indent="0">
              <a:lnSpc>
                <a:spcPct val="125000"/>
              </a:lnSpc>
              <a:buNone/>
            </a:pPr>
            <a:r>
              <a:rPr lang="en-US" b="1" dirty="0">
                <a:latin typeface="Calibri" pitchFamily="34" charset="0"/>
                <a:ea typeface="Calibri" pitchFamily="34" charset="-122"/>
                <a:cs typeface="Calibri" pitchFamily="34" charset="-120"/>
              </a:rPr>
              <a:t>Iterative or Recursive:  </a:t>
            </a:r>
            <a:r>
              <a:rPr lang="en-US" dirty="0">
                <a:latin typeface="Calibri" pitchFamily="34" charset="0"/>
                <a:ea typeface="Calibri" pitchFamily="34" charset="-122"/>
                <a:cs typeface="Calibri" pitchFamily="34" charset="-120"/>
              </a:rPr>
              <a:t>Both forms exist; the iterative one uses O(1) space.</a:t>
            </a:r>
            <a:endParaRPr lang="en-US" dirty="0"/>
          </a:p>
        </p:txBody>
      </p:sp>
      <p:sp>
        <p:nvSpPr>
          <p:cNvPr id="51" name="Text 49"/>
          <p:cNvSpPr txBox="1"/>
          <p:nvPr/>
        </p:nvSpPr>
        <p:spPr>
          <a:xfrm>
            <a:off x="548640" y="6547104"/>
            <a:ext cx="6858000" cy="256032"/>
          </a:xfrm>
          <a:prstGeom prst="rect">
            <a:avLst/>
          </a:prstGeom>
          <a:noFill/>
          <a:ln/>
        </p:spPr>
        <p:txBody>
          <a:bodyPr wrap="square" lIns="0" tIns="0" rIns="0" bIns="0" rtlCol="0" anchor="ctr"/>
          <a:lstStyle/>
          <a:p>
            <a:pPr marL="0" indent="0">
              <a:buNone/>
            </a:pPr>
            <a:r>
              <a:rPr lang="en-US" sz="900" dirty="0">
                <a:solidFill>
                  <a:srgbClr val="5B6584"/>
                </a:solidFill>
                <a:latin typeface="Calibri" pitchFamily="34" charset="0"/>
                <a:ea typeface="Calibri" pitchFamily="34" charset="-122"/>
                <a:cs typeface="Calibri" pitchFamily="34" charset="-120"/>
              </a:rPr>
              <a:t>Linear &amp; Binary Search  |  Data Structures Using C</a:t>
            </a:r>
            <a:endParaRPr lang="en-US" sz="900" dirty="0"/>
          </a:p>
        </p:txBody>
      </p:sp>
      <p:sp>
        <p:nvSpPr>
          <p:cNvPr id="52" name="Text 50"/>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500000">
            <a:off x="10972800" y="-1005840"/>
            <a:ext cx="2377440" cy="2377440"/>
          </a:xfrm>
          <a:prstGeom prst="triangle">
            <a:avLst/>
          </a:prstGeom>
          <a:solidFill>
            <a:srgbClr val="0E7490">
              <a:alpha val="5000"/>
            </a:srgbClr>
          </a:solidFill>
          <a:ln/>
        </p:spPr>
      </p:sp>
      <p:sp>
        <p:nvSpPr>
          <p:cNvPr id="3" name="Shape 1"/>
          <p:cNvSpPr/>
          <p:nvPr/>
        </p:nvSpPr>
        <p:spPr>
          <a:xfrm rot="12300000">
            <a:off x="-1097280" y="5760720"/>
            <a:ext cx="2377440" cy="2377440"/>
          </a:xfrm>
          <a:prstGeom prst="triangle">
            <a:avLst/>
          </a:prstGeom>
          <a:solidFill>
            <a:srgbClr val="0E7490">
              <a:alpha val="5000"/>
            </a:srgbClr>
          </a:solidFill>
          <a:ln/>
        </p:spPr>
      </p:sp>
      <p:sp>
        <p:nvSpPr>
          <p:cNvPr id="4" name="Text 2"/>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22A6C4"/>
                </a:solidFill>
                <a:latin typeface="Calibri" pitchFamily="34" charset="0"/>
                <a:ea typeface="Calibri" pitchFamily="34" charset="-122"/>
                <a:cs typeface="Calibri" pitchFamily="34" charset="-120"/>
              </a:rPr>
              <a:t>THE LOGIC</a:t>
            </a:r>
            <a:endParaRPr lang="en-US" sz="1300" dirty="0"/>
          </a:p>
        </p:txBody>
      </p:sp>
      <p:sp>
        <p:nvSpPr>
          <p:cNvPr id="5" name="Text 3"/>
          <p:cNvSpPr txBox="1"/>
          <p:nvPr/>
        </p:nvSpPr>
        <p:spPr>
          <a:xfrm>
            <a:off x="548640" y="621792"/>
            <a:ext cx="11064240" cy="731520"/>
          </a:xfrm>
          <a:prstGeom prst="rect">
            <a:avLst/>
          </a:prstGeom>
          <a:noFill/>
          <a:ln/>
        </p:spPr>
        <p:txBody>
          <a:bodyPr wrap="square" lIns="0" tIns="0" rIns="0" bIns="0" rtlCol="0" anchor="ctr"/>
          <a:lstStyle/>
          <a:p>
            <a:pPr marL="0" indent="0">
              <a:buNone/>
            </a:pPr>
            <a:r>
              <a:rPr lang="en-US" sz="3000" b="1" dirty="0">
                <a:solidFill>
                  <a:srgbClr val="10242E"/>
                </a:solidFill>
                <a:latin typeface="Cambria" pitchFamily="34" charset="0"/>
                <a:ea typeface="Cambria" pitchFamily="34" charset="-122"/>
                <a:cs typeface="Cambria" pitchFamily="34" charset="-120"/>
              </a:rPr>
              <a:t>Working Principle of Each Algorithm</a:t>
            </a:r>
            <a:endParaRPr lang="en-US" sz="3000" dirty="0"/>
          </a:p>
        </p:txBody>
      </p:sp>
      <p:sp>
        <p:nvSpPr>
          <p:cNvPr id="6" name="Shape 4"/>
          <p:cNvSpPr/>
          <p:nvPr/>
        </p:nvSpPr>
        <p:spPr>
          <a:xfrm>
            <a:off x="548640" y="1417320"/>
            <a:ext cx="5440680" cy="3840480"/>
          </a:xfrm>
          <a:prstGeom prst="roundRect">
            <a:avLst>
              <a:gd name="adj" fmla="val 2381"/>
            </a:avLst>
          </a:prstGeom>
          <a:solidFill>
            <a:srgbClr val="E6F5F9"/>
          </a:solidFill>
          <a:ln w="12700">
            <a:solidFill>
              <a:srgbClr val="B8E0EA"/>
            </a:solidFill>
            <a:prstDash val="solid"/>
          </a:ln>
        </p:spPr>
      </p:sp>
      <p:sp>
        <p:nvSpPr>
          <p:cNvPr id="7" name="Text 5"/>
          <p:cNvSpPr txBox="1"/>
          <p:nvPr/>
        </p:nvSpPr>
        <p:spPr>
          <a:xfrm>
            <a:off x="777240" y="1554480"/>
            <a:ext cx="4937760" cy="274320"/>
          </a:xfrm>
          <a:prstGeom prst="rect">
            <a:avLst/>
          </a:prstGeom>
          <a:noFill/>
          <a:ln/>
        </p:spPr>
        <p:txBody>
          <a:bodyPr wrap="square" lIns="0" tIns="0" rIns="0" bIns="0" rtlCol="0" anchor="ctr"/>
          <a:lstStyle/>
          <a:p>
            <a:pPr marL="0" indent="0">
              <a:buNone/>
            </a:pPr>
            <a:r>
              <a:rPr lang="en-US" b="1" kern="0" spc="120" dirty="0">
                <a:solidFill>
                  <a:srgbClr val="0E7490"/>
                </a:solidFill>
                <a:latin typeface="Calibri" pitchFamily="34" charset="0"/>
                <a:ea typeface="Calibri" pitchFamily="34" charset="-122"/>
                <a:cs typeface="Calibri" pitchFamily="34" charset="-120"/>
              </a:rPr>
              <a:t>LINEAR SEARCH</a:t>
            </a:r>
            <a:endParaRPr lang="en-US" dirty="0"/>
          </a:p>
        </p:txBody>
      </p:sp>
      <p:sp>
        <p:nvSpPr>
          <p:cNvPr id="8" name="Shape 6"/>
          <p:cNvSpPr/>
          <p:nvPr/>
        </p:nvSpPr>
        <p:spPr>
          <a:xfrm>
            <a:off x="777240" y="2011680"/>
            <a:ext cx="347472" cy="347472"/>
          </a:xfrm>
          <a:prstGeom prst="ellipse">
            <a:avLst/>
          </a:prstGeom>
          <a:solidFill>
            <a:srgbClr val="0E7490"/>
          </a:solidFill>
          <a:ln/>
        </p:spPr>
      </p:sp>
      <p:sp>
        <p:nvSpPr>
          <p:cNvPr id="9" name="Text 7"/>
          <p:cNvSpPr txBox="1"/>
          <p:nvPr/>
        </p:nvSpPr>
        <p:spPr>
          <a:xfrm>
            <a:off x="777240" y="2011680"/>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280160" y="1965960"/>
            <a:ext cx="4572000" cy="457200"/>
          </a:xfrm>
          <a:prstGeom prst="rect">
            <a:avLst/>
          </a:prstGeom>
          <a:noFill/>
          <a:ln/>
        </p:spPr>
        <p:txBody>
          <a:bodyPr wrap="square" lIns="0" tIns="0" rIns="0" bIns="0" rtlCol="0" anchor="ctr"/>
          <a:lstStyle/>
          <a:p>
            <a:pPr marL="0" indent="0">
              <a:buNone/>
            </a:pPr>
            <a:r>
              <a:rPr lang="en-US" dirty="0">
                <a:solidFill>
                  <a:srgbClr val="1B2233"/>
                </a:solidFill>
                <a:latin typeface="Calibri" pitchFamily="34" charset="0"/>
                <a:ea typeface="Calibri" pitchFamily="34" charset="-122"/>
                <a:cs typeface="Calibri" pitchFamily="34" charset="-120"/>
              </a:rPr>
              <a:t>Start at index i = 0.</a:t>
            </a:r>
            <a:endParaRPr lang="en-US" dirty="0"/>
          </a:p>
        </p:txBody>
      </p:sp>
      <p:sp>
        <p:nvSpPr>
          <p:cNvPr id="11" name="Shape 9"/>
          <p:cNvSpPr/>
          <p:nvPr/>
        </p:nvSpPr>
        <p:spPr>
          <a:xfrm>
            <a:off x="777240" y="2651760"/>
            <a:ext cx="347472" cy="347472"/>
          </a:xfrm>
          <a:prstGeom prst="ellipse">
            <a:avLst/>
          </a:prstGeom>
          <a:solidFill>
            <a:srgbClr val="0E7490"/>
          </a:solidFill>
          <a:ln/>
        </p:spPr>
      </p:sp>
      <p:sp>
        <p:nvSpPr>
          <p:cNvPr id="12" name="Text 10"/>
          <p:cNvSpPr txBox="1"/>
          <p:nvPr/>
        </p:nvSpPr>
        <p:spPr>
          <a:xfrm>
            <a:off x="777240" y="2651760"/>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1280160" y="2606040"/>
            <a:ext cx="4572000" cy="457200"/>
          </a:xfrm>
          <a:prstGeom prst="rect">
            <a:avLst/>
          </a:prstGeom>
          <a:noFill/>
          <a:ln/>
        </p:spPr>
        <p:txBody>
          <a:bodyPr wrap="square" lIns="0" tIns="0" rIns="0" bIns="0" rtlCol="0" anchor="ctr"/>
          <a:lstStyle/>
          <a:p>
            <a:pPr marL="0" indent="0">
              <a:buNone/>
            </a:pPr>
            <a:r>
              <a:rPr lang="en-US" dirty="0">
                <a:solidFill>
                  <a:srgbClr val="1B2233"/>
                </a:solidFill>
                <a:latin typeface="Calibri" pitchFamily="34" charset="0"/>
                <a:ea typeface="Calibri" pitchFamily="34" charset="-122"/>
                <a:cs typeface="Calibri" pitchFamily="34" charset="-120"/>
              </a:rPr>
              <a:t>Compare A[i] with the key.</a:t>
            </a:r>
            <a:endParaRPr lang="en-US" dirty="0"/>
          </a:p>
        </p:txBody>
      </p:sp>
      <p:sp>
        <p:nvSpPr>
          <p:cNvPr id="14" name="Shape 12"/>
          <p:cNvSpPr/>
          <p:nvPr/>
        </p:nvSpPr>
        <p:spPr>
          <a:xfrm>
            <a:off x="777240" y="3291840"/>
            <a:ext cx="347472" cy="347472"/>
          </a:xfrm>
          <a:prstGeom prst="ellipse">
            <a:avLst/>
          </a:prstGeom>
          <a:solidFill>
            <a:srgbClr val="0E7490"/>
          </a:solidFill>
          <a:ln/>
        </p:spPr>
      </p:sp>
      <p:sp>
        <p:nvSpPr>
          <p:cNvPr id="15" name="Text 13"/>
          <p:cNvSpPr txBox="1"/>
          <p:nvPr/>
        </p:nvSpPr>
        <p:spPr>
          <a:xfrm>
            <a:off x="777240" y="3291840"/>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4"/>
          <p:cNvSpPr txBox="1"/>
          <p:nvPr/>
        </p:nvSpPr>
        <p:spPr>
          <a:xfrm>
            <a:off x="1280160" y="3246120"/>
            <a:ext cx="4572000" cy="457200"/>
          </a:xfrm>
          <a:prstGeom prst="rect">
            <a:avLst/>
          </a:prstGeom>
          <a:noFill/>
          <a:ln/>
        </p:spPr>
        <p:txBody>
          <a:bodyPr wrap="square" lIns="0" tIns="0" rIns="0" bIns="0" rtlCol="0" anchor="ctr"/>
          <a:lstStyle/>
          <a:p>
            <a:pPr marL="0" indent="0">
              <a:buNone/>
            </a:pPr>
            <a:r>
              <a:rPr lang="en-US" dirty="0">
                <a:solidFill>
                  <a:srgbClr val="1B2233"/>
                </a:solidFill>
                <a:latin typeface="Calibri" pitchFamily="34" charset="0"/>
                <a:ea typeface="Calibri" pitchFamily="34" charset="-122"/>
                <a:cs typeface="Calibri" pitchFamily="34" charset="-120"/>
              </a:rPr>
              <a:t>If they are equal, return i.</a:t>
            </a:r>
            <a:endParaRPr lang="en-US" dirty="0"/>
          </a:p>
        </p:txBody>
      </p:sp>
      <p:sp>
        <p:nvSpPr>
          <p:cNvPr id="17" name="Shape 15"/>
          <p:cNvSpPr/>
          <p:nvPr/>
        </p:nvSpPr>
        <p:spPr>
          <a:xfrm>
            <a:off x="777240" y="3931920"/>
            <a:ext cx="347472" cy="347472"/>
          </a:xfrm>
          <a:prstGeom prst="ellipse">
            <a:avLst/>
          </a:prstGeom>
          <a:solidFill>
            <a:srgbClr val="0E7490"/>
          </a:solidFill>
          <a:ln/>
        </p:spPr>
      </p:sp>
      <p:sp>
        <p:nvSpPr>
          <p:cNvPr id="18" name="Text 16"/>
          <p:cNvSpPr txBox="1"/>
          <p:nvPr/>
        </p:nvSpPr>
        <p:spPr>
          <a:xfrm>
            <a:off x="777240" y="3931920"/>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9" name="Text 17"/>
          <p:cNvSpPr txBox="1"/>
          <p:nvPr/>
        </p:nvSpPr>
        <p:spPr>
          <a:xfrm>
            <a:off x="1280160" y="3886200"/>
            <a:ext cx="4572000" cy="457200"/>
          </a:xfrm>
          <a:prstGeom prst="rect">
            <a:avLst/>
          </a:prstGeom>
          <a:noFill/>
          <a:ln/>
        </p:spPr>
        <p:txBody>
          <a:bodyPr wrap="square" lIns="0" tIns="0" rIns="0" bIns="0" rtlCol="0" anchor="ctr"/>
          <a:lstStyle/>
          <a:p>
            <a:pPr marL="0" indent="0">
              <a:buNone/>
            </a:pPr>
            <a:r>
              <a:rPr lang="en-US" dirty="0">
                <a:solidFill>
                  <a:srgbClr val="1B2233"/>
                </a:solidFill>
                <a:latin typeface="Calibri" pitchFamily="34" charset="0"/>
                <a:ea typeface="Calibri" pitchFamily="34" charset="-122"/>
                <a:cs typeface="Calibri" pitchFamily="34" charset="-120"/>
              </a:rPr>
              <a:t>Otherwise increase i by 1 and repeat.</a:t>
            </a:r>
            <a:endParaRPr lang="en-US" dirty="0"/>
          </a:p>
        </p:txBody>
      </p:sp>
      <p:sp>
        <p:nvSpPr>
          <p:cNvPr id="20" name="Shape 18"/>
          <p:cNvSpPr/>
          <p:nvPr/>
        </p:nvSpPr>
        <p:spPr>
          <a:xfrm>
            <a:off x="777240" y="4572000"/>
            <a:ext cx="347472" cy="347472"/>
          </a:xfrm>
          <a:prstGeom prst="ellipse">
            <a:avLst/>
          </a:prstGeom>
          <a:solidFill>
            <a:srgbClr val="0E7490"/>
          </a:solidFill>
          <a:ln/>
        </p:spPr>
      </p:sp>
      <p:sp>
        <p:nvSpPr>
          <p:cNvPr id="21" name="Text 19"/>
          <p:cNvSpPr txBox="1"/>
          <p:nvPr/>
        </p:nvSpPr>
        <p:spPr>
          <a:xfrm>
            <a:off x="777240" y="4572000"/>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2" name="Text 20"/>
          <p:cNvSpPr txBox="1"/>
          <p:nvPr/>
        </p:nvSpPr>
        <p:spPr>
          <a:xfrm>
            <a:off x="1280160" y="4526280"/>
            <a:ext cx="4572000" cy="457200"/>
          </a:xfrm>
          <a:prstGeom prst="rect">
            <a:avLst/>
          </a:prstGeom>
          <a:noFill/>
          <a:ln/>
        </p:spPr>
        <p:txBody>
          <a:bodyPr wrap="square" lIns="0" tIns="0" rIns="0" bIns="0" rtlCol="0" anchor="ctr"/>
          <a:lstStyle/>
          <a:p>
            <a:pPr marL="0" indent="0">
              <a:buNone/>
            </a:pPr>
            <a:r>
              <a:rPr lang="en-US" dirty="0">
                <a:solidFill>
                  <a:srgbClr val="1B2233"/>
                </a:solidFill>
                <a:latin typeface="Calibri" pitchFamily="34" charset="0"/>
                <a:ea typeface="Calibri" pitchFamily="34" charset="-122"/>
                <a:cs typeface="Calibri" pitchFamily="34" charset="-120"/>
              </a:rPr>
              <a:t>If i reaches n without a match, return −1.</a:t>
            </a:r>
            <a:endParaRPr lang="en-US" dirty="0"/>
          </a:p>
        </p:txBody>
      </p:sp>
      <p:sp>
        <p:nvSpPr>
          <p:cNvPr id="23" name="Shape 21"/>
          <p:cNvSpPr/>
          <p:nvPr/>
        </p:nvSpPr>
        <p:spPr>
          <a:xfrm>
            <a:off x="6172200" y="1417320"/>
            <a:ext cx="5440680" cy="3840480"/>
          </a:xfrm>
          <a:prstGeom prst="roundRect">
            <a:avLst>
              <a:gd name="adj" fmla="val 2381"/>
            </a:avLst>
          </a:prstGeom>
          <a:solidFill>
            <a:srgbClr val="FDF3E7"/>
          </a:solidFill>
          <a:ln w="12700">
            <a:solidFill>
              <a:srgbClr val="F0C89A"/>
            </a:solidFill>
            <a:prstDash val="solid"/>
          </a:ln>
        </p:spPr>
      </p:sp>
      <p:sp>
        <p:nvSpPr>
          <p:cNvPr id="24" name="Text 22"/>
          <p:cNvSpPr txBox="1"/>
          <p:nvPr/>
        </p:nvSpPr>
        <p:spPr>
          <a:xfrm>
            <a:off x="6400800" y="1554480"/>
            <a:ext cx="4937760" cy="274320"/>
          </a:xfrm>
          <a:prstGeom prst="rect">
            <a:avLst/>
          </a:prstGeom>
          <a:noFill/>
          <a:ln/>
        </p:spPr>
        <p:txBody>
          <a:bodyPr wrap="square" lIns="0" tIns="0" rIns="0" bIns="0" rtlCol="0" anchor="ctr"/>
          <a:lstStyle/>
          <a:p>
            <a:pPr marL="0" indent="0">
              <a:buNone/>
            </a:pPr>
            <a:r>
              <a:rPr lang="en-US" b="1" kern="0" spc="120" dirty="0">
                <a:solidFill>
                  <a:srgbClr val="D97706"/>
                </a:solidFill>
                <a:latin typeface="Calibri" pitchFamily="34" charset="0"/>
                <a:ea typeface="Calibri" pitchFamily="34" charset="-122"/>
                <a:cs typeface="Calibri" pitchFamily="34" charset="-120"/>
              </a:rPr>
              <a:t>BINARY SEARCH</a:t>
            </a:r>
            <a:endParaRPr lang="en-US" dirty="0"/>
          </a:p>
        </p:txBody>
      </p:sp>
      <p:sp>
        <p:nvSpPr>
          <p:cNvPr id="25" name="Shape 23"/>
          <p:cNvSpPr/>
          <p:nvPr/>
        </p:nvSpPr>
        <p:spPr>
          <a:xfrm>
            <a:off x="6400800" y="2011680"/>
            <a:ext cx="347472" cy="347472"/>
          </a:xfrm>
          <a:prstGeom prst="ellipse">
            <a:avLst/>
          </a:prstGeom>
          <a:solidFill>
            <a:srgbClr val="D97706"/>
          </a:solidFill>
          <a:ln/>
        </p:spPr>
      </p:sp>
      <p:sp>
        <p:nvSpPr>
          <p:cNvPr id="26" name="Text 24"/>
          <p:cNvSpPr txBox="1"/>
          <p:nvPr/>
        </p:nvSpPr>
        <p:spPr>
          <a:xfrm>
            <a:off x="6400800" y="2011680"/>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7" name="Text 25"/>
          <p:cNvSpPr txBox="1"/>
          <p:nvPr/>
        </p:nvSpPr>
        <p:spPr>
          <a:xfrm>
            <a:off x="6903720" y="1965960"/>
            <a:ext cx="4572000" cy="566928"/>
          </a:xfrm>
          <a:prstGeom prst="rect">
            <a:avLst/>
          </a:prstGeom>
          <a:noFill/>
          <a:ln/>
        </p:spPr>
        <p:txBody>
          <a:bodyPr wrap="square" lIns="0" tIns="0" rIns="0" bIns="0" rtlCol="0" anchor="ctr"/>
          <a:lstStyle/>
          <a:p>
            <a:pPr marL="0" indent="0">
              <a:buNone/>
            </a:pPr>
            <a:r>
              <a:rPr lang="en-US" dirty="0">
                <a:solidFill>
                  <a:srgbClr val="1B2233"/>
                </a:solidFill>
                <a:latin typeface="Calibri" pitchFamily="34" charset="0"/>
                <a:ea typeface="Calibri" pitchFamily="34" charset="-122"/>
                <a:cs typeface="Calibri" pitchFamily="34" charset="-120"/>
              </a:rPr>
              <a:t>Set low = 0 and high = n − 1.</a:t>
            </a:r>
            <a:endParaRPr lang="en-US" dirty="0"/>
          </a:p>
        </p:txBody>
      </p:sp>
      <p:sp>
        <p:nvSpPr>
          <p:cNvPr id="28" name="Shape 26"/>
          <p:cNvSpPr/>
          <p:nvPr/>
        </p:nvSpPr>
        <p:spPr>
          <a:xfrm>
            <a:off x="6400800" y="2651760"/>
            <a:ext cx="347472" cy="347472"/>
          </a:xfrm>
          <a:prstGeom prst="ellipse">
            <a:avLst/>
          </a:prstGeom>
          <a:solidFill>
            <a:srgbClr val="D97706"/>
          </a:solidFill>
          <a:ln/>
        </p:spPr>
      </p:sp>
      <p:sp>
        <p:nvSpPr>
          <p:cNvPr id="29" name="Text 27"/>
          <p:cNvSpPr txBox="1"/>
          <p:nvPr/>
        </p:nvSpPr>
        <p:spPr>
          <a:xfrm>
            <a:off x="6400800" y="2651760"/>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0" name="Text 28"/>
          <p:cNvSpPr txBox="1"/>
          <p:nvPr/>
        </p:nvSpPr>
        <p:spPr>
          <a:xfrm>
            <a:off x="6903720" y="2606040"/>
            <a:ext cx="4572000" cy="566928"/>
          </a:xfrm>
          <a:prstGeom prst="rect">
            <a:avLst/>
          </a:prstGeom>
          <a:noFill/>
          <a:ln/>
        </p:spPr>
        <p:txBody>
          <a:bodyPr wrap="square" lIns="0" tIns="0" rIns="0" bIns="0" rtlCol="0" anchor="ctr"/>
          <a:lstStyle/>
          <a:p>
            <a:pPr marL="0" indent="0">
              <a:buNone/>
            </a:pPr>
            <a:r>
              <a:rPr lang="en-US" dirty="0">
                <a:solidFill>
                  <a:srgbClr val="1B2233"/>
                </a:solidFill>
                <a:latin typeface="Calibri" pitchFamily="34" charset="0"/>
                <a:ea typeface="Calibri" pitchFamily="34" charset="-122"/>
                <a:cs typeface="Calibri" pitchFamily="34" charset="-120"/>
              </a:rPr>
              <a:t>While low ≤ high, compute mid = ⌊(low + high) / 2⌋.</a:t>
            </a:r>
            <a:endParaRPr lang="en-US" dirty="0"/>
          </a:p>
        </p:txBody>
      </p:sp>
      <p:sp>
        <p:nvSpPr>
          <p:cNvPr id="31" name="Shape 29"/>
          <p:cNvSpPr/>
          <p:nvPr/>
        </p:nvSpPr>
        <p:spPr>
          <a:xfrm>
            <a:off x="6400800" y="3291840"/>
            <a:ext cx="347472" cy="347472"/>
          </a:xfrm>
          <a:prstGeom prst="ellipse">
            <a:avLst/>
          </a:prstGeom>
          <a:solidFill>
            <a:srgbClr val="D97706"/>
          </a:solidFill>
          <a:ln/>
        </p:spPr>
      </p:sp>
      <p:sp>
        <p:nvSpPr>
          <p:cNvPr id="32" name="Text 30"/>
          <p:cNvSpPr txBox="1"/>
          <p:nvPr/>
        </p:nvSpPr>
        <p:spPr>
          <a:xfrm>
            <a:off x="6400800" y="3291840"/>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3" name="Text 31"/>
          <p:cNvSpPr txBox="1"/>
          <p:nvPr/>
        </p:nvSpPr>
        <p:spPr>
          <a:xfrm>
            <a:off x="6903720" y="3246120"/>
            <a:ext cx="4572000" cy="566928"/>
          </a:xfrm>
          <a:prstGeom prst="rect">
            <a:avLst/>
          </a:prstGeom>
          <a:noFill/>
          <a:ln/>
        </p:spPr>
        <p:txBody>
          <a:bodyPr wrap="square" lIns="0" tIns="0" rIns="0" bIns="0" rtlCol="0" anchor="ctr"/>
          <a:lstStyle/>
          <a:p>
            <a:pPr marL="0" indent="0">
              <a:buNone/>
            </a:pPr>
            <a:r>
              <a:rPr lang="en-US" dirty="0">
                <a:solidFill>
                  <a:srgbClr val="1B2233"/>
                </a:solidFill>
                <a:latin typeface="Calibri" pitchFamily="34" charset="0"/>
                <a:ea typeface="Calibri" pitchFamily="34" charset="-122"/>
                <a:cs typeface="Calibri" pitchFamily="34" charset="-120"/>
              </a:rPr>
              <a:t>If A[mid] = key, return mid.</a:t>
            </a:r>
            <a:endParaRPr lang="en-US" dirty="0"/>
          </a:p>
        </p:txBody>
      </p:sp>
      <p:sp>
        <p:nvSpPr>
          <p:cNvPr id="34" name="Shape 32"/>
          <p:cNvSpPr/>
          <p:nvPr/>
        </p:nvSpPr>
        <p:spPr>
          <a:xfrm>
            <a:off x="6400800" y="3931920"/>
            <a:ext cx="347472" cy="347472"/>
          </a:xfrm>
          <a:prstGeom prst="ellipse">
            <a:avLst/>
          </a:prstGeom>
          <a:solidFill>
            <a:srgbClr val="D97706"/>
          </a:solidFill>
          <a:ln/>
        </p:spPr>
      </p:sp>
      <p:sp>
        <p:nvSpPr>
          <p:cNvPr id="35" name="Text 33"/>
          <p:cNvSpPr txBox="1"/>
          <p:nvPr/>
        </p:nvSpPr>
        <p:spPr>
          <a:xfrm>
            <a:off x="6400800" y="3931920"/>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6" name="Text 34"/>
          <p:cNvSpPr txBox="1"/>
          <p:nvPr/>
        </p:nvSpPr>
        <p:spPr>
          <a:xfrm>
            <a:off x="6903720" y="3886200"/>
            <a:ext cx="4572000" cy="566928"/>
          </a:xfrm>
          <a:prstGeom prst="rect">
            <a:avLst/>
          </a:prstGeom>
          <a:noFill/>
          <a:ln/>
        </p:spPr>
        <p:txBody>
          <a:bodyPr wrap="square" lIns="0" tIns="0" rIns="0" bIns="0" rtlCol="0" anchor="ctr"/>
          <a:lstStyle/>
          <a:p>
            <a:pPr marL="0" indent="0">
              <a:buNone/>
            </a:pPr>
            <a:r>
              <a:rPr lang="en-US" dirty="0">
                <a:solidFill>
                  <a:srgbClr val="1B2233"/>
                </a:solidFill>
                <a:latin typeface="Calibri" pitchFamily="34" charset="0"/>
                <a:ea typeface="Calibri" pitchFamily="34" charset="-122"/>
                <a:cs typeface="Calibri" pitchFamily="34" charset="-120"/>
              </a:rPr>
              <a:t>If A[mid] &lt; key, the key is on the right: low = mid + 1.  Else high = mid − 1.</a:t>
            </a:r>
            <a:endParaRPr lang="en-US" dirty="0"/>
          </a:p>
        </p:txBody>
      </p:sp>
      <p:sp>
        <p:nvSpPr>
          <p:cNvPr id="37" name="Shape 35"/>
          <p:cNvSpPr/>
          <p:nvPr/>
        </p:nvSpPr>
        <p:spPr>
          <a:xfrm>
            <a:off x="6400800" y="4572000"/>
            <a:ext cx="347472" cy="347472"/>
          </a:xfrm>
          <a:prstGeom prst="ellipse">
            <a:avLst/>
          </a:prstGeom>
          <a:solidFill>
            <a:srgbClr val="D97706"/>
          </a:solidFill>
          <a:ln/>
        </p:spPr>
      </p:sp>
      <p:sp>
        <p:nvSpPr>
          <p:cNvPr id="38" name="Text 36"/>
          <p:cNvSpPr txBox="1"/>
          <p:nvPr/>
        </p:nvSpPr>
        <p:spPr>
          <a:xfrm>
            <a:off x="6400800" y="4572000"/>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9" name="Text 37"/>
          <p:cNvSpPr txBox="1"/>
          <p:nvPr/>
        </p:nvSpPr>
        <p:spPr>
          <a:xfrm>
            <a:off x="6903720" y="4526280"/>
            <a:ext cx="4572000" cy="566928"/>
          </a:xfrm>
          <a:prstGeom prst="rect">
            <a:avLst/>
          </a:prstGeom>
          <a:noFill/>
          <a:ln/>
        </p:spPr>
        <p:txBody>
          <a:bodyPr wrap="square" lIns="0" tIns="0" rIns="0" bIns="0" rtlCol="0" anchor="ctr"/>
          <a:lstStyle/>
          <a:p>
            <a:pPr marL="0" indent="0">
              <a:buNone/>
            </a:pPr>
            <a:r>
              <a:rPr lang="en-US" dirty="0">
                <a:solidFill>
                  <a:srgbClr val="1B2233"/>
                </a:solidFill>
                <a:latin typeface="Calibri" pitchFamily="34" charset="0"/>
                <a:ea typeface="Calibri" pitchFamily="34" charset="-122"/>
                <a:cs typeface="Calibri" pitchFamily="34" charset="-120"/>
              </a:rPr>
              <a:t>If the range becomes empty (low &gt; high), return −1.</a:t>
            </a:r>
            <a:endParaRPr lang="en-US" dirty="0"/>
          </a:p>
        </p:txBody>
      </p:sp>
      <p:sp>
        <p:nvSpPr>
          <p:cNvPr id="40" name="Shape 38"/>
          <p:cNvSpPr/>
          <p:nvPr/>
        </p:nvSpPr>
        <p:spPr>
          <a:xfrm>
            <a:off x="548640" y="5440680"/>
            <a:ext cx="11064240" cy="914400"/>
          </a:xfrm>
          <a:prstGeom prst="roundRect">
            <a:avLst>
              <a:gd name="adj" fmla="val 10000"/>
            </a:avLst>
          </a:prstGeom>
          <a:solidFill>
            <a:schemeClr val="bg2">
              <a:lumMod val="75000"/>
            </a:schemeClr>
          </a:solidFill>
          <a:ln w="12700">
            <a:solidFill>
              <a:srgbClr val="10242E"/>
            </a:solidFill>
            <a:prstDash val="solid"/>
          </a:ln>
        </p:spPr>
      </p:sp>
      <p:sp>
        <p:nvSpPr>
          <p:cNvPr id="41" name="Text 39"/>
          <p:cNvSpPr txBox="1"/>
          <p:nvPr/>
        </p:nvSpPr>
        <p:spPr>
          <a:xfrm>
            <a:off x="777240" y="5440680"/>
            <a:ext cx="10835640" cy="914400"/>
          </a:xfrm>
          <a:prstGeom prst="rect">
            <a:avLst/>
          </a:prstGeom>
          <a:noFill/>
          <a:ln/>
        </p:spPr>
        <p:txBody>
          <a:bodyPr wrap="square" lIns="0" tIns="0" rIns="0" bIns="0" rtlCol="0" anchor="ctr"/>
          <a:lstStyle/>
          <a:p>
            <a:pPr marL="0" indent="0">
              <a:lnSpc>
                <a:spcPct val="130000"/>
              </a:lnSpc>
              <a:buNone/>
            </a:pPr>
            <a:r>
              <a:rPr lang="en-US" b="1" dirty="0">
                <a:latin typeface="Calibri" pitchFamily="34" charset="0"/>
                <a:ea typeface="Calibri" pitchFamily="34" charset="-122"/>
                <a:cs typeface="Calibri" pitchFamily="34" charset="-120"/>
              </a:rPr>
              <a:t>Binary-search invariant:  </a:t>
            </a:r>
            <a:r>
              <a:rPr lang="en-US" dirty="0">
                <a:latin typeface="Calibri" pitchFamily="34" charset="0"/>
                <a:ea typeface="Calibri" pitchFamily="34" charset="-122"/>
                <a:cs typeface="Calibri" pitchFamily="34" charset="-120"/>
              </a:rPr>
              <a:t>if the key is in the array, it lies in A[low..high]. Every iteration keeps this true while shrinking the range by at least half — so the loop must end, and when it ends with low &gt; high the key cannot be present.</a:t>
            </a:r>
            <a:endParaRPr lang="en-US" dirty="0"/>
          </a:p>
        </p:txBody>
      </p:sp>
      <p:sp>
        <p:nvSpPr>
          <p:cNvPr id="42" name="Text 40"/>
          <p:cNvSpPr txBox="1"/>
          <p:nvPr/>
        </p:nvSpPr>
        <p:spPr>
          <a:xfrm>
            <a:off x="548640" y="6547104"/>
            <a:ext cx="6858000" cy="256032"/>
          </a:xfrm>
          <a:prstGeom prst="rect">
            <a:avLst/>
          </a:prstGeom>
          <a:noFill/>
          <a:ln/>
        </p:spPr>
        <p:txBody>
          <a:bodyPr wrap="square" lIns="0" tIns="0" rIns="0" bIns="0" rtlCol="0" anchor="ctr"/>
          <a:lstStyle/>
          <a:p>
            <a:pPr marL="0" indent="0">
              <a:buNone/>
            </a:pPr>
            <a:r>
              <a:rPr lang="en-US" sz="900" dirty="0">
                <a:solidFill>
                  <a:srgbClr val="5B6584"/>
                </a:solidFill>
                <a:latin typeface="Calibri" pitchFamily="34" charset="0"/>
                <a:ea typeface="Calibri" pitchFamily="34" charset="-122"/>
                <a:cs typeface="Calibri" pitchFamily="34" charset="-120"/>
              </a:rPr>
              <a:t>Linear &amp; Binary Search  |  Data Structures Using C</a:t>
            </a:r>
            <a:endParaRPr lang="en-US" sz="900" dirty="0"/>
          </a:p>
        </p:txBody>
      </p:sp>
      <p:sp>
        <p:nvSpPr>
          <p:cNvPr id="43" name="Text 41"/>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500000">
            <a:off x="10972800" y="-1005840"/>
            <a:ext cx="2377440" cy="2377440"/>
          </a:xfrm>
          <a:prstGeom prst="triangle">
            <a:avLst/>
          </a:prstGeom>
          <a:solidFill>
            <a:srgbClr val="0E7490">
              <a:alpha val="5000"/>
            </a:srgbClr>
          </a:solidFill>
          <a:ln/>
        </p:spPr>
      </p:sp>
      <p:sp>
        <p:nvSpPr>
          <p:cNvPr id="3" name="Shape 1"/>
          <p:cNvSpPr/>
          <p:nvPr/>
        </p:nvSpPr>
        <p:spPr>
          <a:xfrm rot="12300000">
            <a:off x="-1097280" y="5760720"/>
            <a:ext cx="2377440" cy="2377440"/>
          </a:xfrm>
          <a:prstGeom prst="triangle">
            <a:avLst/>
          </a:prstGeom>
          <a:solidFill>
            <a:srgbClr val="0E7490">
              <a:alpha val="5000"/>
            </a:srgbClr>
          </a:solidFill>
          <a:ln/>
        </p:spPr>
      </p:sp>
      <p:sp>
        <p:nvSpPr>
          <p:cNvPr id="4" name="Text 2"/>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22A6C4"/>
                </a:solidFill>
                <a:latin typeface="Calibri" pitchFamily="34" charset="0"/>
                <a:ea typeface="Calibri" pitchFamily="34" charset="-122"/>
                <a:cs typeface="Calibri" pitchFamily="34" charset="-120"/>
              </a:rPr>
              <a:t>WORKED EXAMPLE</a:t>
            </a:r>
            <a:endParaRPr lang="en-US" sz="1300" dirty="0"/>
          </a:p>
        </p:txBody>
      </p:sp>
      <p:sp>
        <p:nvSpPr>
          <p:cNvPr id="5" name="Text 3"/>
          <p:cNvSpPr txBox="1"/>
          <p:nvPr/>
        </p:nvSpPr>
        <p:spPr>
          <a:xfrm>
            <a:off x="548640" y="621792"/>
            <a:ext cx="11064240" cy="731520"/>
          </a:xfrm>
          <a:prstGeom prst="rect">
            <a:avLst/>
          </a:prstGeom>
          <a:noFill/>
          <a:ln/>
        </p:spPr>
        <p:txBody>
          <a:bodyPr wrap="square" lIns="0" tIns="0" rIns="0" bIns="0" rtlCol="0" anchor="ctr"/>
          <a:lstStyle/>
          <a:p>
            <a:pPr marL="0" indent="0">
              <a:buNone/>
            </a:pPr>
            <a:r>
              <a:rPr lang="en-US" sz="3000" b="1" dirty="0">
                <a:solidFill>
                  <a:srgbClr val="10242E"/>
                </a:solidFill>
                <a:latin typeface="Cambria" pitchFamily="34" charset="0"/>
                <a:ea typeface="Cambria" pitchFamily="34" charset="-122"/>
                <a:cs typeface="Cambria" pitchFamily="34" charset="-120"/>
              </a:rPr>
              <a:t>The Data and the Five Searches We Will Trace</a:t>
            </a:r>
            <a:endParaRPr lang="en-US" sz="3000" dirty="0"/>
          </a:p>
        </p:txBody>
      </p:sp>
      <p:sp>
        <p:nvSpPr>
          <p:cNvPr id="6" name="Text 4"/>
          <p:cNvSpPr txBox="1"/>
          <p:nvPr/>
        </p:nvSpPr>
        <p:spPr>
          <a:xfrm>
            <a:off x="548640" y="1371600"/>
            <a:ext cx="6400800" cy="256032"/>
          </a:xfrm>
          <a:prstGeom prst="rect">
            <a:avLst/>
          </a:prstGeom>
          <a:noFill/>
          <a:ln/>
        </p:spPr>
        <p:txBody>
          <a:bodyPr wrap="square" lIns="0" tIns="0" rIns="0" bIns="0" rtlCol="0" anchor="ctr"/>
          <a:lstStyle/>
          <a:p>
            <a:pPr marL="0" indent="0">
              <a:buNone/>
            </a:pPr>
            <a:r>
              <a:rPr lang="en-US" b="1" dirty="0">
                <a:solidFill>
                  <a:srgbClr val="0E7490"/>
                </a:solidFill>
                <a:latin typeface="Calibri" pitchFamily="34" charset="0"/>
                <a:ea typeface="Calibri" pitchFamily="34" charset="-122"/>
                <a:cs typeface="Calibri" pitchFamily="34" charset="-120"/>
              </a:rPr>
              <a:t>U  —  unsorted, for Linear Search</a:t>
            </a:r>
            <a:endParaRPr lang="en-US" dirty="0"/>
          </a:p>
        </p:txBody>
      </p:sp>
      <p:sp>
        <p:nvSpPr>
          <p:cNvPr id="7" name="Shape 5"/>
          <p:cNvSpPr/>
          <p:nvPr/>
        </p:nvSpPr>
        <p:spPr>
          <a:xfrm>
            <a:off x="548640" y="1664208"/>
            <a:ext cx="530352" cy="530352"/>
          </a:xfrm>
          <a:prstGeom prst="roundRect">
            <a:avLst>
              <a:gd name="adj" fmla="val 13793"/>
            </a:avLst>
          </a:prstGeom>
          <a:solidFill>
            <a:srgbClr val="FFFFFF"/>
          </a:solidFill>
          <a:ln w="22225">
            <a:solidFill>
              <a:srgbClr val="0E7490"/>
            </a:solidFill>
            <a:prstDash val="solid"/>
          </a:ln>
        </p:spPr>
      </p:sp>
      <p:sp>
        <p:nvSpPr>
          <p:cNvPr id="8" name="Text 6"/>
          <p:cNvSpPr txBox="1"/>
          <p:nvPr/>
        </p:nvSpPr>
        <p:spPr>
          <a:xfrm>
            <a:off x="548640" y="1664208"/>
            <a:ext cx="530352" cy="530352"/>
          </a:xfrm>
          <a:prstGeom prst="rect">
            <a:avLst/>
          </a:prstGeom>
          <a:noFill/>
          <a:ln/>
        </p:spPr>
        <p:txBody>
          <a:bodyPr wrap="square" lIns="0" tIns="0" rIns="0" bIns="0" rtlCol="0" anchor="ctr"/>
          <a:lstStyle/>
          <a:p>
            <a:pPr marL="0" indent="0" algn="ctr">
              <a:buNone/>
            </a:pPr>
            <a:r>
              <a:rPr lang="en-US" sz="1400" b="1" dirty="0">
                <a:solidFill>
                  <a:srgbClr val="1B2233"/>
                </a:solidFill>
                <a:latin typeface="Courier New" pitchFamily="34" charset="0"/>
                <a:ea typeface="Courier New" pitchFamily="34" charset="-122"/>
                <a:cs typeface="Courier New" pitchFamily="34" charset="-120"/>
              </a:rPr>
              <a:t>34</a:t>
            </a:r>
            <a:endParaRPr lang="en-US" sz="1400" dirty="0"/>
          </a:p>
        </p:txBody>
      </p:sp>
      <p:sp>
        <p:nvSpPr>
          <p:cNvPr id="9" name="Text 7"/>
          <p:cNvSpPr txBox="1"/>
          <p:nvPr/>
        </p:nvSpPr>
        <p:spPr>
          <a:xfrm>
            <a:off x="548640" y="2212848"/>
            <a:ext cx="530352"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0</a:t>
            </a:r>
            <a:endParaRPr lang="en-US" sz="850" dirty="0"/>
          </a:p>
        </p:txBody>
      </p:sp>
      <p:sp>
        <p:nvSpPr>
          <p:cNvPr id="10" name="Shape 8"/>
          <p:cNvSpPr/>
          <p:nvPr/>
        </p:nvSpPr>
        <p:spPr>
          <a:xfrm>
            <a:off x="1170432" y="1664208"/>
            <a:ext cx="530352" cy="530352"/>
          </a:xfrm>
          <a:prstGeom prst="roundRect">
            <a:avLst>
              <a:gd name="adj" fmla="val 13793"/>
            </a:avLst>
          </a:prstGeom>
          <a:solidFill>
            <a:srgbClr val="FFFFFF"/>
          </a:solidFill>
          <a:ln w="22225">
            <a:solidFill>
              <a:srgbClr val="0E7490"/>
            </a:solidFill>
            <a:prstDash val="solid"/>
          </a:ln>
        </p:spPr>
      </p:sp>
      <p:sp>
        <p:nvSpPr>
          <p:cNvPr id="11" name="Text 9"/>
          <p:cNvSpPr txBox="1"/>
          <p:nvPr/>
        </p:nvSpPr>
        <p:spPr>
          <a:xfrm>
            <a:off x="1170432" y="1664208"/>
            <a:ext cx="530352" cy="530352"/>
          </a:xfrm>
          <a:prstGeom prst="rect">
            <a:avLst/>
          </a:prstGeom>
          <a:noFill/>
          <a:ln/>
        </p:spPr>
        <p:txBody>
          <a:bodyPr wrap="square" lIns="0" tIns="0" rIns="0" bIns="0" rtlCol="0" anchor="ctr"/>
          <a:lstStyle/>
          <a:p>
            <a:pPr marL="0" indent="0" algn="ctr">
              <a:buNone/>
            </a:pPr>
            <a:r>
              <a:rPr lang="en-US" sz="1400" b="1" dirty="0">
                <a:solidFill>
                  <a:srgbClr val="1B2233"/>
                </a:solidFill>
                <a:latin typeface="Courier New" pitchFamily="34" charset="0"/>
                <a:ea typeface="Courier New" pitchFamily="34" charset="-122"/>
                <a:cs typeface="Courier New" pitchFamily="34" charset="-120"/>
              </a:rPr>
              <a:t>7</a:t>
            </a:r>
            <a:endParaRPr lang="en-US" sz="1400" dirty="0"/>
          </a:p>
        </p:txBody>
      </p:sp>
      <p:sp>
        <p:nvSpPr>
          <p:cNvPr id="12" name="Text 10"/>
          <p:cNvSpPr txBox="1"/>
          <p:nvPr/>
        </p:nvSpPr>
        <p:spPr>
          <a:xfrm>
            <a:off x="1170432" y="2212848"/>
            <a:ext cx="530352"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1</a:t>
            </a:r>
            <a:endParaRPr lang="en-US" sz="850" dirty="0"/>
          </a:p>
        </p:txBody>
      </p:sp>
      <p:sp>
        <p:nvSpPr>
          <p:cNvPr id="13" name="Shape 11"/>
          <p:cNvSpPr/>
          <p:nvPr/>
        </p:nvSpPr>
        <p:spPr>
          <a:xfrm>
            <a:off x="1792224" y="1664208"/>
            <a:ext cx="530352" cy="530352"/>
          </a:xfrm>
          <a:prstGeom prst="roundRect">
            <a:avLst>
              <a:gd name="adj" fmla="val 13793"/>
            </a:avLst>
          </a:prstGeom>
          <a:solidFill>
            <a:srgbClr val="FFFFFF"/>
          </a:solidFill>
          <a:ln w="22225">
            <a:solidFill>
              <a:srgbClr val="0E7490"/>
            </a:solidFill>
            <a:prstDash val="solid"/>
          </a:ln>
        </p:spPr>
      </p:sp>
      <p:sp>
        <p:nvSpPr>
          <p:cNvPr id="14" name="Text 12"/>
          <p:cNvSpPr txBox="1"/>
          <p:nvPr/>
        </p:nvSpPr>
        <p:spPr>
          <a:xfrm>
            <a:off x="1792224" y="1664208"/>
            <a:ext cx="530352" cy="530352"/>
          </a:xfrm>
          <a:prstGeom prst="rect">
            <a:avLst/>
          </a:prstGeom>
          <a:noFill/>
          <a:ln/>
        </p:spPr>
        <p:txBody>
          <a:bodyPr wrap="square" lIns="0" tIns="0" rIns="0" bIns="0" rtlCol="0" anchor="ctr"/>
          <a:lstStyle/>
          <a:p>
            <a:pPr marL="0" indent="0" algn="ctr">
              <a:buNone/>
            </a:pPr>
            <a:r>
              <a:rPr lang="en-US" sz="1400" b="1" dirty="0">
                <a:solidFill>
                  <a:srgbClr val="1B2233"/>
                </a:solidFill>
                <a:latin typeface="Courier New" pitchFamily="34" charset="0"/>
                <a:ea typeface="Courier New" pitchFamily="34" charset="-122"/>
                <a:cs typeface="Courier New" pitchFamily="34" charset="-120"/>
              </a:rPr>
              <a:t>23</a:t>
            </a:r>
            <a:endParaRPr lang="en-US" sz="1400" dirty="0"/>
          </a:p>
        </p:txBody>
      </p:sp>
      <p:sp>
        <p:nvSpPr>
          <p:cNvPr id="15" name="Text 13"/>
          <p:cNvSpPr txBox="1"/>
          <p:nvPr/>
        </p:nvSpPr>
        <p:spPr>
          <a:xfrm>
            <a:off x="1792224" y="2212848"/>
            <a:ext cx="530352"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2</a:t>
            </a:r>
            <a:endParaRPr lang="en-US" sz="850" dirty="0"/>
          </a:p>
        </p:txBody>
      </p:sp>
      <p:sp>
        <p:nvSpPr>
          <p:cNvPr id="16" name="Shape 14"/>
          <p:cNvSpPr/>
          <p:nvPr/>
        </p:nvSpPr>
        <p:spPr>
          <a:xfrm>
            <a:off x="2414016" y="1664208"/>
            <a:ext cx="530352" cy="530352"/>
          </a:xfrm>
          <a:prstGeom prst="roundRect">
            <a:avLst>
              <a:gd name="adj" fmla="val 13793"/>
            </a:avLst>
          </a:prstGeom>
          <a:solidFill>
            <a:srgbClr val="FFFFFF"/>
          </a:solidFill>
          <a:ln w="22225">
            <a:solidFill>
              <a:srgbClr val="0E7490"/>
            </a:solidFill>
            <a:prstDash val="solid"/>
          </a:ln>
        </p:spPr>
      </p:sp>
      <p:sp>
        <p:nvSpPr>
          <p:cNvPr id="17" name="Text 15"/>
          <p:cNvSpPr txBox="1"/>
          <p:nvPr/>
        </p:nvSpPr>
        <p:spPr>
          <a:xfrm>
            <a:off x="2414016" y="1664208"/>
            <a:ext cx="530352" cy="530352"/>
          </a:xfrm>
          <a:prstGeom prst="rect">
            <a:avLst/>
          </a:prstGeom>
          <a:noFill/>
          <a:ln/>
        </p:spPr>
        <p:txBody>
          <a:bodyPr wrap="square" lIns="0" tIns="0" rIns="0" bIns="0" rtlCol="0" anchor="ctr"/>
          <a:lstStyle/>
          <a:p>
            <a:pPr marL="0" indent="0" algn="ctr">
              <a:buNone/>
            </a:pPr>
            <a:r>
              <a:rPr lang="en-US" sz="1400" b="1" dirty="0">
                <a:solidFill>
                  <a:srgbClr val="1B2233"/>
                </a:solidFill>
                <a:latin typeface="Courier New" pitchFamily="34" charset="0"/>
                <a:ea typeface="Courier New" pitchFamily="34" charset="-122"/>
                <a:cs typeface="Courier New" pitchFamily="34" charset="-120"/>
              </a:rPr>
              <a:t>32</a:t>
            </a:r>
            <a:endParaRPr lang="en-US" sz="1400" dirty="0"/>
          </a:p>
        </p:txBody>
      </p:sp>
      <p:sp>
        <p:nvSpPr>
          <p:cNvPr id="18" name="Text 16"/>
          <p:cNvSpPr txBox="1"/>
          <p:nvPr/>
        </p:nvSpPr>
        <p:spPr>
          <a:xfrm>
            <a:off x="2414016" y="2212848"/>
            <a:ext cx="530352"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3</a:t>
            </a:r>
            <a:endParaRPr lang="en-US" sz="850" dirty="0"/>
          </a:p>
        </p:txBody>
      </p:sp>
      <p:sp>
        <p:nvSpPr>
          <p:cNvPr id="19" name="Shape 17"/>
          <p:cNvSpPr/>
          <p:nvPr/>
        </p:nvSpPr>
        <p:spPr>
          <a:xfrm>
            <a:off x="3035808" y="1664208"/>
            <a:ext cx="530352" cy="530352"/>
          </a:xfrm>
          <a:prstGeom prst="roundRect">
            <a:avLst>
              <a:gd name="adj" fmla="val 13793"/>
            </a:avLst>
          </a:prstGeom>
          <a:solidFill>
            <a:srgbClr val="FFFFFF"/>
          </a:solidFill>
          <a:ln w="22225">
            <a:solidFill>
              <a:srgbClr val="0E7490"/>
            </a:solidFill>
            <a:prstDash val="solid"/>
          </a:ln>
        </p:spPr>
      </p:sp>
      <p:sp>
        <p:nvSpPr>
          <p:cNvPr id="20" name="Text 18"/>
          <p:cNvSpPr txBox="1"/>
          <p:nvPr/>
        </p:nvSpPr>
        <p:spPr>
          <a:xfrm>
            <a:off x="3035808" y="1664208"/>
            <a:ext cx="530352" cy="530352"/>
          </a:xfrm>
          <a:prstGeom prst="rect">
            <a:avLst/>
          </a:prstGeom>
          <a:noFill/>
          <a:ln/>
        </p:spPr>
        <p:txBody>
          <a:bodyPr wrap="square" lIns="0" tIns="0" rIns="0" bIns="0" rtlCol="0" anchor="ctr"/>
          <a:lstStyle/>
          <a:p>
            <a:pPr marL="0" indent="0" algn="ctr">
              <a:buNone/>
            </a:pPr>
            <a:r>
              <a:rPr lang="en-US" sz="1400" b="1" dirty="0">
                <a:solidFill>
                  <a:srgbClr val="1B2233"/>
                </a:solidFill>
                <a:latin typeface="Courier New" pitchFamily="34" charset="0"/>
                <a:ea typeface="Courier New" pitchFamily="34" charset="-122"/>
                <a:cs typeface="Courier New" pitchFamily="34" charset="-120"/>
              </a:rPr>
              <a:t>5</a:t>
            </a:r>
            <a:endParaRPr lang="en-US" sz="1400" dirty="0"/>
          </a:p>
        </p:txBody>
      </p:sp>
      <p:sp>
        <p:nvSpPr>
          <p:cNvPr id="21" name="Text 19"/>
          <p:cNvSpPr txBox="1"/>
          <p:nvPr/>
        </p:nvSpPr>
        <p:spPr>
          <a:xfrm>
            <a:off x="3035808" y="2212848"/>
            <a:ext cx="530352"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4</a:t>
            </a:r>
            <a:endParaRPr lang="en-US" sz="850" dirty="0"/>
          </a:p>
        </p:txBody>
      </p:sp>
      <p:sp>
        <p:nvSpPr>
          <p:cNvPr id="22" name="Shape 20"/>
          <p:cNvSpPr/>
          <p:nvPr/>
        </p:nvSpPr>
        <p:spPr>
          <a:xfrm>
            <a:off x="3657600" y="1664208"/>
            <a:ext cx="530352" cy="530352"/>
          </a:xfrm>
          <a:prstGeom prst="roundRect">
            <a:avLst>
              <a:gd name="adj" fmla="val 13793"/>
            </a:avLst>
          </a:prstGeom>
          <a:solidFill>
            <a:srgbClr val="FFFFFF"/>
          </a:solidFill>
          <a:ln w="22225">
            <a:solidFill>
              <a:srgbClr val="0E7490"/>
            </a:solidFill>
            <a:prstDash val="solid"/>
          </a:ln>
        </p:spPr>
      </p:sp>
      <p:sp>
        <p:nvSpPr>
          <p:cNvPr id="23" name="Text 21"/>
          <p:cNvSpPr txBox="1"/>
          <p:nvPr/>
        </p:nvSpPr>
        <p:spPr>
          <a:xfrm>
            <a:off x="3657600" y="1664208"/>
            <a:ext cx="530352" cy="530352"/>
          </a:xfrm>
          <a:prstGeom prst="rect">
            <a:avLst/>
          </a:prstGeom>
          <a:noFill/>
          <a:ln/>
        </p:spPr>
        <p:txBody>
          <a:bodyPr wrap="square" lIns="0" tIns="0" rIns="0" bIns="0" rtlCol="0" anchor="ctr"/>
          <a:lstStyle/>
          <a:p>
            <a:pPr marL="0" indent="0" algn="ctr">
              <a:buNone/>
            </a:pPr>
            <a:r>
              <a:rPr lang="en-US" sz="1400" b="1" dirty="0">
                <a:solidFill>
                  <a:srgbClr val="1B2233"/>
                </a:solidFill>
                <a:latin typeface="Courier New" pitchFamily="34" charset="0"/>
                <a:ea typeface="Courier New" pitchFamily="34" charset="-122"/>
                <a:cs typeface="Courier New" pitchFamily="34" charset="-120"/>
              </a:rPr>
              <a:t>62</a:t>
            </a:r>
            <a:endParaRPr lang="en-US" sz="1400" dirty="0"/>
          </a:p>
        </p:txBody>
      </p:sp>
      <p:sp>
        <p:nvSpPr>
          <p:cNvPr id="24" name="Text 22"/>
          <p:cNvSpPr txBox="1"/>
          <p:nvPr/>
        </p:nvSpPr>
        <p:spPr>
          <a:xfrm>
            <a:off x="3657600" y="2212848"/>
            <a:ext cx="530352"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5</a:t>
            </a:r>
            <a:endParaRPr lang="en-US" sz="850" dirty="0"/>
          </a:p>
        </p:txBody>
      </p:sp>
      <p:sp>
        <p:nvSpPr>
          <p:cNvPr id="25" name="Shape 23"/>
          <p:cNvSpPr/>
          <p:nvPr/>
        </p:nvSpPr>
        <p:spPr>
          <a:xfrm>
            <a:off x="4279392" y="1664208"/>
            <a:ext cx="530352" cy="530352"/>
          </a:xfrm>
          <a:prstGeom prst="roundRect">
            <a:avLst>
              <a:gd name="adj" fmla="val 13793"/>
            </a:avLst>
          </a:prstGeom>
          <a:solidFill>
            <a:srgbClr val="FFFFFF"/>
          </a:solidFill>
          <a:ln w="22225">
            <a:solidFill>
              <a:srgbClr val="0E7490"/>
            </a:solidFill>
            <a:prstDash val="solid"/>
          </a:ln>
        </p:spPr>
      </p:sp>
      <p:sp>
        <p:nvSpPr>
          <p:cNvPr id="26" name="Text 24"/>
          <p:cNvSpPr txBox="1"/>
          <p:nvPr/>
        </p:nvSpPr>
        <p:spPr>
          <a:xfrm>
            <a:off x="4279392" y="1664208"/>
            <a:ext cx="530352" cy="530352"/>
          </a:xfrm>
          <a:prstGeom prst="rect">
            <a:avLst/>
          </a:prstGeom>
          <a:noFill/>
          <a:ln/>
        </p:spPr>
        <p:txBody>
          <a:bodyPr wrap="square" lIns="0" tIns="0" rIns="0" bIns="0" rtlCol="0" anchor="ctr"/>
          <a:lstStyle/>
          <a:p>
            <a:pPr marL="0" indent="0" algn="ctr">
              <a:buNone/>
            </a:pPr>
            <a:r>
              <a:rPr lang="en-US" sz="1400" b="1" dirty="0">
                <a:solidFill>
                  <a:srgbClr val="1B2233"/>
                </a:solidFill>
                <a:latin typeface="Courier New" pitchFamily="34" charset="0"/>
                <a:ea typeface="Courier New" pitchFamily="34" charset="-122"/>
                <a:cs typeface="Courier New" pitchFamily="34" charset="-120"/>
              </a:rPr>
              <a:t>14</a:t>
            </a:r>
            <a:endParaRPr lang="en-US" sz="1400" dirty="0"/>
          </a:p>
        </p:txBody>
      </p:sp>
      <p:sp>
        <p:nvSpPr>
          <p:cNvPr id="27" name="Text 25"/>
          <p:cNvSpPr txBox="1"/>
          <p:nvPr/>
        </p:nvSpPr>
        <p:spPr>
          <a:xfrm>
            <a:off x="4279392" y="2212848"/>
            <a:ext cx="530352"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6</a:t>
            </a:r>
            <a:endParaRPr lang="en-US" sz="850" dirty="0"/>
          </a:p>
        </p:txBody>
      </p:sp>
      <p:sp>
        <p:nvSpPr>
          <p:cNvPr id="28" name="Shape 26"/>
          <p:cNvSpPr/>
          <p:nvPr/>
        </p:nvSpPr>
        <p:spPr>
          <a:xfrm>
            <a:off x="4901184" y="1664208"/>
            <a:ext cx="530352" cy="530352"/>
          </a:xfrm>
          <a:prstGeom prst="roundRect">
            <a:avLst>
              <a:gd name="adj" fmla="val 13793"/>
            </a:avLst>
          </a:prstGeom>
          <a:solidFill>
            <a:srgbClr val="FFFFFF"/>
          </a:solidFill>
          <a:ln w="22225">
            <a:solidFill>
              <a:srgbClr val="0E7490"/>
            </a:solidFill>
            <a:prstDash val="solid"/>
          </a:ln>
        </p:spPr>
      </p:sp>
      <p:sp>
        <p:nvSpPr>
          <p:cNvPr id="29" name="Text 27"/>
          <p:cNvSpPr txBox="1"/>
          <p:nvPr/>
        </p:nvSpPr>
        <p:spPr>
          <a:xfrm>
            <a:off x="4901184" y="1664208"/>
            <a:ext cx="530352" cy="530352"/>
          </a:xfrm>
          <a:prstGeom prst="rect">
            <a:avLst/>
          </a:prstGeom>
          <a:noFill/>
          <a:ln/>
        </p:spPr>
        <p:txBody>
          <a:bodyPr wrap="square" lIns="0" tIns="0" rIns="0" bIns="0" rtlCol="0" anchor="ctr"/>
          <a:lstStyle/>
          <a:p>
            <a:pPr marL="0" indent="0" algn="ctr">
              <a:buNone/>
            </a:pPr>
            <a:r>
              <a:rPr lang="en-US" sz="1400" b="1" dirty="0">
                <a:solidFill>
                  <a:srgbClr val="1B2233"/>
                </a:solidFill>
                <a:latin typeface="Courier New" pitchFamily="34" charset="0"/>
                <a:ea typeface="Courier New" pitchFamily="34" charset="-122"/>
                <a:cs typeface="Courier New" pitchFamily="34" charset="-120"/>
              </a:rPr>
              <a:t>19</a:t>
            </a:r>
            <a:endParaRPr lang="en-US" sz="1400" dirty="0"/>
          </a:p>
        </p:txBody>
      </p:sp>
      <p:sp>
        <p:nvSpPr>
          <p:cNvPr id="30" name="Text 28"/>
          <p:cNvSpPr txBox="1"/>
          <p:nvPr/>
        </p:nvSpPr>
        <p:spPr>
          <a:xfrm>
            <a:off x="4901184" y="2212848"/>
            <a:ext cx="530352"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7</a:t>
            </a:r>
            <a:endParaRPr lang="en-US" sz="850" dirty="0"/>
          </a:p>
        </p:txBody>
      </p:sp>
      <p:sp>
        <p:nvSpPr>
          <p:cNvPr id="31" name="Text 29"/>
          <p:cNvSpPr txBox="1"/>
          <p:nvPr/>
        </p:nvSpPr>
        <p:spPr>
          <a:xfrm>
            <a:off x="548640" y="2542032"/>
            <a:ext cx="8229600" cy="256032"/>
          </a:xfrm>
          <a:prstGeom prst="rect">
            <a:avLst/>
          </a:prstGeom>
          <a:noFill/>
          <a:ln/>
        </p:spPr>
        <p:txBody>
          <a:bodyPr wrap="square" lIns="0" tIns="0" rIns="0" bIns="0" rtlCol="0" anchor="ctr"/>
          <a:lstStyle/>
          <a:p>
            <a:pPr marL="0" indent="0">
              <a:buNone/>
            </a:pPr>
            <a:r>
              <a:rPr lang="en-US" sz="1600" b="1" dirty="0">
                <a:solidFill>
                  <a:srgbClr val="D97706"/>
                </a:solidFill>
                <a:latin typeface="Calibri" pitchFamily="34" charset="0"/>
                <a:ea typeface="Calibri" pitchFamily="34" charset="-122"/>
                <a:cs typeface="Calibri" pitchFamily="34" charset="-120"/>
              </a:rPr>
              <a:t>S  —  the same values, sorted ascending, for Binary Search</a:t>
            </a:r>
            <a:endParaRPr lang="en-US" sz="1600" dirty="0"/>
          </a:p>
        </p:txBody>
      </p:sp>
      <p:sp>
        <p:nvSpPr>
          <p:cNvPr id="32" name="Shape 30"/>
          <p:cNvSpPr/>
          <p:nvPr/>
        </p:nvSpPr>
        <p:spPr>
          <a:xfrm>
            <a:off x="548640" y="2834640"/>
            <a:ext cx="530352" cy="530352"/>
          </a:xfrm>
          <a:prstGeom prst="roundRect">
            <a:avLst>
              <a:gd name="adj" fmla="val 13793"/>
            </a:avLst>
          </a:prstGeom>
          <a:solidFill>
            <a:srgbClr val="FFFFFF"/>
          </a:solidFill>
          <a:ln w="22225">
            <a:solidFill>
              <a:srgbClr val="D97706"/>
            </a:solidFill>
            <a:prstDash val="solid"/>
          </a:ln>
        </p:spPr>
      </p:sp>
      <p:sp>
        <p:nvSpPr>
          <p:cNvPr id="33" name="Text 31"/>
          <p:cNvSpPr txBox="1"/>
          <p:nvPr/>
        </p:nvSpPr>
        <p:spPr>
          <a:xfrm>
            <a:off x="548640" y="2834640"/>
            <a:ext cx="530352" cy="530352"/>
          </a:xfrm>
          <a:prstGeom prst="rect">
            <a:avLst/>
          </a:prstGeom>
          <a:noFill/>
          <a:ln/>
        </p:spPr>
        <p:txBody>
          <a:bodyPr wrap="square" lIns="0" tIns="0" rIns="0" bIns="0" rtlCol="0" anchor="ctr"/>
          <a:lstStyle/>
          <a:p>
            <a:pPr marL="0" indent="0" algn="ctr">
              <a:buNone/>
            </a:pPr>
            <a:r>
              <a:rPr lang="en-US" sz="1400" b="1" dirty="0">
                <a:solidFill>
                  <a:srgbClr val="1B2233"/>
                </a:solidFill>
                <a:latin typeface="Courier New" pitchFamily="34" charset="0"/>
                <a:ea typeface="Courier New" pitchFamily="34" charset="-122"/>
                <a:cs typeface="Courier New" pitchFamily="34" charset="-120"/>
              </a:rPr>
              <a:t>5</a:t>
            </a:r>
            <a:endParaRPr lang="en-US" sz="1400" dirty="0"/>
          </a:p>
        </p:txBody>
      </p:sp>
      <p:sp>
        <p:nvSpPr>
          <p:cNvPr id="34" name="Text 32"/>
          <p:cNvSpPr txBox="1"/>
          <p:nvPr/>
        </p:nvSpPr>
        <p:spPr>
          <a:xfrm>
            <a:off x="548640" y="3383280"/>
            <a:ext cx="530352"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0</a:t>
            </a:r>
            <a:endParaRPr lang="en-US" sz="850" dirty="0"/>
          </a:p>
        </p:txBody>
      </p:sp>
      <p:sp>
        <p:nvSpPr>
          <p:cNvPr id="35" name="Shape 33"/>
          <p:cNvSpPr/>
          <p:nvPr/>
        </p:nvSpPr>
        <p:spPr>
          <a:xfrm>
            <a:off x="1170432" y="2834640"/>
            <a:ext cx="530352" cy="530352"/>
          </a:xfrm>
          <a:prstGeom prst="roundRect">
            <a:avLst>
              <a:gd name="adj" fmla="val 13793"/>
            </a:avLst>
          </a:prstGeom>
          <a:solidFill>
            <a:srgbClr val="FFFFFF"/>
          </a:solidFill>
          <a:ln w="22225">
            <a:solidFill>
              <a:srgbClr val="D97706"/>
            </a:solidFill>
            <a:prstDash val="solid"/>
          </a:ln>
        </p:spPr>
      </p:sp>
      <p:sp>
        <p:nvSpPr>
          <p:cNvPr id="36" name="Text 34"/>
          <p:cNvSpPr txBox="1"/>
          <p:nvPr/>
        </p:nvSpPr>
        <p:spPr>
          <a:xfrm>
            <a:off x="1170432" y="2834640"/>
            <a:ext cx="530352" cy="530352"/>
          </a:xfrm>
          <a:prstGeom prst="rect">
            <a:avLst/>
          </a:prstGeom>
          <a:noFill/>
          <a:ln/>
        </p:spPr>
        <p:txBody>
          <a:bodyPr wrap="square" lIns="0" tIns="0" rIns="0" bIns="0" rtlCol="0" anchor="ctr"/>
          <a:lstStyle/>
          <a:p>
            <a:pPr marL="0" indent="0" algn="ctr">
              <a:buNone/>
            </a:pPr>
            <a:r>
              <a:rPr lang="en-US" sz="1400" b="1" dirty="0">
                <a:solidFill>
                  <a:srgbClr val="1B2233"/>
                </a:solidFill>
                <a:latin typeface="Courier New" pitchFamily="34" charset="0"/>
                <a:ea typeface="Courier New" pitchFamily="34" charset="-122"/>
                <a:cs typeface="Courier New" pitchFamily="34" charset="-120"/>
              </a:rPr>
              <a:t>7</a:t>
            </a:r>
            <a:endParaRPr lang="en-US" sz="1400" dirty="0"/>
          </a:p>
        </p:txBody>
      </p:sp>
      <p:sp>
        <p:nvSpPr>
          <p:cNvPr id="37" name="Text 35"/>
          <p:cNvSpPr txBox="1"/>
          <p:nvPr/>
        </p:nvSpPr>
        <p:spPr>
          <a:xfrm>
            <a:off x="1170432" y="3383280"/>
            <a:ext cx="530352"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1</a:t>
            </a:r>
            <a:endParaRPr lang="en-US" sz="850" dirty="0"/>
          </a:p>
        </p:txBody>
      </p:sp>
      <p:sp>
        <p:nvSpPr>
          <p:cNvPr id="38" name="Shape 36"/>
          <p:cNvSpPr/>
          <p:nvPr/>
        </p:nvSpPr>
        <p:spPr>
          <a:xfrm>
            <a:off x="1792224" y="2834640"/>
            <a:ext cx="530352" cy="530352"/>
          </a:xfrm>
          <a:prstGeom prst="roundRect">
            <a:avLst>
              <a:gd name="adj" fmla="val 13793"/>
            </a:avLst>
          </a:prstGeom>
          <a:solidFill>
            <a:srgbClr val="FFFFFF"/>
          </a:solidFill>
          <a:ln w="22225">
            <a:solidFill>
              <a:srgbClr val="D97706"/>
            </a:solidFill>
            <a:prstDash val="solid"/>
          </a:ln>
        </p:spPr>
      </p:sp>
      <p:sp>
        <p:nvSpPr>
          <p:cNvPr id="39" name="Text 37"/>
          <p:cNvSpPr txBox="1"/>
          <p:nvPr/>
        </p:nvSpPr>
        <p:spPr>
          <a:xfrm>
            <a:off x="1792224" y="2834640"/>
            <a:ext cx="530352" cy="530352"/>
          </a:xfrm>
          <a:prstGeom prst="rect">
            <a:avLst/>
          </a:prstGeom>
          <a:noFill/>
          <a:ln/>
        </p:spPr>
        <p:txBody>
          <a:bodyPr wrap="square" lIns="0" tIns="0" rIns="0" bIns="0" rtlCol="0" anchor="ctr"/>
          <a:lstStyle/>
          <a:p>
            <a:pPr marL="0" indent="0" algn="ctr">
              <a:buNone/>
            </a:pPr>
            <a:r>
              <a:rPr lang="en-US" sz="1400" b="1" dirty="0">
                <a:solidFill>
                  <a:srgbClr val="1B2233"/>
                </a:solidFill>
                <a:latin typeface="Courier New" pitchFamily="34" charset="0"/>
                <a:ea typeface="Courier New" pitchFamily="34" charset="-122"/>
                <a:cs typeface="Courier New" pitchFamily="34" charset="-120"/>
              </a:rPr>
              <a:t>14</a:t>
            </a:r>
            <a:endParaRPr lang="en-US" sz="1400" dirty="0"/>
          </a:p>
        </p:txBody>
      </p:sp>
      <p:sp>
        <p:nvSpPr>
          <p:cNvPr id="40" name="Text 38"/>
          <p:cNvSpPr txBox="1"/>
          <p:nvPr/>
        </p:nvSpPr>
        <p:spPr>
          <a:xfrm>
            <a:off x="1792224" y="3383280"/>
            <a:ext cx="530352"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2</a:t>
            </a:r>
            <a:endParaRPr lang="en-US" sz="850" dirty="0"/>
          </a:p>
        </p:txBody>
      </p:sp>
      <p:sp>
        <p:nvSpPr>
          <p:cNvPr id="41" name="Shape 39"/>
          <p:cNvSpPr/>
          <p:nvPr/>
        </p:nvSpPr>
        <p:spPr>
          <a:xfrm>
            <a:off x="2414016" y="2834640"/>
            <a:ext cx="530352" cy="530352"/>
          </a:xfrm>
          <a:prstGeom prst="roundRect">
            <a:avLst>
              <a:gd name="adj" fmla="val 13793"/>
            </a:avLst>
          </a:prstGeom>
          <a:solidFill>
            <a:srgbClr val="FFFFFF"/>
          </a:solidFill>
          <a:ln w="22225">
            <a:solidFill>
              <a:srgbClr val="D97706"/>
            </a:solidFill>
            <a:prstDash val="solid"/>
          </a:ln>
        </p:spPr>
      </p:sp>
      <p:sp>
        <p:nvSpPr>
          <p:cNvPr id="42" name="Text 40"/>
          <p:cNvSpPr txBox="1"/>
          <p:nvPr/>
        </p:nvSpPr>
        <p:spPr>
          <a:xfrm>
            <a:off x="2414016" y="2834640"/>
            <a:ext cx="530352" cy="530352"/>
          </a:xfrm>
          <a:prstGeom prst="rect">
            <a:avLst/>
          </a:prstGeom>
          <a:noFill/>
          <a:ln/>
        </p:spPr>
        <p:txBody>
          <a:bodyPr wrap="square" lIns="0" tIns="0" rIns="0" bIns="0" rtlCol="0" anchor="ctr"/>
          <a:lstStyle/>
          <a:p>
            <a:pPr marL="0" indent="0" algn="ctr">
              <a:buNone/>
            </a:pPr>
            <a:r>
              <a:rPr lang="en-US" sz="1400" b="1" dirty="0">
                <a:solidFill>
                  <a:srgbClr val="1B2233"/>
                </a:solidFill>
                <a:latin typeface="Courier New" pitchFamily="34" charset="0"/>
                <a:ea typeface="Courier New" pitchFamily="34" charset="-122"/>
                <a:cs typeface="Courier New" pitchFamily="34" charset="-120"/>
              </a:rPr>
              <a:t>19</a:t>
            </a:r>
            <a:endParaRPr lang="en-US" sz="1400" dirty="0"/>
          </a:p>
        </p:txBody>
      </p:sp>
      <p:sp>
        <p:nvSpPr>
          <p:cNvPr id="43" name="Text 41"/>
          <p:cNvSpPr txBox="1"/>
          <p:nvPr/>
        </p:nvSpPr>
        <p:spPr>
          <a:xfrm>
            <a:off x="2414016" y="3383280"/>
            <a:ext cx="530352"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3</a:t>
            </a:r>
            <a:endParaRPr lang="en-US" sz="850" dirty="0"/>
          </a:p>
        </p:txBody>
      </p:sp>
      <p:sp>
        <p:nvSpPr>
          <p:cNvPr id="44" name="Shape 42"/>
          <p:cNvSpPr/>
          <p:nvPr/>
        </p:nvSpPr>
        <p:spPr>
          <a:xfrm>
            <a:off x="3035808" y="2834640"/>
            <a:ext cx="530352" cy="530352"/>
          </a:xfrm>
          <a:prstGeom prst="roundRect">
            <a:avLst>
              <a:gd name="adj" fmla="val 13793"/>
            </a:avLst>
          </a:prstGeom>
          <a:solidFill>
            <a:srgbClr val="FFFFFF"/>
          </a:solidFill>
          <a:ln w="22225">
            <a:solidFill>
              <a:srgbClr val="D97706"/>
            </a:solidFill>
            <a:prstDash val="solid"/>
          </a:ln>
        </p:spPr>
      </p:sp>
      <p:sp>
        <p:nvSpPr>
          <p:cNvPr id="45" name="Text 43"/>
          <p:cNvSpPr txBox="1"/>
          <p:nvPr/>
        </p:nvSpPr>
        <p:spPr>
          <a:xfrm>
            <a:off x="3035808" y="2834640"/>
            <a:ext cx="530352" cy="530352"/>
          </a:xfrm>
          <a:prstGeom prst="rect">
            <a:avLst/>
          </a:prstGeom>
          <a:noFill/>
          <a:ln/>
        </p:spPr>
        <p:txBody>
          <a:bodyPr wrap="square" lIns="0" tIns="0" rIns="0" bIns="0" rtlCol="0" anchor="ctr"/>
          <a:lstStyle/>
          <a:p>
            <a:pPr marL="0" indent="0" algn="ctr">
              <a:buNone/>
            </a:pPr>
            <a:r>
              <a:rPr lang="en-US" sz="1400" b="1" dirty="0">
                <a:solidFill>
                  <a:srgbClr val="1B2233"/>
                </a:solidFill>
                <a:latin typeface="Courier New" pitchFamily="34" charset="0"/>
                <a:ea typeface="Courier New" pitchFamily="34" charset="-122"/>
                <a:cs typeface="Courier New" pitchFamily="34" charset="-120"/>
              </a:rPr>
              <a:t>23</a:t>
            </a:r>
            <a:endParaRPr lang="en-US" sz="1400" dirty="0"/>
          </a:p>
        </p:txBody>
      </p:sp>
      <p:sp>
        <p:nvSpPr>
          <p:cNvPr id="46" name="Text 44"/>
          <p:cNvSpPr txBox="1"/>
          <p:nvPr/>
        </p:nvSpPr>
        <p:spPr>
          <a:xfrm>
            <a:off x="3035808" y="3383280"/>
            <a:ext cx="530352"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4</a:t>
            </a:r>
            <a:endParaRPr lang="en-US" sz="850" dirty="0"/>
          </a:p>
        </p:txBody>
      </p:sp>
      <p:sp>
        <p:nvSpPr>
          <p:cNvPr id="47" name="Shape 45"/>
          <p:cNvSpPr/>
          <p:nvPr/>
        </p:nvSpPr>
        <p:spPr>
          <a:xfrm>
            <a:off x="3657600" y="2834640"/>
            <a:ext cx="530352" cy="530352"/>
          </a:xfrm>
          <a:prstGeom prst="roundRect">
            <a:avLst>
              <a:gd name="adj" fmla="val 13793"/>
            </a:avLst>
          </a:prstGeom>
          <a:solidFill>
            <a:srgbClr val="FFFFFF"/>
          </a:solidFill>
          <a:ln w="22225">
            <a:solidFill>
              <a:srgbClr val="D97706"/>
            </a:solidFill>
            <a:prstDash val="solid"/>
          </a:ln>
        </p:spPr>
      </p:sp>
      <p:sp>
        <p:nvSpPr>
          <p:cNvPr id="48" name="Text 46"/>
          <p:cNvSpPr txBox="1"/>
          <p:nvPr/>
        </p:nvSpPr>
        <p:spPr>
          <a:xfrm>
            <a:off x="3657600" y="2834640"/>
            <a:ext cx="530352" cy="530352"/>
          </a:xfrm>
          <a:prstGeom prst="rect">
            <a:avLst/>
          </a:prstGeom>
          <a:noFill/>
          <a:ln/>
        </p:spPr>
        <p:txBody>
          <a:bodyPr wrap="square" lIns="0" tIns="0" rIns="0" bIns="0" rtlCol="0" anchor="ctr"/>
          <a:lstStyle/>
          <a:p>
            <a:pPr marL="0" indent="0" algn="ctr">
              <a:buNone/>
            </a:pPr>
            <a:r>
              <a:rPr lang="en-US" sz="1400" b="1" dirty="0">
                <a:solidFill>
                  <a:srgbClr val="1B2233"/>
                </a:solidFill>
                <a:latin typeface="Courier New" pitchFamily="34" charset="0"/>
                <a:ea typeface="Courier New" pitchFamily="34" charset="-122"/>
                <a:cs typeface="Courier New" pitchFamily="34" charset="-120"/>
              </a:rPr>
              <a:t>32</a:t>
            </a:r>
            <a:endParaRPr lang="en-US" sz="1400" dirty="0"/>
          </a:p>
        </p:txBody>
      </p:sp>
      <p:sp>
        <p:nvSpPr>
          <p:cNvPr id="49" name="Text 47"/>
          <p:cNvSpPr txBox="1"/>
          <p:nvPr/>
        </p:nvSpPr>
        <p:spPr>
          <a:xfrm>
            <a:off x="3657600" y="3383280"/>
            <a:ext cx="530352"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5</a:t>
            </a:r>
            <a:endParaRPr lang="en-US" sz="850" dirty="0"/>
          </a:p>
        </p:txBody>
      </p:sp>
      <p:sp>
        <p:nvSpPr>
          <p:cNvPr id="50" name="Shape 48"/>
          <p:cNvSpPr/>
          <p:nvPr/>
        </p:nvSpPr>
        <p:spPr>
          <a:xfrm>
            <a:off x="4279392" y="2834640"/>
            <a:ext cx="530352" cy="530352"/>
          </a:xfrm>
          <a:prstGeom prst="roundRect">
            <a:avLst>
              <a:gd name="adj" fmla="val 13793"/>
            </a:avLst>
          </a:prstGeom>
          <a:solidFill>
            <a:srgbClr val="FFFFFF"/>
          </a:solidFill>
          <a:ln w="22225">
            <a:solidFill>
              <a:srgbClr val="D97706"/>
            </a:solidFill>
            <a:prstDash val="solid"/>
          </a:ln>
        </p:spPr>
      </p:sp>
      <p:sp>
        <p:nvSpPr>
          <p:cNvPr id="51" name="Text 49"/>
          <p:cNvSpPr txBox="1"/>
          <p:nvPr/>
        </p:nvSpPr>
        <p:spPr>
          <a:xfrm>
            <a:off x="4279392" y="2834640"/>
            <a:ext cx="530352" cy="530352"/>
          </a:xfrm>
          <a:prstGeom prst="rect">
            <a:avLst/>
          </a:prstGeom>
          <a:noFill/>
          <a:ln/>
        </p:spPr>
        <p:txBody>
          <a:bodyPr wrap="square" lIns="0" tIns="0" rIns="0" bIns="0" rtlCol="0" anchor="ctr"/>
          <a:lstStyle/>
          <a:p>
            <a:pPr marL="0" indent="0" algn="ctr">
              <a:buNone/>
            </a:pPr>
            <a:r>
              <a:rPr lang="en-US" sz="1400" b="1" dirty="0">
                <a:solidFill>
                  <a:srgbClr val="1B2233"/>
                </a:solidFill>
                <a:latin typeface="Courier New" pitchFamily="34" charset="0"/>
                <a:ea typeface="Courier New" pitchFamily="34" charset="-122"/>
                <a:cs typeface="Courier New" pitchFamily="34" charset="-120"/>
              </a:rPr>
              <a:t>34</a:t>
            </a:r>
            <a:endParaRPr lang="en-US" sz="1400" dirty="0"/>
          </a:p>
        </p:txBody>
      </p:sp>
      <p:sp>
        <p:nvSpPr>
          <p:cNvPr id="52" name="Text 50"/>
          <p:cNvSpPr txBox="1"/>
          <p:nvPr/>
        </p:nvSpPr>
        <p:spPr>
          <a:xfrm>
            <a:off x="4279392" y="3383280"/>
            <a:ext cx="530352"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6</a:t>
            </a:r>
            <a:endParaRPr lang="en-US" sz="850" dirty="0"/>
          </a:p>
        </p:txBody>
      </p:sp>
      <p:sp>
        <p:nvSpPr>
          <p:cNvPr id="53" name="Shape 51"/>
          <p:cNvSpPr/>
          <p:nvPr/>
        </p:nvSpPr>
        <p:spPr>
          <a:xfrm>
            <a:off x="4901184" y="2834640"/>
            <a:ext cx="530352" cy="530352"/>
          </a:xfrm>
          <a:prstGeom prst="roundRect">
            <a:avLst>
              <a:gd name="adj" fmla="val 13793"/>
            </a:avLst>
          </a:prstGeom>
          <a:solidFill>
            <a:srgbClr val="FFFFFF"/>
          </a:solidFill>
          <a:ln w="22225">
            <a:solidFill>
              <a:srgbClr val="D97706"/>
            </a:solidFill>
            <a:prstDash val="solid"/>
          </a:ln>
        </p:spPr>
      </p:sp>
      <p:sp>
        <p:nvSpPr>
          <p:cNvPr id="54" name="Text 52"/>
          <p:cNvSpPr txBox="1"/>
          <p:nvPr/>
        </p:nvSpPr>
        <p:spPr>
          <a:xfrm>
            <a:off x="4901184" y="2834640"/>
            <a:ext cx="530352" cy="530352"/>
          </a:xfrm>
          <a:prstGeom prst="rect">
            <a:avLst/>
          </a:prstGeom>
          <a:noFill/>
          <a:ln/>
        </p:spPr>
        <p:txBody>
          <a:bodyPr wrap="square" lIns="0" tIns="0" rIns="0" bIns="0" rtlCol="0" anchor="ctr"/>
          <a:lstStyle/>
          <a:p>
            <a:pPr marL="0" indent="0" algn="ctr">
              <a:buNone/>
            </a:pPr>
            <a:r>
              <a:rPr lang="en-US" sz="1400" b="1" dirty="0">
                <a:solidFill>
                  <a:srgbClr val="1B2233"/>
                </a:solidFill>
                <a:latin typeface="Courier New" pitchFamily="34" charset="0"/>
                <a:ea typeface="Courier New" pitchFamily="34" charset="-122"/>
                <a:cs typeface="Courier New" pitchFamily="34" charset="-120"/>
              </a:rPr>
              <a:t>62</a:t>
            </a:r>
            <a:endParaRPr lang="en-US" sz="1400" dirty="0"/>
          </a:p>
        </p:txBody>
      </p:sp>
      <p:sp>
        <p:nvSpPr>
          <p:cNvPr id="55" name="Text 53"/>
          <p:cNvSpPr txBox="1"/>
          <p:nvPr/>
        </p:nvSpPr>
        <p:spPr>
          <a:xfrm>
            <a:off x="4901184" y="3383280"/>
            <a:ext cx="530352"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7</a:t>
            </a:r>
            <a:endParaRPr lang="en-US" sz="850" dirty="0"/>
          </a:p>
        </p:txBody>
      </p:sp>
      <p:sp>
        <p:nvSpPr>
          <p:cNvPr id="56" name="Text 54"/>
          <p:cNvSpPr txBox="1"/>
          <p:nvPr/>
        </p:nvSpPr>
        <p:spPr>
          <a:xfrm>
            <a:off x="5669280" y="1783080"/>
            <a:ext cx="5943600" cy="548640"/>
          </a:xfrm>
          <a:prstGeom prst="rect">
            <a:avLst/>
          </a:prstGeom>
          <a:noFill/>
          <a:ln/>
        </p:spPr>
        <p:txBody>
          <a:bodyPr wrap="square" lIns="0" tIns="0" rIns="0" bIns="0" rtlCol="0" anchor="ctr"/>
          <a:lstStyle/>
          <a:p>
            <a:pPr marL="0" indent="0">
              <a:buNone/>
            </a:pPr>
            <a:r>
              <a:rPr lang="en-US" sz="1600" b="1" dirty="0">
                <a:latin typeface="Courier New" pitchFamily="34" charset="0"/>
                <a:ea typeface="Courier New" pitchFamily="34" charset="-122"/>
                <a:cs typeface="Courier New" pitchFamily="34" charset="-120"/>
              </a:rPr>
              <a:t>n = 8   —   ⌊log₂ 8⌋ + 1 = 4 probes is the binary-search worst case</a:t>
            </a:r>
            <a:endParaRPr lang="en-US" sz="1600" b="1" dirty="0"/>
          </a:p>
        </p:txBody>
      </p:sp>
      <p:sp>
        <p:nvSpPr>
          <p:cNvPr id="57" name="Shape 55"/>
          <p:cNvSpPr/>
          <p:nvPr/>
        </p:nvSpPr>
        <p:spPr>
          <a:xfrm>
            <a:off x="548640" y="3703320"/>
            <a:ext cx="11064240" cy="384048"/>
          </a:xfrm>
          <a:prstGeom prst="roundRect">
            <a:avLst>
              <a:gd name="adj" fmla="val 23810"/>
            </a:avLst>
          </a:prstGeom>
          <a:solidFill>
            <a:srgbClr val="0E7490"/>
          </a:solidFill>
          <a:ln w="12700">
            <a:solidFill>
              <a:srgbClr val="0E7490"/>
            </a:solidFill>
            <a:prstDash val="solid"/>
          </a:ln>
        </p:spPr>
      </p:sp>
      <p:sp>
        <p:nvSpPr>
          <p:cNvPr id="58" name="Text 56"/>
          <p:cNvSpPr txBox="1"/>
          <p:nvPr/>
        </p:nvSpPr>
        <p:spPr>
          <a:xfrm>
            <a:off x="548640" y="3703320"/>
            <a:ext cx="548640" cy="38404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a:t>
            </a:r>
            <a:endParaRPr lang="en-US" sz="1150" dirty="0"/>
          </a:p>
        </p:txBody>
      </p:sp>
      <p:sp>
        <p:nvSpPr>
          <p:cNvPr id="59" name="Text 57"/>
          <p:cNvSpPr txBox="1"/>
          <p:nvPr/>
        </p:nvSpPr>
        <p:spPr>
          <a:xfrm>
            <a:off x="1097280" y="3703320"/>
            <a:ext cx="1737360" cy="38404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Algorithm</a:t>
            </a:r>
            <a:endParaRPr lang="en-US" sz="1150" dirty="0"/>
          </a:p>
        </p:txBody>
      </p:sp>
      <p:sp>
        <p:nvSpPr>
          <p:cNvPr id="60" name="Text 58"/>
          <p:cNvSpPr txBox="1"/>
          <p:nvPr/>
        </p:nvSpPr>
        <p:spPr>
          <a:xfrm>
            <a:off x="2834640" y="3703320"/>
            <a:ext cx="1097280" cy="38404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Array</a:t>
            </a:r>
            <a:endParaRPr lang="en-US" sz="1150" dirty="0"/>
          </a:p>
        </p:txBody>
      </p:sp>
      <p:sp>
        <p:nvSpPr>
          <p:cNvPr id="61" name="Text 59"/>
          <p:cNvSpPr txBox="1"/>
          <p:nvPr/>
        </p:nvSpPr>
        <p:spPr>
          <a:xfrm>
            <a:off x="3931920" y="3703320"/>
            <a:ext cx="1005840" cy="38404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Key</a:t>
            </a:r>
            <a:endParaRPr lang="en-US" sz="1150" dirty="0"/>
          </a:p>
        </p:txBody>
      </p:sp>
      <p:sp>
        <p:nvSpPr>
          <p:cNvPr id="62" name="Text 60"/>
          <p:cNvSpPr txBox="1"/>
          <p:nvPr/>
        </p:nvSpPr>
        <p:spPr>
          <a:xfrm>
            <a:off x="4937760" y="3703320"/>
            <a:ext cx="1280160" cy="38404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Present?</a:t>
            </a:r>
            <a:endParaRPr lang="en-US" sz="1150" dirty="0"/>
          </a:p>
        </p:txBody>
      </p:sp>
      <p:sp>
        <p:nvSpPr>
          <p:cNvPr id="63" name="Text 61"/>
          <p:cNvSpPr txBox="1"/>
          <p:nvPr/>
        </p:nvSpPr>
        <p:spPr>
          <a:xfrm>
            <a:off x="6217920" y="3703320"/>
            <a:ext cx="5394960" cy="38404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What it illustrates</a:t>
            </a:r>
            <a:endParaRPr lang="en-US" sz="1150" dirty="0"/>
          </a:p>
        </p:txBody>
      </p:sp>
      <p:sp>
        <p:nvSpPr>
          <p:cNvPr id="64" name="Shape 62"/>
          <p:cNvSpPr/>
          <p:nvPr/>
        </p:nvSpPr>
        <p:spPr>
          <a:xfrm>
            <a:off x="548640" y="4087368"/>
            <a:ext cx="11064240" cy="457200"/>
          </a:xfrm>
          <a:prstGeom prst="roundRect">
            <a:avLst>
              <a:gd name="adj" fmla="val 20000"/>
            </a:avLst>
          </a:prstGeom>
          <a:solidFill>
            <a:srgbClr val="E6F5F9"/>
          </a:solidFill>
          <a:ln w="12700">
            <a:solidFill>
              <a:srgbClr val="B8E0EA"/>
            </a:solidFill>
            <a:prstDash val="solid"/>
          </a:ln>
        </p:spPr>
      </p:sp>
      <p:sp>
        <p:nvSpPr>
          <p:cNvPr id="65" name="Text 63"/>
          <p:cNvSpPr txBox="1"/>
          <p:nvPr/>
        </p:nvSpPr>
        <p:spPr>
          <a:xfrm>
            <a:off x="548640" y="4087368"/>
            <a:ext cx="548640" cy="457200"/>
          </a:xfrm>
          <a:prstGeom prst="rect">
            <a:avLst/>
          </a:prstGeom>
          <a:noFill/>
          <a:ln/>
        </p:spPr>
        <p:txBody>
          <a:bodyPr wrap="square" lIns="0" tIns="0" rIns="0" bIns="0" rtlCol="0" anchor="ctr"/>
          <a:lstStyle/>
          <a:p>
            <a:pPr marL="0" indent="0" algn="ctr">
              <a:buNone/>
            </a:pPr>
            <a:r>
              <a:rPr lang="en-US" sz="1150" b="1" dirty="0">
                <a:solidFill>
                  <a:srgbClr val="1B2233"/>
                </a:solidFill>
                <a:latin typeface="Calibri" pitchFamily="34" charset="0"/>
                <a:ea typeface="Calibri" pitchFamily="34" charset="-122"/>
                <a:cs typeface="Calibri" pitchFamily="34" charset="-120"/>
              </a:rPr>
              <a:t>1</a:t>
            </a:r>
            <a:endParaRPr lang="en-US" sz="1150" dirty="0"/>
          </a:p>
        </p:txBody>
      </p:sp>
      <p:sp>
        <p:nvSpPr>
          <p:cNvPr id="66" name="Text 64"/>
          <p:cNvSpPr txBox="1"/>
          <p:nvPr/>
        </p:nvSpPr>
        <p:spPr>
          <a:xfrm>
            <a:off x="1097280" y="4087368"/>
            <a:ext cx="1737360" cy="457200"/>
          </a:xfrm>
          <a:prstGeom prst="rect">
            <a:avLst/>
          </a:prstGeom>
          <a:noFill/>
          <a:ln/>
        </p:spPr>
        <p:txBody>
          <a:bodyPr wrap="square" lIns="0" tIns="0" rIns="0" bIns="0" rtlCol="0" anchor="ctr"/>
          <a:lstStyle/>
          <a:p>
            <a:pPr marL="0" indent="0" algn="ctr">
              <a:buNone/>
            </a:pPr>
            <a:r>
              <a:rPr lang="en-US" sz="1150" dirty="0">
                <a:solidFill>
                  <a:srgbClr val="1B2233"/>
                </a:solidFill>
                <a:latin typeface="Calibri" pitchFamily="34" charset="0"/>
                <a:ea typeface="Calibri" pitchFamily="34" charset="-122"/>
                <a:cs typeface="Calibri" pitchFamily="34" charset="-120"/>
              </a:rPr>
              <a:t>Linear</a:t>
            </a:r>
            <a:endParaRPr lang="en-US" sz="1150" dirty="0"/>
          </a:p>
        </p:txBody>
      </p:sp>
      <p:sp>
        <p:nvSpPr>
          <p:cNvPr id="67" name="Text 65"/>
          <p:cNvSpPr txBox="1"/>
          <p:nvPr/>
        </p:nvSpPr>
        <p:spPr>
          <a:xfrm>
            <a:off x="2834640" y="4087368"/>
            <a:ext cx="1097280" cy="457200"/>
          </a:xfrm>
          <a:prstGeom prst="rect">
            <a:avLst/>
          </a:prstGeom>
          <a:noFill/>
          <a:ln/>
        </p:spPr>
        <p:txBody>
          <a:bodyPr wrap="square" lIns="0" tIns="0" rIns="0" bIns="0" rtlCol="0" anchor="ctr"/>
          <a:lstStyle/>
          <a:p>
            <a:pPr marL="0" indent="0" algn="ctr">
              <a:buNone/>
            </a:pPr>
            <a:r>
              <a:rPr lang="en-US" sz="1150" dirty="0">
                <a:solidFill>
                  <a:srgbClr val="1B2233"/>
                </a:solidFill>
                <a:latin typeface="Calibri" pitchFamily="34" charset="0"/>
                <a:ea typeface="Calibri" pitchFamily="34" charset="-122"/>
                <a:cs typeface="Calibri" pitchFamily="34" charset="-120"/>
              </a:rPr>
              <a:t>U</a:t>
            </a:r>
            <a:endParaRPr lang="en-US" sz="1150" dirty="0"/>
          </a:p>
        </p:txBody>
      </p:sp>
      <p:sp>
        <p:nvSpPr>
          <p:cNvPr id="68" name="Text 66"/>
          <p:cNvSpPr txBox="1"/>
          <p:nvPr/>
        </p:nvSpPr>
        <p:spPr>
          <a:xfrm>
            <a:off x="3931920" y="4087368"/>
            <a:ext cx="1005840" cy="457200"/>
          </a:xfrm>
          <a:prstGeom prst="rect">
            <a:avLst/>
          </a:prstGeom>
          <a:noFill/>
          <a:ln/>
        </p:spPr>
        <p:txBody>
          <a:bodyPr wrap="square" lIns="0" tIns="0" rIns="0" bIns="0" rtlCol="0" anchor="ctr"/>
          <a:lstStyle/>
          <a:p>
            <a:pPr marL="0" indent="0" algn="ctr">
              <a:buNone/>
            </a:pPr>
            <a:r>
              <a:rPr lang="en-US" sz="1150" dirty="0">
                <a:solidFill>
                  <a:srgbClr val="1B2233"/>
                </a:solidFill>
                <a:latin typeface="Calibri" pitchFamily="34" charset="0"/>
                <a:ea typeface="Calibri" pitchFamily="34" charset="-122"/>
                <a:cs typeface="Calibri" pitchFamily="34" charset="-120"/>
              </a:rPr>
              <a:t>5</a:t>
            </a:r>
            <a:endParaRPr lang="en-US" sz="1150" dirty="0"/>
          </a:p>
        </p:txBody>
      </p:sp>
      <p:sp>
        <p:nvSpPr>
          <p:cNvPr id="69" name="Text 67"/>
          <p:cNvSpPr txBox="1"/>
          <p:nvPr/>
        </p:nvSpPr>
        <p:spPr>
          <a:xfrm>
            <a:off x="4937760" y="4087368"/>
            <a:ext cx="1280160" cy="457200"/>
          </a:xfrm>
          <a:prstGeom prst="rect">
            <a:avLst/>
          </a:prstGeom>
          <a:noFill/>
          <a:ln/>
        </p:spPr>
        <p:txBody>
          <a:bodyPr wrap="square" lIns="0" tIns="0" rIns="0" bIns="0" rtlCol="0" anchor="ctr"/>
          <a:lstStyle/>
          <a:p>
            <a:pPr marL="0" indent="0" algn="ctr">
              <a:buNone/>
            </a:pPr>
            <a:r>
              <a:rPr lang="en-US" sz="1150" dirty="0">
                <a:solidFill>
                  <a:srgbClr val="1B2233"/>
                </a:solidFill>
                <a:latin typeface="Calibri" pitchFamily="34" charset="0"/>
                <a:ea typeface="Calibri" pitchFamily="34" charset="-122"/>
                <a:cs typeface="Calibri" pitchFamily="34" charset="-120"/>
              </a:rPr>
              <a:t>yes (index 4)</a:t>
            </a:r>
            <a:endParaRPr lang="en-US" sz="1150" dirty="0"/>
          </a:p>
        </p:txBody>
      </p:sp>
      <p:sp>
        <p:nvSpPr>
          <p:cNvPr id="70" name="Text 68"/>
          <p:cNvSpPr txBox="1"/>
          <p:nvPr/>
        </p:nvSpPr>
        <p:spPr>
          <a:xfrm>
            <a:off x="6217920" y="4087368"/>
            <a:ext cx="5394960" cy="457200"/>
          </a:xfrm>
          <a:prstGeom prst="rect">
            <a:avLst/>
          </a:prstGeom>
          <a:noFill/>
          <a:ln/>
        </p:spPr>
        <p:txBody>
          <a:bodyPr wrap="square" lIns="101600" tIns="101600" rIns="101600" bIns="101600" rtlCol="0" anchor="ctr"/>
          <a:lstStyle/>
          <a:p>
            <a:pPr marL="0" indent="0" algn="l">
              <a:buNone/>
            </a:pPr>
            <a:r>
              <a:rPr lang="en-US" sz="1150" dirty="0">
                <a:solidFill>
                  <a:srgbClr val="1B2233"/>
                </a:solidFill>
                <a:latin typeface="Calibri" pitchFamily="34" charset="0"/>
                <a:ea typeface="Calibri" pitchFamily="34" charset="-122"/>
                <a:cs typeface="Calibri" pitchFamily="34" charset="-120"/>
              </a:rPr>
              <a:t>Early exit after a partial scan</a:t>
            </a:r>
            <a:endParaRPr lang="en-US" sz="1150" dirty="0"/>
          </a:p>
        </p:txBody>
      </p:sp>
      <p:sp>
        <p:nvSpPr>
          <p:cNvPr id="71" name="Shape 69"/>
          <p:cNvSpPr/>
          <p:nvPr/>
        </p:nvSpPr>
        <p:spPr>
          <a:xfrm>
            <a:off x="548640" y="4544568"/>
            <a:ext cx="11064240" cy="457200"/>
          </a:xfrm>
          <a:prstGeom prst="roundRect">
            <a:avLst>
              <a:gd name="adj" fmla="val 20000"/>
            </a:avLst>
          </a:prstGeom>
          <a:solidFill>
            <a:srgbClr val="FFFFFF"/>
          </a:solidFill>
          <a:ln w="12700">
            <a:solidFill>
              <a:srgbClr val="B8E0EA"/>
            </a:solidFill>
            <a:prstDash val="solid"/>
          </a:ln>
        </p:spPr>
      </p:sp>
      <p:sp>
        <p:nvSpPr>
          <p:cNvPr id="72" name="Text 70"/>
          <p:cNvSpPr txBox="1"/>
          <p:nvPr/>
        </p:nvSpPr>
        <p:spPr>
          <a:xfrm>
            <a:off x="548640" y="4544568"/>
            <a:ext cx="548640" cy="457200"/>
          </a:xfrm>
          <a:prstGeom prst="rect">
            <a:avLst/>
          </a:prstGeom>
          <a:noFill/>
          <a:ln/>
        </p:spPr>
        <p:txBody>
          <a:bodyPr wrap="square" lIns="0" tIns="0" rIns="0" bIns="0" rtlCol="0" anchor="ctr"/>
          <a:lstStyle/>
          <a:p>
            <a:pPr marL="0" indent="0" algn="ctr">
              <a:buNone/>
            </a:pPr>
            <a:r>
              <a:rPr lang="en-US" sz="1150" b="1" dirty="0">
                <a:solidFill>
                  <a:srgbClr val="1B2233"/>
                </a:solidFill>
                <a:latin typeface="Calibri" pitchFamily="34" charset="0"/>
                <a:ea typeface="Calibri" pitchFamily="34" charset="-122"/>
                <a:cs typeface="Calibri" pitchFamily="34" charset="-120"/>
              </a:rPr>
              <a:t>2</a:t>
            </a:r>
            <a:endParaRPr lang="en-US" sz="1150" dirty="0"/>
          </a:p>
        </p:txBody>
      </p:sp>
      <p:sp>
        <p:nvSpPr>
          <p:cNvPr id="73" name="Text 71"/>
          <p:cNvSpPr txBox="1"/>
          <p:nvPr/>
        </p:nvSpPr>
        <p:spPr>
          <a:xfrm>
            <a:off x="1097280" y="4544568"/>
            <a:ext cx="1737360" cy="457200"/>
          </a:xfrm>
          <a:prstGeom prst="rect">
            <a:avLst/>
          </a:prstGeom>
          <a:noFill/>
          <a:ln/>
        </p:spPr>
        <p:txBody>
          <a:bodyPr wrap="square" lIns="0" tIns="0" rIns="0" bIns="0" rtlCol="0" anchor="ctr"/>
          <a:lstStyle/>
          <a:p>
            <a:pPr marL="0" indent="0" algn="ctr">
              <a:buNone/>
            </a:pPr>
            <a:r>
              <a:rPr lang="en-US" sz="1150" dirty="0">
                <a:solidFill>
                  <a:srgbClr val="1B2233"/>
                </a:solidFill>
                <a:latin typeface="Calibri" pitchFamily="34" charset="0"/>
                <a:ea typeface="Calibri" pitchFamily="34" charset="-122"/>
                <a:cs typeface="Calibri" pitchFamily="34" charset="-120"/>
              </a:rPr>
              <a:t>Linear</a:t>
            </a:r>
            <a:endParaRPr lang="en-US" sz="1150" dirty="0"/>
          </a:p>
        </p:txBody>
      </p:sp>
      <p:sp>
        <p:nvSpPr>
          <p:cNvPr id="74" name="Text 72"/>
          <p:cNvSpPr txBox="1"/>
          <p:nvPr/>
        </p:nvSpPr>
        <p:spPr>
          <a:xfrm>
            <a:off x="2834640" y="4544568"/>
            <a:ext cx="1097280" cy="457200"/>
          </a:xfrm>
          <a:prstGeom prst="rect">
            <a:avLst/>
          </a:prstGeom>
          <a:noFill/>
          <a:ln/>
        </p:spPr>
        <p:txBody>
          <a:bodyPr wrap="square" lIns="0" tIns="0" rIns="0" bIns="0" rtlCol="0" anchor="ctr"/>
          <a:lstStyle/>
          <a:p>
            <a:pPr marL="0" indent="0" algn="ctr">
              <a:buNone/>
            </a:pPr>
            <a:r>
              <a:rPr lang="en-US" sz="1150" dirty="0">
                <a:solidFill>
                  <a:srgbClr val="1B2233"/>
                </a:solidFill>
                <a:latin typeface="Calibri" pitchFamily="34" charset="0"/>
                <a:ea typeface="Calibri" pitchFamily="34" charset="-122"/>
                <a:cs typeface="Calibri" pitchFamily="34" charset="-120"/>
              </a:rPr>
              <a:t>U</a:t>
            </a:r>
            <a:endParaRPr lang="en-US" sz="1150" dirty="0"/>
          </a:p>
        </p:txBody>
      </p:sp>
      <p:sp>
        <p:nvSpPr>
          <p:cNvPr id="75" name="Text 73"/>
          <p:cNvSpPr txBox="1"/>
          <p:nvPr/>
        </p:nvSpPr>
        <p:spPr>
          <a:xfrm>
            <a:off x="3931920" y="4544568"/>
            <a:ext cx="1005840" cy="457200"/>
          </a:xfrm>
          <a:prstGeom prst="rect">
            <a:avLst/>
          </a:prstGeom>
          <a:noFill/>
          <a:ln/>
        </p:spPr>
        <p:txBody>
          <a:bodyPr wrap="square" lIns="0" tIns="0" rIns="0" bIns="0" rtlCol="0" anchor="ctr"/>
          <a:lstStyle/>
          <a:p>
            <a:pPr marL="0" indent="0" algn="ctr">
              <a:buNone/>
            </a:pPr>
            <a:r>
              <a:rPr lang="en-US" sz="1150" dirty="0">
                <a:solidFill>
                  <a:srgbClr val="1B2233"/>
                </a:solidFill>
                <a:latin typeface="Calibri" pitchFamily="34" charset="0"/>
                <a:ea typeface="Calibri" pitchFamily="34" charset="-122"/>
                <a:cs typeface="Calibri" pitchFamily="34" charset="-120"/>
              </a:rPr>
              <a:t>50</a:t>
            </a:r>
            <a:endParaRPr lang="en-US" sz="1150" dirty="0"/>
          </a:p>
        </p:txBody>
      </p:sp>
      <p:sp>
        <p:nvSpPr>
          <p:cNvPr id="76" name="Text 74"/>
          <p:cNvSpPr txBox="1"/>
          <p:nvPr/>
        </p:nvSpPr>
        <p:spPr>
          <a:xfrm>
            <a:off x="4937760" y="4544568"/>
            <a:ext cx="1280160" cy="457200"/>
          </a:xfrm>
          <a:prstGeom prst="rect">
            <a:avLst/>
          </a:prstGeom>
          <a:noFill/>
          <a:ln/>
        </p:spPr>
        <p:txBody>
          <a:bodyPr wrap="square" lIns="0" tIns="0" rIns="0" bIns="0" rtlCol="0" anchor="ctr"/>
          <a:lstStyle/>
          <a:p>
            <a:pPr marL="0" indent="0" algn="ctr">
              <a:buNone/>
            </a:pPr>
            <a:r>
              <a:rPr lang="en-US" sz="1150" dirty="0">
                <a:solidFill>
                  <a:srgbClr val="1B2233"/>
                </a:solidFill>
                <a:latin typeface="Calibri" pitchFamily="34" charset="0"/>
                <a:ea typeface="Calibri" pitchFamily="34" charset="-122"/>
                <a:cs typeface="Calibri" pitchFamily="34" charset="-120"/>
              </a:rPr>
              <a:t>no</a:t>
            </a:r>
            <a:endParaRPr lang="en-US" sz="1150" dirty="0"/>
          </a:p>
        </p:txBody>
      </p:sp>
      <p:sp>
        <p:nvSpPr>
          <p:cNvPr id="77" name="Text 75"/>
          <p:cNvSpPr txBox="1"/>
          <p:nvPr/>
        </p:nvSpPr>
        <p:spPr>
          <a:xfrm>
            <a:off x="6217920" y="4544568"/>
            <a:ext cx="5394960" cy="457200"/>
          </a:xfrm>
          <a:prstGeom prst="rect">
            <a:avLst/>
          </a:prstGeom>
          <a:noFill/>
          <a:ln/>
        </p:spPr>
        <p:txBody>
          <a:bodyPr wrap="square" lIns="101600" tIns="101600" rIns="101600" bIns="101600" rtlCol="0" anchor="ctr"/>
          <a:lstStyle/>
          <a:p>
            <a:pPr marL="0" indent="0" algn="l">
              <a:buNone/>
            </a:pPr>
            <a:r>
              <a:rPr lang="en-US" sz="1150" dirty="0">
                <a:solidFill>
                  <a:srgbClr val="1B2233"/>
                </a:solidFill>
                <a:latin typeface="Calibri" pitchFamily="34" charset="0"/>
                <a:ea typeface="Calibri" pitchFamily="34" charset="-122"/>
                <a:cs typeface="Calibri" pitchFamily="34" charset="-120"/>
              </a:rPr>
              <a:t>Worst case: all n elements compared</a:t>
            </a:r>
            <a:endParaRPr lang="en-US" sz="1150" dirty="0"/>
          </a:p>
        </p:txBody>
      </p:sp>
      <p:sp>
        <p:nvSpPr>
          <p:cNvPr id="78" name="Shape 76"/>
          <p:cNvSpPr/>
          <p:nvPr/>
        </p:nvSpPr>
        <p:spPr>
          <a:xfrm>
            <a:off x="548640" y="5001768"/>
            <a:ext cx="11064240" cy="457200"/>
          </a:xfrm>
          <a:prstGeom prst="roundRect">
            <a:avLst>
              <a:gd name="adj" fmla="val 20000"/>
            </a:avLst>
          </a:prstGeom>
          <a:solidFill>
            <a:srgbClr val="E6F5F9"/>
          </a:solidFill>
          <a:ln w="12700">
            <a:solidFill>
              <a:srgbClr val="B8E0EA"/>
            </a:solidFill>
            <a:prstDash val="solid"/>
          </a:ln>
        </p:spPr>
      </p:sp>
      <p:sp>
        <p:nvSpPr>
          <p:cNvPr id="79" name="Text 77"/>
          <p:cNvSpPr txBox="1"/>
          <p:nvPr/>
        </p:nvSpPr>
        <p:spPr>
          <a:xfrm>
            <a:off x="548640" y="5001768"/>
            <a:ext cx="548640" cy="457200"/>
          </a:xfrm>
          <a:prstGeom prst="rect">
            <a:avLst/>
          </a:prstGeom>
          <a:noFill/>
          <a:ln/>
        </p:spPr>
        <p:txBody>
          <a:bodyPr wrap="square" lIns="0" tIns="0" rIns="0" bIns="0" rtlCol="0" anchor="ctr"/>
          <a:lstStyle/>
          <a:p>
            <a:pPr marL="0" indent="0" algn="ctr">
              <a:buNone/>
            </a:pPr>
            <a:r>
              <a:rPr lang="en-US" sz="1150" b="1" dirty="0">
                <a:solidFill>
                  <a:srgbClr val="1B2233"/>
                </a:solidFill>
                <a:latin typeface="Calibri" pitchFamily="34" charset="0"/>
                <a:ea typeface="Calibri" pitchFamily="34" charset="-122"/>
                <a:cs typeface="Calibri" pitchFamily="34" charset="-120"/>
              </a:rPr>
              <a:t>3</a:t>
            </a:r>
            <a:endParaRPr lang="en-US" sz="1150" dirty="0"/>
          </a:p>
        </p:txBody>
      </p:sp>
      <p:sp>
        <p:nvSpPr>
          <p:cNvPr id="80" name="Text 78"/>
          <p:cNvSpPr txBox="1"/>
          <p:nvPr/>
        </p:nvSpPr>
        <p:spPr>
          <a:xfrm>
            <a:off x="1097280" y="5001768"/>
            <a:ext cx="1737360" cy="457200"/>
          </a:xfrm>
          <a:prstGeom prst="rect">
            <a:avLst/>
          </a:prstGeom>
          <a:noFill/>
          <a:ln/>
        </p:spPr>
        <p:txBody>
          <a:bodyPr wrap="square" lIns="0" tIns="0" rIns="0" bIns="0" rtlCol="0" anchor="ctr"/>
          <a:lstStyle/>
          <a:p>
            <a:pPr marL="0" indent="0" algn="ctr">
              <a:buNone/>
            </a:pPr>
            <a:r>
              <a:rPr lang="en-US" sz="1150" dirty="0">
                <a:solidFill>
                  <a:srgbClr val="1B2233"/>
                </a:solidFill>
                <a:latin typeface="Calibri" pitchFamily="34" charset="0"/>
                <a:ea typeface="Calibri" pitchFamily="34" charset="-122"/>
                <a:cs typeface="Calibri" pitchFamily="34" charset="-120"/>
              </a:rPr>
              <a:t>Binary</a:t>
            </a:r>
            <a:endParaRPr lang="en-US" sz="1150" dirty="0"/>
          </a:p>
        </p:txBody>
      </p:sp>
      <p:sp>
        <p:nvSpPr>
          <p:cNvPr id="81" name="Text 79"/>
          <p:cNvSpPr txBox="1"/>
          <p:nvPr/>
        </p:nvSpPr>
        <p:spPr>
          <a:xfrm>
            <a:off x="2834640" y="5001768"/>
            <a:ext cx="1097280" cy="457200"/>
          </a:xfrm>
          <a:prstGeom prst="rect">
            <a:avLst/>
          </a:prstGeom>
          <a:noFill/>
          <a:ln/>
        </p:spPr>
        <p:txBody>
          <a:bodyPr wrap="square" lIns="0" tIns="0" rIns="0" bIns="0" rtlCol="0" anchor="ctr"/>
          <a:lstStyle/>
          <a:p>
            <a:pPr marL="0" indent="0" algn="ctr">
              <a:buNone/>
            </a:pPr>
            <a:r>
              <a:rPr lang="en-US" sz="1150" dirty="0">
                <a:solidFill>
                  <a:srgbClr val="1B2233"/>
                </a:solidFill>
                <a:latin typeface="Calibri" pitchFamily="34" charset="0"/>
                <a:ea typeface="Calibri" pitchFamily="34" charset="-122"/>
                <a:cs typeface="Calibri" pitchFamily="34" charset="-120"/>
              </a:rPr>
              <a:t>S</a:t>
            </a:r>
            <a:endParaRPr lang="en-US" sz="1150" dirty="0"/>
          </a:p>
        </p:txBody>
      </p:sp>
      <p:sp>
        <p:nvSpPr>
          <p:cNvPr id="82" name="Text 80"/>
          <p:cNvSpPr txBox="1"/>
          <p:nvPr/>
        </p:nvSpPr>
        <p:spPr>
          <a:xfrm>
            <a:off x="3931920" y="5001768"/>
            <a:ext cx="1005840" cy="457200"/>
          </a:xfrm>
          <a:prstGeom prst="rect">
            <a:avLst/>
          </a:prstGeom>
          <a:noFill/>
          <a:ln/>
        </p:spPr>
        <p:txBody>
          <a:bodyPr wrap="square" lIns="0" tIns="0" rIns="0" bIns="0" rtlCol="0" anchor="ctr"/>
          <a:lstStyle/>
          <a:p>
            <a:pPr marL="0" indent="0" algn="ctr">
              <a:buNone/>
            </a:pPr>
            <a:r>
              <a:rPr lang="en-US" sz="1150" dirty="0">
                <a:solidFill>
                  <a:srgbClr val="1B2233"/>
                </a:solidFill>
                <a:latin typeface="Calibri" pitchFamily="34" charset="0"/>
                <a:ea typeface="Calibri" pitchFamily="34" charset="-122"/>
                <a:cs typeface="Calibri" pitchFamily="34" charset="-120"/>
              </a:rPr>
              <a:t>23</a:t>
            </a:r>
            <a:endParaRPr lang="en-US" sz="1150" dirty="0"/>
          </a:p>
        </p:txBody>
      </p:sp>
      <p:sp>
        <p:nvSpPr>
          <p:cNvPr id="83" name="Text 81"/>
          <p:cNvSpPr txBox="1"/>
          <p:nvPr/>
        </p:nvSpPr>
        <p:spPr>
          <a:xfrm>
            <a:off x="4937760" y="5001768"/>
            <a:ext cx="1280160" cy="457200"/>
          </a:xfrm>
          <a:prstGeom prst="rect">
            <a:avLst/>
          </a:prstGeom>
          <a:noFill/>
          <a:ln/>
        </p:spPr>
        <p:txBody>
          <a:bodyPr wrap="square" lIns="0" tIns="0" rIns="0" bIns="0" rtlCol="0" anchor="ctr"/>
          <a:lstStyle/>
          <a:p>
            <a:pPr marL="0" indent="0" algn="ctr">
              <a:buNone/>
            </a:pPr>
            <a:r>
              <a:rPr lang="en-US" sz="1150" dirty="0">
                <a:solidFill>
                  <a:srgbClr val="1B2233"/>
                </a:solidFill>
                <a:latin typeface="Calibri" pitchFamily="34" charset="0"/>
                <a:ea typeface="Calibri" pitchFamily="34" charset="-122"/>
                <a:cs typeface="Calibri" pitchFamily="34" charset="-120"/>
              </a:rPr>
              <a:t>yes (index 4)</a:t>
            </a:r>
            <a:endParaRPr lang="en-US" sz="1150" dirty="0"/>
          </a:p>
        </p:txBody>
      </p:sp>
      <p:sp>
        <p:nvSpPr>
          <p:cNvPr id="84" name="Text 82"/>
          <p:cNvSpPr txBox="1"/>
          <p:nvPr/>
        </p:nvSpPr>
        <p:spPr>
          <a:xfrm>
            <a:off x="6217920" y="5001768"/>
            <a:ext cx="5394960" cy="457200"/>
          </a:xfrm>
          <a:prstGeom prst="rect">
            <a:avLst/>
          </a:prstGeom>
          <a:noFill/>
          <a:ln/>
        </p:spPr>
        <p:txBody>
          <a:bodyPr wrap="square" lIns="101600" tIns="101600" rIns="101600" bIns="101600" rtlCol="0" anchor="ctr"/>
          <a:lstStyle/>
          <a:p>
            <a:pPr marL="0" indent="0" algn="l">
              <a:buNone/>
            </a:pPr>
            <a:r>
              <a:rPr lang="en-US" sz="1150" dirty="0">
                <a:solidFill>
                  <a:srgbClr val="1B2233"/>
                </a:solidFill>
                <a:latin typeface="Calibri" pitchFamily="34" charset="0"/>
                <a:ea typeface="Calibri" pitchFamily="34" charset="-122"/>
                <a:cs typeface="Calibri" pitchFamily="34" charset="-120"/>
              </a:rPr>
              <a:t>Typical successful search</a:t>
            </a:r>
            <a:endParaRPr lang="en-US" sz="1150" dirty="0"/>
          </a:p>
        </p:txBody>
      </p:sp>
      <p:sp>
        <p:nvSpPr>
          <p:cNvPr id="85" name="Shape 83"/>
          <p:cNvSpPr/>
          <p:nvPr/>
        </p:nvSpPr>
        <p:spPr>
          <a:xfrm>
            <a:off x="548640" y="5458968"/>
            <a:ext cx="11064240" cy="457200"/>
          </a:xfrm>
          <a:prstGeom prst="roundRect">
            <a:avLst>
              <a:gd name="adj" fmla="val 20000"/>
            </a:avLst>
          </a:prstGeom>
          <a:solidFill>
            <a:srgbClr val="FFFFFF"/>
          </a:solidFill>
          <a:ln w="12700">
            <a:solidFill>
              <a:srgbClr val="B8E0EA"/>
            </a:solidFill>
            <a:prstDash val="solid"/>
          </a:ln>
        </p:spPr>
      </p:sp>
      <p:sp>
        <p:nvSpPr>
          <p:cNvPr id="86" name="Text 84"/>
          <p:cNvSpPr txBox="1"/>
          <p:nvPr/>
        </p:nvSpPr>
        <p:spPr>
          <a:xfrm>
            <a:off x="548640" y="5458968"/>
            <a:ext cx="548640" cy="457200"/>
          </a:xfrm>
          <a:prstGeom prst="rect">
            <a:avLst/>
          </a:prstGeom>
          <a:noFill/>
          <a:ln/>
        </p:spPr>
        <p:txBody>
          <a:bodyPr wrap="square" lIns="0" tIns="0" rIns="0" bIns="0" rtlCol="0" anchor="ctr"/>
          <a:lstStyle/>
          <a:p>
            <a:pPr marL="0" indent="0" algn="ctr">
              <a:buNone/>
            </a:pPr>
            <a:r>
              <a:rPr lang="en-US" sz="1150" b="1" dirty="0">
                <a:solidFill>
                  <a:srgbClr val="1B2233"/>
                </a:solidFill>
                <a:latin typeface="Calibri" pitchFamily="34" charset="0"/>
                <a:ea typeface="Calibri" pitchFamily="34" charset="-122"/>
                <a:cs typeface="Calibri" pitchFamily="34" charset="-120"/>
              </a:rPr>
              <a:t>4</a:t>
            </a:r>
            <a:endParaRPr lang="en-US" sz="1150" dirty="0"/>
          </a:p>
        </p:txBody>
      </p:sp>
      <p:sp>
        <p:nvSpPr>
          <p:cNvPr id="87" name="Text 85"/>
          <p:cNvSpPr txBox="1"/>
          <p:nvPr/>
        </p:nvSpPr>
        <p:spPr>
          <a:xfrm>
            <a:off x="1097280" y="5458968"/>
            <a:ext cx="1737360" cy="457200"/>
          </a:xfrm>
          <a:prstGeom prst="rect">
            <a:avLst/>
          </a:prstGeom>
          <a:noFill/>
          <a:ln/>
        </p:spPr>
        <p:txBody>
          <a:bodyPr wrap="square" lIns="0" tIns="0" rIns="0" bIns="0" rtlCol="0" anchor="ctr"/>
          <a:lstStyle/>
          <a:p>
            <a:pPr marL="0" indent="0" algn="ctr">
              <a:buNone/>
            </a:pPr>
            <a:r>
              <a:rPr lang="en-US" sz="1150" dirty="0">
                <a:solidFill>
                  <a:srgbClr val="1B2233"/>
                </a:solidFill>
                <a:latin typeface="Calibri" pitchFamily="34" charset="0"/>
                <a:ea typeface="Calibri" pitchFamily="34" charset="-122"/>
                <a:cs typeface="Calibri" pitchFamily="34" charset="-120"/>
              </a:rPr>
              <a:t>Binary</a:t>
            </a:r>
            <a:endParaRPr lang="en-US" sz="1150" dirty="0"/>
          </a:p>
        </p:txBody>
      </p:sp>
      <p:sp>
        <p:nvSpPr>
          <p:cNvPr id="88" name="Text 86"/>
          <p:cNvSpPr txBox="1"/>
          <p:nvPr/>
        </p:nvSpPr>
        <p:spPr>
          <a:xfrm>
            <a:off x="2834640" y="5458968"/>
            <a:ext cx="1097280" cy="457200"/>
          </a:xfrm>
          <a:prstGeom prst="rect">
            <a:avLst/>
          </a:prstGeom>
          <a:noFill/>
          <a:ln/>
        </p:spPr>
        <p:txBody>
          <a:bodyPr wrap="square" lIns="0" tIns="0" rIns="0" bIns="0" rtlCol="0" anchor="ctr"/>
          <a:lstStyle/>
          <a:p>
            <a:pPr marL="0" indent="0" algn="ctr">
              <a:buNone/>
            </a:pPr>
            <a:r>
              <a:rPr lang="en-US" sz="1150" dirty="0">
                <a:solidFill>
                  <a:srgbClr val="1B2233"/>
                </a:solidFill>
                <a:latin typeface="Calibri" pitchFamily="34" charset="0"/>
                <a:ea typeface="Calibri" pitchFamily="34" charset="-122"/>
                <a:cs typeface="Calibri" pitchFamily="34" charset="-120"/>
              </a:rPr>
              <a:t>S</a:t>
            </a:r>
            <a:endParaRPr lang="en-US" sz="1150" dirty="0"/>
          </a:p>
        </p:txBody>
      </p:sp>
      <p:sp>
        <p:nvSpPr>
          <p:cNvPr id="89" name="Text 87"/>
          <p:cNvSpPr txBox="1"/>
          <p:nvPr/>
        </p:nvSpPr>
        <p:spPr>
          <a:xfrm>
            <a:off x="3931920" y="5458968"/>
            <a:ext cx="1005840" cy="457200"/>
          </a:xfrm>
          <a:prstGeom prst="rect">
            <a:avLst/>
          </a:prstGeom>
          <a:noFill/>
          <a:ln/>
        </p:spPr>
        <p:txBody>
          <a:bodyPr wrap="square" lIns="0" tIns="0" rIns="0" bIns="0" rtlCol="0" anchor="ctr"/>
          <a:lstStyle/>
          <a:p>
            <a:pPr marL="0" indent="0" algn="ctr">
              <a:buNone/>
            </a:pPr>
            <a:r>
              <a:rPr lang="en-US" sz="1150" dirty="0">
                <a:solidFill>
                  <a:srgbClr val="1B2233"/>
                </a:solidFill>
                <a:latin typeface="Calibri" pitchFamily="34" charset="0"/>
                <a:ea typeface="Calibri" pitchFamily="34" charset="-122"/>
                <a:cs typeface="Calibri" pitchFamily="34" charset="-120"/>
              </a:rPr>
              <a:t>20</a:t>
            </a:r>
            <a:endParaRPr lang="en-US" sz="1150" dirty="0"/>
          </a:p>
        </p:txBody>
      </p:sp>
      <p:sp>
        <p:nvSpPr>
          <p:cNvPr id="90" name="Text 88"/>
          <p:cNvSpPr txBox="1"/>
          <p:nvPr/>
        </p:nvSpPr>
        <p:spPr>
          <a:xfrm>
            <a:off x="4937760" y="5458968"/>
            <a:ext cx="1280160" cy="457200"/>
          </a:xfrm>
          <a:prstGeom prst="rect">
            <a:avLst/>
          </a:prstGeom>
          <a:noFill/>
          <a:ln/>
        </p:spPr>
        <p:txBody>
          <a:bodyPr wrap="square" lIns="0" tIns="0" rIns="0" bIns="0" rtlCol="0" anchor="ctr"/>
          <a:lstStyle/>
          <a:p>
            <a:pPr marL="0" indent="0" algn="ctr">
              <a:buNone/>
            </a:pPr>
            <a:r>
              <a:rPr lang="en-US" sz="1150" dirty="0">
                <a:solidFill>
                  <a:srgbClr val="1B2233"/>
                </a:solidFill>
                <a:latin typeface="Calibri" pitchFamily="34" charset="0"/>
                <a:ea typeface="Calibri" pitchFamily="34" charset="-122"/>
                <a:cs typeface="Calibri" pitchFamily="34" charset="-120"/>
              </a:rPr>
              <a:t>no</a:t>
            </a:r>
            <a:endParaRPr lang="en-US" sz="1150" dirty="0"/>
          </a:p>
        </p:txBody>
      </p:sp>
      <p:sp>
        <p:nvSpPr>
          <p:cNvPr id="91" name="Text 89"/>
          <p:cNvSpPr txBox="1"/>
          <p:nvPr/>
        </p:nvSpPr>
        <p:spPr>
          <a:xfrm>
            <a:off x="6217920" y="5458968"/>
            <a:ext cx="5394960" cy="457200"/>
          </a:xfrm>
          <a:prstGeom prst="rect">
            <a:avLst/>
          </a:prstGeom>
          <a:noFill/>
          <a:ln/>
        </p:spPr>
        <p:txBody>
          <a:bodyPr wrap="square" lIns="101600" tIns="101600" rIns="101600" bIns="101600" rtlCol="0" anchor="ctr"/>
          <a:lstStyle/>
          <a:p>
            <a:pPr marL="0" indent="0" algn="l">
              <a:buNone/>
            </a:pPr>
            <a:r>
              <a:rPr lang="en-US" sz="1150" dirty="0">
                <a:solidFill>
                  <a:srgbClr val="1B2233"/>
                </a:solidFill>
                <a:latin typeface="Calibri" pitchFamily="34" charset="0"/>
                <a:ea typeface="Calibri" pitchFamily="34" charset="-122"/>
                <a:cs typeface="Calibri" pitchFamily="34" charset="-120"/>
              </a:rPr>
              <a:t>Range shrinks to empty (low &gt; high)</a:t>
            </a:r>
            <a:endParaRPr lang="en-US" sz="1150" dirty="0"/>
          </a:p>
        </p:txBody>
      </p:sp>
      <p:sp>
        <p:nvSpPr>
          <p:cNvPr id="92" name="Shape 90"/>
          <p:cNvSpPr/>
          <p:nvPr/>
        </p:nvSpPr>
        <p:spPr>
          <a:xfrm>
            <a:off x="548640" y="5916168"/>
            <a:ext cx="11064240" cy="457200"/>
          </a:xfrm>
          <a:prstGeom prst="roundRect">
            <a:avLst>
              <a:gd name="adj" fmla="val 20000"/>
            </a:avLst>
          </a:prstGeom>
          <a:solidFill>
            <a:srgbClr val="E6F5F9"/>
          </a:solidFill>
          <a:ln w="12700">
            <a:solidFill>
              <a:srgbClr val="B8E0EA"/>
            </a:solidFill>
            <a:prstDash val="solid"/>
          </a:ln>
        </p:spPr>
      </p:sp>
      <p:sp>
        <p:nvSpPr>
          <p:cNvPr id="93" name="Text 91"/>
          <p:cNvSpPr txBox="1"/>
          <p:nvPr/>
        </p:nvSpPr>
        <p:spPr>
          <a:xfrm>
            <a:off x="548640" y="5916168"/>
            <a:ext cx="548640" cy="457200"/>
          </a:xfrm>
          <a:prstGeom prst="rect">
            <a:avLst/>
          </a:prstGeom>
          <a:noFill/>
          <a:ln/>
        </p:spPr>
        <p:txBody>
          <a:bodyPr wrap="square" lIns="0" tIns="0" rIns="0" bIns="0" rtlCol="0" anchor="ctr"/>
          <a:lstStyle/>
          <a:p>
            <a:pPr marL="0" indent="0" algn="ctr">
              <a:buNone/>
            </a:pPr>
            <a:r>
              <a:rPr lang="en-US" sz="1150" b="1" dirty="0">
                <a:solidFill>
                  <a:srgbClr val="1B2233"/>
                </a:solidFill>
                <a:latin typeface="Calibri" pitchFamily="34" charset="0"/>
                <a:ea typeface="Calibri" pitchFamily="34" charset="-122"/>
                <a:cs typeface="Calibri" pitchFamily="34" charset="-120"/>
              </a:rPr>
              <a:t>5</a:t>
            </a:r>
            <a:endParaRPr lang="en-US" sz="1150" dirty="0"/>
          </a:p>
        </p:txBody>
      </p:sp>
      <p:sp>
        <p:nvSpPr>
          <p:cNvPr id="94" name="Text 92"/>
          <p:cNvSpPr txBox="1"/>
          <p:nvPr/>
        </p:nvSpPr>
        <p:spPr>
          <a:xfrm>
            <a:off x="1097280" y="5916168"/>
            <a:ext cx="1737360" cy="457200"/>
          </a:xfrm>
          <a:prstGeom prst="rect">
            <a:avLst/>
          </a:prstGeom>
          <a:noFill/>
          <a:ln/>
        </p:spPr>
        <p:txBody>
          <a:bodyPr wrap="square" lIns="0" tIns="0" rIns="0" bIns="0" rtlCol="0" anchor="ctr"/>
          <a:lstStyle/>
          <a:p>
            <a:pPr marL="0" indent="0" algn="ctr">
              <a:buNone/>
            </a:pPr>
            <a:r>
              <a:rPr lang="en-US" sz="1150" dirty="0">
                <a:solidFill>
                  <a:srgbClr val="1B2233"/>
                </a:solidFill>
                <a:latin typeface="Calibri" pitchFamily="34" charset="0"/>
                <a:ea typeface="Calibri" pitchFamily="34" charset="-122"/>
                <a:cs typeface="Calibri" pitchFamily="34" charset="-120"/>
              </a:rPr>
              <a:t>Binary</a:t>
            </a:r>
            <a:endParaRPr lang="en-US" sz="1150" dirty="0"/>
          </a:p>
        </p:txBody>
      </p:sp>
      <p:sp>
        <p:nvSpPr>
          <p:cNvPr id="95" name="Text 93"/>
          <p:cNvSpPr txBox="1"/>
          <p:nvPr/>
        </p:nvSpPr>
        <p:spPr>
          <a:xfrm>
            <a:off x="2834640" y="5916168"/>
            <a:ext cx="1097280" cy="457200"/>
          </a:xfrm>
          <a:prstGeom prst="rect">
            <a:avLst/>
          </a:prstGeom>
          <a:noFill/>
          <a:ln/>
        </p:spPr>
        <p:txBody>
          <a:bodyPr wrap="square" lIns="0" tIns="0" rIns="0" bIns="0" rtlCol="0" anchor="ctr"/>
          <a:lstStyle/>
          <a:p>
            <a:pPr marL="0" indent="0" algn="ctr">
              <a:buNone/>
            </a:pPr>
            <a:r>
              <a:rPr lang="en-US" sz="1150" dirty="0">
                <a:solidFill>
                  <a:srgbClr val="1B2233"/>
                </a:solidFill>
                <a:latin typeface="Calibri" pitchFamily="34" charset="0"/>
                <a:ea typeface="Calibri" pitchFamily="34" charset="-122"/>
                <a:cs typeface="Calibri" pitchFamily="34" charset="-120"/>
              </a:rPr>
              <a:t>S</a:t>
            </a:r>
            <a:endParaRPr lang="en-US" sz="1150" dirty="0"/>
          </a:p>
        </p:txBody>
      </p:sp>
      <p:sp>
        <p:nvSpPr>
          <p:cNvPr id="96" name="Text 94"/>
          <p:cNvSpPr txBox="1"/>
          <p:nvPr/>
        </p:nvSpPr>
        <p:spPr>
          <a:xfrm>
            <a:off x="3931920" y="5916168"/>
            <a:ext cx="1005840" cy="457200"/>
          </a:xfrm>
          <a:prstGeom prst="rect">
            <a:avLst/>
          </a:prstGeom>
          <a:noFill/>
          <a:ln/>
        </p:spPr>
        <p:txBody>
          <a:bodyPr wrap="square" lIns="0" tIns="0" rIns="0" bIns="0" rtlCol="0" anchor="ctr"/>
          <a:lstStyle/>
          <a:p>
            <a:pPr marL="0" indent="0" algn="ctr">
              <a:buNone/>
            </a:pPr>
            <a:r>
              <a:rPr lang="en-US" sz="1150" dirty="0">
                <a:solidFill>
                  <a:srgbClr val="1B2233"/>
                </a:solidFill>
                <a:latin typeface="Calibri" pitchFamily="34" charset="0"/>
                <a:ea typeface="Calibri" pitchFamily="34" charset="-122"/>
                <a:cs typeface="Calibri" pitchFamily="34" charset="-120"/>
              </a:rPr>
              <a:t>62</a:t>
            </a:r>
            <a:endParaRPr lang="en-US" sz="1150" dirty="0"/>
          </a:p>
        </p:txBody>
      </p:sp>
      <p:sp>
        <p:nvSpPr>
          <p:cNvPr id="97" name="Text 95"/>
          <p:cNvSpPr txBox="1"/>
          <p:nvPr/>
        </p:nvSpPr>
        <p:spPr>
          <a:xfrm>
            <a:off x="4937760" y="5916168"/>
            <a:ext cx="1280160" cy="457200"/>
          </a:xfrm>
          <a:prstGeom prst="rect">
            <a:avLst/>
          </a:prstGeom>
          <a:noFill/>
          <a:ln/>
        </p:spPr>
        <p:txBody>
          <a:bodyPr wrap="square" lIns="0" tIns="0" rIns="0" bIns="0" rtlCol="0" anchor="ctr"/>
          <a:lstStyle/>
          <a:p>
            <a:pPr marL="0" indent="0" algn="ctr">
              <a:buNone/>
            </a:pPr>
            <a:r>
              <a:rPr lang="en-US" sz="1150" dirty="0">
                <a:solidFill>
                  <a:srgbClr val="1B2233"/>
                </a:solidFill>
                <a:latin typeface="Calibri" pitchFamily="34" charset="0"/>
                <a:ea typeface="Calibri" pitchFamily="34" charset="-122"/>
                <a:cs typeface="Calibri" pitchFamily="34" charset="-120"/>
              </a:rPr>
              <a:t>yes (index 7)</a:t>
            </a:r>
            <a:endParaRPr lang="en-US" sz="1150" dirty="0"/>
          </a:p>
        </p:txBody>
      </p:sp>
      <p:sp>
        <p:nvSpPr>
          <p:cNvPr id="98" name="Text 96"/>
          <p:cNvSpPr txBox="1"/>
          <p:nvPr/>
        </p:nvSpPr>
        <p:spPr>
          <a:xfrm>
            <a:off x="6217920" y="5916168"/>
            <a:ext cx="5394960" cy="457200"/>
          </a:xfrm>
          <a:prstGeom prst="rect">
            <a:avLst/>
          </a:prstGeom>
          <a:noFill/>
          <a:ln/>
        </p:spPr>
        <p:txBody>
          <a:bodyPr wrap="square" lIns="101600" tIns="101600" rIns="101600" bIns="101600" rtlCol="0" anchor="ctr"/>
          <a:lstStyle/>
          <a:p>
            <a:pPr marL="0" indent="0" algn="l">
              <a:buNone/>
            </a:pPr>
            <a:r>
              <a:rPr lang="en-US" sz="1150" dirty="0">
                <a:solidFill>
                  <a:srgbClr val="1B2233"/>
                </a:solidFill>
                <a:latin typeface="Calibri" pitchFamily="34" charset="0"/>
                <a:ea typeface="Calibri" pitchFamily="34" charset="-122"/>
                <a:cs typeface="Calibri" pitchFamily="34" charset="-120"/>
              </a:rPr>
              <a:t>Worst case: ⌊log₂ n⌋ + 1 = 4 probes</a:t>
            </a:r>
            <a:endParaRPr lang="en-US" sz="1150" dirty="0"/>
          </a:p>
        </p:txBody>
      </p:sp>
      <p:sp>
        <p:nvSpPr>
          <p:cNvPr id="99" name="Text 97"/>
          <p:cNvSpPr txBox="1"/>
          <p:nvPr/>
        </p:nvSpPr>
        <p:spPr>
          <a:xfrm>
            <a:off x="548640" y="6547104"/>
            <a:ext cx="6858000" cy="256032"/>
          </a:xfrm>
          <a:prstGeom prst="rect">
            <a:avLst/>
          </a:prstGeom>
          <a:noFill/>
          <a:ln/>
        </p:spPr>
        <p:txBody>
          <a:bodyPr wrap="square" lIns="0" tIns="0" rIns="0" bIns="0" rtlCol="0" anchor="ctr"/>
          <a:lstStyle/>
          <a:p>
            <a:pPr marL="0" indent="0">
              <a:buNone/>
            </a:pPr>
            <a:r>
              <a:rPr lang="en-US" sz="900" dirty="0">
                <a:solidFill>
                  <a:srgbClr val="5B6584"/>
                </a:solidFill>
                <a:latin typeface="Calibri" pitchFamily="34" charset="0"/>
                <a:ea typeface="Calibri" pitchFamily="34" charset="-122"/>
                <a:cs typeface="Calibri" pitchFamily="34" charset="-120"/>
              </a:rPr>
              <a:t>Linear &amp; Binary Search  |  Data Structures Using C</a:t>
            </a:r>
            <a:endParaRPr lang="en-US" sz="900" dirty="0"/>
          </a:p>
        </p:txBody>
      </p:sp>
      <p:sp>
        <p:nvSpPr>
          <p:cNvPr id="100" name="Text 98"/>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500000">
            <a:off x="10972800" y="-1005840"/>
            <a:ext cx="2377440" cy="2377440"/>
          </a:xfrm>
          <a:prstGeom prst="triangle">
            <a:avLst/>
          </a:prstGeom>
          <a:solidFill>
            <a:srgbClr val="0E7490">
              <a:alpha val="5000"/>
            </a:srgbClr>
          </a:solidFill>
          <a:ln/>
        </p:spPr>
      </p:sp>
      <p:sp>
        <p:nvSpPr>
          <p:cNvPr id="3" name="Shape 1"/>
          <p:cNvSpPr/>
          <p:nvPr/>
        </p:nvSpPr>
        <p:spPr>
          <a:xfrm rot="12300000">
            <a:off x="-1097280" y="5760720"/>
            <a:ext cx="2377440" cy="2377440"/>
          </a:xfrm>
          <a:prstGeom prst="triangle">
            <a:avLst/>
          </a:prstGeom>
          <a:solidFill>
            <a:srgbClr val="0E7490">
              <a:alpha val="5000"/>
            </a:srgbClr>
          </a:solidFill>
          <a:ln/>
        </p:spPr>
      </p:sp>
      <p:sp>
        <p:nvSpPr>
          <p:cNvPr id="4" name="Text 2"/>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22A6C4"/>
                </a:solidFill>
                <a:latin typeface="Calibri" pitchFamily="34" charset="0"/>
                <a:ea typeface="Calibri" pitchFamily="34" charset="-122"/>
                <a:cs typeface="Calibri" pitchFamily="34" charset="-120"/>
              </a:rPr>
              <a:t>TRACE — LINEAR SEARCH</a:t>
            </a:r>
            <a:endParaRPr lang="en-US" sz="1300" dirty="0"/>
          </a:p>
        </p:txBody>
      </p:sp>
      <p:sp>
        <p:nvSpPr>
          <p:cNvPr id="5" name="Text 3"/>
          <p:cNvSpPr txBox="1"/>
          <p:nvPr/>
        </p:nvSpPr>
        <p:spPr>
          <a:xfrm>
            <a:off x="548640" y="621792"/>
            <a:ext cx="11064240" cy="731520"/>
          </a:xfrm>
          <a:prstGeom prst="rect">
            <a:avLst/>
          </a:prstGeom>
          <a:noFill/>
          <a:ln/>
        </p:spPr>
        <p:txBody>
          <a:bodyPr wrap="square" lIns="0" tIns="0" rIns="0" bIns="0" rtlCol="0" anchor="ctr"/>
          <a:lstStyle/>
          <a:p>
            <a:pPr marL="0" indent="0">
              <a:buNone/>
            </a:pPr>
            <a:r>
              <a:rPr lang="en-US" sz="3000" b="1" dirty="0">
                <a:solidFill>
                  <a:srgbClr val="10242E"/>
                </a:solidFill>
                <a:latin typeface="Cambria" pitchFamily="34" charset="0"/>
                <a:ea typeface="Cambria" pitchFamily="34" charset="-122"/>
                <a:cs typeface="Cambria" pitchFamily="34" charset="-120"/>
              </a:rPr>
              <a:t>Searching U for 5 (present) and 50 (absent)</a:t>
            </a:r>
            <a:endParaRPr lang="en-US" sz="3000" dirty="0"/>
          </a:p>
        </p:txBody>
      </p:sp>
      <p:sp>
        <p:nvSpPr>
          <p:cNvPr id="6" name="Text 4"/>
          <p:cNvSpPr txBox="1"/>
          <p:nvPr/>
        </p:nvSpPr>
        <p:spPr>
          <a:xfrm>
            <a:off x="548640" y="1298448"/>
            <a:ext cx="2743200" cy="256032"/>
          </a:xfrm>
          <a:prstGeom prst="rect">
            <a:avLst/>
          </a:prstGeom>
          <a:noFill/>
          <a:ln/>
        </p:spPr>
        <p:txBody>
          <a:bodyPr wrap="square" lIns="0" tIns="0" rIns="0" bIns="0" rtlCol="0" anchor="ctr"/>
          <a:lstStyle/>
          <a:p>
            <a:pPr marL="0" indent="0">
              <a:buNone/>
            </a:pPr>
            <a:r>
              <a:rPr lang="en-US" sz="1150" b="1" kern="0" spc="100" dirty="0">
                <a:solidFill>
                  <a:srgbClr val="0E7490"/>
                </a:solidFill>
                <a:latin typeface="Calibri" pitchFamily="34" charset="0"/>
                <a:ea typeface="Calibri" pitchFamily="34" charset="-122"/>
                <a:cs typeface="Calibri" pitchFamily="34" charset="-120"/>
              </a:rPr>
              <a:t>KEY = 5</a:t>
            </a:r>
            <a:endParaRPr lang="en-US" sz="1150" dirty="0"/>
          </a:p>
        </p:txBody>
      </p:sp>
      <p:sp>
        <p:nvSpPr>
          <p:cNvPr id="7" name="Shape 5"/>
          <p:cNvSpPr/>
          <p:nvPr/>
        </p:nvSpPr>
        <p:spPr>
          <a:xfrm>
            <a:off x="548640" y="1600200"/>
            <a:ext cx="868680" cy="365760"/>
          </a:xfrm>
          <a:prstGeom prst="roundRect">
            <a:avLst>
              <a:gd name="adj" fmla="val 50000"/>
            </a:avLst>
          </a:prstGeom>
          <a:solidFill>
            <a:srgbClr val="E6F5F9"/>
          </a:solidFill>
          <a:ln/>
        </p:spPr>
      </p:sp>
      <p:sp>
        <p:nvSpPr>
          <p:cNvPr id="8" name="Text 6"/>
          <p:cNvSpPr txBox="1"/>
          <p:nvPr/>
        </p:nvSpPr>
        <p:spPr>
          <a:xfrm>
            <a:off x="548640" y="1600200"/>
            <a:ext cx="868680" cy="365760"/>
          </a:xfrm>
          <a:prstGeom prst="rect">
            <a:avLst/>
          </a:prstGeom>
          <a:noFill/>
          <a:ln/>
        </p:spPr>
        <p:txBody>
          <a:bodyPr wrap="square" lIns="0" tIns="0" rIns="0" bIns="0" rtlCol="0" anchor="ctr"/>
          <a:lstStyle/>
          <a:p>
            <a:pPr marL="0" indent="0" algn="ctr">
              <a:buNone/>
            </a:pPr>
            <a:r>
              <a:rPr lang="en-US" sz="1100" b="1" dirty="0">
                <a:solidFill>
                  <a:srgbClr val="10242E"/>
                </a:solidFill>
                <a:latin typeface="Calibri" pitchFamily="34" charset="0"/>
                <a:ea typeface="Calibri" pitchFamily="34" charset="-122"/>
                <a:cs typeface="Calibri" pitchFamily="34" charset="-120"/>
              </a:rPr>
              <a:t>i = 0</a:t>
            </a:r>
            <a:endParaRPr lang="en-US" sz="1100" dirty="0"/>
          </a:p>
        </p:txBody>
      </p:sp>
      <p:sp>
        <p:nvSpPr>
          <p:cNvPr id="9" name="Shape 7"/>
          <p:cNvSpPr/>
          <p:nvPr/>
        </p:nvSpPr>
        <p:spPr>
          <a:xfrm>
            <a:off x="1554480" y="1563624"/>
            <a:ext cx="420624" cy="420624"/>
          </a:xfrm>
          <a:prstGeom prst="roundRect">
            <a:avLst>
              <a:gd name="adj" fmla="val 17391"/>
            </a:avLst>
          </a:prstGeom>
          <a:solidFill>
            <a:srgbClr val="D97706"/>
          </a:solidFill>
          <a:ln w="22225">
            <a:solidFill>
              <a:srgbClr val="D97706"/>
            </a:solidFill>
            <a:prstDash val="solid"/>
          </a:ln>
        </p:spPr>
      </p:sp>
      <p:sp>
        <p:nvSpPr>
          <p:cNvPr id="10" name="Text 8"/>
          <p:cNvSpPr txBox="1"/>
          <p:nvPr/>
        </p:nvSpPr>
        <p:spPr>
          <a:xfrm>
            <a:off x="1554480" y="1563624"/>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34</a:t>
            </a:r>
            <a:endParaRPr lang="en-US" sz="1200" dirty="0"/>
          </a:p>
        </p:txBody>
      </p:sp>
      <p:sp>
        <p:nvSpPr>
          <p:cNvPr id="11" name="Shape 9"/>
          <p:cNvSpPr/>
          <p:nvPr/>
        </p:nvSpPr>
        <p:spPr>
          <a:xfrm>
            <a:off x="2039112" y="1563624"/>
            <a:ext cx="420624" cy="420624"/>
          </a:xfrm>
          <a:prstGeom prst="roundRect">
            <a:avLst>
              <a:gd name="adj" fmla="val 17391"/>
            </a:avLst>
          </a:prstGeom>
          <a:solidFill>
            <a:srgbClr val="FFFFFF"/>
          </a:solidFill>
          <a:ln w="22225">
            <a:solidFill>
              <a:srgbClr val="0E7490"/>
            </a:solidFill>
            <a:prstDash val="solid"/>
          </a:ln>
        </p:spPr>
      </p:sp>
      <p:sp>
        <p:nvSpPr>
          <p:cNvPr id="12" name="Text 10"/>
          <p:cNvSpPr txBox="1"/>
          <p:nvPr/>
        </p:nvSpPr>
        <p:spPr>
          <a:xfrm>
            <a:off x="2039112" y="1563624"/>
            <a:ext cx="420624" cy="420624"/>
          </a:xfrm>
          <a:prstGeom prst="rect">
            <a:avLst/>
          </a:prstGeom>
          <a:noFill/>
          <a:ln/>
        </p:spPr>
        <p:txBody>
          <a:bodyPr wrap="square" lIns="0" tIns="0" rIns="0" bIns="0" rtlCol="0" anchor="ctr"/>
          <a:lstStyle/>
          <a:p>
            <a:pPr marL="0" indent="0" algn="ctr">
              <a:buNone/>
            </a:pPr>
            <a:r>
              <a:rPr lang="en-US" sz="1200" b="1" dirty="0">
                <a:solidFill>
                  <a:srgbClr val="1B2233"/>
                </a:solidFill>
                <a:latin typeface="Courier New" pitchFamily="34" charset="0"/>
                <a:ea typeface="Courier New" pitchFamily="34" charset="-122"/>
                <a:cs typeface="Courier New" pitchFamily="34" charset="-120"/>
              </a:rPr>
              <a:t>7</a:t>
            </a:r>
            <a:endParaRPr lang="en-US" sz="1200" dirty="0"/>
          </a:p>
        </p:txBody>
      </p:sp>
      <p:sp>
        <p:nvSpPr>
          <p:cNvPr id="13" name="Shape 11"/>
          <p:cNvSpPr/>
          <p:nvPr/>
        </p:nvSpPr>
        <p:spPr>
          <a:xfrm>
            <a:off x="2523744" y="1563624"/>
            <a:ext cx="420624" cy="420624"/>
          </a:xfrm>
          <a:prstGeom prst="roundRect">
            <a:avLst>
              <a:gd name="adj" fmla="val 17391"/>
            </a:avLst>
          </a:prstGeom>
          <a:solidFill>
            <a:srgbClr val="FFFFFF"/>
          </a:solidFill>
          <a:ln w="22225">
            <a:solidFill>
              <a:srgbClr val="0E7490"/>
            </a:solidFill>
            <a:prstDash val="solid"/>
          </a:ln>
        </p:spPr>
      </p:sp>
      <p:sp>
        <p:nvSpPr>
          <p:cNvPr id="14" name="Text 12"/>
          <p:cNvSpPr txBox="1"/>
          <p:nvPr/>
        </p:nvSpPr>
        <p:spPr>
          <a:xfrm>
            <a:off x="2523744" y="1563624"/>
            <a:ext cx="420624" cy="420624"/>
          </a:xfrm>
          <a:prstGeom prst="rect">
            <a:avLst/>
          </a:prstGeom>
          <a:noFill/>
          <a:ln/>
        </p:spPr>
        <p:txBody>
          <a:bodyPr wrap="square" lIns="0" tIns="0" rIns="0" bIns="0" rtlCol="0" anchor="ctr"/>
          <a:lstStyle/>
          <a:p>
            <a:pPr marL="0" indent="0" algn="ctr">
              <a:buNone/>
            </a:pPr>
            <a:r>
              <a:rPr lang="en-US" sz="1200" b="1" dirty="0">
                <a:solidFill>
                  <a:srgbClr val="1B2233"/>
                </a:solidFill>
                <a:latin typeface="Courier New" pitchFamily="34" charset="0"/>
                <a:ea typeface="Courier New" pitchFamily="34" charset="-122"/>
                <a:cs typeface="Courier New" pitchFamily="34" charset="-120"/>
              </a:rPr>
              <a:t>23</a:t>
            </a:r>
            <a:endParaRPr lang="en-US" sz="1200" dirty="0"/>
          </a:p>
        </p:txBody>
      </p:sp>
      <p:sp>
        <p:nvSpPr>
          <p:cNvPr id="15" name="Shape 13"/>
          <p:cNvSpPr/>
          <p:nvPr/>
        </p:nvSpPr>
        <p:spPr>
          <a:xfrm>
            <a:off x="3008376" y="1563624"/>
            <a:ext cx="420624" cy="420624"/>
          </a:xfrm>
          <a:prstGeom prst="roundRect">
            <a:avLst>
              <a:gd name="adj" fmla="val 17391"/>
            </a:avLst>
          </a:prstGeom>
          <a:solidFill>
            <a:srgbClr val="FFFFFF"/>
          </a:solidFill>
          <a:ln w="22225">
            <a:solidFill>
              <a:srgbClr val="0E7490"/>
            </a:solidFill>
            <a:prstDash val="solid"/>
          </a:ln>
        </p:spPr>
      </p:sp>
      <p:sp>
        <p:nvSpPr>
          <p:cNvPr id="16" name="Text 14"/>
          <p:cNvSpPr txBox="1"/>
          <p:nvPr/>
        </p:nvSpPr>
        <p:spPr>
          <a:xfrm>
            <a:off x="3008376" y="1563624"/>
            <a:ext cx="420624" cy="420624"/>
          </a:xfrm>
          <a:prstGeom prst="rect">
            <a:avLst/>
          </a:prstGeom>
          <a:noFill/>
          <a:ln/>
        </p:spPr>
        <p:txBody>
          <a:bodyPr wrap="square" lIns="0" tIns="0" rIns="0" bIns="0" rtlCol="0" anchor="ctr"/>
          <a:lstStyle/>
          <a:p>
            <a:pPr marL="0" indent="0" algn="ctr">
              <a:buNone/>
            </a:pPr>
            <a:r>
              <a:rPr lang="en-US" sz="1200" b="1" dirty="0">
                <a:solidFill>
                  <a:srgbClr val="1B2233"/>
                </a:solidFill>
                <a:latin typeface="Courier New" pitchFamily="34" charset="0"/>
                <a:ea typeface="Courier New" pitchFamily="34" charset="-122"/>
                <a:cs typeface="Courier New" pitchFamily="34" charset="-120"/>
              </a:rPr>
              <a:t>32</a:t>
            </a:r>
            <a:endParaRPr lang="en-US" sz="1200" dirty="0"/>
          </a:p>
        </p:txBody>
      </p:sp>
      <p:sp>
        <p:nvSpPr>
          <p:cNvPr id="17" name="Shape 15"/>
          <p:cNvSpPr/>
          <p:nvPr/>
        </p:nvSpPr>
        <p:spPr>
          <a:xfrm>
            <a:off x="3493008" y="1563624"/>
            <a:ext cx="420624" cy="420624"/>
          </a:xfrm>
          <a:prstGeom prst="roundRect">
            <a:avLst>
              <a:gd name="adj" fmla="val 17391"/>
            </a:avLst>
          </a:prstGeom>
          <a:solidFill>
            <a:srgbClr val="FFFFFF"/>
          </a:solidFill>
          <a:ln w="22225">
            <a:solidFill>
              <a:srgbClr val="0E7490"/>
            </a:solidFill>
            <a:prstDash val="solid"/>
          </a:ln>
        </p:spPr>
      </p:sp>
      <p:sp>
        <p:nvSpPr>
          <p:cNvPr id="18" name="Text 16"/>
          <p:cNvSpPr txBox="1"/>
          <p:nvPr/>
        </p:nvSpPr>
        <p:spPr>
          <a:xfrm>
            <a:off x="3493008" y="1563624"/>
            <a:ext cx="420624" cy="420624"/>
          </a:xfrm>
          <a:prstGeom prst="rect">
            <a:avLst/>
          </a:prstGeom>
          <a:noFill/>
          <a:ln/>
        </p:spPr>
        <p:txBody>
          <a:bodyPr wrap="square" lIns="0" tIns="0" rIns="0" bIns="0" rtlCol="0" anchor="ctr"/>
          <a:lstStyle/>
          <a:p>
            <a:pPr marL="0" indent="0" algn="ctr">
              <a:buNone/>
            </a:pPr>
            <a:r>
              <a:rPr lang="en-US" sz="1200" b="1" dirty="0">
                <a:solidFill>
                  <a:srgbClr val="1B2233"/>
                </a:solidFill>
                <a:latin typeface="Courier New" pitchFamily="34" charset="0"/>
                <a:ea typeface="Courier New" pitchFamily="34" charset="-122"/>
                <a:cs typeface="Courier New" pitchFamily="34" charset="-120"/>
              </a:rPr>
              <a:t>5</a:t>
            </a:r>
            <a:endParaRPr lang="en-US" sz="1200" dirty="0"/>
          </a:p>
        </p:txBody>
      </p:sp>
      <p:sp>
        <p:nvSpPr>
          <p:cNvPr id="19" name="Shape 17"/>
          <p:cNvSpPr/>
          <p:nvPr/>
        </p:nvSpPr>
        <p:spPr>
          <a:xfrm>
            <a:off x="3977640" y="1563624"/>
            <a:ext cx="420624" cy="420624"/>
          </a:xfrm>
          <a:prstGeom prst="roundRect">
            <a:avLst>
              <a:gd name="adj" fmla="val 17391"/>
            </a:avLst>
          </a:prstGeom>
          <a:solidFill>
            <a:srgbClr val="FFFFFF"/>
          </a:solidFill>
          <a:ln w="22225">
            <a:solidFill>
              <a:srgbClr val="0E7490"/>
            </a:solidFill>
            <a:prstDash val="solid"/>
          </a:ln>
        </p:spPr>
      </p:sp>
      <p:sp>
        <p:nvSpPr>
          <p:cNvPr id="20" name="Text 18"/>
          <p:cNvSpPr txBox="1"/>
          <p:nvPr/>
        </p:nvSpPr>
        <p:spPr>
          <a:xfrm>
            <a:off x="3977640" y="1563624"/>
            <a:ext cx="420624" cy="420624"/>
          </a:xfrm>
          <a:prstGeom prst="rect">
            <a:avLst/>
          </a:prstGeom>
          <a:noFill/>
          <a:ln/>
        </p:spPr>
        <p:txBody>
          <a:bodyPr wrap="square" lIns="0" tIns="0" rIns="0" bIns="0" rtlCol="0" anchor="ctr"/>
          <a:lstStyle/>
          <a:p>
            <a:pPr marL="0" indent="0" algn="ctr">
              <a:buNone/>
            </a:pPr>
            <a:r>
              <a:rPr lang="en-US" sz="1200" b="1" dirty="0">
                <a:solidFill>
                  <a:srgbClr val="1B2233"/>
                </a:solidFill>
                <a:latin typeface="Courier New" pitchFamily="34" charset="0"/>
                <a:ea typeface="Courier New" pitchFamily="34" charset="-122"/>
                <a:cs typeface="Courier New" pitchFamily="34" charset="-120"/>
              </a:rPr>
              <a:t>62</a:t>
            </a:r>
            <a:endParaRPr lang="en-US" sz="1200" dirty="0"/>
          </a:p>
        </p:txBody>
      </p:sp>
      <p:sp>
        <p:nvSpPr>
          <p:cNvPr id="21" name="Shape 19"/>
          <p:cNvSpPr/>
          <p:nvPr/>
        </p:nvSpPr>
        <p:spPr>
          <a:xfrm>
            <a:off x="4462272" y="1563624"/>
            <a:ext cx="420624" cy="420624"/>
          </a:xfrm>
          <a:prstGeom prst="roundRect">
            <a:avLst>
              <a:gd name="adj" fmla="val 17391"/>
            </a:avLst>
          </a:prstGeom>
          <a:solidFill>
            <a:srgbClr val="FFFFFF"/>
          </a:solidFill>
          <a:ln w="22225">
            <a:solidFill>
              <a:srgbClr val="0E7490"/>
            </a:solidFill>
            <a:prstDash val="solid"/>
          </a:ln>
        </p:spPr>
      </p:sp>
      <p:sp>
        <p:nvSpPr>
          <p:cNvPr id="22" name="Text 20"/>
          <p:cNvSpPr txBox="1"/>
          <p:nvPr/>
        </p:nvSpPr>
        <p:spPr>
          <a:xfrm>
            <a:off x="4462272" y="1563624"/>
            <a:ext cx="420624" cy="420624"/>
          </a:xfrm>
          <a:prstGeom prst="rect">
            <a:avLst/>
          </a:prstGeom>
          <a:noFill/>
          <a:ln/>
        </p:spPr>
        <p:txBody>
          <a:bodyPr wrap="square" lIns="0" tIns="0" rIns="0" bIns="0" rtlCol="0" anchor="ctr"/>
          <a:lstStyle/>
          <a:p>
            <a:pPr marL="0" indent="0" algn="ctr">
              <a:buNone/>
            </a:pPr>
            <a:r>
              <a:rPr lang="en-US" sz="1200" b="1" dirty="0">
                <a:solidFill>
                  <a:srgbClr val="1B2233"/>
                </a:solidFill>
                <a:latin typeface="Courier New" pitchFamily="34" charset="0"/>
                <a:ea typeface="Courier New" pitchFamily="34" charset="-122"/>
                <a:cs typeface="Courier New" pitchFamily="34" charset="-120"/>
              </a:rPr>
              <a:t>14</a:t>
            </a:r>
            <a:endParaRPr lang="en-US" sz="1200" dirty="0"/>
          </a:p>
        </p:txBody>
      </p:sp>
      <p:sp>
        <p:nvSpPr>
          <p:cNvPr id="23" name="Shape 21"/>
          <p:cNvSpPr/>
          <p:nvPr/>
        </p:nvSpPr>
        <p:spPr>
          <a:xfrm>
            <a:off x="4946904" y="1563624"/>
            <a:ext cx="420624" cy="420624"/>
          </a:xfrm>
          <a:prstGeom prst="roundRect">
            <a:avLst>
              <a:gd name="adj" fmla="val 17391"/>
            </a:avLst>
          </a:prstGeom>
          <a:solidFill>
            <a:srgbClr val="FFFFFF"/>
          </a:solidFill>
          <a:ln w="22225">
            <a:solidFill>
              <a:srgbClr val="0E7490"/>
            </a:solidFill>
            <a:prstDash val="solid"/>
          </a:ln>
        </p:spPr>
      </p:sp>
      <p:sp>
        <p:nvSpPr>
          <p:cNvPr id="24" name="Text 22"/>
          <p:cNvSpPr txBox="1"/>
          <p:nvPr/>
        </p:nvSpPr>
        <p:spPr>
          <a:xfrm>
            <a:off x="4946904" y="1563624"/>
            <a:ext cx="420624" cy="420624"/>
          </a:xfrm>
          <a:prstGeom prst="rect">
            <a:avLst/>
          </a:prstGeom>
          <a:noFill/>
          <a:ln/>
        </p:spPr>
        <p:txBody>
          <a:bodyPr wrap="square" lIns="0" tIns="0" rIns="0" bIns="0" rtlCol="0" anchor="ctr"/>
          <a:lstStyle/>
          <a:p>
            <a:pPr marL="0" indent="0" algn="ctr">
              <a:buNone/>
            </a:pPr>
            <a:r>
              <a:rPr lang="en-US" sz="1200" b="1" dirty="0">
                <a:solidFill>
                  <a:srgbClr val="1B2233"/>
                </a:solidFill>
                <a:latin typeface="Courier New" pitchFamily="34" charset="0"/>
                <a:ea typeface="Courier New" pitchFamily="34" charset="-122"/>
                <a:cs typeface="Courier New" pitchFamily="34" charset="-120"/>
              </a:rPr>
              <a:t>19</a:t>
            </a:r>
            <a:endParaRPr lang="en-US" sz="1200" dirty="0"/>
          </a:p>
        </p:txBody>
      </p:sp>
      <p:sp>
        <p:nvSpPr>
          <p:cNvPr id="25" name="Shape 23"/>
          <p:cNvSpPr/>
          <p:nvPr/>
        </p:nvSpPr>
        <p:spPr>
          <a:xfrm>
            <a:off x="5760720" y="1600200"/>
            <a:ext cx="3291840" cy="365760"/>
          </a:xfrm>
          <a:prstGeom prst="roundRect">
            <a:avLst>
              <a:gd name="adj" fmla="val 50000"/>
            </a:avLst>
          </a:prstGeom>
          <a:solidFill>
            <a:srgbClr val="E5E7EB"/>
          </a:solidFill>
          <a:ln/>
        </p:spPr>
      </p:sp>
      <p:sp>
        <p:nvSpPr>
          <p:cNvPr id="26" name="Text 24"/>
          <p:cNvSpPr txBox="1"/>
          <p:nvPr/>
        </p:nvSpPr>
        <p:spPr>
          <a:xfrm>
            <a:off x="5760720" y="1600200"/>
            <a:ext cx="3291840" cy="365760"/>
          </a:xfrm>
          <a:prstGeom prst="rect">
            <a:avLst/>
          </a:prstGeom>
          <a:noFill/>
          <a:ln/>
        </p:spPr>
        <p:txBody>
          <a:bodyPr wrap="square" lIns="101600" tIns="101600" rIns="101600" bIns="101600" rtlCol="0" anchor="ctr"/>
          <a:lstStyle/>
          <a:p>
            <a:pPr marL="0" indent="0" algn="l">
              <a:buNone/>
            </a:pPr>
            <a:r>
              <a:rPr lang="en-US" sz="1150" b="1" dirty="0">
                <a:solidFill>
                  <a:srgbClr val="1B2233"/>
                </a:solidFill>
                <a:latin typeface="Calibri" pitchFamily="34" charset="0"/>
                <a:ea typeface="Calibri" pitchFamily="34" charset="-122"/>
                <a:cs typeface="Calibri" pitchFamily="34" charset="-120"/>
              </a:rPr>
              <a:t>34 ≠ 5  →  continue</a:t>
            </a:r>
            <a:endParaRPr lang="en-US" sz="1150" dirty="0"/>
          </a:p>
        </p:txBody>
      </p:sp>
      <p:sp>
        <p:nvSpPr>
          <p:cNvPr id="27" name="Shape 25"/>
          <p:cNvSpPr/>
          <p:nvPr/>
        </p:nvSpPr>
        <p:spPr>
          <a:xfrm>
            <a:off x="9235440" y="1600200"/>
            <a:ext cx="2377440" cy="365760"/>
          </a:xfrm>
          <a:prstGeom prst="roundRect">
            <a:avLst>
              <a:gd name="adj" fmla="val 50000"/>
            </a:avLst>
          </a:prstGeom>
          <a:solidFill>
            <a:srgbClr val="FFFFFF"/>
          </a:solidFill>
          <a:ln w="12700">
            <a:solidFill>
              <a:srgbClr val="B8E0EA"/>
            </a:solidFill>
            <a:prstDash val="solid"/>
          </a:ln>
        </p:spPr>
      </p:sp>
      <p:sp>
        <p:nvSpPr>
          <p:cNvPr id="28" name="Text 26"/>
          <p:cNvSpPr txBox="1"/>
          <p:nvPr/>
        </p:nvSpPr>
        <p:spPr>
          <a:xfrm>
            <a:off x="9235440" y="1600200"/>
            <a:ext cx="2377440" cy="365760"/>
          </a:xfrm>
          <a:prstGeom prst="rect">
            <a:avLst/>
          </a:prstGeom>
          <a:noFill/>
          <a:ln/>
        </p:spPr>
        <p:txBody>
          <a:bodyPr wrap="square" lIns="0" tIns="0" rIns="0" bIns="0" rtlCol="0" anchor="ctr"/>
          <a:lstStyle/>
          <a:p>
            <a:pPr marL="0" indent="0" algn="ctr">
              <a:buNone/>
            </a:pPr>
            <a:r>
              <a:rPr lang="en-US" sz="1100" b="1" dirty="0">
                <a:solidFill>
                  <a:srgbClr val="5B6584"/>
                </a:solidFill>
                <a:latin typeface="Calibri" pitchFamily="34" charset="0"/>
                <a:ea typeface="Calibri" pitchFamily="34" charset="-122"/>
                <a:cs typeface="Calibri" pitchFamily="34" charset="-120"/>
              </a:rPr>
              <a:t>1 comparison</a:t>
            </a:r>
            <a:endParaRPr lang="en-US" sz="1100" dirty="0"/>
          </a:p>
        </p:txBody>
      </p:sp>
      <p:sp>
        <p:nvSpPr>
          <p:cNvPr id="29" name="Shape 27"/>
          <p:cNvSpPr/>
          <p:nvPr/>
        </p:nvSpPr>
        <p:spPr>
          <a:xfrm>
            <a:off x="548640" y="2103120"/>
            <a:ext cx="868680" cy="365760"/>
          </a:xfrm>
          <a:prstGeom prst="roundRect">
            <a:avLst>
              <a:gd name="adj" fmla="val 50000"/>
            </a:avLst>
          </a:prstGeom>
          <a:solidFill>
            <a:srgbClr val="E6F5F9"/>
          </a:solidFill>
          <a:ln/>
        </p:spPr>
      </p:sp>
      <p:sp>
        <p:nvSpPr>
          <p:cNvPr id="30" name="Text 28"/>
          <p:cNvSpPr txBox="1"/>
          <p:nvPr/>
        </p:nvSpPr>
        <p:spPr>
          <a:xfrm>
            <a:off x="548640" y="2103120"/>
            <a:ext cx="868680" cy="365760"/>
          </a:xfrm>
          <a:prstGeom prst="rect">
            <a:avLst/>
          </a:prstGeom>
          <a:noFill/>
          <a:ln/>
        </p:spPr>
        <p:txBody>
          <a:bodyPr wrap="square" lIns="0" tIns="0" rIns="0" bIns="0" rtlCol="0" anchor="ctr"/>
          <a:lstStyle/>
          <a:p>
            <a:pPr marL="0" indent="0" algn="ctr">
              <a:buNone/>
            </a:pPr>
            <a:r>
              <a:rPr lang="en-US" sz="1100" b="1" dirty="0">
                <a:solidFill>
                  <a:srgbClr val="10242E"/>
                </a:solidFill>
                <a:latin typeface="Calibri" pitchFamily="34" charset="0"/>
                <a:ea typeface="Calibri" pitchFamily="34" charset="-122"/>
                <a:cs typeface="Calibri" pitchFamily="34" charset="-120"/>
              </a:rPr>
              <a:t>i = 1</a:t>
            </a:r>
            <a:endParaRPr lang="en-US" sz="1100" dirty="0"/>
          </a:p>
        </p:txBody>
      </p:sp>
      <p:sp>
        <p:nvSpPr>
          <p:cNvPr id="31" name="Shape 29"/>
          <p:cNvSpPr/>
          <p:nvPr/>
        </p:nvSpPr>
        <p:spPr>
          <a:xfrm>
            <a:off x="1554480" y="2066544"/>
            <a:ext cx="420624" cy="420624"/>
          </a:xfrm>
          <a:prstGeom prst="roundRect">
            <a:avLst>
              <a:gd name="adj" fmla="val 17391"/>
            </a:avLst>
          </a:prstGeom>
          <a:solidFill>
            <a:srgbClr val="E5E7EB"/>
          </a:solidFill>
          <a:ln w="22225">
            <a:solidFill>
              <a:srgbClr val="CBD0D6"/>
            </a:solidFill>
            <a:prstDash val="solid"/>
          </a:ln>
        </p:spPr>
      </p:sp>
      <p:sp>
        <p:nvSpPr>
          <p:cNvPr id="32" name="Text 30"/>
          <p:cNvSpPr txBox="1"/>
          <p:nvPr/>
        </p:nvSpPr>
        <p:spPr>
          <a:xfrm>
            <a:off x="1554480" y="2066544"/>
            <a:ext cx="420624" cy="420624"/>
          </a:xfrm>
          <a:prstGeom prst="rect">
            <a:avLst/>
          </a:prstGeom>
          <a:noFill/>
          <a:ln/>
        </p:spPr>
        <p:txBody>
          <a:bodyPr wrap="square" lIns="0" tIns="0" rIns="0" bIns="0" rtlCol="0" anchor="ctr"/>
          <a:lstStyle/>
          <a:p>
            <a:pPr marL="0" indent="0" algn="ctr">
              <a:buNone/>
            </a:pPr>
            <a:r>
              <a:rPr lang="en-US" sz="1200" b="1" dirty="0">
                <a:solidFill>
                  <a:srgbClr val="9CA3AF"/>
                </a:solidFill>
                <a:latin typeface="Courier New" pitchFamily="34" charset="0"/>
                <a:ea typeface="Courier New" pitchFamily="34" charset="-122"/>
                <a:cs typeface="Courier New" pitchFamily="34" charset="-120"/>
              </a:rPr>
              <a:t>34</a:t>
            </a:r>
            <a:endParaRPr lang="en-US" sz="1200" dirty="0"/>
          </a:p>
        </p:txBody>
      </p:sp>
      <p:sp>
        <p:nvSpPr>
          <p:cNvPr id="33" name="Shape 31"/>
          <p:cNvSpPr/>
          <p:nvPr/>
        </p:nvSpPr>
        <p:spPr>
          <a:xfrm>
            <a:off x="2039112" y="2066544"/>
            <a:ext cx="420624" cy="420624"/>
          </a:xfrm>
          <a:prstGeom prst="roundRect">
            <a:avLst>
              <a:gd name="adj" fmla="val 17391"/>
            </a:avLst>
          </a:prstGeom>
          <a:solidFill>
            <a:srgbClr val="D97706"/>
          </a:solidFill>
          <a:ln w="22225">
            <a:solidFill>
              <a:srgbClr val="D97706"/>
            </a:solidFill>
            <a:prstDash val="solid"/>
          </a:ln>
        </p:spPr>
      </p:sp>
      <p:sp>
        <p:nvSpPr>
          <p:cNvPr id="34" name="Text 32"/>
          <p:cNvSpPr txBox="1"/>
          <p:nvPr/>
        </p:nvSpPr>
        <p:spPr>
          <a:xfrm>
            <a:off x="2039112" y="2066544"/>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7</a:t>
            </a:r>
            <a:endParaRPr lang="en-US" sz="1200" dirty="0"/>
          </a:p>
        </p:txBody>
      </p:sp>
      <p:sp>
        <p:nvSpPr>
          <p:cNvPr id="35" name="Shape 33"/>
          <p:cNvSpPr/>
          <p:nvPr/>
        </p:nvSpPr>
        <p:spPr>
          <a:xfrm>
            <a:off x="2523744" y="2066544"/>
            <a:ext cx="420624" cy="420624"/>
          </a:xfrm>
          <a:prstGeom prst="roundRect">
            <a:avLst>
              <a:gd name="adj" fmla="val 17391"/>
            </a:avLst>
          </a:prstGeom>
          <a:solidFill>
            <a:srgbClr val="FFFFFF"/>
          </a:solidFill>
          <a:ln w="22225">
            <a:solidFill>
              <a:srgbClr val="0E7490"/>
            </a:solidFill>
            <a:prstDash val="solid"/>
          </a:ln>
        </p:spPr>
      </p:sp>
      <p:sp>
        <p:nvSpPr>
          <p:cNvPr id="36" name="Text 34"/>
          <p:cNvSpPr txBox="1"/>
          <p:nvPr/>
        </p:nvSpPr>
        <p:spPr>
          <a:xfrm>
            <a:off x="2523744" y="2066544"/>
            <a:ext cx="420624" cy="420624"/>
          </a:xfrm>
          <a:prstGeom prst="rect">
            <a:avLst/>
          </a:prstGeom>
          <a:noFill/>
          <a:ln/>
        </p:spPr>
        <p:txBody>
          <a:bodyPr wrap="square" lIns="0" tIns="0" rIns="0" bIns="0" rtlCol="0" anchor="ctr"/>
          <a:lstStyle/>
          <a:p>
            <a:pPr marL="0" indent="0" algn="ctr">
              <a:buNone/>
            </a:pPr>
            <a:r>
              <a:rPr lang="en-US" sz="1200" b="1" dirty="0">
                <a:solidFill>
                  <a:srgbClr val="1B2233"/>
                </a:solidFill>
                <a:latin typeface="Courier New" pitchFamily="34" charset="0"/>
                <a:ea typeface="Courier New" pitchFamily="34" charset="-122"/>
                <a:cs typeface="Courier New" pitchFamily="34" charset="-120"/>
              </a:rPr>
              <a:t>23</a:t>
            </a:r>
            <a:endParaRPr lang="en-US" sz="1200" dirty="0"/>
          </a:p>
        </p:txBody>
      </p:sp>
      <p:sp>
        <p:nvSpPr>
          <p:cNvPr id="37" name="Shape 35"/>
          <p:cNvSpPr/>
          <p:nvPr/>
        </p:nvSpPr>
        <p:spPr>
          <a:xfrm>
            <a:off x="3008376" y="2066544"/>
            <a:ext cx="420624" cy="420624"/>
          </a:xfrm>
          <a:prstGeom prst="roundRect">
            <a:avLst>
              <a:gd name="adj" fmla="val 17391"/>
            </a:avLst>
          </a:prstGeom>
          <a:solidFill>
            <a:srgbClr val="FFFFFF"/>
          </a:solidFill>
          <a:ln w="22225">
            <a:solidFill>
              <a:srgbClr val="0E7490"/>
            </a:solidFill>
            <a:prstDash val="solid"/>
          </a:ln>
        </p:spPr>
      </p:sp>
      <p:sp>
        <p:nvSpPr>
          <p:cNvPr id="38" name="Text 36"/>
          <p:cNvSpPr txBox="1"/>
          <p:nvPr/>
        </p:nvSpPr>
        <p:spPr>
          <a:xfrm>
            <a:off x="3008376" y="2066544"/>
            <a:ext cx="420624" cy="420624"/>
          </a:xfrm>
          <a:prstGeom prst="rect">
            <a:avLst/>
          </a:prstGeom>
          <a:noFill/>
          <a:ln/>
        </p:spPr>
        <p:txBody>
          <a:bodyPr wrap="square" lIns="0" tIns="0" rIns="0" bIns="0" rtlCol="0" anchor="ctr"/>
          <a:lstStyle/>
          <a:p>
            <a:pPr marL="0" indent="0" algn="ctr">
              <a:buNone/>
            </a:pPr>
            <a:r>
              <a:rPr lang="en-US" sz="1200" b="1" dirty="0">
                <a:solidFill>
                  <a:srgbClr val="1B2233"/>
                </a:solidFill>
                <a:latin typeface="Courier New" pitchFamily="34" charset="0"/>
                <a:ea typeface="Courier New" pitchFamily="34" charset="-122"/>
                <a:cs typeface="Courier New" pitchFamily="34" charset="-120"/>
              </a:rPr>
              <a:t>32</a:t>
            </a:r>
            <a:endParaRPr lang="en-US" sz="1200" dirty="0"/>
          </a:p>
        </p:txBody>
      </p:sp>
      <p:sp>
        <p:nvSpPr>
          <p:cNvPr id="39" name="Shape 37"/>
          <p:cNvSpPr/>
          <p:nvPr/>
        </p:nvSpPr>
        <p:spPr>
          <a:xfrm>
            <a:off x="3493008" y="2066544"/>
            <a:ext cx="420624" cy="420624"/>
          </a:xfrm>
          <a:prstGeom prst="roundRect">
            <a:avLst>
              <a:gd name="adj" fmla="val 17391"/>
            </a:avLst>
          </a:prstGeom>
          <a:solidFill>
            <a:srgbClr val="FFFFFF"/>
          </a:solidFill>
          <a:ln w="22225">
            <a:solidFill>
              <a:srgbClr val="0E7490"/>
            </a:solidFill>
            <a:prstDash val="solid"/>
          </a:ln>
        </p:spPr>
      </p:sp>
      <p:sp>
        <p:nvSpPr>
          <p:cNvPr id="40" name="Text 38"/>
          <p:cNvSpPr txBox="1"/>
          <p:nvPr/>
        </p:nvSpPr>
        <p:spPr>
          <a:xfrm>
            <a:off x="3493008" y="2066544"/>
            <a:ext cx="420624" cy="420624"/>
          </a:xfrm>
          <a:prstGeom prst="rect">
            <a:avLst/>
          </a:prstGeom>
          <a:noFill/>
          <a:ln/>
        </p:spPr>
        <p:txBody>
          <a:bodyPr wrap="square" lIns="0" tIns="0" rIns="0" bIns="0" rtlCol="0" anchor="ctr"/>
          <a:lstStyle/>
          <a:p>
            <a:pPr marL="0" indent="0" algn="ctr">
              <a:buNone/>
            </a:pPr>
            <a:r>
              <a:rPr lang="en-US" sz="1200" b="1" dirty="0">
                <a:solidFill>
                  <a:srgbClr val="1B2233"/>
                </a:solidFill>
                <a:latin typeface="Courier New" pitchFamily="34" charset="0"/>
                <a:ea typeface="Courier New" pitchFamily="34" charset="-122"/>
                <a:cs typeface="Courier New" pitchFamily="34" charset="-120"/>
              </a:rPr>
              <a:t>5</a:t>
            </a:r>
            <a:endParaRPr lang="en-US" sz="1200" dirty="0"/>
          </a:p>
        </p:txBody>
      </p:sp>
      <p:sp>
        <p:nvSpPr>
          <p:cNvPr id="41" name="Shape 39"/>
          <p:cNvSpPr/>
          <p:nvPr/>
        </p:nvSpPr>
        <p:spPr>
          <a:xfrm>
            <a:off x="3977640" y="2066544"/>
            <a:ext cx="420624" cy="420624"/>
          </a:xfrm>
          <a:prstGeom prst="roundRect">
            <a:avLst>
              <a:gd name="adj" fmla="val 17391"/>
            </a:avLst>
          </a:prstGeom>
          <a:solidFill>
            <a:srgbClr val="FFFFFF"/>
          </a:solidFill>
          <a:ln w="22225">
            <a:solidFill>
              <a:srgbClr val="0E7490"/>
            </a:solidFill>
            <a:prstDash val="solid"/>
          </a:ln>
        </p:spPr>
      </p:sp>
      <p:sp>
        <p:nvSpPr>
          <p:cNvPr id="42" name="Text 40"/>
          <p:cNvSpPr txBox="1"/>
          <p:nvPr/>
        </p:nvSpPr>
        <p:spPr>
          <a:xfrm>
            <a:off x="3977640" y="2066544"/>
            <a:ext cx="420624" cy="420624"/>
          </a:xfrm>
          <a:prstGeom prst="rect">
            <a:avLst/>
          </a:prstGeom>
          <a:noFill/>
          <a:ln/>
        </p:spPr>
        <p:txBody>
          <a:bodyPr wrap="square" lIns="0" tIns="0" rIns="0" bIns="0" rtlCol="0" anchor="ctr"/>
          <a:lstStyle/>
          <a:p>
            <a:pPr marL="0" indent="0" algn="ctr">
              <a:buNone/>
            </a:pPr>
            <a:r>
              <a:rPr lang="en-US" sz="1200" b="1" dirty="0">
                <a:solidFill>
                  <a:srgbClr val="1B2233"/>
                </a:solidFill>
                <a:latin typeface="Courier New" pitchFamily="34" charset="0"/>
                <a:ea typeface="Courier New" pitchFamily="34" charset="-122"/>
                <a:cs typeface="Courier New" pitchFamily="34" charset="-120"/>
              </a:rPr>
              <a:t>62</a:t>
            </a:r>
            <a:endParaRPr lang="en-US" sz="1200" dirty="0"/>
          </a:p>
        </p:txBody>
      </p:sp>
      <p:sp>
        <p:nvSpPr>
          <p:cNvPr id="43" name="Shape 41"/>
          <p:cNvSpPr/>
          <p:nvPr/>
        </p:nvSpPr>
        <p:spPr>
          <a:xfrm>
            <a:off x="4462272" y="2066544"/>
            <a:ext cx="420624" cy="420624"/>
          </a:xfrm>
          <a:prstGeom prst="roundRect">
            <a:avLst>
              <a:gd name="adj" fmla="val 17391"/>
            </a:avLst>
          </a:prstGeom>
          <a:solidFill>
            <a:srgbClr val="FFFFFF"/>
          </a:solidFill>
          <a:ln w="22225">
            <a:solidFill>
              <a:srgbClr val="0E7490"/>
            </a:solidFill>
            <a:prstDash val="solid"/>
          </a:ln>
        </p:spPr>
      </p:sp>
      <p:sp>
        <p:nvSpPr>
          <p:cNvPr id="44" name="Text 42"/>
          <p:cNvSpPr txBox="1"/>
          <p:nvPr/>
        </p:nvSpPr>
        <p:spPr>
          <a:xfrm>
            <a:off x="4462272" y="2066544"/>
            <a:ext cx="420624" cy="420624"/>
          </a:xfrm>
          <a:prstGeom prst="rect">
            <a:avLst/>
          </a:prstGeom>
          <a:noFill/>
          <a:ln/>
        </p:spPr>
        <p:txBody>
          <a:bodyPr wrap="square" lIns="0" tIns="0" rIns="0" bIns="0" rtlCol="0" anchor="ctr"/>
          <a:lstStyle/>
          <a:p>
            <a:pPr marL="0" indent="0" algn="ctr">
              <a:buNone/>
            </a:pPr>
            <a:r>
              <a:rPr lang="en-US" sz="1200" b="1" dirty="0">
                <a:solidFill>
                  <a:srgbClr val="1B2233"/>
                </a:solidFill>
                <a:latin typeface="Courier New" pitchFamily="34" charset="0"/>
                <a:ea typeface="Courier New" pitchFamily="34" charset="-122"/>
                <a:cs typeface="Courier New" pitchFamily="34" charset="-120"/>
              </a:rPr>
              <a:t>14</a:t>
            </a:r>
            <a:endParaRPr lang="en-US" sz="1200" dirty="0"/>
          </a:p>
        </p:txBody>
      </p:sp>
      <p:sp>
        <p:nvSpPr>
          <p:cNvPr id="45" name="Shape 43"/>
          <p:cNvSpPr/>
          <p:nvPr/>
        </p:nvSpPr>
        <p:spPr>
          <a:xfrm>
            <a:off x="4946904" y="2066544"/>
            <a:ext cx="420624" cy="420624"/>
          </a:xfrm>
          <a:prstGeom prst="roundRect">
            <a:avLst>
              <a:gd name="adj" fmla="val 17391"/>
            </a:avLst>
          </a:prstGeom>
          <a:solidFill>
            <a:srgbClr val="FFFFFF"/>
          </a:solidFill>
          <a:ln w="22225">
            <a:solidFill>
              <a:srgbClr val="0E7490"/>
            </a:solidFill>
            <a:prstDash val="solid"/>
          </a:ln>
        </p:spPr>
      </p:sp>
      <p:sp>
        <p:nvSpPr>
          <p:cNvPr id="46" name="Text 44"/>
          <p:cNvSpPr txBox="1"/>
          <p:nvPr/>
        </p:nvSpPr>
        <p:spPr>
          <a:xfrm>
            <a:off x="4946904" y="2066544"/>
            <a:ext cx="420624" cy="420624"/>
          </a:xfrm>
          <a:prstGeom prst="rect">
            <a:avLst/>
          </a:prstGeom>
          <a:noFill/>
          <a:ln/>
        </p:spPr>
        <p:txBody>
          <a:bodyPr wrap="square" lIns="0" tIns="0" rIns="0" bIns="0" rtlCol="0" anchor="ctr"/>
          <a:lstStyle/>
          <a:p>
            <a:pPr marL="0" indent="0" algn="ctr">
              <a:buNone/>
            </a:pPr>
            <a:r>
              <a:rPr lang="en-US" sz="1200" b="1" dirty="0">
                <a:solidFill>
                  <a:srgbClr val="1B2233"/>
                </a:solidFill>
                <a:latin typeface="Courier New" pitchFamily="34" charset="0"/>
                <a:ea typeface="Courier New" pitchFamily="34" charset="-122"/>
                <a:cs typeface="Courier New" pitchFamily="34" charset="-120"/>
              </a:rPr>
              <a:t>19</a:t>
            </a:r>
            <a:endParaRPr lang="en-US" sz="1200" dirty="0"/>
          </a:p>
        </p:txBody>
      </p:sp>
      <p:sp>
        <p:nvSpPr>
          <p:cNvPr id="47" name="Shape 45"/>
          <p:cNvSpPr/>
          <p:nvPr/>
        </p:nvSpPr>
        <p:spPr>
          <a:xfrm>
            <a:off x="5760720" y="2103120"/>
            <a:ext cx="3291840" cy="365760"/>
          </a:xfrm>
          <a:prstGeom prst="roundRect">
            <a:avLst>
              <a:gd name="adj" fmla="val 50000"/>
            </a:avLst>
          </a:prstGeom>
          <a:solidFill>
            <a:srgbClr val="E5E7EB"/>
          </a:solidFill>
          <a:ln/>
        </p:spPr>
      </p:sp>
      <p:sp>
        <p:nvSpPr>
          <p:cNvPr id="48" name="Text 46"/>
          <p:cNvSpPr txBox="1"/>
          <p:nvPr/>
        </p:nvSpPr>
        <p:spPr>
          <a:xfrm>
            <a:off x="5760720" y="2103120"/>
            <a:ext cx="3291840" cy="365760"/>
          </a:xfrm>
          <a:prstGeom prst="rect">
            <a:avLst/>
          </a:prstGeom>
          <a:noFill/>
          <a:ln/>
        </p:spPr>
        <p:txBody>
          <a:bodyPr wrap="square" lIns="101600" tIns="101600" rIns="101600" bIns="101600" rtlCol="0" anchor="ctr"/>
          <a:lstStyle/>
          <a:p>
            <a:pPr marL="0" indent="0" algn="l">
              <a:buNone/>
            </a:pPr>
            <a:r>
              <a:rPr lang="en-US" sz="1150" b="1" dirty="0">
                <a:solidFill>
                  <a:srgbClr val="1B2233"/>
                </a:solidFill>
                <a:latin typeface="Calibri" pitchFamily="34" charset="0"/>
                <a:ea typeface="Calibri" pitchFamily="34" charset="-122"/>
                <a:cs typeface="Calibri" pitchFamily="34" charset="-120"/>
              </a:rPr>
              <a:t>7 ≠ 5  →  continue</a:t>
            </a:r>
            <a:endParaRPr lang="en-US" sz="1150" dirty="0"/>
          </a:p>
        </p:txBody>
      </p:sp>
      <p:sp>
        <p:nvSpPr>
          <p:cNvPr id="49" name="Shape 47"/>
          <p:cNvSpPr/>
          <p:nvPr/>
        </p:nvSpPr>
        <p:spPr>
          <a:xfrm>
            <a:off x="9235440" y="2103120"/>
            <a:ext cx="2377440" cy="365760"/>
          </a:xfrm>
          <a:prstGeom prst="roundRect">
            <a:avLst>
              <a:gd name="adj" fmla="val 50000"/>
            </a:avLst>
          </a:prstGeom>
          <a:solidFill>
            <a:srgbClr val="FFFFFF"/>
          </a:solidFill>
          <a:ln w="12700">
            <a:solidFill>
              <a:srgbClr val="B8E0EA"/>
            </a:solidFill>
            <a:prstDash val="solid"/>
          </a:ln>
        </p:spPr>
      </p:sp>
      <p:sp>
        <p:nvSpPr>
          <p:cNvPr id="50" name="Text 48"/>
          <p:cNvSpPr txBox="1"/>
          <p:nvPr/>
        </p:nvSpPr>
        <p:spPr>
          <a:xfrm>
            <a:off x="9235440" y="2103120"/>
            <a:ext cx="2377440" cy="365760"/>
          </a:xfrm>
          <a:prstGeom prst="rect">
            <a:avLst/>
          </a:prstGeom>
          <a:noFill/>
          <a:ln/>
        </p:spPr>
        <p:txBody>
          <a:bodyPr wrap="square" lIns="0" tIns="0" rIns="0" bIns="0" rtlCol="0" anchor="ctr"/>
          <a:lstStyle/>
          <a:p>
            <a:pPr marL="0" indent="0" algn="ctr">
              <a:buNone/>
            </a:pPr>
            <a:r>
              <a:rPr lang="en-US" sz="1100" b="1" dirty="0">
                <a:solidFill>
                  <a:srgbClr val="5B6584"/>
                </a:solidFill>
                <a:latin typeface="Calibri" pitchFamily="34" charset="0"/>
                <a:ea typeface="Calibri" pitchFamily="34" charset="-122"/>
                <a:cs typeface="Calibri" pitchFamily="34" charset="-120"/>
              </a:rPr>
              <a:t>2 comparisons</a:t>
            </a:r>
            <a:endParaRPr lang="en-US" sz="1100" dirty="0"/>
          </a:p>
        </p:txBody>
      </p:sp>
      <p:sp>
        <p:nvSpPr>
          <p:cNvPr id="51" name="Shape 49"/>
          <p:cNvSpPr/>
          <p:nvPr/>
        </p:nvSpPr>
        <p:spPr>
          <a:xfrm>
            <a:off x="548640" y="2606040"/>
            <a:ext cx="868680" cy="365760"/>
          </a:xfrm>
          <a:prstGeom prst="roundRect">
            <a:avLst>
              <a:gd name="adj" fmla="val 50000"/>
            </a:avLst>
          </a:prstGeom>
          <a:solidFill>
            <a:srgbClr val="E6F5F9"/>
          </a:solidFill>
          <a:ln/>
        </p:spPr>
      </p:sp>
      <p:sp>
        <p:nvSpPr>
          <p:cNvPr id="52" name="Text 50"/>
          <p:cNvSpPr txBox="1"/>
          <p:nvPr/>
        </p:nvSpPr>
        <p:spPr>
          <a:xfrm>
            <a:off x="548640" y="2606040"/>
            <a:ext cx="868680" cy="365760"/>
          </a:xfrm>
          <a:prstGeom prst="rect">
            <a:avLst/>
          </a:prstGeom>
          <a:noFill/>
          <a:ln/>
        </p:spPr>
        <p:txBody>
          <a:bodyPr wrap="square" lIns="0" tIns="0" rIns="0" bIns="0" rtlCol="0" anchor="ctr"/>
          <a:lstStyle/>
          <a:p>
            <a:pPr marL="0" indent="0" algn="ctr">
              <a:buNone/>
            </a:pPr>
            <a:r>
              <a:rPr lang="en-US" sz="1100" b="1" dirty="0">
                <a:solidFill>
                  <a:srgbClr val="10242E"/>
                </a:solidFill>
                <a:latin typeface="Calibri" pitchFamily="34" charset="0"/>
                <a:ea typeface="Calibri" pitchFamily="34" charset="-122"/>
                <a:cs typeface="Calibri" pitchFamily="34" charset="-120"/>
              </a:rPr>
              <a:t>i = 2</a:t>
            </a:r>
            <a:endParaRPr lang="en-US" sz="1100" dirty="0"/>
          </a:p>
        </p:txBody>
      </p:sp>
      <p:sp>
        <p:nvSpPr>
          <p:cNvPr id="53" name="Shape 51"/>
          <p:cNvSpPr/>
          <p:nvPr/>
        </p:nvSpPr>
        <p:spPr>
          <a:xfrm>
            <a:off x="1554480" y="2569464"/>
            <a:ext cx="420624" cy="420624"/>
          </a:xfrm>
          <a:prstGeom prst="roundRect">
            <a:avLst>
              <a:gd name="adj" fmla="val 17391"/>
            </a:avLst>
          </a:prstGeom>
          <a:solidFill>
            <a:srgbClr val="E5E7EB"/>
          </a:solidFill>
          <a:ln w="22225">
            <a:solidFill>
              <a:srgbClr val="CBD0D6"/>
            </a:solidFill>
            <a:prstDash val="solid"/>
          </a:ln>
        </p:spPr>
      </p:sp>
      <p:sp>
        <p:nvSpPr>
          <p:cNvPr id="54" name="Text 52"/>
          <p:cNvSpPr txBox="1"/>
          <p:nvPr/>
        </p:nvSpPr>
        <p:spPr>
          <a:xfrm>
            <a:off x="1554480" y="2569464"/>
            <a:ext cx="420624" cy="420624"/>
          </a:xfrm>
          <a:prstGeom prst="rect">
            <a:avLst/>
          </a:prstGeom>
          <a:noFill/>
          <a:ln/>
        </p:spPr>
        <p:txBody>
          <a:bodyPr wrap="square" lIns="0" tIns="0" rIns="0" bIns="0" rtlCol="0" anchor="ctr"/>
          <a:lstStyle/>
          <a:p>
            <a:pPr marL="0" indent="0" algn="ctr">
              <a:buNone/>
            </a:pPr>
            <a:r>
              <a:rPr lang="en-US" sz="1200" b="1" dirty="0">
                <a:solidFill>
                  <a:srgbClr val="9CA3AF"/>
                </a:solidFill>
                <a:latin typeface="Courier New" pitchFamily="34" charset="0"/>
                <a:ea typeface="Courier New" pitchFamily="34" charset="-122"/>
                <a:cs typeface="Courier New" pitchFamily="34" charset="-120"/>
              </a:rPr>
              <a:t>34</a:t>
            </a:r>
            <a:endParaRPr lang="en-US" sz="1200" dirty="0"/>
          </a:p>
        </p:txBody>
      </p:sp>
      <p:sp>
        <p:nvSpPr>
          <p:cNvPr id="55" name="Shape 53"/>
          <p:cNvSpPr/>
          <p:nvPr/>
        </p:nvSpPr>
        <p:spPr>
          <a:xfrm>
            <a:off x="2039112" y="2569464"/>
            <a:ext cx="420624" cy="420624"/>
          </a:xfrm>
          <a:prstGeom prst="roundRect">
            <a:avLst>
              <a:gd name="adj" fmla="val 17391"/>
            </a:avLst>
          </a:prstGeom>
          <a:solidFill>
            <a:srgbClr val="E5E7EB"/>
          </a:solidFill>
          <a:ln w="22225">
            <a:solidFill>
              <a:srgbClr val="CBD0D6"/>
            </a:solidFill>
            <a:prstDash val="solid"/>
          </a:ln>
        </p:spPr>
      </p:sp>
      <p:sp>
        <p:nvSpPr>
          <p:cNvPr id="56" name="Text 54"/>
          <p:cNvSpPr txBox="1"/>
          <p:nvPr/>
        </p:nvSpPr>
        <p:spPr>
          <a:xfrm>
            <a:off x="2039112" y="2569464"/>
            <a:ext cx="420624" cy="420624"/>
          </a:xfrm>
          <a:prstGeom prst="rect">
            <a:avLst/>
          </a:prstGeom>
          <a:noFill/>
          <a:ln/>
        </p:spPr>
        <p:txBody>
          <a:bodyPr wrap="square" lIns="0" tIns="0" rIns="0" bIns="0" rtlCol="0" anchor="ctr"/>
          <a:lstStyle/>
          <a:p>
            <a:pPr marL="0" indent="0" algn="ctr">
              <a:buNone/>
            </a:pPr>
            <a:r>
              <a:rPr lang="en-US" sz="1200" b="1" dirty="0">
                <a:solidFill>
                  <a:srgbClr val="9CA3AF"/>
                </a:solidFill>
                <a:latin typeface="Courier New" pitchFamily="34" charset="0"/>
                <a:ea typeface="Courier New" pitchFamily="34" charset="-122"/>
                <a:cs typeface="Courier New" pitchFamily="34" charset="-120"/>
              </a:rPr>
              <a:t>7</a:t>
            </a:r>
            <a:endParaRPr lang="en-US" sz="1200" dirty="0"/>
          </a:p>
        </p:txBody>
      </p:sp>
      <p:sp>
        <p:nvSpPr>
          <p:cNvPr id="57" name="Shape 55"/>
          <p:cNvSpPr/>
          <p:nvPr/>
        </p:nvSpPr>
        <p:spPr>
          <a:xfrm>
            <a:off x="2523744" y="2569464"/>
            <a:ext cx="420624" cy="420624"/>
          </a:xfrm>
          <a:prstGeom prst="roundRect">
            <a:avLst>
              <a:gd name="adj" fmla="val 17391"/>
            </a:avLst>
          </a:prstGeom>
          <a:solidFill>
            <a:srgbClr val="D97706"/>
          </a:solidFill>
          <a:ln w="22225">
            <a:solidFill>
              <a:srgbClr val="D97706"/>
            </a:solidFill>
            <a:prstDash val="solid"/>
          </a:ln>
        </p:spPr>
      </p:sp>
      <p:sp>
        <p:nvSpPr>
          <p:cNvPr id="58" name="Text 56"/>
          <p:cNvSpPr txBox="1"/>
          <p:nvPr/>
        </p:nvSpPr>
        <p:spPr>
          <a:xfrm>
            <a:off x="2523744" y="2569464"/>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23</a:t>
            </a:r>
            <a:endParaRPr lang="en-US" sz="1200" dirty="0"/>
          </a:p>
        </p:txBody>
      </p:sp>
      <p:sp>
        <p:nvSpPr>
          <p:cNvPr id="59" name="Shape 57"/>
          <p:cNvSpPr/>
          <p:nvPr/>
        </p:nvSpPr>
        <p:spPr>
          <a:xfrm>
            <a:off x="3008376" y="2569464"/>
            <a:ext cx="420624" cy="420624"/>
          </a:xfrm>
          <a:prstGeom prst="roundRect">
            <a:avLst>
              <a:gd name="adj" fmla="val 17391"/>
            </a:avLst>
          </a:prstGeom>
          <a:solidFill>
            <a:srgbClr val="FFFFFF"/>
          </a:solidFill>
          <a:ln w="22225">
            <a:solidFill>
              <a:srgbClr val="0E7490"/>
            </a:solidFill>
            <a:prstDash val="solid"/>
          </a:ln>
        </p:spPr>
      </p:sp>
      <p:sp>
        <p:nvSpPr>
          <p:cNvPr id="60" name="Text 58"/>
          <p:cNvSpPr txBox="1"/>
          <p:nvPr/>
        </p:nvSpPr>
        <p:spPr>
          <a:xfrm>
            <a:off x="3008376" y="2569464"/>
            <a:ext cx="420624" cy="420624"/>
          </a:xfrm>
          <a:prstGeom prst="rect">
            <a:avLst/>
          </a:prstGeom>
          <a:noFill/>
          <a:ln/>
        </p:spPr>
        <p:txBody>
          <a:bodyPr wrap="square" lIns="0" tIns="0" rIns="0" bIns="0" rtlCol="0" anchor="ctr"/>
          <a:lstStyle/>
          <a:p>
            <a:pPr marL="0" indent="0" algn="ctr">
              <a:buNone/>
            </a:pPr>
            <a:r>
              <a:rPr lang="en-US" sz="1200" b="1" dirty="0">
                <a:solidFill>
                  <a:srgbClr val="1B2233"/>
                </a:solidFill>
                <a:latin typeface="Courier New" pitchFamily="34" charset="0"/>
                <a:ea typeface="Courier New" pitchFamily="34" charset="-122"/>
                <a:cs typeface="Courier New" pitchFamily="34" charset="-120"/>
              </a:rPr>
              <a:t>32</a:t>
            </a:r>
            <a:endParaRPr lang="en-US" sz="1200" dirty="0"/>
          </a:p>
        </p:txBody>
      </p:sp>
      <p:sp>
        <p:nvSpPr>
          <p:cNvPr id="61" name="Shape 59"/>
          <p:cNvSpPr/>
          <p:nvPr/>
        </p:nvSpPr>
        <p:spPr>
          <a:xfrm>
            <a:off x="3493008" y="2569464"/>
            <a:ext cx="420624" cy="420624"/>
          </a:xfrm>
          <a:prstGeom prst="roundRect">
            <a:avLst>
              <a:gd name="adj" fmla="val 17391"/>
            </a:avLst>
          </a:prstGeom>
          <a:solidFill>
            <a:srgbClr val="FFFFFF"/>
          </a:solidFill>
          <a:ln w="22225">
            <a:solidFill>
              <a:srgbClr val="0E7490"/>
            </a:solidFill>
            <a:prstDash val="solid"/>
          </a:ln>
        </p:spPr>
      </p:sp>
      <p:sp>
        <p:nvSpPr>
          <p:cNvPr id="62" name="Text 60"/>
          <p:cNvSpPr txBox="1"/>
          <p:nvPr/>
        </p:nvSpPr>
        <p:spPr>
          <a:xfrm>
            <a:off x="3493008" y="2569464"/>
            <a:ext cx="420624" cy="420624"/>
          </a:xfrm>
          <a:prstGeom prst="rect">
            <a:avLst/>
          </a:prstGeom>
          <a:noFill/>
          <a:ln/>
        </p:spPr>
        <p:txBody>
          <a:bodyPr wrap="square" lIns="0" tIns="0" rIns="0" bIns="0" rtlCol="0" anchor="ctr"/>
          <a:lstStyle/>
          <a:p>
            <a:pPr marL="0" indent="0" algn="ctr">
              <a:buNone/>
            </a:pPr>
            <a:r>
              <a:rPr lang="en-US" sz="1200" b="1" dirty="0">
                <a:solidFill>
                  <a:srgbClr val="1B2233"/>
                </a:solidFill>
                <a:latin typeface="Courier New" pitchFamily="34" charset="0"/>
                <a:ea typeface="Courier New" pitchFamily="34" charset="-122"/>
                <a:cs typeface="Courier New" pitchFamily="34" charset="-120"/>
              </a:rPr>
              <a:t>5</a:t>
            </a:r>
            <a:endParaRPr lang="en-US" sz="1200" dirty="0"/>
          </a:p>
        </p:txBody>
      </p:sp>
      <p:sp>
        <p:nvSpPr>
          <p:cNvPr id="63" name="Shape 61"/>
          <p:cNvSpPr/>
          <p:nvPr/>
        </p:nvSpPr>
        <p:spPr>
          <a:xfrm>
            <a:off x="3977640" y="2569464"/>
            <a:ext cx="420624" cy="420624"/>
          </a:xfrm>
          <a:prstGeom prst="roundRect">
            <a:avLst>
              <a:gd name="adj" fmla="val 17391"/>
            </a:avLst>
          </a:prstGeom>
          <a:solidFill>
            <a:srgbClr val="FFFFFF"/>
          </a:solidFill>
          <a:ln w="22225">
            <a:solidFill>
              <a:srgbClr val="0E7490"/>
            </a:solidFill>
            <a:prstDash val="solid"/>
          </a:ln>
        </p:spPr>
      </p:sp>
      <p:sp>
        <p:nvSpPr>
          <p:cNvPr id="64" name="Text 62"/>
          <p:cNvSpPr txBox="1"/>
          <p:nvPr/>
        </p:nvSpPr>
        <p:spPr>
          <a:xfrm>
            <a:off x="3977640" y="2569464"/>
            <a:ext cx="420624" cy="420624"/>
          </a:xfrm>
          <a:prstGeom prst="rect">
            <a:avLst/>
          </a:prstGeom>
          <a:noFill/>
          <a:ln/>
        </p:spPr>
        <p:txBody>
          <a:bodyPr wrap="square" lIns="0" tIns="0" rIns="0" bIns="0" rtlCol="0" anchor="ctr"/>
          <a:lstStyle/>
          <a:p>
            <a:pPr marL="0" indent="0" algn="ctr">
              <a:buNone/>
            </a:pPr>
            <a:r>
              <a:rPr lang="en-US" sz="1200" b="1" dirty="0">
                <a:solidFill>
                  <a:srgbClr val="1B2233"/>
                </a:solidFill>
                <a:latin typeface="Courier New" pitchFamily="34" charset="0"/>
                <a:ea typeface="Courier New" pitchFamily="34" charset="-122"/>
                <a:cs typeface="Courier New" pitchFamily="34" charset="-120"/>
              </a:rPr>
              <a:t>62</a:t>
            </a:r>
            <a:endParaRPr lang="en-US" sz="1200" dirty="0"/>
          </a:p>
        </p:txBody>
      </p:sp>
      <p:sp>
        <p:nvSpPr>
          <p:cNvPr id="65" name="Shape 63"/>
          <p:cNvSpPr/>
          <p:nvPr/>
        </p:nvSpPr>
        <p:spPr>
          <a:xfrm>
            <a:off x="4462272" y="2569464"/>
            <a:ext cx="420624" cy="420624"/>
          </a:xfrm>
          <a:prstGeom prst="roundRect">
            <a:avLst>
              <a:gd name="adj" fmla="val 17391"/>
            </a:avLst>
          </a:prstGeom>
          <a:solidFill>
            <a:srgbClr val="FFFFFF"/>
          </a:solidFill>
          <a:ln w="22225">
            <a:solidFill>
              <a:srgbClr val="0E7490"/>
            </a:solidFill>
            <a:prstDash val="solid"/>
          </a:ln>
        </p:spPr>
      </p:sp>
      <p:sp>
        <p:nvSpPr>
          <p:cNvPr id="66" name="Text 64"/>
          <p:cNvSpPr txBox="1"/>
          <p:nvPr/>
        </p:nvSpPr>
        <p:spPr>
          <a:xfrm>
            <a:off x="4462272" y="2569464"/>
            <a:ext cx="420624" cy="420624"/>
          </a:xfrm>
          <a:prstGeom prst="rect">
            <a:avLst/>
          </a:prstGeom>
          <a:noFill/>
          <a:ln/>
        </p:spPr>
        <p:txBody>
          <a:bodyPr wrap="square" lIns="0" tIns="0" rIns="0" bIns="0" rtlCol="0" anchor="ctr"/>
          <a:lstStyle/>
          <a:p>
            <a:pPr marL="0" indent="0" algn="ctr">
              <a:buNone/>
            </a:pPr>
            <a:r>
              <a:rPr lang="en-US" sz="1200" b="1" dirty="0">
                <a:solidFill>
                  <a:srgbClr val="1B2233"/>
                </a:solidFill>
                <a:latin typeface="Courier New" pitchFamily="34" charset="0"/>
                <a:ea typeface="Courier New" pitchFamily="34" charset="-122"/>
                <a:cs typeface="Courier New" pitchFamily="34" charset="-120"/>
              </a:rPr>
              <a:t>14</a:t>
            </a:r>
            <a:endParaRPr lang="en-US" sz="1200" dirty="0"/>
          </a:p>
        </p:txBody>
      </p:sp>
      <p:sp>
        <p:nvSpPr>
          <p:cNvPr id="67" name="Shape 65"/>
          <p:cNvSpPr/>
          <p:nvPr/>
        </p:nvSpPr>
        <p:spPr>
          <a:xfrm>
            <a:off x="4946904" y="2569464"/>
            <a:ext cx="420624" cy="420624"/>
          </a:xfrm>
          <a:prstGeom prst="roundRect">
            <a:avLst>
              <a:gd name="adj" fmla="val 17391"/>
            </a:avLst>
          </a:prstGeom>
          <a:solidFill>
            <a:srgbClr val="FFFFFF"/>
          </a:solidFill>
          <a:ln w="22225">
            <a:solidFill>
              <a:srgbClr val="0E7490"/>
            </a:solidFill>
            <a:prstDash val="solid"/>
          </a:ln>
        </p:spPr>
      </p:sp>
      <p:sp>
        <p:nvSpPr>
          <p:cNvPr id="68" name="Text 66"/>
          <p:cNvSpPr txBox="1"/>
          <p:nvPr/>
        </p:nvSpPr>
        <p:spPr>
          <a:xfrm>
            <a:off x="4946904" y="2569464"/>
            <a:ext cx="420624" cy="420624"/>
          </a:xfrm>
          <a:prstGeom prst="rect">
            <a:avLst/>
          </a:prstGeom>
          <a:noFill/>
          <a:ln/>
        </p:spPr>
        <p:txBody>
          <a:bodyPr wrap="square" lIns="0" tIns="0" rIns="0" bIns="0" rtlCol="0" anchor="ctr"/>
          <a:lstStyle/>
          <a:p>
            <a:pPr marL="0" indent="0" algn="ctr">
              <a:buNone/>
            </a:pPr>
            <a:r>
              <a:rPr lang="en-US" sz="1200" b="1" dirty="0">
                <a:solidFill>
                  <a:srgbClr val="1B2233"/>
                </a:solidFill>
                <a:latin typeface="Courier New" pitchFamily="34" charset="0"/>
                <a:ea typeface="Courier New" pitchFamily="34" charset="-122"/>
                <a:cs typeface="Courier New" pitchFamily="34" charset="-120"/>
              </a:rPr>
              <a:t>19</a:t>
            </a:r>
            <a:endParaRPr lang="en-US" sz="1200" dirty="0"/>
          </a:p>
        </p:txBody>
      </p:sp>
      <p:sp>
        <p:nvSpPr>
          <p:cNvPr id="69" name="Shape 67"/>
          <p:cNvSpPr/>
          <p:nvPr/>
        </p:nvSpPr>
        <p:spPr>
          <a:xfrm>
            <a:off x="5760720" y="2606040"/>
            <a:ext cx="3291840" cy="365760"/>
          </a:xfrm>
          <a:prstGeom prst="roundRect">
            <a:avLst>
              <a:gd name="adj" fmla="val 50000"/>
            </a:avLst>
          </a:prstGeom>
          <a:solidFill>
            <a:srgbClr val="E5E7EB"/>
          </a:solidFill>
          <a:ln/>
        </p:spPr>
      </p:sp>
      <p:sp>
        <p:nvSpPr>
          <p:cNvPr id="70" name="Text 68"/>
          <p:cNvSpPr txBox="1"/>
          <p:nvPr/>
        </p:nvSpPr>
        <p:spPr>
          <a:xfrm>
            <a:off x="5760720" y="2606040"/>
            <a:ext cx="3291840" cy="365760"/>
          </a:xfrm>
          <a:prstGeom prst="rect">
            <a:avLst/>
          </a:prstGeom>
          <a:noFill/>
          <a:ln/>
        </p:spPr>
        <p:txBody>
          <a:bodyPr wrap="square" lIns="101600" tIns="101600" rIns="101600" bIns="101600" rtlCol="0" anchor="ctr"/>
          <a:lstStyle/>
          <a:p>
            <a:pPr marL="0" indent="0" algn="l">
              <a:buNone/>
            </a:pPr>
            <a:r>
              <a:rPr lang="en-US" sz="1150" b="1" dirty="0">
                <a:solidFill>
                  <a:srgbClr val="1B2233"/>
                </a:solidFill>
                <a:latin typeface="Calibri" pitchFamily="34" charset="0"/>
                <a:ea typeface="Calibri" pitchFamily="34" charset="-122"/>
                <a:cs typeface="Calibri" pitchFamily="34" charset="-120"/>
              </a:rPr>
              <a:t>23 ≠ 5  →  continue</a:t>
            </a:r>
            <a:endParaRPr lang="en-US" sz="1150" dirty="0"/>
          </a:p>
        </p:txBody>
      </p:sp>
      <p:sp>
        <p:nvSpPr>
          <p:cNvPr id="71" name="Shape 69"/>
          <p:cNvSpPr/>
          <p:nvPr/>
        </p:nvSpPr>
        <p:spPr>
          <a:xfrm>
            <a:off x="9235440" y="2606040"/>
            <a:ext cx="2377440" cy="365760"/>
          </a:xfrm>
          <a:prstGeom prst="roundRect">
            <a:avLst>
              <a:gd name="adj" fmla="val 50000"/>
            </a:avLst>
          </a:prstGeom>
          <a:solidFill>
            <a:srgbClr val="FFFFFF"/>
          </a:solidFill>
          <a:ln w="12700">
            <a:solidFill>
              <a:srgbClr val="B8E0EA"/>
            </a:solidFill>
            <a:prstDash val="solid"/>
          </a:ln>
        </p:spPr>
      </p:sp>
      <p:sp>
        <p:nvSpPr>
          <p:cNvPr id="72" name="Text 70"/>
          <p:cNvSpPr txBox="1"/>
          <p:nvPr/>
        </p:nvSpPr>
        <p:spPr>
          <a:xfrm>
            <a:off x="9235440" y="2606040"/>
            <a:ext cx="2377440" cy="365760"/>
          </a:xfrm>
          <a:prstGeom prst="rect">
            <a:avLst/>
          </a:prstGeom>
          <a:noFill/>
          <a:ln/>
        </p:spPr>
        <p:txBody>
          <a:bodyPr wrap="square" lIns="0" tIns="0" rIns="0" bIns="0" rtlCol="0" anchor="ctr"/>
          <a:lstStyle/>
          <a:p>
            <a:pPr marL="0" indent="0" algn="ctr">
              <a:buNone/>
            </a:pPr>
            <a:r>
              <a:rPr lang="en-US" sz="1100" b="1" dirty="0">
                <a:solidFill>
                  <a:srgbClr val="5B6584"/>
                </a:solidFill>
                <a:latin typeface="Calibri" pitchFamily="34" charset="0"/>
                <a:ea typeface="Calibri" pitchFamily="34" charset="-122"/>
                <a:cs typeface="Calibri" pitchFamily="34" charset="-120"/>
              </a:rPr>
              <a:t>3 comparisons</a:t>
            </a:r>
            <a:endParaRPr lang="en-US" sz="1100" dirty="0"/>
          </a:p>
        </p:txBody>
      </p:sp>
      <p:sp>
        <p:nvSpPr>
          <p:cNvPr id="73" name="Shape 71"/>
          <p:cNvSpPr/>
          <p:nvPr/>
        </p:nvSpPr>
        <p:spPr>
          <a:xfrm>
            <a:off x="548640" y="3108960"/>
            <a:ext cx="868680" cy="365760"/>
          </a:xfrm>
          <a:prstGeom prst="roundRect">
            <a:avLst>
              <a:gd name="adj" fmla="val 50000"/>
            </a:avLst>
          </a:prstGeom>
          <a:solidFill>
            <a:srgbClr val="E6F5F9"/>
          </a:solidFill>
          <a:ln/>
        </p:spPr>
      </p:sp>
      <p:sp>
        <p:nvSpPr>
          <p:cNvPr id="74" name="Text 72"/>
          <p:cNvSpPr txBox="1"/>
          <p:nvPr/>
        </p:nvSpPr>
        <p:spPr>
          <a:xfrm>
            <a:off x="548640" y="3108960"/>
            <a:ext cx="868680" cy="365760"/>
          </a:xfrm>
          <a:prstGeom prst="rect">
            <a:avLst/>
          </a:prstGeom>
          <a:noFill/>
          <a:ln/>
        </p:spPr>
        <p:txBody>
          <a:bodyPr wrap="square" lIns="0" tIns="0" rIns="0" bIns="0" rtlCol="0" anchor="ctr"/>
          <a:lstStyle/>
          <a:p>
            <a:pPr marL="0" indent="0" algn="ctr">
              <a:buNone/>
            </a:pPr>
            <a:r>
              <a:rPr lang="en-US" sz="1100" b="1" dirty="0">
                <a:solidFill>
                  <a:srgbClr val="10242E"/>
                </a:solidFill>
                <a:latin typeface="Calibri" pitchFamily="34" charset="0"/>
                <a:ea typeface="Calibri" pitchFamily="34" charset="-122"/>
                <a:cs typeface="Calibri" pitchFamily="34" charset="-120"/>
              </a:rPr>
              <a:t>i = 3</a:t>
            </a:r>
            <a:endParaRPr lang="en-US" sz="1100" dirty="0"/>
          </a:p>
        </p:txBody>
      </p:sp>
      <p:sp>
        <p:nvSpPr>
          <p:cNvPr id="75" name="Shape 73"/>
          <p:cNvSpPr/>
          <p:nvPr/>
        </p:nvSpPr>
        <p:spPr>
          <a:xfrm>
            <a:off x="1554480" y="3072384"/>
            <a:ext cx="420624" cy="420624"/>
          </a:xfrm>
          <a:prstGeom prst="roundRect">
            <a:avLst>
              <a:gd name="adj" fmla="val 17391"/>
            </a:avLst>
          </a:prstGeom>
          <a:solidFill>
            <a:srgbClr val="E5E7EB"/>
          </a:solidFill>
          <a:ln w="22225">
            <a:solidFill>
              <a:srgbClr val="CBD0D6"/>
            </a:solidFill>
            <a:prstDash val="solid"/>
          </a:ln>
        </p:spPr>
      </p:sp>
      <p:sp>
        <p:nvSpPr>
          <p:cNvPr id="76" name="Text 74"/>
          <p:cNvSpPr txBox="1"/>
          <p:nvPr/>
        </p:nvSpPr>
        <p:spPr>
          <a:xfrm>
            <a:off x="1554480" y="3072384"/>
            <a:ext cx="420624" cy="420624"/>
          </a:xfrm>
          <a:prstGeom prst="rect">
            <a:avLst/>
          </a:prstGeom>
          <a:noFill/>
          <a:ln/>
        </p:spPr>
        <p:txBody>
          <a:bodyPr wrap="square" lIns="0" tIns="0" rIns="0" bIns="0" rtlCol="0" anchor="ctr"/>
          <a:lstStyle/>
          <a:p>
            <a:pPr marL="0" indent="0" algn="ctr">
              <a:buNone/>
            </a:pPr>
            <a:r>
              <a:rPr lang="en-US" sz="1200" b="1" dirty="0">
                <a:solidFill>
                  <a:srgbClr val="9CA3AF"/>
                </a:solidFill>
                <a:latin typeface="Courier New" pitchFamily="34" charset="0"/>
                <a:ea typeface="Courier New" pitchFamily="34" charset="-122"/>
                <a:cs typeface="Courier New" pitchFamily="34" charset="-120"/>
              </a:rPr>
              <a:t>34</a:t>
            </a:r>
            <a:endParaRPr lang="en-US" sz="1200" dirty="0"/>
          </a:p>
        </p:txBody>
      </p:sp>
      <p:sp>
        <p:nvSpPr>
          <p:cNvPr id="77" name="Shape 75"/>
          <p:cNvSpPr/>
          <p:nvPr/>
        </p:nvSpPr>
        <p:spPr>
          <a:xfrm>
            <a:off x="2039112" y="3072384"/>
            <a:ext cx="420624" cy="420624"/>
          </a:xfrm>
          <a:prstGeom prst="roundRect">
            <a:avLst>
              <a:gd name="adj" fmla="val 17391"/>
            </a:avLst>
          </a:prstGeom>
          <a:solidFill>
            <a:srgbClr val="E5E7EB"/>
          </a:solidFill>
          <a:ln w="22225">
            <a:solidFill>
              <a:srgbClr val="CBD0D6"/>
            </a:solidFill>
            <a:prstDash val="solid"/>
          </a:ln>
        </p:spPr>
      </p:sp>
      <p:sp>
        <p:nvSpPr>
          <p:cNvPr id="78" name="Text 76"/>
          <p:cNvSpPr txBox="1"/>
          <p:nvPr/>
        </p:nvSpPr>
        <p:spPr>
          <a:xfrm>
            <a:off x="2039112" y="3072384"/>
            <a:ext cx="420624" cy="420624"/>
          </a:xfrm>
          <a:prstGeom prst="rect">
            <a:avLst/>
          </a:prstGeom>
          <a:noFill/>
          <a:ln/>
        </p:spPr>
        <p:txBody>
          <a:bodyPr wrap="square" lIns="0" tIns="0" rIns="0" bIns="0" rtlCol="0" anchor="ctr"/>
          <a:lstStyle/>
          <a:p>
            <a:pPr marL="0" indent="0" algn="ctr">
              <a:buNone/>
            </a:pPr>
            <a:r>
              <a:rPr lang="en-US" sz="1200" b="1" dirty="0">
                <a:solidFill>
                  <a:srgbClr val="9CA3AF"/>
                </a:solidFill>
                <a:latin typeface="Courier New" pitchFamily="34" charset="0"/>
                <a:ea typeface="Courier New" pitchFamily="34" charset="-122"/>
                <a:cs typeface="Courier New" pitchFamily="34" charset="-120"/>
              </a:rPr>
              <a:t>7</a:t>
            </a:r>
            <a:endParaRPr lang="en-US" sz="1200" dirty="0"/>
          </a:p>
        </p:txBody>
      </p:sp>
      <p:sp>
        <p:nvSpPr>
          <p:cNvPr id="79" name="Shape 77"/>
          <p:cNvSpPr/>
          <p:nvPr/>
        </p:nvSpPr>
        <p:spPr>
          <a:xfrm>
            <a:off x="2523744" y="3072384"/>
            <a:ext cx="420624" cy="420624"/>
          </a:xfrm>
          <a:prstGeom prst="roundRect">
            <a:avLst>
              <a:gd name="adj" fmla="val 17391"/>
            </a:avLst>
          </a:prstGeom>
          <a:solidFill>
            <a:srgbClr val="E5E7EB"/>
          </a:solidFill>
          <a:ln w="22225">
            <a:solidFill>
              <a:srgbClr val="CBD0D6"/>
            </a:solidFill>
            <a:prstDash val="solid"/>
          </a:ln>
        </p:spPr>
      </p:sp>
      <p:sp>
        <p:nvSpPr>
          <p:cNvPr id="80" name="Text 78"/>
          <p:cNvSpPr txBox="1"/>
          <p:nvPr/>
        </p:nvSpPr>
        <p:spPr>
          <a:xfrm>
            <a:off x="2523744" y="3072384"/>
            <a:ext cx="420624" cy="420624"/>
          </a:xfrm>
          <a:prstGeom prst="rect">
            <a:avLst/>
          </a:prstGeom>
          <a:noFill/>
          <a:ln/>
        </p:spPr>
        <p:txBody>
          <a:bodyPr wrap="square" lIns="0" tIns="0" rIns="0" bIns="0" rtlCol="0" anchor="ctr"/>
          <a:lstStyle/>
          <a:p>
            <a:pPr marL="0" indent="0" algn="ctr">
              <a:buNone/>
            </a:pPr>
            <a:r>
              <a:rPr lang="en-US" sz="1200" b="1" dirty="0">
                <a:solidFill>
                  <a:srgbClr val="9CA3AF"/>
                </a:solidFill>
                <a:latin typeface="Courier New" pitchFamily="34" charset="0"/>
                <a:ea typeface="Courier New" pitchFamily="34" charset="-122"/>
                <a:cs typeface="Courier New" pitchFamily="34" charset="-120"/>
              </a:rPr>
              <a:t>23</a:t>
            </a:r>
            <a:endParaRPr lang="en-US" sz="1200" dirty="0"/>
          </a:p>
        </p:txBody>
      </p:sp>
      <p:sp>
        <p:nvSpPr>
          <p:cNvPr id="81" name="Shape 79"/>
          <p:cNvSpPr/>
          <p:nvPr/>
        </p:nvSpPr>
        <p:spPr>
          <a:xfrm>
            <a:off x="3008376" y="3072384"/>
            <a:ext cx="420624" cy="420624"/>
          </a:xfrm>
          <a:prstGeom prst="roundRect">
            <a:avLst>
              <a:gd name="adj" fmla="val 17391"/>
            </a:avLst>
          </a:prstGeom>
          <a:solidFill>
            <a:srgbClr val="D97706"/>
          </a:solidFill>
          <a:ln w="22225">
            <a:solidFill>
              <a:srgbClr val="D97706"/>
            </a:solidFill>
            <a:prstDash val="solid"/>
          </a:ln>
        </p:spPr>
      </p:sp>
      <p:sp>
        <p:nvSpPr>
          <p:cNvPr id="82" name="Text 80"/>
          <p:cNvSpPr txBox="1"/>
          <p:nvPr/>
        </p:nvSpPr>
        <p:spPr>
          <a:xfrm>
            <a:off x="3008376" y="3072384"/>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32</a:t>
            </a:r>
            <a:endParaRPr lang="en-US" sz="1200" dirty="0"/>
          </a:p>
        </p:txBody>
      </p:sp>
      <p:sp>
        <p:nvSpPr>
          <p:cNvPr id="83" name="Shape 81"/>
          <p:cNvSpPr/>
          <p:nvPr/>
        </p:nvSpPr>
        <p:spPr>
          <a:xfrm>
            <a:off x="3493008" y="3072384"/>
            <a:ext cx="420624" cy="420624"/>
          </a:xfrm>
          <a:prstGeom prst="roundRect">
            <a:avLst>
              <a:gd name="adj" fmla="val 17391"/>
            </a:avLst>
          </a:prstGeom>
          <a:solidFill>
            <a:srgbClr val="FFFFFF"/>
          </a:solidFill>
          <a:ln w="22225">
            <a:solidFill>
              <a:srgbClr val="0E7490"/>
            </a:solidFill>
            <a:prstDash val="solid"/>
          </a:ln>
        </p:spPr>
      </p:sp>
      <p:sp>
        <p:nvSpPr>
          <p:cNvPr id="84" name="Text 82"/>
          <p:cNvSpPr txBox="1"/>
          <p:nvPr/>
        </p:nvSpPr>
        <p:spPr>
          <a:xfrm>
            <a:off x="3493008" y="3072384"/>
            <a:ext cx="420624" cy="420624"/>
          </a:xfrm>
          <a:prstGeom prst="rect">
            <a:avLst/>
          </a:prstGeom>
          <a:noFill/>
          <a:ln/>
        </p:spPr>
        <p:txBody>
          <a:bodyPr wrap="square" lIns="0" tIns="0" rIns="0" bIns="0" rtlCol="0" anchor="ctr"/>
          <a:lstStyle/>
          <a:p>
            <a:pPr marL="0" indent="0" algn="ctr">
              <a:buNone/>
            </a:pPr>
            <a:r>
              <a:rPr lang="en-US" sz="1200" b="1" dirty="0">
                <a:solidFill>
                  <a:srgbClr val="1B2233"/>
                </a:solidFill>
                <a:latin typeface="Courier New" pitchFamily="34" charset="0"/>
                <a:ea typeface="Courier New" pitchFamily="34" charset="-122"/>
                <a:cs typeface="Courier New" pitchFamily="34" charset="-120"/>
              </a:rPr>
              <a:t>5</a:t>
            </a:r>
            <a:endParaRPr lang="en-US" sz="1200" dirty="0"/>
          </a:p>
        </p:txBody>
      </p:sp>
      <p:sp>
        <p:nvSpPr>
          <p:cNvPr id="85" name="Shape 83"/>
          <p:cNvSpPr/>
          <p:nvPr/>
        </p:nvSpPr>
        <p:spPr>
          <a:xfrm>
            <a:off x="3977640" y="3072384"/>
            <a:ext cx="420624" cy="420624"/>
          </a:xfrm>
          <a:prstGeom prst="roundRect">
            <a:avLst>
              <a:gd name="adj" fmla="val 17391"/>
            </a:avLst>
          </a:prstGeom>
          <a:solidFill>
            <a:srgbClr val="FFFFFF"/>
          </a:solidFill>
          <a:ln w="22225">
            <a:solidFill>
              <a:srgbClr val="0E7490"/>
            </a:solidFill>
            <a:prstDash val="solid"/>
          </a:ln>
        </p:spPr>
      </p:sp>
      <p:sp>
        <p:nvSpPr>
          <p:cNvPr id="86" name="Text 84"/>
          <p:cNvSpPr txBox="1"/>
          <p:nvPr/>
        </p:nvSpPr>
        <p:spPr>
          <a:xfrm>
            <a:off x="3977640" y="3072384"/>
            <a:ext cx="420624" cy="420624"/>
          </a:xfrm>
          <a:prstGeom prst="rect">
            <a:avLst/>
          </a:prstGeom>
          <a:noFill/>
          <a:ln/>
        </p:spPr>
        <p:txBody>
          <a:bodyPr wrap="square" lIns="0" tIns="0" rIns="0" bIns="0" rtlCol="0" anchor="ctr"/>
          <a:lstStyle/>
          <a:p>
            <a:pPr marL="0" indent="0" algn="ctr">
              <a:buNone/>
            </a:pPr>
            <a:r>
              <a:rPr lang="en-US" sz="1200" b="1" dirty="0">
                <a:solidFill>
                  <a:srgbClr val="1B2233"/>
                </a:solidFill>
                <a:latin typeface="Courier New" pitchFamily="34" charset="0"/>
                <a:ea typeface="Courier New" pitchFamily="34" charset="-122"/>
                <a:cs typeface="Courier New" pitchFamily="34" charset="-120"/>
              </a:rPr>
              <a:t>62</a:t>
            </a:r>
            <a:endParaRPr lang="en-US" sz="1200" dirty="0"/>
          </a:p>
        </p:txBody>
      </p:sp>
      <p:sp>
        <p:nvSpPr>
          <p:cNvPr id="87" name="Shape 85"/>
          <p:cNvSpPr/>
          <p:nvPr/>
        </p:nvSpPr>
        <p:spPr>
          <a:xfrm>
            <a:off x="4462272" y="3072384"/>
            <a:ext cx="420624" cy="420624"/>
          </a:xfrm>
          <a:prstGeom prst="roundRect">
            <a:avLst>
              <a:gd name="adj" fmla="val 17391"/>
            </a:avLst>
          </a:prstGeom>
          <a:solidFill>
            <a:srgbClr val="FFFFFF"/>
          </a:solidFill>
          <a:ln w="22225">
            <a:solidFill>
              <a:srgbClr val="0E7490"/>
            </a:solidFill>
            <a:prstDash val="solid"/>
          </a:ln>
        </p:spPr>
      </p:sp>
      <p:sp>
        <p:nvSpPr>
          <p:cNvPr id="88" name="Text 86"/>
          <p:cNvSpPr txBox="1"/>
          <p:nvPr/>
        </p:nvSpPr>
        <p:spPr>
          <a:xfrm>
            <a:off x="4462272" y="3072384"/>
            <a:ext cx="420624" cy="420624"/>
          </a:xfrm>
          <a:prstGeom prst="rect">
            <a:avLst/>
          </a:prstGeom>
          <a:noFill/>
          <a:ln/>
        </p:spPr>
        <p:txBody>
          <a:bodyPr wrap="square" lIns="0" tIns="0" rIns="0" bIns="0" rtlCol="0" anchor="ctr"/>
          <a:lstStyle/>
          <a:p>
            <a:pPr marL="0" indent="0" algn="ctr">
              <a:buNone/>
            </a:pPr>
            <a:r>
              <a:rPr lang="en-US" sz="1200" b="1" dirty="0">
                <a:solidFill>
                  <a:srgbClr val="1B2233"/>
                </a:solidFill>
                <a:latin typeface="Courier New" pitchFamily="34" charset="0"/>
                <a:ea typeface="Courier New" pitchFamily="34" charset="-122"/>
                <a:cs typeface="Courier New" pitchFamily="34" charset="-120"/>
              </a:rPr>
              <a:t>14</a:t>
            </a:r>
            <a:endParaRPr lang="en-US" sz="1200" dirty="0"/>
          </a:p>
        </p:txBody>
      </p:sp>
      <p:sp>
        <p:nvSpPr>
          <p:cNvPr id="89" name="Shape 87"/>
          <p:cNvSpPr/>
          <p:nvPr/>
        </p:nvSpPr>
        <p:spPr>
          <a:xfrm>
            <a:off x="4946904" y="3072384"/>
            <a:ext cx="420624" cy="420624"/>
          </a:xfrm>
          <a:prstGeom prst="roundRect">
            <a:avLst>
              <a:gd name="adj" fmla="val 17391"/>
            </a:avLst>
          </a:prstGeom>
          <a:solidFill>
            <a:srgbClr val="FFFFFF"/>
          </a:solidFill>
          <a:ln w="22225">
            <a:solidFill>
              <a:srgbClr val="0E7490"/>
            </a:solidFill>
            <a:prstDash val="solid"/>
          </a:ln>
        </p:spPr>
      </p:sp>
      <p:sp>
        <p:nvSpPr>
          <p:cNvPr id="90" name="Text 88"/>
          <p:cNvSpPr txBox="1"/>
          <p:nvPr/>
        </p:nvSpPr>
        <p:spPr>
          <a:xfrm>
            <a:off x="4946904" y="3072384"/>
            <a:ext cx="420624" cy="420624"/>
          </a:xfrm>
          <a:prstGeom prst="rect">
            <a:avLst/>
          </a:prstGeom>
          <a:noFill/>
          <a:ln/>
        </p:spPr>
        <p:txBody>
          <a:bodyPr wrap="square" lIns="0" tIns="0" rIns="0" bIns="0" rtlCol="0" anchor="ctr"/>
          <a:lstStyle/>
          <a:p>
            <a:pPr marL="0" indent="0" algn="ctr">
              <a:buNone/>
            </a:pPr>
            <a:r>
              <a:rPr lang="en-US" sz="1200" b="1" dirty="0">
                <a:solidFill>
                  <a:srgbClr val="1B2233"/>
                </a:solidFill>
                <a:latin typeface="Courier New" pitchFamily="34" charset="0"/>
                <a:ea typeface="Courier New" pitchFamily="34" charset="-122"/>
                <a:cs typeface="Courier New" pitchFamily="34" charset="-120"/>
              </a:rPr>
              <a:t>19</a:t>
            </a:r>
            <a:endParaRPr lang="en-US" sz="1200" dirty="0"/>
          </a:p>
        </p:txBody>
      </p:sp>
      <p:sp>
        <p:nvSpPr>
          <p:cNvPr id="91" name="Shape 89"/>
          <p:cNvSpPr/>
          <p:nvPr/>
        </p:nvSpPr>
        <p:spPr>
          <a:xfrm>
            <a:off x="5760720" y="3108960"/>
            <a:ext cx="3291840" cy="365760"/>
          </a:xfrm>
          <a:prstGeom prst="roundRect">
            <a:avLst>
              <a:gd name="adj" fmla="val 50000"/>
            </a:avLst>
          </a:prstGeom>
          <a:solidFill>
            <a:srgbClr val="E5E7EB"/>
          </a:solidFill>
          <a:ln/>
        </p:spPr>
      </p:sp>
      <p:sp>
        <p:nvSpPr>
          <p:cNvPr id="92" name="Text 90"/>
          <p:cNvSpPr txBox="1"/>
          <p:nvPr/>
        </p:nvSpPr>
        <p:spPr>
          <a:xfrm>
            <a:off x="5760720" y="3108960"/>
            <a:ext cx="3291840" cy="365760"/>
          </a:xfrm>
          <a:prstGeom prst="rect">
            <a:avLst/>
          </a:prstGeom>
          <a:noFill/>
          <a:ln/>
        </p:spPr>
        <p:txBody>
          <a:bodyPr wrap="square" lIns="101600" tIns="101600" rIns="101600" bIns="101600" rtlCol="0" anchor="ctr"/>
          <a:lstStyle/>
          <a:p>
            <a:pPr marL="0" indent="0" algn="l">
              <a:buNone/>
            </a:pPr>
            <a:r>
              <a:rPr lang="en-US" sz="1150" b="1" dirty="0">
                <a:solidFill>
                  <a:srgbClr val="1B2233"/>
                </a:solidFill>
                <a:latin typeface="Calibri" pitchFamily="34" charset="0"/>
                <a:ea typeface="Calibri" pitchFamily="34" charset="-122"/>
                <a:cs typeface="Calibri" pitchFamily="34" charset="-120"/>
              </a:rPr>
              <a:t>32 ≠ 5  →  continue</a:t>
            </a:r>
            <a:endParaRPr lang="en-US" sz="1150" dirty="0"/>
          </a:p>
        </p:txBody>
      </p:sp>
      <p:sp>
        <p:nvSpPr>
          <p:cNvPr id="93" name="Shape 91"/>
          <p:cNvSpPr/>
          <p:nvPr/>
        </p:nvSpPr>
        <p:spPr>
          <a:xfrm>
            <a:off x="9235440" y="3108960"/>
            <a:ext cx="2377440" cy="365760"/>
          </a:xfrm>
          <a:prstGeom prst="roundRect">
            <a:avLst>
              <a:gd name="adj" fmla="val 50000"/>
            </a:avLst>
          </a:prstGeom>
          <a:solidFill>
            <a:srgbClr val="FFFFFF"/>
          </a:solidFill>
          <a:ln w="12700">
            <a:solidFill>
              <a:srgbClr val="B8E0EA"/>
            </a:solidFill>
            <a:prstDash val="solid"/>
          </a:ln>
        </p:spPr>
      </p:sp>
      <p:sp>
        <p:nvSpPr>
          <p:cNvPr id="94" name="Text 92"/>
          <p:cNvSpPr txBox="1"/>
          <p:nvPr/>
        </p:nvSpPr>
        <p:spPr>
          <a:xfrm>
            <a:off x="9235440" y="3108960"/>
            <a:ext cx="2377440" cy="365760"/>
          </a:xfrm>
          <a:prstGeom prst="rect">
            <a:avLst/>
          </a:prstGeom>
          <a:noFill/>
          <a:ln/>
        </p:spPr>
        <p:txBody>
          <a:bodyPr wrap="square" lIns="0" tIns="0" rIns="0" bIns="0" rtlCol="0" anchor="ctr"/>
          <a:lstStyle/>
          <a:p>
            <a:pPr marL="0" indent="0" algn="ctr">
              <a:buNone/>
            </a:pPr>
            <a:r>
              <a:rPr lang="en-US" sz="1100" b="1" dirty="0">
                <a:solidFill>
                  <a:srgbClr val="5B6584"/>
                </a:solidFill>
                <a:latin typeface="Calibri" pitchFamily="34" charset="0"/>
                <a:ea typeface="Calibri" pitchFamily="34" charset="-122"/>
                <a:cs typeface="Calibri" pitchFamily="34" charset="-120"/>
              </a:rPr>
              <a:t>4 comparisons</a:t>
            </a:r>
            <a:endParaRPr lang="en-US" sz="1100" dirty="0"/>
          </a:p>
        </p:txBody>
      </p:sp>
      <p:sp>
        <p:nvSpPr>
          <p:cNvPr id="95" name="Shape 93"/>
          <p:cNvSpPr/>
          <p:nvPr/>
        </p:nvSpPr>
        <p:spPr>
          <a:xfrm>
            <a:off x="548640" y="3611880"/>
            <a:ext cx="868680" cy="365760"/>
          </a:xfrm>
          <a:prstGeom prst="roundRect">
            <a:avLst>
              <a:gd name="adj" fmla="val 50000"/>
            </a:avLst>
          </a:prstGeom>
          <a:solidFill>
            <a:srgbClr val="E6F5F9"/>
          </a:solidFill>
          <a:ln/>
        </p:spPr>
      </p:sp>
      <p:sp>
        <p:nvSpPr>
          <p:cNvPr id="96" name="Text 94"/>
          <p:cNvSpPr txBox="1"/>
          <p:nvPr/>
        </p:nvSpPr>
        <p:spPr>
          <a:xfrm>
            <a:off x="548640" y="3611880"/>
            <a:ext cx="868680" cy="365760"/>
          </a:xfrm>
          <a:prstGeom prst="rect">
            <a:avLst/>
          </a:prstGeom>
          <a:noFill/>
          <a:ln/>
        </p:spPr>
        <p:txBody>
          <a:bodyPr wrap="square" lIns="0" tIns="0" rIns="0" bIns="0" rtlCol="0" anchor="ctr"/>
          <a:lstStyle/>
          <a:p>
            <a:pPr marL="0" indent="0" algn="ctr">
              <a:buNone/>
            </a:pPr>
            <a:r>
              <a:rPr lang="en-US" sz="1100" b="1" dirty="0">
                <a:solidFill>
                  <a:srgbClr val="10242E"/>
                </a:solidFill>
                <a:latin typeface="Calibri" pitchFamily="34" charset="0"/>
                <a:ea typeface="Calibri" pitchFamily="34" charset="-122"/>
                <a:cs typeface="Calibri" pitchFamily="34" charset="-120"/>
              </a:rPr>
              <a:t>i = 4</a:t>
            </a:r>
            <a:endParaRPr lang="en-US" sz="1100" dirty="0"/>
          </a:p>
        </p:txBody>
      </p:sp>
      <p:sp>
        <p:nvSpPr>
          <p:cNvPr id="97" name="Shape 95"/>
          <p:cNvSpPr/>
          <p:nvPr/>
        </p:nvSpPr>
        <p:spPr>
          <a:xfrm>
            <a:off x="1554480" y="3575304"/>
            <a:ext cx="420624" cy="420624"/>
          </a:xfrm>
          <a:prstGeom prst="roundRect">
            <a:avLst>
              <a:gd name="adj" fmla="val 17391"/>
            </a:avLst>
          </a:prstGeom>
          <a:solidFill>
            <a:srgbClr val="E5E7EB"/>
          </a:solidFill>
          <a:ln w="22225">
            <a:solidFill>
              <a:srgbClr val="CBD0D6"/>
            </a:solidFill>
            <a:prstDash val="solid"/>
          </a:ln>
        </p:spPr>
      </p:sp>
      <p:sp>
        <p:nvSpPr>
          <p:cNvPr id="98" name="Text 96"/>
          <p:cNvSpPr txBox="1"/>
          <p:nvPr/>
        </p:nvSpPr>
        <p:spPr>
          <a:xfrm>
            <a:off x="1554480" y="3575304"/>
            <a:ext cx="420624" cy="420624"/>
          </a:xfrm>
          <a:prstGeom prst="rect">
            <a:avLst/>
          </a:prstGeom>
          <a:noFill/>
          <a:ln/>
        </p:spPr>
        <p:txBody>
          <a:bodyPr wrap="square" lIns="0" tIns="0" rIns="0" bIns="0" rtlCol="0" anchor="ctr"/>
          <a:lstStyle/>
          <a:p>
            <a:pPr marL="0" indent="0" algn="ctr">
              <a:buNone/>
            </a:pPr>
            <a:r>
              <a:rPr lang="en-US" sz="1200" b="1" dirty="0">
                <a:solidFill>
                  <a:srgbClr val="9CA3AF"/>
                </a:solidFill>
                <a:latin typeface="Courier New" pitchFamily="34" charset="0"/>
                <a:ea typeface="Courier New" pitchFamily="34" charset="-122"/>
                <a:cs typeface="Courier New" pitchFamily="34" charset="-120"/>
              </a:rPr>
              <a:t>34</a:t>
            </a:r>
            <a:endParaRPr lang="en-US" sz="1200" dirty="0"/>
          </a:p>
        </p:txBody>
      </p:sp>
      <p:sp>
        <p:nvSpPr>
          <p:cNvPr id="99" name="Shape 97"/>
          <p:cNvSpPr/>
          <p:nvPr/>
        </p:nvSpPr>
        <p:spPr>
          <a:xfrm>
            <a:off x="2039112" y="3575304"/>
            <a:ext cx="420624" cy="420624"/>
          </a:xfrm>
          <a:prstGeom prst="roundRect">
            <a:avLst>
              <a:gd name="adj" fmla="val 17391"/>
            </a:avLst>
          </a:prstGeom>
          <a:solidFill>
            <a:srgbClr val="E5E7EB"/>
          </a:solidFill>
          <a:ln w="22225">
            <a:solidFill>
              <a:srgbClr val="CBD0D6"/>
            </a:solidFill>
            <a:prstDash val="solid"/>
          </a:ln>
        </p:spPr>
      </p:sp>
      <p:sp>
        <p:nvSpPr>
          <p:cNvPr id="100" name="Text 98"/>
          <p:cNvSpPr txBox="1"/>
          <p:nvPr/>
        </p:nvSpPr>
        <p:spPr>
          <a:xfrm>
            <a:off x="2039112" y="3575304"/>
            <a:ext cx="420624" cy="420624"/>
          </a:xfrm>
          <a:prstGeom prst="rect">
            <a:avLst/>
          </a:prstGeom>
          <a:noFill/>
          <a:ln/>
        </p:spPr>
        <p:txBody>
          <a:bodyPr wrap="square" lIns="0" tIns="0" rIns="0" bIns="0" rtlCol="0" anchor="ctr"/>
          <a:lstStyle/>
          <a:p>
            <a:pPr marL="0" indent="0" algn="ctr">
              <a:buNone/>
            </a:pPr>
            <a:r>
              <a:rPr lang="en-US" sz="1200" b="1" dirty="0">
                <a:solidFill>
                  <a:srgbClr val="9CA3AF"/>
                </a:solidFill>
                <a:latin typeface="Courier New" pitchFamily="34" charset="0"/>
                <a:ea typeface="Courier New" pitchFamily="34" charset="-122"/>
                <a:cs typeface="Courier New" pitchFamily="34" charset="-120"/>
              </a:rPr>
              <a:t>7</a:t>
            </a:r>
            <a:endParaRPr lang="en-US" sz="1200" dirty="0"/>
          </a:p>
        </p:txBody>
      </p:sp>
      <p:sp>
        <p:nvSpPr>
          <p:cNvPr id="101" name="Shape 99"/>
          <p:cNvSpPr/>
          <p:nvPr/>
        </p:nvSpPr>
        <p:spPr>
          <a:xfrm>
            <a:off x="2523744" y="3575304"/>
            <a:ext cx="420624" cy="420624"/>
          </a:xfrm>
          <a:prstGeom prst="roundRect">
            <a:avLst>
              <a:gd name="adj" fmla="val 17391"/>
            </a:avLst>
          </a:prstGeom>
          <a:solidFill>
            <a:srgbClr val="E5E7EB"/>
          </a:solidFill>
          <a:ln w="22225">
            <a:solidFill>
              <a:srgbClr val="CBD0D6"/>
            </a:solidFill>
            <a:prstDash val="solid"/>
          </a:ln>
        </p:spPr>
      </p:sp>
      <p:sp>
        <p:nvSpPr>
          <p:cNvPr id="102" name="Text 100"/>
          <p:cNvSpPr txBox="1"/>
          <p:nvPr/>
        </p:nvSpPr>
        <p:spPr>
          <a:xfrm>
            <a:off x="2523744" y="3575304"/>
            <a:ext cx="420624" cy="420624"/>
          </a:xfrm>
          <a:prstGeom prst="rect">
            <a:avLst/>
          </a:prstGeom>
          <a:noFill/>
          <a:ln/>
        </p:spPr>
        <p:txBody>
          <a:bodyPr wrap="square" lIns="0" tIns="0" rIns="0" bIns="0" rtlCol="0" anchor="ctr"/>
          <a:lstStyle/>
          <a:p>
            <a:pPr marL="0" indent="0" algn="ctr">
              <a:buNone/>
            </a:pPr>
            <a:r>
              <a:rPr lang="en-US" sz="1200" b="1" dirty="0">
                <a:solidFill>
                  <a:srgbClr val="9CA3AF"/>
                </a:solidFill>
                <a:latin typeface="Courier New" pitchFamily="34" charset="0"/>
                <a:ea typeface="Courier New" pitchFamily="34" charset="-122"/>
                <a:cs typeface="Courier New" pitchFamily="34" charset="-120"/>
              </a:rPr>
              <a:t>23</a:t>
            </a:r>
            <a:endParaRPr lang="en-US" sz="1200" dirty="0"/>
          </a:p>
        </p:txBody>
      </p:sp>
      <p:sp>
        <p:nvSpPr>
          <p:cNvPr id="103" name="Shape 101"/>
          <p:cNvSpPr/>
          <p:nvPr/>
        </p:nvSpPr>
        <p:spPr>
          <a:xfrm>
            <a:off x="3008376" y="3575304"/>
            <a:ext cx="420624" cy="420624"/>
          </a:xfrm>
          <a:prstGeom prst="roundRect">
            <a:avLst>
              <a:gd name="adj" fmla="val 17391"/>
            </a:avLst>
          </a:prstGeom>
          <a:solidFill>
            <a:srgbClr val="E5E7EB"/>
          </a:solidFill>
          <a:ln w="22225">
            <a:solidFill>
              <a:srgbClr val="CBD0D6"/>
            </a:solidFill>
            <a:prstDash val="solid"/>
          </a:ln>
        </p:spPr>
      </p:sp>
      <p:sp>
        <p:nvSpPr>
          <p:cNvPr id="104" name="Text 102"/>
          <p:cNvSpPr txBox="1"/>
          <p:nvPr/>
        </p:nvSpPr>
        <p:spPr>
          <a:xfrm>
            <a:off x="3008376" y="3575304"/>
            <a:ext cx="420624" cy="420624"/>
          </a:xfrm>
          <a:prstGeom prst="rect">
            <a:avLst/>
          </a:prstGeom>
          <a:noFill/>
          <a:ln/>
        </p:spPr>
        <p:txBody>
          <a:bodyPr wrap="square" lIns="0" tIns="0" rIns="0" bIns="0" rtlCol="0" anchor="ctr"/>
          <a:lstStyle/>
          <a:p>
            <a:pPr marL="0" indent="0" algn="ctr">
              <a:buNone/>
            </a:pPr>
            <a:r>
              <a:rPr lang="en-US" sz="1200" b="1" dirty="0">
                <a:solidFill>
                  <a:srgbClr val="9CA3AF"/>
                </a:solidFill>
                <a:latin typeface="Courier New" pitchFamily="34" charset="0"/>
                <a:ea typeface="Courier New" pitchFamily="34" charset="-122"/>
                <a:cs typeface="Courier New" pitchFamily="34" charset="-120"/>
              </a:rPr>
              <a:t>32</a:t>
            </a:r>
            <a:endParaRPr lang="en-US" sz="1200" dirty="0"/>
          </a:p>
        </p:txBody>
      </p:sp>
      <p:sp>
        <p:nvSpPr>
          <p:cNvPr id="105" name="Shape 103"/>
          <p:cNvSpPr/>
          <p:nvPr/>
        </p:nvSpPr>
        <p:spPr>
          <a:xfrm>
            <a:off x="3493008" y="3575304"/>
            <a:ext cx="420624" cy="420624"/>
          </a:xfrm>
          <a:prstGeom prst="roundRect">
            <a:avLst>
              <a:gd name="adj" fmla="val 17391"/>
            </a:avLst>
          </a:prstGeom>
          <a:solidFill>
            <a:srgbClr val="059669"/>
          </a:solidFill>
          <a:ln w="22225">
            <a:solidFill>
              <a:srgbClr val="059669"/>
            </a:solidFill>
            <a:prstDash val="solid"/>
          </a:ln>
        </p:spPr>
      </p:sp>
      <p:sp>
        <p:nvSpPr>
          <p:cNvPr id="106" name="Text 104"/>
          <p:cNvSpPr txBox="1"/>
          <p:nvPr/>
        </p:nvSpPr>
        <p:spPr>
          <a:xfrm>
            <a:off x="3493008" y="3575304"/>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5</a:t>
            </a:r>
            <a:endParaRPr lang="en-US" sz="1200" dirty="0"/>
          </a:p>
        </p:txBody>
      </p:sp>
      <p:sp>
        <p:nvSpPr>
          <p:cNvPr id="107" name="Shape 105"/>
          <p:cNvSpPr/>
          <p:nvPr/>
        </p:nvSpPr>
        <p:spPr>
          <a:xfrm>
            <a:off x="3977640" y="3575304"/>
            <a:ext cx="420624" cy="420624"/>
          </a:xfrm>
          <a:prstGeom prst="roundRect">
            <a:avLst>
              <a:gd name="adj" fmla="val 17391"/>
            </a:avLst>
          </a:prstGeom>
          <a:solidFill>
            <a:srgbClr val="FFFFFF"/>
          </a:solidFill>
          <a:ln w="22225">
            <a:solidFill>
              <a:srgbClr val="0E7490"/>
            </a:solidFill>
            <a:prstDash val="solid"/>
          </a:ln>
        </p:spPr>
      </p:sp>
      <p:sp>
        <p:nvSpPr>
          <p:cNvPr id="108" name="Text 106"/>
          <p:cNvSpPr txBox="1"/>
          <p:nvPr/>
        </p:nvSpPr>
        <p:spPr>
          <a:xfrm>
            <a:off x="3977640" y="3575304"/>
            <a:ext cx="420624" cy="420624"/>
          </a:xfrm>
          <a:prstGeom prst="rect">
            <a:avLst/>
          </a:prstGeom>
          <a:noFill/>
          <a:ln/>
        </p:spPr>
        <p:txBody>
          <a:bodyPr wrap="square" lIns="0" tIns="0" rIns="0" bIns="0" rtlCol="0" anchor="ctr"/>
          <a:lstStyle/>
          <a:p>
            <a:pPr marL="0" indent="0" algn="ctr">
              <a:buNone/>
            </a:pPr>
            <a:r>
              <a:rPr lang="en-US" sz="1200" b="1" dirty="0">
                <a:solidFill>
                  <a:srgbClr val="1B2233"/>
                </a:solidFill>
                <a:latin typeface="Courier New" pitchFamily="34" charset="0"/>
                <a:ea typeface="Courier New" pitchFamily="34" charset="-122"/>
                <a:cs typeface="Courier New" pitchFamily="34" charset="-120"/>
              </a:rPr>
              <a:t>62</a:t>
            </a:r>
            <a:endParaRPr lang="en-US" sz="1200" dirty="0"/>
          </a:p>
        </p:txBody>
      </p:sp>
      <p:sp>
        <p:nvSpPr>
          <p:cNvPr id="109" name="Shape 107"/>
          <p:cNvSpPr/>
          <p:nvPr/>
        </p:nvSpPr>
        <p:spPr>
          <a:xfrm>
            <a:off x="4462272" y="3575304"/>
            <a:ext cx="420624" cy="420624"/>
          </a:xfrm>
          <a:prstGeom prst="roundRect">
            <a:avLst>
              <a:gd name="adj" fmla="val 17391"/>
            </a:avLst>
          </a:prstGeom>
          <a:solidFill>
            <a:srgbClr val="FFFFFF"/>
          </a:solidFill>
          <a:ln w="22225">
            <a:solidFill>
              <a:srgbClr val="0E7490"/>
            </a:solidFill>
            <a:prstDash val="solid"/>
          </a:ln>
        </p:spPr>
      </p:sp>
      <p:sp>
        <p:nvSpPr>
          <p:cNvPr id="110" name="Text 108"/>
          <p:cNvSpPr txBox="1"/>
          <p:nvPr/>
        </p:nvSpPr>
        <p:spPr>
          <a:xfrm>
            <a:off x="4462272" y="3575304"/>
            <a:ext cx="420624" cy="420624"/>
          </a:xfrm>
          <a:prstGeom prst="rect">
            <a:avLst/>
          </a:prstGeom>
          <a:noFill/>
          <a:ln/>
        </p:spPr>
        <p:txBody>
          <a:bodyPr wrap="square" lIns="0" tIns="0" rIns="0" bIns="0" rtlCol="0" anchor="ctr"/>
          <a:lstStyle/>
          <a:p>
            <a:pPr marL="0" indent="0" algn="ctr">
              <a:buNone/>
            </a:pPr>
            <a:r>
              <a:rPr lang="en-US" sz="1200" b="1" dirty="0">
                <a:solidFill>
                  <a:srgbClr val="1B2233"/>
                </a:solidFill>
                <a:latin typeface="Courier New" pitchFamily="34" charset="0"/>
                <a:ea typeface="Courier New" pitchFamily="34" charset="-122"/>
                <a:cs typeface="Courier New" pitchFamily="34" charset="-120"/>
              </a:rPr>
              <a:t>14</a:t>
            </a:r>
            <a:endParaRPr lang="en-US" sz="1200" dirty="0"/>
          </a:p>
        </p:txBody>
      </p:sp>
      <p:sp>
        <p:nvSpPr>
          <p:cNvPr id="111" name="Shape 109"/>
          <p:cNvSpPr/>
          <p:nvPr/>
        </p:nvSpPr>
        <p:spPr>
          <a:xfrm>
            <a:off x="4946904" y="3575304"/>
            <a:ext cx="420624" cy="420624"/>
          </a:xfrm>
          <a:prstGeom prst="roundRect">
            <a:avLst>
              <a:gd name="adj" fmla="val 17391"/>
            </a:avLst>
          </a:prstGeom>
          <a:solidFill>
            <a:srgbClr val="FFFFFF"/>
          </a:solidFill>
          <a:ln w="22225">
            <a:solidFill>
              <a:srgbClr val="0E7490"/>
            </a:solidFill>
            <a:prstDash val="solid"/>
          </a:ln>
        </p:spPr>
      </p:sp>
      <p:sp>
        <p:nvSpPr>
          <p:cNvPr id="112" name="Text 110"/>
          <p:cNvSpPr txBox="1"/>
          <p:nvPr/>
        </p:nvSpPr>
        <p:spPr>
          <a:xfrm>
            <a:off x="4946904" y="3575304"/>
            <a:ext cx="420624" cy="420624"/>
          </a:xfrm>
          <a:prstGeom prst="rect">
            <a:avLst/>
          </a:prstGeom>
          <a:noFill/>
          <a:ln/>
        </p:spPr>
        <p:txBody>
          <a:bodyPr wrap="square" lIns="0" tIns="0" rIns="0" bIns="0" rtlCol="0" anchor="ctr"/>
          <a:lstStyle/>
          <a:p>
            <a:pPr marL="0" indent="0" algn="ctr">
              <a:buNone/>
            </a:pPr>
            <a:r>
              <a:rPr lang="en-US" sz="1200" b="1" dirty="0">
                <a:solidFill>
                  <a:srgbClr val="1B2233"/>
                </a:solidFill>
                <a:latin typeface="Courier New" pitchFamily="34" charset="0"/>
                <a:ea typeface="Courier New" pitchFamily="34" charset="-122"/>
                <a:cs typeface="Courier New" pitchFamily="34" charset="-120"/>
              </a:rPr>
              <a:t>19</a:t>
            </a:r>
            <a:endParaRPr lang="en-US" sz="1200" dirty="0"/>
          </a:p>
        </p:txBody>
      </p:sp>
      <p:sp>
        <p:nvSpPr>
          <p:cNvPr id="113" name="Shape 111"/>
          <p:cNvSpPr/>
          <p:nvPr/>
        </p:nvSpPr>
        <p:spPr>
          <a:xfrm>
            <a:off x="5760720" y="3611880"/>
            <a:ext cx="3291840" cy="365760"/>
          </a:xfrm>
          <a:prstGeom prst="roundRect">
            <a:avLst>
              <a:gd name="adj" fmla="val 50000"/>
            </a:avLst>
          </a:prstGeom>
          <a:solidFill>
            <a:srgbClr val="059669"/>
          </a:solidFill>
          <a:ln/>
        </p:spPr>
      </p:sp>
      <p:sp>
        <p:nvSpPr>
          <p:cNvPr id="114" name="Text 112"/>
          <p:cNvSpPr txBox="1"/>
          <p:nvPr/>
        </p:nvSpPr>
        <p:spPr>
          <a:xfrm>
            <a:off x="5760720" y="3611880"/>
            <a:ext cx="3291840" cy="365760"/>
          </a:xfrm>
          <a:prstGeom prst="rect">
            <a:avLst/>
          </a:prstGeom>
          <a:noFill/>
          <a:ln/>
        </p:spPr>
        <p:txBody>
          <a:bodyPr wrap="square" lIns="101600" tIns="101600" rIns="101600" bIns="101600" rtlCol="0" anchor="ctr"/>
          <a:lstStyle/>
          <a:p>
            <a:pPr marL="0" indent="0" algn="l">
              <a:buNone/>
            </a:pPr>
            <a:r>
              <a:rPr lang="en-US" sz="1150" b="1" dirty="0">
                <a:solidFill>
                  <a:srgbClr val="FFFFFF"/>
                </a:solidFill>
                <a:latin typeface="Calibri" pitchFamily="34" charset="0"/>
                <a:ea typeface="Calibri" pitchFamily="34" charset="-122"/>
                <a:cs typeface="Calibri" pitchFamily="34" charset="-120"/>
              </a:rPr>
              <a:t>5 = 5  →  FOUND at index 4</a:t>
            </a:r>
            <a:endParaRPr lang="en-US" sz="1150" dirty="0"/>
          </a:p>
        </p:txBody>
      </p:sp>
      <p:sp>
        <p:nvSpPr>
          <p:cNvPr id="115" name="Shape 113"/>
          <p:cNvSpPr/>
          <p:nvPr/>
        </p:nvSpPr>
        <p:spPr>
          <a:xfrm>
            <a:off x="9235440" y="3611880"/>
            <a:ext cx="2377440" cy="365760"/>
          </a:xfrm>
          <a:prstGeom prst="roundRect">
            <a:avLst>
              <a:gd name="adj" fmla="val 50000"/>
            </a:avLst>
          </a:prstGeom>
          <a:solidFill>
            <a:srgbClr val="FFFFFF"/>
          </a:solidFill>
          <a:ln w="12700">
            <a:solidFill>
              <a:srgbClr val="B8E0EA"/>
            </a:solidFill>
            <a:prstDash val="solid"/>
          </a:ln>
        </p:spPr>
      </p:sp>
      <p:sp>
        <p:nvSpPr>
          <p:cNvPr id="116" name="Text 114"/>
          <p:cNvSpPr txBox="1"/>
          <p:nvPr/>
        </p:nvSpPr>
        <p:spPr>
          <a:xfrm>
            <a:off x="9235440" y="3611880"/>
            <a:ext cx="2377440" cy="365760"/>
          </a:xfrm>
          <a:prstGeom prst="rect">
            <a:avLst/>
          </a:prstGeom>
          <a:noFill/>
          <a:ln/>
        </p:spPr>
        <p:txBody>
          <a:bodyPr wrap="square" lIns="0" tIns="0" rIns="0" bIns="0" rtlCol="0" anchor="ctr"/>
          <a:lstStyle/>
          <a:p>
            <a:pPr marL="0" indent="0" algn="ctr">
              <a:buNone/>
            </a:pPr>
            <a:r>
              <a:rPr lang="en-US" sz="1100" b="1" dirty="0">
                <a:solidFill>
                  <a:srgbClr val="5B6584"/>
                </a:solidFill>
                <a:latin typeface="Calibri" pitchFamily="34" charset="0"/>
                <a:ea typeface="Calibri" pitchFamily="34" charset="-122"/>
                <a:cs typeface="Calibri" pitchFamily="34" charset="-120"/>
              </a:rPr>
              <a:t>5 comparisons</a:t>
            </a:r>
            <a:endParaRPr lang="en-US" sz="1100" dirty="0"/>
          </a:p>
        </p:txBody>
      </p:sp>
      <p:sp>
        <p:nvSpPr>
          <p:cNvPr id="117" name="Text 115"/>
          <p:cNvSpPr txBox="1"/>
          <p:nvPr/>
        </p:nvSpPr>
        <p:spPr>
          <a:xfrm>
            <a:off x="548640" y="4224528"/>
            <a:ext cx="4572000" cy="256032"/>
          </a:xfrm>
          <a:prstGeom prst="rect">
            <a:avLst/>
          </a:prstGeom>
          <a:noFill/>
          <a:ln/>
        </p:spPr>
        <p:txBody>
          <a:bodyPr wrap="square" lIns="0" tIns="0" rIns="0" bIns="0" rtlCol="0" anchor="ctr"/>
          <a:lstStyle/>
          <a:p>
            <a:pPr marL="0" indent="0">
              <a:buNone/>
            </a:pPr>
            <a:r>
              <a:rPr lang="en-US" sz="1150" b="1" kern="0" spc="100" dirty="0">
                <a:solidFill>
                  <a:srgbClr val="DC2626"/>
                </a:solidFill>
                <a:latin typeface="Calibri" pitchFamily="34" charset="0"/>
                <a:ea typeface="Calibri" pitchFamily="34" charset="-122"/>
                <a:cs typeface="Calibri" pitchFamily="34" charset="-120"/>
              </a:rPr>
              <a:t>KEY = 50  (absent)</a:t>
            </a:r>
            <a:endParaRPr lang="en-US" sz="1150" dirty="0"/>
          </a:p>
        </p:txBody>
      </p:sp>
      <p:sp>
        <p:nvSpPr>
          <p:cNvPr id="118" name="Shape 116"/>
          <p:cNvSpPr/>
          <p:nvPr/>
        </p:nvSpPr>
        <p:spPr>
          <a:xfrm>
            <a:off x="548640" y="4526280"/>
            <a:ext cx="11064240" cy="868680"/>
          </a:xfrm>
          <a:prstGeom prst="roundRect">
            <a:avLst>
              <a:gd name="adj" fmla="val 10526"/>
            </a:avLst>
          </a:prstGeom>
          <a:solidFill>
            <a:srgbClr val="FEF2F2"/>
          </a:solidFill>
          <a:ln w="12700">
            <a:solidFill>
              <a:srgbClr val="F5C2C2"/>
            </a:solidFill>
            <a:prstDash val="solid"/>
          </a:ln>
        </p:spPr>
      </p:sp>
      <p:sp>
        <p:nvSpPr>
          <p:cNvPr id="119" name="Shape 117"/>
          <p:cNvSpPr/>
          <p:nvPr/>
        </p:nvSpPr>
        <p:spPr>
          <a:xfrm>
            <a:off x="777240" y="4663440"/>
            <a:ext cx="420624" cy="420624"/>
          </a:xfrm>
          <a:prstGeom prst="roundRect">
            <a:avLst>
              <a:gd name="adj" fmla="val 17391"/>
            </a:avLst>
          </a:prstGeom>
          <a:solidFill>
            <a:srgbClr val="E5E7EB"/>
          </a:solidFill>
          <a:ln w="22225">
            <a:solidFill>
              <a:srgbClr val="CBD0D6"/>
            </a:solidFill>
            <a:prstDash val="solid"/>
          </a:ln>
        </p:spPr>
      </p:sp>
      <p:sp>
        <p:nvSpPr>
          <p:cNvPr id="120" name="Text 118"/>
          <p:cNvSpPr txBox="1"/>
          <p:nvPr/>
        </p:nvSpPr>
        <p:spPr>
          <a:xfrm>
            <a:off x="777240" y="4663440"/>
            <a:ext cx="420624" cy="420624"/>
          </a:xfrm>
          <a:prstGeom prst="rect">
            <a:avLst/>
          </a:prstGeom>
          <a:noFill/>
          <a:ln/>
        </p:spPr>
        <p:txBody>
          <a:bodyPr wrap="square" lIns="0" tIns="0" rIns="0" bIns="0" rtlCol="0" anchor="ctr"/>
          <a:lstStyle/>
          <a:p>
            <a:pPr marL="0" indent="0" algn="ctr">
              <a:buNone/>
            </a:pPr>
            <a:r>
              <a:rPr lang="en-US" sz="1200" b="1" dirty="0">
                <a:solidFill>
                  <a:srgbClr val="9CA3AF"/>
                </a:solidFill>
                <a:latin typeface="Courier New" pitchFamily="34" charset="0"/>
                <a:ea typeface="Courier New" pitchFamily="34" charset="-122"/>
                <a:cs typeface="Courier New" pitchFamily="34" charset="-120"/>
              </a:rPr>
              <a:t>34</a:t>
            </a:r>
            <a:endParaRPr lang="en-US" sz="1200" dirty="0"/>
          </a:p>
        </p:txBody>
      </p:sp>
      <p:sp>
        <p:nvSpPr>
          <p:cNvPr id="121" name="Shape 119"/>
          <p:cNvSpPr/>
          <p:nvPr/>
        </p:nvSpPr>
        <p:spPr>
          <a:xfrm>
            <a:off x="1261872" y="4663440"/>
            <a:ext cx="420624" cy="420624"/>
          </a:xfrm>
          <a:prstGeom prst="roundRect">
            <a:avLst>
              <a:gd name="adj" fmla="val 17391"/>
            </a:avLst>
          </a:prstGeom>
          <a:solidFill>
            <a:srgbClr val="E5E7EB"/>
          </a:solidFill>
          <a:ln w="22225">
            <a:solidFill>
              <a:srgbClr val="CBD0D6"/>
            </a:solidFill>
            <a:prstDash val="solid"/>
          </a:ln>
        </p:spPr>
      </p:sp>
      <p:sp>
        <p:nvSpPr>
          <p:cNvPr id="122" name="Text 120"/>
          <p:cNvSpPr txBox="1"/>
          <p:nvPr/>
        </p:nvSpPr>
        <p:spPr>
          <a:xfrm>
            <a:off x="1261872" y="4663440"/>
            <a:ext cx="420624" cy="420624"/>
          </a:xfrm>
          <a:prstGeom prst="rect">
            <a:avLst/>
          </a:prstGeom>
          <a:noFill/>
          <a:ln/>
        </p:spPr>
        <p:txBody>
          <a:bodyPr wrap="square" lIns="0" tIns="0" rIns="0" bIns="0" rtlCol="0" anchor="ctr"/>
          <a:lstStyle/>
          <a:p>
            <a:pPr marL="0" indent="0" algn="ctr">
              <a:buNone/>
            </a:pPr>
            <a:r>
              <a:rPr lang="en-US" sz="1200" b="1" dirty="0">
                <a:solidFill>
                  <a:srgbClr val="9CA3AF"/>
                </a:solidFill>
                <a:latin typeface="Courier New" pitchFamily="34" charset="0"/>
                <a:ea typeface="Courier New" pitchFamily="34" charset="-122"/>
                <a:cs typeface="Courier New" pitchFamily="34" charset="-120"/>
              </a:rPr>
              <a:t>7</a:t>
            </a:r>
            <a:endParaRPr lang="en-US" sz="1200" dirty="0"/>
          </a:p>
        </p:txBody>
      </p:sp>
      <p:sp>
        <p:nvSpPr>
          <p:cNvPr id="123" name="Shape 121"/>
          <p:cNvSpPr/>
          <p:nvPr/>
        </p:nvSpPr>
        <p:spPr>
          <a:xfrm>
            <a:off x="1746504" y="4663440"/>
            <a:ext cx="420624" cy="420624"/>
          </a:xfrm>
          <a:prstGeom prst="roundRect">
            <a:avLst>
              <a:gd name="adj" fmla="val 17391"/>
            </a:avLst>
          </a:prstGeom>
          <a:solidFill>
            <a:srgbClr val="E5E7EB"/>
          </a:solidFill>
          <a:ln w="22225">
            <a:solidFill>
              <a:srgbClr val="CBD0D6"/>
            </a:solidFill>
            <a:prstDash val="solid"/>
          </a:ln>
        </p:spPr>
      </p:sp>
      <p:sp>
        <p:nvSpPr>
          <p:cNvPr id="124" name="Text 122"/>
          <p:cNvSpPr txBox="1"/>
          <p:nvPr/>
        </p:nvSpPr>
        <p:spPr>
          <a:xfrm>
            <a:off x="1746504" y="4663440"/>
            <a:ext cx="420624" cy="420624"/>
          </a:xfrm>
          <a:prstGeom prst="rect">
            <a:avLst/>
          </a:prstGeom>
          <a:noFill/>
          <a:ln/>
        </p:spPr>
        <p:txBody>
          <a:bodyPr wrap="square" lIns="0" tIns="0" rIns="0" bIns="0" rtlCol="0" anchor="ctr"/>
          <a:lstStyle/>
          <a:p>
            <a:pPr marL="0" indent="0" algn="ctr">
              <a:buNone/>
            </a:pPr>
            <a:r>
              <a:rPr lang="en-US" sz="1200" b="1" dirty="0">
                <a:solidFill>
                  <a:srgbClr val="9CA3AF"/>
                </a:solidFill>
                <a:latin typeface="Courier New" pitchFamily="34" charset="0"/>
                <a:ea typeface="Courier New" pitchFamily="34" charset="-122"/>
                <a:cs typeface="Courier New" pitchFamily="34" charset="-120"/>
              </a:rPr>
              <a:t>23</a:t>
            </a:r>
            <a:endParaRPr lang="en-US" sz="1200" dirty="0"/>
          </a:p>
        </p:txBody>
      </p:sp>
      <p:sp>
        <p:nvSpPr>
          <p:cNvPr id="125" name="Shape 123"/>
          <p:cNvSpPr/>
          <p:nvPr/>
        </p:nvSpPr>
        <p:spPr>
          <a:xfrm>
            <a:off x="2231136" y="4663440"/>
            <a:ext cx="420624" cy="420624"/>
          </a:xfrm>
          <a:prstGeom prst="roundRect">
            <a:avLst>
              <a:gd name="adj" fmla="val 17391"/>
            </a:avLst>
          </a:prstGeom>
          <a:solidFill>
            <a:srgbClr val="E5E7EB"/>
          </a:solidFill>
          <a:ln w="22225">
            <a:solidFill>
              <a:srgbClr val="CBD0D6"/>
            </a:solidFill>
            <a:prstDash val="solid"/>
          </a:ln>
        </p:spPr>
      </p:sp>
      <p:sp>
        <p:nvSpPr>
          <p:cNvPr id="126" name="Text 124"/>
          <p:cNvSpPr txBox="1"/>
          <p:nvPr/>
        </p:nvSpPr>
        <p:spPr>
          <a:xfrm>
            <a:off x="2231136" y="4663440"/>
            <a:ext cx="420624" cy="420624"/>
          </a:xfrm>
          <a:prstGeom prst="rect">
            <a:avLst/>
          </a:prstGeom>
          <a:noFill/>
          <a:ln/>
        </p:spPr>
        <p:txBody>
          <a:bodyPr wrap="square" lIns="0" tIns="0" rIns="0" bIns="0" rtlCol="0" anchor="ctr"/>
          <a:lstStyle/>
          <a:p>
            <a:pPr marL="0" indent="0" algn="ctr">
              <a:buNone/>
            </a:pPr>
            <a:r>
              <a:rPr lang="en-US" sz="1200" b="1" dirty="0">
                <a:solidFill>
                  <a:srgbClr val="9CA3AF"/>
                </a:solidFill>
                <a:latin typeface="Courier New" pitchFamily="34" charset="0"/>
                <a:ea typeface="Courier New" pitchFamily="34" charset="-122"/>
                <a:cs typeface="Courier New" pitchFamily="34" charset="-120"/>
              </a:rPr>
              <a:t>32</a:t>
            </a:r>
            <a:endParaRPr lang="en-US" sz="1200" dirty="0"/>
          </a:p>
        </p:txBody>
      </p:sp>
      <p:sp>
        <p:nvSpPr>
          <p:cNvPr id="127" name="Shape 125"/>
          <p:cNvSpPr/>
          <p:nvPr/>
        </p:nvSpPr>
        <p:spPr>
          <a:xfrm>
            <a:off x="2715768" y="4663440"/>
            <a:ext cx="420624" cy="420624"/>
          </a:xfrm>
          <a:prstGeom prst="roundRect">
            <a:avLst>
              <a:gd name="adj" fmla="val 17391"/>
            </a:avLst>
          </a:prstGeom>
          <a:solidFill>
            <a:srgbClr val="E5E7EB"/>
          </a:solidFill>
          <a:ln w="22225">
            <a:solidFill>
              <a:srgbClr val="CBD0D6"/>
            </a:solidFill>
            <a:prstDash val="solid"/>
          </a:ln>
        </p:spPr>
      </p:sp>
      <p:sp>
        <p:nvSpPr>
          <p:cNvPr id="128" name="Text 126"/>
          <p:cNvSpPr txBox="1"/>
          <p:nvPr/>
        </p:nvSpPr>
        <p:spPr>
          <a:xfrm>
            <a:off x="2715768" y="4663440"/>
            <a:ext cx="420624" cy="420624"/>
          </a:xfrm>
          <a:prstGeom prst="rect">
            <a:avLst/>
          </a:prstGeom>
          <a:noFill/>
          <a:ln/>
        </p:spPr>
        <p:txBody>
          <a:bodyPr wrap="square" lIns="0" tIns="0" rIns="0" bIns="0" rtlCol="0" anchor="ctr"/>
          <a:lstStyle/>
          <a:p>
            <a:pPr marL="0" indent="0" algn="ctr">
              <a:buNone/>
            </a:pPr>
            <a:r>
              <a:rPr lang="en-US" sz="1200" b="1" dirty="0">
                <a:solidFill>
                  <a:srgbClr val="9CA3AF"/>
                </a:solidFill>
                <a:latin typeface="Courier New" pitchFamily="34" charset="0"/>
                <a:ea typeface="Courier New" pitchFamily="34" charset="-122"/>
                <a:cs typeface="Courier New" pitchFamily="34" charset="-120"/>
              </a:rPr>
              <a:t>5</a:t>
            </a:r>
            <a:endParaRPr lang="en-US" sz="1200" dirty="0"/>
          </a:p>
        </p:txBody>
      </p:sp>
      <p:sp>
        <p:nvSpPr>
          <p:cNvPr id="129" name="Shape 127"/>
          <p:cNvSpPr/>
          <p:nvPr/>
        </p:nvSpPr>
        <p:spPr>
          <a:xfrm>
            <a:off x="3200400" y="4663440"/>
            <a:ext cx="420624" cy="420624"/>
          </a:xfrm>
          <a:prstGeom prst="roundRect">
            <a:avLst>
              <a:gd name="adj" fmla="val 17391"/>
            </a:avLst>
          </a:prstGeom>
          <a:solidFill>
            <a:srgbClr val="E5E7EB"/>
          </a:solidFill>
          <a:ln w="22225">
            <a:solidFill>
              <a:srgbClr val="CBD0D6"/>
            </a:solidFill>
            <a:prstDash val="solid"/>
          </a:ln>
        </p:spPr>
      </p:sp>
      <p:sp>
        <p:nvSpPr>
          <p:cNvPr id="130" name="Text 128"/>
          <p:cNvSpPr txBox="1"/>
          <p:nvPr/>
        </p:nvSpPr>
        <p:spPr>
          <a:xfrm>
            <a:off x="3200400" y="4663440"/>
            <a:ext cx="420624" cy="420624"/>
          </a:xfrm>
          <a:prstGeom prst="rect">
            <a:avLst/>
          </a:prstGeom>
          <a:noFill/>
          <a:ln/>
        </p:spPr>
        <p:txBody>
          <a:bodyPr wrap="square" lIns="0" tIns="0" rIns="0" bIns="0" rtlCol="0" anchor="ctr"/>
          <a:lstStyle/>
          <a:p>
            <a:pPr marL="0" indent="0" algn="ctr">
              <a:buNone/>
            </a:pPr>
            <a:r>
              <a:rPr lang="en-US" sz="1200" b="1" dirty="0">
                <a:solidFill>
                  <a:srgbClr val="9CA3AF"/>
                </a:solidFill>
                <a:latin typeface="Courier New" pitchFamily="34" charset="0"/>
                <a:ea typeface="Courier New" pitchFamily="34" charset="-122"/>
                <a:cs typeface="Courier New" pitchFamily="34" charset="-120"/>
              </a:rPr>
              <a:t>62</a:t>
            </a:r>
            <a:endParaRPr lang="en-US" sz="1200" dirty="0"/>
          </a:p>
        </p:txBody>
      </p:sp>
      <p:sp>
        <p:nvSpPr>
          <p:cNvPr id="131" name="Shape 129"/>
          <p:cNvSpPr/>
          <p:nvPr/>
        </p:nvSpPr>
        <p:spPr>
          <a:xfrm>
            <a:off x="3685032" y="4663440"/>
            <a:ext cx="420624" cy="420624"/>
          </a:xfrm>
          <a:prstGeom prst="roundRect">
            <a:avLst>
              <a:gd name="adj" fmla="val 17391"/>
            </a:avLst>
          </a:prstGeom>
          <a:solidFill>
            <a:srgbClr val="E5E7EB"/>
          </a:solidFill>
          <a:ln w="22225">
            <a:solidFill>
              <a:srgbClr val="CBD0D6"/>
            </a:solidFill>
            <a:prstDash val="solid"/>
          </a:ln>
        </p:spPr>
      </p:sp>
      <p:sp>
        <p:nvSpPr>
          <p:cNvPr id="132" name="Text 130"/>
          <p:cNvSpPr txBox="1"/>
          <p:nvPr/>
        </p:nvSpPr>
        <p:spPr>
          <a:xfrm>
            <a:off x="3685032" y="4663440"/>
            <a:ext cx="420624" cy="420624"/>
          </a:xfrm>
          <a:prstGeom prst="rect">
            <a:avLst/>
          </a:prstGeom>
          <a:noFill/>
          <a:ln/>
        </p:spPr>
        <p:txBody>
          <a:bodyPr wrap="square" lIns="0" tIns="0" rIns="0" bIns="0" rtlCol="0" anchor="ctr"/>
          <a:lstStyle/>
          <a:p>
            <a:pPr marL="0" indent="0" algn="ctr">
              <a:buNone/>
            </a:pPr>
            <a:r>
              <a:rPr lang="en-US" sz="1200" b="1" dirty="0">
                <a:solidFill>
                  <a:srgbClr val="9CA3AF"/>
                </a:solidFill>
                <a:latin typeface="Courier New" pitchFamily="34" charset="0"/>
                <a:ea typeface="Courier New" pitchFamily="34" charset="-122"/>
                <a:cs typeface="Courier New" pitchFamily="34" charset="-120"/>
              </a:rPr>
              <a:t>14</a:t>
            </a:r>
            <a:endParaRPr lang="en-US" sz="1200" dirty="0"/>
          </a:p>
        </p:txBody>
      </p:sp>
      <p:sp>
        <p:nvSpPr>
          <p:cNvPr id="133" name="Shape 131"/>
          <p:cNvSpPr/>
          <p:nvPr/>
        </p:nvSpPr>
        <p:spPr>
          <a:xfrm>
            <a:off x="4169664" y="4663440"/>
            <a:ext cx="420624" cy="420624"/>
          </a:xfrm>
          <a:prstGeom prst="roundRect">
            <a:avLst>
              <a:gd name="adj" fmla="val 17391"/>
            </a:avLst>
          </a:prstGeom>
          <a:solidFill>
            <a:srgbClr val="E5E7EB"/>
          </a:solidFill>
          <a:ln w="22225">
            <a:solidFill>
              <a:srgbClr val="CBD0D6"/>
            </a:solidFill>
            <a:prstDash val="solid"/>
          </a:ln>
        </p:spPr>
      </p:sp>
      <p:sp>
        <p:nvSpPr>
          <p:cNvPr id="134" name="Text 132"/>
          <p:cNvSpPr txBox="1"/>
          <p:nvPr/>
        </p:nvSpPr>
        <p:spPr>
          <a:xfrm>
            <a:off x="4169664" y="4663440"/>
            <a:ext cx="420624" cy="420624"/>
          </a:xfrm>
          <a:prstGeom prst="rect">
            <a:avLst/>
          </a:prstGeom>
          <a:noFill/>
          <a:ln/>
        </p:spPr>
        <p:txBody>
          <a:bodyPr wrap="square" lIns="0" tIns="0" rIns="0" bIns="0" rtlCol="0" anchor="ctr"/>
          <a:lstStyle/>
          <a:p>
            <a:pPr marL="0" indent="0" algn="ctr">
              <a:buNone/>
            </a:pPr>
            <a:r>
              <a:rPr lang="en-US" sz="1200" b="1" dirty="0">
                <a:solidFill>
                  <a:srgbClr val="9CA3AF"/>
                </a:solidFill>
                <a:latin typeface="Courier New" pitchFamily="34" charset="0"/>
                <a:ea typeface="Courier New" pitchFamily="34" charset="-122"/>
                <a:cs typeface="Courier New" pitchFamily="34" charset="-120"/>
              </a:rPr>
              <a:t>19</a:t>
            </a:r>
            <a:endParaRPr lang="en-US" sz="1200" dirty="0"/>
          </a:p>
        </p:txBody>
      </p:sp>
      <p:sp>
        <p:nvSpPr>
          <p:cNvPr id="135" name="Text 133"/>
          <p:cNvSpPr txBox="1"/>
          <p:nvPr/>
        </p:nvSpPr>
        <p:spPr>
          <a:xfrm>
            <a:off x="5029200" y="4572000"/>
            <a:ext cx="6400800" cy="685800"/>
          </a:xfrm>
          <a:prstGeom prst="rect">
            <a:avLst/>
          </a:prstGeom>
          <a:noFill/>
          <a:ln/>
        </p:spPr>
        <p:txBody>
          <a:bodyPr wrap="square" lIns="0" tIns="0" rIns="0" bIns="0" rtlCol="0" anchor="ctr"/>
          <a:lstStyle/>
          <a:p>
            <a:pPr marL="0" indent="0">
              <a:lnSpc>
                <a:spcPct val="125000"/>
              </a:lnSpc>
              <a:buNone/>
            </a:pPr>
            <a:r>
              <a:rPr lang="en-US" sz="1200" dirty="0">
                <a:solidFill>
                  <a:srgbClr val="10242E"/>
                </a:solidFill>
                <a:latin typeface="Calibri" pitchFamily="34" charset="0"/>
                <a:ea typeface="Calibri" pitchFamily="34" charset="-122"/>
                <a:cs typeface="Calibri" pitchFamily="34" charset="-120"/>
              </a:rPr>
              <a:t>All 8 elements compared, none equals 50  →  loop ends  →  return −1</a:t>
            </a:r>
            <a:endParaRPr lang="en-US" sz="1200" dirty="0"/>
          </a:p>
        </p:txBody>
      </p:sp>
      <p:sp>
        <p:nvSpPr>
          <p:cNvPr id="136" name="Shape 134"/>
          <p:cNvSpPr/>
          <p:nvPr/>
        </p:nvSpPr>
        <p:spPr>
          <a:xfrm>
            <a:off x="548640" y="5577840"/>
            <a:ext cx="11064240" cy="685800"/>
          </a:xfrm>
          <a:prstGeom prst="roundRect">
            <a:avLst>
              <a:gd name="adj" fmla="val 13333"/>
            </a:avLst>
          </a:prstGeom>
          <a:solidFill>
            <a:schemeClr val="accent1">
              <a:lumMod val="20000"/>
              <a:lumOff val="80000"/>
            </a:schemeClr>
          </a:solidFill>
          <a:ln w="12700">
            <a:solidFill>
              <a:srgbClr val="10242E"/>
            </a:solidFill>
            <a:prstDash val="solid"/>
          </a:ln>
        </p:spPr>
      </p:sp>
      <p:sp>
        <p:nvSpPr>
          <p:cNvPr id="137" name="Text 135"/>
          <p:cNvSpPr txBox="1"/>
          <p:nvPr/>
        </p:nvSpPr>
        <p:spPr>
          <a:xfrm>
            <a:off x="777240" y="5577840"/>
            <a:ext cx="10607040" cy="685800"/>
          </a:xfrm>
          <a:prstGeom prst="rect">
            <a:avLst/>
          </a:prstGeom>
          <a:noFill/>
          <a:ln/>
        </p:spPr>
        <p:txBody>
          <a:bodyPr wrap="square" lIns="0" tIns="0" rIns="0" bIns="0" rtlCol="0" anchor="ctr"/>
          <a:lstStyle/>
          <a:p>
            <a:pPr marL="0" indent="0">
              <a:buNone/>
            </a:pPr>
            <a:r>
              <a:rPr lang="en-US" b="1" dirty="0">
                <a:latin typeface="Courier New" pitchFamily="34" charset="0"/>
                <a:ea typeface="Courier New" pitchFamily="34" charset="-122"/>
                <a:cs typeface="Courier New" pitchFamily="34" charset="-120"/>
              </a:rPr>
              <a:t>Comparisons:  key 5 → 5     key 50 → 8 = n</a:t>
            </a:r>
            <a:r>
              <a:rPr lang="en-US" dirty="0">
                <a:latin typeface="Courier New" pitchFamily="34" charset="0"/>
                <a:ea typeface="Courier New" pitchFamily="34" charset="-122"/>
                <a:cs typeface="Courier New" pitchFamily="34" charset="-120"/>
              </a:rPr>
              <a:t>      (an absent key always costs exactly n comparisons)</a:t>
            </a:r>
            <a:endParaRPr lang="en-US" dirty="0"/>
          </a:p>
        </p:txBody>
      </p:sp>
      <p:sp>
        <p:nvSpPr>
          <p:cNvPr id="138" name="Text 136"/>
          <p:cNvSpPr txBox="1"/>
          <p:nvPr/>
        </p:nvSpPr>
        <p:spPr>
          <a:xfrm>
            <a:off x="548640" y="6547104"/>
            <a:ext cx="6858000" cy="256032"/>
          </a:xfrm>
          <a:prstGeom prst="rect">
            <a:avLst/>
          </a:prstGeom>
          <a:noFill/>
          <a:ln/>
        </p:spPr>
        <p:txBody>
          <a:bodyPr wrap="square" lIns="0" tIns="0" rIns="0" bIns="0" rtlCol="0" anchor="ctr"/>
          <a:lstStyle/>
          <a:p>
            <a:pPr marL="0" indent="0">
              <a:buNone/>
            </a:pPr>
            <a:r>
              <a:rPr lang="en-US" sz="900" dirty="0">
                <a:solidFill>
                  <a:srgbClr val="5B6584"/>
                </a:solidFill>
                <a:latin typeface="Calibri" pitchFamily="34" charset="0"/>
                <a:ea typeface="Calibri" pitchFamily="34" charset="-122"/>
                <a:cs typeface="Calibri" pitchFamily="34" charset="-120"/>
              </a:rPr>
              <a:t>Linear &amp; Binary Search  |  Data Structures Using C</a:t>
            </a:r>
            <a:endParaRPr lang="en-US" sz="900" dirty="0"/>
          </a:p>
        </p:txBody>
      </p:sp>
      <p:sp>
        <p:nvSpPr>
          <p:cNvPr id="139" name="Text 137"/>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500000">
            <a:off x="10972800" y="-1005840"/>
            <a:ext cx="2377440" cy="2377440"/>
          </a:xfrm>
          <a:prstGeom prst="triangle">
            <a:avLst/>
          </a:prstGeom>
          <a:solidFill>
            <a:srgbClr val="0E7490">
              <a:alpha val="5000"/>
            </a:srgbClr>
          </a:solidFill>
          <a:ln/>
        </p:spPr>
      </p:sp>
      <p:sp>
        <p:nvSpPr>
          <p:cNvPr id="3" name="Shape 1"/>
          <p:cNvSpPr/>
          <p:nvPr/>
        </p:nvSpPr>
        <p:spPr>
          <a:xfrm rot="12300000">
            <a:off x="-1097280" y="5760720"/>
            <a:ext cx="2377440" cy="2377440"/>
          </a:xfrm>
          <a:prstGeom prst="triangle">
            <a:avLst/>
          </a:prstGeom>
          <a:solidFill>
            <a:srgbClr val="0E7490">
              <a:alpha val="5000"/>
            </a:srgbClr>
          </a:solidFill>
          <a:ln/>
        </p:spPr>
      </p:sp>
      <p:sp>
        <p:nvSpPr>
          <p:cNvPr id="4" name="Text 2"/>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22A6C4"/>
                </a:solidFill>
                <a:latin typeface="Calibri" pitchFamily="34" charset="0"/>
                <a:ea typeface="Calibri" pitchFamily="34" charset="-122"/>
                <a:cs typeface="Calibri" pitchFamily="34" charset="-120"/>
              </a:rPr>
              <a:t>TRACE — BINARY SEARCH</a:t>
            </a:r>
            <a:endParaRPr lang="en-US" sz="1300" dirty="0"/>
          </a:p>
        </p:txBody>
      </p:sp>
      <p:sp>
        <p:nvSpPr>
          <p:cNvPr id="5" name="Text 3"/>
          <p:cNvSpPr txBox="1"/>
          <p:nvPr/>
        </p:nvSpPr>
        <p:spPr>
          <a:xfrm>
            <a:off x="548640" y="621792"/>
            <a:ext cx="11064240" cy="731520"/>
          </a:xfrm>
          <a:prstGeom prst="rect">
            <a:avLst/>
          </a:prstGeom>
          <a:noFill/>
          <a:ln/>
        </p:spPr>
        <p:txBody>
          <a:bodyPr wrap="square" lIns="0" tIns="0" rIns="0" bIns="0" rtlCol="0" anchor="ctr"/>
          <a:lstStyle/>
          <a:p>
            <a:pPr marL="0" indent="0">
              <a:buNone/>
            </a:pPr>
            <a:r>
              <a:rPr lang="en-US" sz="3000" b="1" dirty="0">
                <a:solidFill>
                  <a:srgbClr val="10242E"/>
                </a:solidFill>
                <a:latin typeface="Cambria" pitchFamily="34" charset="0"/>
                <a:ea typeface="Cambria" pitchFamily="34" charset="-122"/>
                <a:cs typeface="Cambria" pitchFamily="34" charset="-120"/>
              </a:rPr>
              <a:t>Searching S for 23: Three Probes</a:t>
            </a:r>
            <a:endParaRPr lang="en-US" sz="3000" dirty="0"/>
          </a:p>
        </p:txBody>
      </p:sp>
      <p:sp>
        <p:nvSpPr>
          <p:cNvPr id="6" name="Shape 4"/>
          <p:cNvSpPr/>
          <p:nvPr/>
        </p:nvSpPr>
        <p:spPr>
          <a:xfrm>
            <a:off x="548640" y="1417320"/>
            <a:ext cx="11064240" cy="1325880"/>
          </a:xfrm>
          <a:prstGeom prst="roundRect">
            <a:avLst>
              <a:gd name="adj" fmla="val 6897"/>
            </a:avLst>
          </a:prstGeom>
          <a:solidFill>
            <a:srgbClr val="E6F5F9"/>
          </a:solidFill>
          <a:ln w="12700">
            <a:solidFill>
              <a:srgbClr val="B8E0EA"/>
            </a:solidFill>
            <a:prstDash val="solid"/>
          </a:ln>
        </p:spPr>
      </p:sp>
      <p:sp>
        <p:nvSpPr>
          <p:cNvPr id="7" name="Text 5"/>
          <p:cNvSpPr txBox="1"/>
          <p:nvPr/>
        </p:nvSpPr>
        <p:spPr>
          <a:xfrm>
            <a:off x="777240" y="1490472"/>
            <a:ext cx="10515600" cy="274320"/>
          </a:xfrm>
          <a:prstGeom prst="rect">
            <a:avLst/>
          </a:prstGeom>
          <a:noFill/>
          <a:ln/>
        </p:spPr>
        <p:txBody>
          <a:bodyPr wrap="square" lIns="0" tIns="0" rIns="0" bIns="0" rtlCol="0" anchor="ctr"/>
          <a:lstStyle/>
          <a:p>
            <a:pPr marL="0" indent="0">
              <a:buNone/>
            </a:pPr>
            <a:r>
              <a:rPr lang="en-US" sz="1150" b="1" dirty="0">
                <a:solidFill>
                  <a:srgbClr val="10242E"/>
                </a:solidFill>
                <a:latin typeface="Courier New" pitchFamily="34" charset="0"/>
                <a:ea typeface="Courier New" pitchFamily="34" charset="-122"/>
                <a:cs typeface="Courier New" pitchFamily="34" charset="-120"/>
              </a:rPr>
              <a:t>Probe 1:  low = 0, high = 7,  mid = ⌊(0+7)/2⌋ = 3</a:t>
            </a:r>
            <a:endParaRPr lang="en-US" sz="1150" dirty="0"/>
          </a:p>
        </p:txBody>
      </p:sp>
      <p:sp>
        <p:nvSpPr>
          <p:cNvPr id="8" name="Shape 6"/>
          <p:cNvSpPr/>
          <p:nvPr/>
        </p:nvSpPr>
        <p:spPr>
          <a:xfrm>
            <a:off x="777240" y="1828800"/>
            <a:ext cx="457200" cy="457200"/>
          </a:xfrm>
          <a:prstGeom prst="roundRect">
            <a:avLst>
              <a:gd name="adj" fmla="val 16000"/>
            </a:avLst>
          </a:prstGeom>
          <a:solidFill>
            <a:srgbClr val="FFFFFF"/>
          </a:solidFill>
          <a:ln w="22225">
            <a:solidFill>
              <a:srgbClr val="0E7490"/>
            </a:solidFill>
            <a:prstDash val="solid"/>
          </a:ln>
        </p:spPr>
      </p:sp>
      <p:sp>
        <p:nvSpPr>
          <p:cNvPr id="9" name="Text 7"/>
          <p:cNvSpPr txBox="1"/>
          <p:nvPr/>
        </p:nvSpPr>
        <p:spPr>
          <a:xfrm>
            <a:off x="777240" y="1828800"/>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5</a:t>
            </a:r>
            <a:endParaRPr lang="en-US" sz="1300" dirty="0"/>
          </a:p>
        </p:txBody>
      </p:sp>
      <p:sp>
        <p:nvSpPr>
          <p:cNvPr id="10" name="Text 8"/>
          <p:cNvSpPr txBox="1"/>
          <p:nvPr/>
        </p:nvSpPr>
        <p:spPr>
          <a:xfrm>
            <a:off x="777240" y="2304288"/>
            <a:ext cx="457200"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0</a:t>
            </a:r>
            <a:endParaRPr lang="en-US" sz="850" dirty="0"/>
          </a:p>
        </p:txBody>
      </p:sp>
      <p:sp>
        <p:nvSpPr>
          <p:cNvPr id="11" name="Shape 9"/>
          <p:cNvSpPr/>
          <p:nvPr/>
        </p:nvSpPr>
        <p:spPr>
          <a:xfrm>
            <a:off x="1307592" y="1828800"/>
            <a:ext cx="457200" cy="457200"/>
          </a:xfrm>
          <a:prstGeom prst="roundRect">
            <a:avLst>
              <a:gd name="adj" fmla="val 16000"/>
            </a:avLst>
          </a:prstGeom>
          <a:solidFill>
            <a:srgbClr val="FFFFFF"/>
          </a:solidFill>
          <a:ln w="22225">
            <a:solidFill>
              <a:srgbClr val="0E7490"/>
            </a:solidFill>
            <a:prstDash val="solid"/>
          </a:ln>
        </p:spPr>
      </p:sp>
      <p:sp>
        <p:nvSpPr>
          <p:cNvPr id="12" name="Text 10"/>
          <p:cNvSpPr txBox="1"/>
          <p:nvPr/>
        </p:nvSpPr>
        <p:spPr>
          <a:xfrm>
            <a:off x="1307592" y="1828800"/>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7</a:t>
            </a:r>
            <a:endParaRPr lang="en-US" sz="1300" dirty="0"/>
          </a:p>
        </p:txBody>
      </p:sp>
      <p:sp>
        <p:nvSpPr>
          <p:cNvPr id="13" name="Text 11"/>
          <p:cNvSpPr txBox="1"/>
          <p:nvPr/>
        </p:nvSpPr>
        <p:spPr>
          <a:xfrm>
            <a:off x="1307592" y="2304288"/>
            <a:ext cx="457200"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1</a:t>
            </a:r>
            <a:endParaRPr lang="en-US" sz="850" dirty="0"/>
          </a:p>
        </p:txBody>
      </p:sp>
      <p:sp>
        <p:nvSpPr>
          <p:cNvPr id="14" name="Shape 12"/>
          <p:cNvSpPr/>
          <p:nvPr/>
        </p:nvSpPr>
        <p:spPr>
          <a:xfrm>
            <a:off x="1837944" y="1828800"/>
            <a:ext cx="457200" cy="457200"/>
          </a:xfrm>
          <a:prstGeom prst="roundRect">
            <a:avLst>
              <a:gd name="adj" fmla="val 16000"/>
            </a:avLst>
          </a:prstGeom>
          <a:solidFill>
            <a:srgbClr val="FFFFFF"/>
          </a:solidFill>
          <a:ln w="22225">
            <a:solidFill>
              <a:srgbClr val="0E7490"/>
            </a:solidFill>
            <a:prstDash val="solid"/>
          </a:ln>
        </p:spPr>
      </p:sp>
      <p:sp>
        <p:nvSpPr>
          <p:cNvPr id="15" name="Text 13"/>
          <p:cNvSpPr txBox="1"/>
          <p:nvPr/>
        </p:nvSpPr>
        <p:spPr>
          <a:xfrm>
            <a:off x="1837944" y="1828800"/>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14</a:t>
            </a:r>
            <a:endParaRPr lang="en-US" sz="1300" dirty="0"/>
          </a:p>
        </p:txBody>
      </p:sp>
      <p:sp>
        <p:nvSpPr>
          <p:cNvPr id="16" name="Text 14"/>
          <p:cNvSpPr txBox="1"/>
          <p:nvPr/>
        </p:nvSpPr>
        <p:spPr>
          <a:xfrm>
            <a:off x="1837944" y="2304288"/>
            <a:ext cx="457200"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2</a:t>
            </a:r>
            <a:endParaRPr lang="en-US" sz="850" dirty="0"/>
          </a:p>
        </p:txBody>
      </p:sp>
      <p:sp>
        <p:nvSpPr>
          <p:cNvPr id="17" name="Shape 15"/>
          <p:cNvSpPr/>
          <p:nvPr/>
        </p:nvSpPr>
        <p:spPr>
          <a:xfrm>
            <a:off x="2368296" y="1828800"/>
            <a:ext cx="457200" cy="457200"/>
          </a:xfrm>
          <a:prstGeom prst="roundRect">
            <a:avLst>
              <a:gd name="adj" fmla="val 16000"/>
            </a:avLst>
          </a:prstGeom>
          <a:solidFill>
            <a:srgbClr val="D97706"/>
          </a:solidFill>
          <a:ln w="22225">
            <a:solidFill>
              <a:srgbClr val="D97706"/>
            </a:solidFill>
            <a:prstDash val="solid"/>
          </a:ln>
        </p:spPr>
      </p:sp>
      <p:sp>
        <p:nvSpPr>
          <p:cNvPr id="18" name="Text 16"/>
          <p:cNvSpPr txBox="1"/>
          <p:nvPr/>
        </p:nvSpPr>
        <p:spPr>
          <a:xfrm>
            <a:off x="2368296" y="182880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19</a:t>
            </a:r>
            <a:endParaRPr lang="en-US" sz="1300" dirty="0"/>
          </a:p>
        </p:txBody>
      </p:sp>
      <p:sp>
        <p:nvSpPr>
          <p:cNvPr id="19" name="Text 17"/>
          <p:cNvSpPr txBox="1"/>
          <p:nvPr/>
        </p:nvSpPr>
        <p:spPr>
          <a:xfrm>
            <a:off x="2368296" y="2304288"/>
            <a:ext cx="457200"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3</a:t>
            </a:r>
            <a:endParaRPr lang="en-US" sz="850" dirty="0"/>
          </a:p>
        </p:txBody>
      </p:sp>
      <p:sp>
        <p:nvSpPr>
          <p:cNvPr id="20" name="Shape 18"/>
          <p:cNvSpPr/>
          <p:nvPr/>
        </p:nvSpPr>
        <p:spPr>
          <a:xfrm>
            <a:off x="2898648" y="1828800"/>
            <a:ext cx="457200" cy="457200"/>
          </a:xfrm>
          <a:prstGeom prst="roundRect">
            <a:avLst>
              <a:gd name="adj" fmla="val 16000"/>
            </a:avLst>
          </a:prstGeom>
          <a:solidFill>
            <a:srgbClr val="FFFFFF"/>
          </a:solidFill>
          <a:ln w="22225">
            <a:solidFill>
              <a:srgbClr val="0E7490"/>
            </a:solidFill>
            <a:prstDash val="solid"/>
          </a:ln>
        </p:spPr>
      </p:sp>
      <p:sp>
        <p:nvSpPr>
          <p:cNvPr id="21" name="Text 19"/>
          <p:cNvSpPr txBox="1"/>
          <p:nvPr/>
        </p:nvSpPr>
        <p:spPr>
          <a:xfrm>
            <a:off x="2898648" y="1828800"/>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23</a:t>
            </a:r>
            <a:endParaRPr lang="en-US" sz="1300" dirty="0"/>
          </a:p>
        </p:txBody>
      </p:sp>
      <p:sp>
        <p:nvSpPr>
          <p:cNvPr id="22" name="Text 20"/>
          <p:cNvSpPr txBox="1"/>
          <p:nvPr/>
        </p:nvSpPr>
        <p:spPr>
          <a:xfrm>
            <a:off x="2898648" y="2304288"/>
            <a:ext cx="457200"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4</a:t>
            </a:r>
            <a:endParaRPr lang="en-US" sz="850" dirty="0"/>
          </a:p>
        </p:txBody>
      </p:sp>
      <p:sp>
        <p:nvSpPr>
          <p:cNvPr id="23" name="Shape 21"/>
          <p:cNvSpPr/>
          <p:nvPr/>
        </p:nvSpPr>
        <p:spPr>
          <a:xfrm>
            <a:off x="3429000" y="1828800"/>
            <a:ext cx="457200" cy="457200"/>
          </a:xfrm>
          <a:prstGeom prst="roundRect">
            <a:avLst>
              <a:gd name="adj" fmla="val 16000"/>
            </a:avLst>
          </a:prstGeom>
          <a:solidFill>
            <a:srgbClr val="FFFFFF"/>
          </a:solidFill>
          <a:ln w="22225">
            <a:solidFill>
              <a:srgbClr val="0E7490"/>
            </a:solidFill>
            <a:prstDash val="solid"/>
          </a:ln>
        </p:spPr>
      </p:sp>
      <p:sp>
        <p:nvSpPr>
          <p:cNvPr id="24" name="Text 22"/>
          <p:cNvSpPr txBox="1"/>
          <p:nvPr/>
        </p:nvSpPr>
        <p:spPr>
          <a:xfrm>
            <a:off x="3429000" y="1828800"/>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32</a:t>
            </a:r>
            <a:endParaRPr lang="en-US" sz="1300" dirty="0"/>
          </a:p>
        </p:txBody>
      </p:sp>
      <p:sp>
        <p:nvSpPr>
          <p:cNvPr id="25" name="Text 23"/>
          <p:cNvSpPr txBox="1"/>
          <p:nvPr/>
        </p:nvSpPr>
        <p:spPr>
          <a:xfrm>
            <a:off x="3429000" y="2304288"/>
            <a:ext cx="457200"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5</a:t>
            </a:r>
            <a:endParaRPr lang="en-US" sz="850" dirty="0"/>
          </a:p>
        </p:txBody>
      </p:sp>
      <p:sp>
        <p:nvSpPr>
          <p:cNvPr id="26" name="Shape 24"/>
          <p:cNvSpPr/>
          <p:nvPr/>
        </p:nvSpPr>
        <p:spPr>
          <a:xfrm>
            <a:off x="3959352" y="1828800"/>
            <a:ext cx="457200" cy="457200"/>
          </a:xfrm>
          <a:prstGeom prst="roundRect">
            <a:avLst>
              <a:gd name="adj" fmla="val 16000"/>
            </a:avLst>
          </a:prstGeom>
          <a:solidFill>
            <a:srgbClr val="FFFFFF"/>
          </a:solidFill>
          <a:ln w="22225">
            <a:solidFill>
              <a:srgbClr val="0E7490"/>
            </a:solidFill>
            <a:prstDash val="solid"/>
          </a:ln>
        </p:spPr>
      </p:sp>
      <p:sp>
        <p:nvSpPr>
          <p:cNvPr id="27" name="Text 25"/>
          <p:cNvSpPr txBox="1"/>
          <p:nvPr/>
        </p:nvSpPr>
        <p:spPr>
          <a:xfrm>
            <a:off x="3959352" y="1828800"/>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34</a:t>
            </a:r>
            <a:endParaRPr lang="en-US" sz="1300" dirty="0"/>
          </a:p>
        </p:txBody>
      </p:sp>
      <p:sp>
        <p:nvSpPr>
          <p:cNvPr id="28" name="Text 26"/>
          <p:cNvSpPr txBox="1"/>
          <p:nvPr/>
        </p:nvSpPr>
        <p:spPr>
          <a:xfrm>
            <a:off x="3959352" y="2304288"/>
            <a:ext cx="457200"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6</a:t>
            </a:r>
            <a:endParaRPr lang="en-US" sz="850" dirty="0"/>
          </a:p>
        </p:txBody>
      </p:sp>
      <p:sp>
        <p:nvSpPr>
          <p:cNvPr id="29" name="Shape 27"/>
          <p:cNvSpPr/>
          <p:nvPr/>
        </p:nvSpPr>
        <p:spPr>
          <a:xfrm>
            <a:off x="4489704" y="1828800"/>
            <a:ext cx="457200" cy="457200"/>
          </a:xfrm>
          <a:prstGeom prst="roundRect">
            <a:avLst>
              <a:gd name="adj" fmla="val 16000"/>
            </a:avLst>
          </a:prstGeom>
          <a:solidFill>
            <a:srgbClr val="FFFFFF"/>
          </a:solidFill>
          <a:ln w="22225">
            <a:solidFill>
              <a:srgbClr val="0E7490"/>
            </a:solidFill>
            <a:prstDash val="solid"/>
          </a:ln>
        </p:spPr>
      </p:sp>
      <p:sp>
        <p:nvSpPr>
          <p:cNvPr id="30" name="Text 28"/>
          <p:cNvSpPr txBox="1"/>
          <p:nvPr/>
        </p:nvSpPr>
        <p:spPr>
          <a:xfrm>
            <a:off x="4489704" y="1828800"/>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62</a:t>
            </a:r>
            <a:endParaRPr lang="en-US" sz="1300" dirty="0"/>
          </a:p>
        </p:txBody>
      </p:sp>
      <p:sp>
        <p:nvSpPr>
          <p:cNvPr id="31" name="Text 29"/>
          <p:cNvSpPr txBox="1"/>
          <p:nvPr/>
        </p:nvSpPr>
        <p:spPr>
          <a:xfrm>
            <a:off x="4489704" y="2304288"/>
            <a:ext cx="457200"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7</a:t>
            </a:r>
            <a:endParaRPr lang="en-US" sz="850" dirty="0"/>
          </a:p>
        </p:txBody>
      </p:sp>
      <p:sp>
        <p:nvSpPr>
          <p:cNvPr id="32" name="Text 30"/>
          <p:cNvSpPr txBox="1"/>
          <p:nvPr/>
        </p:nvSpPr>
        <p:spPr>
          <a:xfrm>
            <a:off x="685800" y="2468880"/>
            <a:ext cx="640080" cy="201168"/>
          </a:xfrm>
          <a:prstGeom prst="rect">
            <a:avLst/>
          </a:prstGeom>
          <a:noFill/>
          <a:ln/>
        </p:spPr>
        <p:txBody>
          <a:bodyPr wrap="square" lIns="0" tIns="0" rIns="0" bIns="0" rtlCol="0" anchor="ctr"/>
          <a:lstStyle/>
          <a:p>
            <a:pPr marL="0" indent="0" algn="ctr">
              <a:buNone/>
            </a:pPr>
            <a:r>
              <a:rPr lang="en-US" sz="950" b="1" dirty="0">
                <a:solidFill>
                  <a:srgbClr val="0E7490"/>
                </a:solidFill>
                <a:latin typeface="Courier New" pitchFamily="34" charset="0"/>
                <a:ea typeface="Courier New" pitchFamily="34" charset="-122"/>
                <a:cs typeface="Courier New" pitchFamily="34" charset="-120"/>
              </a:rPr>
              <a:t>L</a:t>
            </a:r>
            <a:endParaRPr lang="en-US" sz="950" dirty="0"/>
          </a:p>
        </p:txBody>
      </p:sp>
      <p:sp>
        <p:nvSpPr>
          <p:cNvPr id="33" name="Text 31"/>
          <p:cNvSpPr txBox="1"/>
          <p:nvPr/>
        </p:nvSpPr>
        <p:spPr>
          <a:xfrm>
            <a:off x="2276856" y="2468880"/>
            <a:ext cx="640080" cy="201168"/>
          </a:xfrm>
          <a:prstGeom prst="rect">
            <a:avLst/>
          </a:prstGeom>
          <a:noFill/>
          <a:ln/>
        </p:spPr>
        <p:txBody>
          <a:bodyPr wrap="square" lIns="0" tIns="0" rIns="0" bIns="0" rtlCol="0" anchor="ctr"/>
          <a:lstStyle/>
          <a:p>
            <a:pPr marL="0" indent="0" algn="ctr">
              <a:buNone/>
            </a:pPr>
            <a:r>
              <a:rPr lang="en-US" sz="950" b="1" dirty="0">
                <a:solidFill>
                  <a:srgbClr val="D97706"/>
                </a:solidFill>
                <a:latin typeface="Courier New" pitchFamily="34" charset="0"/>
                <a:ea typeface="Courier New" pitchFamily="34" charset="-122"/>
                <a:cs typeface="Courier New" pitchFamily="34" charset="-120"/>
              </a:rPr>
              <a:t>M</a:t>
            </a:r>
            <a:endParaRPr lang="en-US" sz="950" dirty="0"/>
          </a:p>
        </p:txBody>
      </p:sp>
      <p:sp>
        <p:nvSpPr>
          <p:cNvPr id="34" name="Text 32"/>
          <p:cNvSpPr txBox="1"/>
          <p:nvPr/>
        </p:nvSpPr>
        <p:spPr>
          <a:xfrm>
            <a:off x="4398264" y="2468880"/>
            <a:ext cx="640080" cy="201168"/>
          </a:xfrm>
          <a:prstGeom prst="rect">
            <a:avLst/>
          </a:prstGeom>
          <a:noFill/>
          <a:ln/>
        </p:spPr>
        <p:txBody>
          <a:bodyPr wrap="square" lIns="0" tIns="0" rIns="0" bIns="0" rtlCol="0" anchor="ctr"/>
          <a:lstStyle/>
          <a:p>
            <a:pPr marL="0" indent="0" algn="ctr">
              <a:buNone/>
            </a:pPr>
            <a:r>
              <a:rPr lang="en-US" sz="950" b="1" dirty="0">
                <a:solidFill>
                  <a:srgbClr val="DC2626"/>
                </a:solidFill>
                <a:latin typeface="Courier New" pitchFamily="34" charset="0"/>
                <a:ea typeface="Courier New" pitchFamily="34" charset="-122"/>
                <a:cs typeface="Courier New" pitchFamily="34" charset="-120"/>
              </a:rPr>
              <a:t>H</a:t>
            </a:r>
            <a:endParaRPr lang="en-US" sz="950" dirty="0"/>
          </a:p>
        </p:txBody>
      </p:sp>
      <p:sp>
        <p:nvSpPr>
          <p:cNvPr id="35" name="Text 33"/>
          <p:cNvSpPr txBox="1"/>
          <p:nvPr/>
        </p:nvSpPr>
        <p:spPr>
          <a:xfrm>
            <a:off x="5257800" y="1874520"/>
            <a:ext cx="6217920" cy="411480"/>
          </a:xfrm>
          <a:prstGeom prst="rect">
            <a:avLst/>
          </a:prstGeom>
          <a:noFill/>
          <a:ln/>
        </p:spPr>
        <p:txBody>
          <a:bodyPr wrap="square" lIns="0" tIns="0" rIns="0" bIns="0" rtlCol="0" anchor="ctr"/>
          <a:lstStyle/>
          <a:p>
            <a:pPr marL="0" indent="0">
              <a:buNone/>
            </a:pPr>
            <a:r>
              <a:rPr lang="en-US" sz="1200" b="1" dirty="0">
                <a:solidFill>
                  <a:srgbClr val="10242E"/>
                </a:solidFill>
                <a:latin typeface="Calibri" pitchFamily="34" charset="0"/>
                <a:ea typeface="Calibri" pitchFamily="34" charset="-122"/>
                <a:cs typeface="Calibri" pitchFamily="34" charset="-120"/>
              </a:rPr>
              <a:t>A[3] = 19 &lt; 23   →   key is in the RIGHT half   →   low = mid + 1 = 4</a:t>
            </a:r>
            <a:endParaRPr lang="en-US" sz="1200" dirty="0"/>
          </a:p>
        </p:txBody>
      </p:sp>
      <p:sp>
        <p:nvSpPr>
          <p:cNvPr id="36" name="Text 34"/>
          <p:cNvSpPr txBox="1"/>
          <p:nvPr/>
        </p:nvSpPr>
        <p:spPr>
          <a:xfrm>
            <a:off x="5257800" y="2286000"/>
            <a:ext cx="6217920" cy="274320"/>
          </a:xfrm>
          <a:prstGeom prst="rect">
            <a:avLst/>
          </a:prstGeom>
          <a:noFill/>
          <a:ln/>
        </p:spPr>
        <p:txBody>
          <a:bodyPr wrap="square" lIns="0" tIns="0" rIns="0" bIns="0" rtlCol="0" anchor="ctr"/>
          <a:lstStyle/>
          <a:p>
            <a:pPr marL="0" indent="0">
              <a:buNone/>
            </a:pPr>
            <a:r>
              <a:rPr lang="en-US" sz="1050" i="1" dirty="0">
                <a:solidFill>
                  <a:srgbClr val="5B6584"/>
                </a:solidFill>
                <a:latin typeface="Calibri" pitchFamily="34" charset="0"/>
                <a:ea typeface="Calibri" pitchFamily="34" charset="-122"/>
                <a:cs typeface="Calibri" pitchFamily="34" charset="-120"/>
              </a:rPr>
              <a:t>discards indices 0–3 (4 elements)</a:t>
            </a:r>
            <a:endParaRPr lang="en-US" sz="1050" dirty="0"/>
          </a:p>
        </p:txBody>
      </p:sp>
      <p:sp>
        <p:nvSpPr>
          <p:cNvPr id="37" name="Shape 35"/>
          <p:cNvSpPr/>
          <p:nvPr/>
        </p:nvSpPr>
        <p:spPr>
          <a:xfrm>
            <a:off x="548640" y="2862072"/>
            <a:ext cx="11064240" cy="1325880"/>
          </a:xfrm>
          <a:prstGeom prst="roundRect">
            <a:avLst>
              <a:gd name="adj" fmla="val 6897"/>
            </a:avLst>
          </a:prstGeom>
          <a:solidFill>
            <a:srgbClr val="E6F5F9"/>
          </a:solidFill>
          <a:ln w="12700">
            <a:solidFill>
              <a:srgbClr val="B8E0EA"/>
            </a:solidFill>
            <a:prstDash val="solid"/>
          </a:ln>
        </p:spPr>
      </p:sp>
      <p:sp>
        <p:nvSpPr>
          <p:cNvPr id="38" name="Text 36"/>
          <p:cNvSpPr txBox="1"/>
          <p:nvPr/>
        </p:nvSpPr>
        <p:spPr>
          <a:xfrm>
            <a:off x="777240" y="2935224"/>
            <a:ext cx="10515600" cy="274320"/>
          </a:xfrm>
          <a:prstGeom prst="rect">
            <a:avLst/>
          </a:prstGeom>
          <a:noFill/>
          <a:ln/>
        </p:spPr>
        <p:txBody>
          <a:bodyPr wrap="square" lIns="0" tIns="0" rIns="0" bIns="0" rtlCol="0" anchor="ctr"/>
          <a:lstStyle/>
          <a:p>
            <a:pPr marL="0" indent="0">
              <a:buNone/>
            </a:pPr>
            <a:r>
              <a:rPr lang="en-US" sz="1150" b="1" dirty="0">
                <a:solidFill>
                  <a:srgbClr val="10242E"/>
                </a:solidFill>
                <a:latin typeface="Courier New" pitchFamily="34" charset="0"/>
                <a:ea typeface="Courier New" pitchFamily="34" charset="-122"/>
                <a:cs typeface="Courier New" pitchFamily="34" charset="-120"/>
              </a:rPr>
              <a:t>Probe 2:  low = 4, high = 7,  mid = ⌊(4+7)/2⌋ = 5</a:t>
            </a:r>
            <a:endParaRPr lang="en-US" sz="1150" dirty="0"/>
          </a:p>
        </p:txBody>
      </p:sp>
      <p:sp>
        <p:nvSpPr>
          <p:cNvPr id="39" name="Shape 37"/>
          <p:cNvSpPr/>
          <p:nvPr/>
        </p:nvSpPr>
        <p:spPr>
          <a:xfrm>
            <a:off x="777240" y="3273552"/>
            <a:ext cx="457200" cy="457200"/>
          </a:xfrm>
          <a:prstGeom prst="roundRect">
            <a:avLst>
              <a:gd name="adj" fmla="val 16000"/>
            </a:avLst>
          </a:prstGeom>
          <a:solidFill>
            <a:srgbClr val="E5E7EB"/>
          </a:solidFill>
          <a:ln w="22225">
            <a:solidFill>
              <a:srgbClr val="CBD0D6"/>
            </a:solidFill>
            <a:prstDash val="solid"/>
          </a:ln>
        </p:spPr>
      </p:sp>
      <p:sp>
        <p:nvSpPr>
          <p:cNvPr id="40" name="Text 38"/>
          <p:cNvSpPr txBox="1"/>
          <p:nvPr/>
        </p:nvSpPr>
        <p:spPr>
          <a:xfrm>
            <a:off x="777240" y="3273552"/>
            <a:ext cx="457200" cy="457200"/>
          </a:xfrm>
          <a:prstGeom prst="rect">
            <a:avLst/>
          </a:prstGeom>
          <a:noFill/>
          <a:ln/>
        </p:spPr>
        <p:txBody>
          <a:bodyPr wrap="square" lIns="0" tIns="0" rIns="0" bIns="0" rtlCol="0" anchor="ctr"/>
          <a:lstStyle/>
          <a:p>
            <a:pPr marL="0" indent="0" algn="ctr">
              <a:buNone/>
            </a:pPr>
            <a:r>
              <a:rPr lang="en-US" sz="1300" b="1" dirty="0">
                <a:solidFill>
                  <a:srgbClr val="9CA3AF"/>
                </a:solidFill>
                <a:latin typeface="Courier New" pitchFamily="34" charset="0"/>
                <a:ea typeface="Courier New" pitchFamily="34" charset="-122"/>
                <a:cs typeface="Courier New" pitchFamily="34" charset="-120"/>
              </a:rPr>
              <a:t>5</a:t>
            </a:r>
            <a:endParaRPr lang="en-US" sz="1300" dirty="0"/>
          </a:p>
        </p:txBody>
      </p:sp>
      <p:sp>
        <p:nvSpPr>
          <p:cNvPr id="41" name="Text 39"/>
          <p:cNvSpPr txBox="1"/>
          <p:nvPr/>
        </p:nvSpPr>
        <p:spPr>
          <a:xfrm>
            <a:off x="777240" y="3749040"/>
            <a:ext cx="457200"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0</a:t>
            </a:r>
            <a:endParaRPr lang="en-US" sz="850" dirty="0"/>
          </a:p>
        </p:txBody>
      </p:sp>
      <p:sp>
        <p:nvSpPr>
          <p:cNvPr id="42" name="Shape 40"/>
          <p:cNvSpPr/>
          <p:nvPr/>
        </p:nvSpPr>
        <p:spPr>
          <a:xfrm>
            <a:off x="1307592" y="3273552"/>
            <a:ext cx="457200" cy="457200"/>
          </a:xfrm>
          <a:prstGeom prst="roundRect">
            <a:avLst>
              <a:gd name="adj" fmla="val 16000"/>
            </a:avLst>
          </a:prstGeom>
          <a:solidFill>
            <a:srgbClr val="E5E7EB"/>
          </a:solidFill>
          <a:ln w="22225">
            <a:solidFill>
              <a:srgbClr val="CBD0D6"/>
            </a:solidFill>
            <a:prstDash val="solid"/>
          </a:ln>
        </p:spPr>
      </p:sp>
      <p:sp>
        <p:nvSpPr>
          <p:cNvPr id="43" name="Text 41"/>
          <p:cNvSpPr txBox="1"/>
          <p:nvPr/>
        </p:nvSpPr>
        <p:spPr>
          <a:xfrm>
            <a:off x="1307592" y="3273552"/>
            <a:ext cx="457200" cy="457200"/>
          </a:xfrm>
          <a:prstGeom prst="rect">
            <a:avLst/>
          </a:prstGeom>
          <a:noFill/>
          <a:ln/>
        </p:spPr>
        <p:txBody>
          <a:bodyPr wrap="square" lIns="0" tIns="0" rIns="0" bIns="0" rtlCol="0" anchor="ctr"/>
          <a:lstStyle/>
          <a:p>
            <a:pPr marL="0" indent="0" algn="ctr">
              <a:buNone/>
            </a:pPr>
            <a:r>
              <a:rPr lang="en-US" sz="1300" b="1" dirty="0">
                <a:solidFill>
                  <a:srgbClr val="9CA3AF"/>
                </a:solidFill>
                <a:latin typeface="Courier New" pitchFamily="34" charset="0"/>
                <a:ea typeface="Courier New" pitchFamily="34" charset="-122"/>
                <a:cs typeface="Courier New" pitchFamily="34" charset="-120"/>
              </a:rPr>
              <a:t>7</a:t>
            </a:r>
            <a:endParaRPr lang="en-US" sz="1300" dirty="0"/>
          </a:p>
        </p:txBody>
      </p:sp>
      <p:sp>
        <p:nvSpPr>
          <p:cNvPr id="44" name="Text 42"/>
          <p:cNvSpPr txBox="1"/>
          <p:nvPr/>
        </p:nvSpPr>
        <p:spPr>
          <a:xfrm>
            <a:off x="1307592" y="3749040"/>
            <a:ext cx="457200"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1</a:t>
            </a:r>
            <a:endParaRPr lang="en-US" sz="850" dirty="0"/>
          </a:p>
        </p:txBody>
      </p:sp>
      <p:sp>
        <p:nvSpPr>
          <p:cNvPr id="45" name="Shape 43"/>
          <p:cNvSpPr/>
          <p:nvPr/>
        </p:nvSpPr>
        <p:spPr>
          <a:xfrm>
            <a:off x="1837944" y="3273552"/>
            <a:ext cx="457200" cy="457200"/>
          </a:xfrm>
          <a:prstGeom prst="roundRect">
            <a:avLst>
              <a:gd name="adj" fmla="val 16000"/>
            </a:avLst>
          </a:prstGeom>
          <a:solidFill>
            <a:srgbClr val="E5E7EB"/>
          </a:solidFill>
          <a:ln w="22225">
            <a:solidFill>
              <a:srgbClr val="CBD0D6"/>
            </a:solidFill>
            <a:prstDash val="solid"/>
          </a:ln>
        </p:spPr>
      </p:sp>
      <p:sp>
        <p:nvSpPr>
          <p:cNvPr id="46" name="Text 44"/>
          <p:cNvSpPr txBox="1"/>
          <p:nvPr/>
        </p:nvSpPr>
        <p:spPr>
          <a:xfrm>
            <a:off x="1837944" y="3273552"/>
            <a:ext cx="457200" cy="457200"/>
          </a:xfrm>
          <a:prstGeom prst="rect">
            <a:avLst/>
          </a:prstGeom>
          <a:noFill/>
          <a:ln/>
        </p:spPr>
        <p:txBody>
          <a:bodyPr wrap="square" lIns="0" tIns="0" rIns="0" bIns="0" rtlCol="0" anchor="ctr"/>
          <a:lstStyle/>
          <a:p>
            <a:pPr marL="0" indent="0" algn="ctr">
              <a:buNone/>
            </a:pPr>
            <a:r>
              <a:rPr lang="en-US" sz="1300" b="1" dirty="0">
                <a:solidFill>
                  <a:srgbClr val="9CA3AF"/>
                </a:solidFill>
                <a:latin typeface="Courier New" pitchFamily="34" charset="0"/>
                <a:ea typeface="Courier New" pitchFamily="34" charset="-122"/>
                <a:cs typeface="Courier New" pitchFamily="34" charset="-120"/>
              </a:rPr>
              <a:t>14</a:t>
            </a:r>
            <a:endParaRPr lang="en-US" sz="1300" dirty="0"/>
          </a:p>
        </p:txBody>
      </p:sp>
      <p:sp>
        <p:nvSpPr>
          <p:cNvPr id="47" name="Text 45"/>
          <p:cNvSpPr txBox="1"/>
          <p:nvPr/>
        </p:nvSpPr>
        <p:spPr>
          <a:xfrm>
            <a:off x="1837944" y="3749040"/>
            <a:ext cx="457200"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2</a:t>
            </a:r>
            <a:endParaRPr lang="en-US" sz="850" dirty="0"/>
          </a:p>
        </p:txBody>
      </p:sp>
      <p:sp>
        <p:nvSpPr>
          <p:cNvPr id="48" name="Shape 46"/>
          <p:cNvSpPr/>
          <p:nvPr/>
        </p:nvSpPr>
        <p:spPr>
          <a:xfrm>
            <a:off x="2368296" y="3273552"/>
            <a:ext cx="457200" cy="457200"/>
          </a:xfrm>
          <a:prstGeom prst="roundRect">
            <a:avLst>
              <a:gd name="adj" fmla="val 16000"/>
            </a:avLst>
          </a:prstGeom>
          <a:solidFill>
            <a:srgbClr val="E5E7EB"/>
          </a:solidFill>
          <a:ln w="22225">
            <a:solidFill>
              <a:srgbClr val="CBD0D6"/>
            </a:solidFill>
            <a:prstDash val="solid"/>
          </a:ln>
        </p:spPr>
      </p:sp>
      <p:sp>
        <p:nvSpPr>
          <p:cNvPr id="49" name="Text 47"/>
          <p:cNvSpPr txBox="1"/>
          <p:nvPr/>
        </p:nvSpPr>
        <p:spPr>
          <a:xfrm>
            <a:off x="2368296" y="3273552"/>
            <a:ext cx="457200" cy="457200"/>
          </a:xfrm>
          <a:prstGeom prst="rect">
            <a:avLst/>
          </a:prstGeom>
          <a:noFill/>
          <a:ln/>
        </p:spPr>
        <p:txBody>
          <a:bodyPr wrap="square" lIns="0" tIns="0" rIns="0" bIns="0" rtlCol="0" anchor="ctr"/>
          <a:lstStyle/>
          <a:p>
            <a:pPr marL="0" indent="0" algn="ctr">
              <a:buNone/>
            </a:pPr>
            <a:r>
              <a:rPr lang="en-US" sz="1300" b="1" dirty="0">
                <a:solidFill>
                  <a:srgbClr val="9CA3AF"/>
                </a:solidFill>
                <a:latin typeface="Courier New" pitchFamily="34" charset="0"/>
                <a:ea typeface="Courier New" pitchFamily="34" charset="-122"/>
                <a:cs typeface="Courier New" pitchFamily="34" charset="-120"/>
              </a:rPr>
              <a:t>19</a:t>
            </a:r>
            <a:endParaRPr lang="en-US" sz="1300" dirty="0"/>
          </a:p>
        </p:txBody>
      </p:sp>
      <p:sp>
        <p:nvSpPr>
          <p:cNvPr id="50" name="Text 48"/>
          <p:cNvSpPr txBox="1"/>
          <p:nvPr/>
        </p:nvSpPr>
        <p:spPr>
          <a:xfrm>
            <a:off x="2368296" y="3749040"/>
            <a:ext cx="457200"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3</a:t>
            </a:r>
            <a:endParaRPr lang="en-US" sz="850" dirty="0"/>
          </a:p>
        </p:txBody>
      </p:sp>
      <p:sp>
        <p:nvSpPr>
          <p:cNvPr id="51" name="Shape 49"/>
          <p:cNvSpPr/>
          <p:nvPr/>
        </p:nvSpPr>
        <p:spPr>
          <a:xfrm>
            <a:off x="2898648" y="3273552"/>
            <a:ext cx="457200" cy="457200"/>
          </a:xfrm>
          <a:prstGeom prst="roundRect">
            <a:avLst>
              <a:gd name="adj" fmla="val 16000"/>
            </a:avLst>
          </a:prstGeom>
          <a:solidFill>
            <a:srgbClr val="FFFFFF"/>
          </a:solidFill>
          <a:ln w="22225">
            <a:solidFill>
              <a:srgbClr val="0E7490"/>
            </a:solidFill>
            <a:prstDash val="solid"/>
          </a:ln>
        </p:spPr>
      </p:sp>
      <p:sp>
        <p:nvSpPr>
          <p:cNvPr id="52" name="Text 50"/>
          <p:cNvSpPr txBox="1"/>
          <p:nvPr/>
        </p:nvSpPr>
        <p:spPr>
          <a:xfrm>
            <a:off x="2898648" y="3273552"/>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23</a:t>
            </a:r>
            <a:endParaRPr lang="en-US" sz="1300" dirty="0"/>
          </a:p>
        </p:txBody>
      </p:sp>
      <p:sp>
        <p:nvSpPr>
          <p:cNvPr id="53" name="Text 51"/>
          <p:cNvSpPr txBox="1"/>
          <p:nvPr/>
        </p:nvSpPr>
        <p:spPr>
          <a:xfrm>
            <a:off x="2898648" y="3749040"/>
            <a:ext cx="457200"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4</a:t>
            </a:r>
            <a:endParaRPr lang="en-US" sz="850" dirty="0"/>
          </a:p>
        </p:txBody>
      </p:sp>
      <p:sp>
        <p:nvSpPr>
          <p:cNvPr id="54" name="Shape 52"/>
          <p:cNvSpPr/>
          <p:nvPr/>
        </p:nvSpPr>
        <p:spPr>
          <a:xfrm>
            <a:off x="3429000" y="3273552"/>
            <a:ext cx="457200" cy="457200"/>
          </a:xfrm>
          <a:prstGeom prst="roundRect">
            <a:avLst>
              <a:gd name="adj" fmla="val 16000"/>
            </a:avLst>
          </a:prstGeom>
          <a:solidFill>
            <a:srgbClr val="D97706"/>
          </a:solidFill>
          <a:ln w="22225">
            <a:solidFill>
              <a:srgbClr val="D97706"/>
            </a:solidFill>
            <a:prstDash val="solid"/>
          </a:ln>
        </p:spPr>
      </p:sp>
      <p:sp>
        <p:nvSpPr>
          <p:cNvPr id="55" name="Text 53"/>
          <p:cNvSpPr txBox="1"/>
          <p:nvPr/>
        </p:nvSpPr>
        <p:spPr>
          <a:xfrm>
            <a:off x="3429000" y="3273552"/>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32</a:t>
            </a:r>
            <a:endParaRPr lang="en-US" sz="1300" dirty="0"/>
          </a:p>
        </p:txBody>
      </p:sp>
      <p:sp>
        <p:nvSpPr>
          <p:cNvPr id="56" name="Text 54"/>
          <p:cNvSpPr txBox="1"/>
          <p:nvPr/>
        </p:nvSpPr>
        <p:spPr>
          <a:xfrm>
            <a:off x="3429000" y="3749040"/>
            <a:ext cx="457200"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5</a:t>
            </a:r>
            <a:endParaRPr lang="en-US" sz="850" dirty="0"/>
          </a:p>
        </p:txBody>
      </p:sp>
      <p:sp>
        <p:nvSpPr>
          <p:cNvPr id="57" name="Shape 55"/>
          <p:cNvSpPr/>
          <p:nvPr/>
        </p:nvSpPr>
        <p:spPr>
          <a:xfrm>
            <a:off x="3959352" y="3273552"/>
            <a:ext cx="457200" cy="457200"/>
          </a:xfrm>
          <a:prstGeom prst="roundRect">
            <a:avLst>
              <a:gd name="adj" fmla="val 16000"/>
            </a:avLst>
          </a:prstGeom>
          <a:solidFill>
            <a:srgbClr val="FFFFFF"/>
          </a:solidFill>
          <a:ln w="22225">
            <a:solidFill>
              <a:srgbClr val="0E7490"/>
            </a:solidFill>
            <a:prstDash val="solid"/>
          </a:ln>
        </p:spPr>
      </p:sp>
      <p:sp>
        <p:nvSpPr>
          <p:cNvPr id="58" name="Text 56"/>
          <p:cNvSpPr txBox="1"/>
          <p:nvPr/>
        </p:nvSpPr>
        <p:spPr>
          <a:xfrm>
            <a:off x="3959352" y="3273552"/>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34</a:t>
            </a:r>
            <a:endParaRPr lang="en-US" sz="1300" dirty="0"/>
          </a:p>
        </p:txBody>
      </p:sp>
      <p:sp>
        <p:nvSpPr>
          <p:cNvPr id="59" name="Text 57"/>
          <p:cNvSpPr txBox="1"/>
          <p:nvPr/>
        </p:nvSpPr>
        <p:spPr>
          <a:xfrm>
            <a:off x="3959352" y="3749040"/>
            <a:ext cx="457200"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6</a:t>
            </a:r>
            <a:endParaRPr lang="en-US" sz="850" dirty="0"/>
          </a:p>
        </p:txBody>
      </p:sp>
      <p:sp>
        <p:nvSpPr>
          <p:cNvPr id="60" name="Shape 58"/>
          <p:cNvSpPr/>
          <p:nvPr/>
        </p:nvSpPr>
        <p:spPr>
          <a:xfrm>
            <a:off x="4489704" y="3273552"/>
            <a:ext cx="457200" cy="457200"/>
          </a:xfrm>
          <a:prstGeom prst="roundRect">
            <a:avLst>
              <a:gd name="adj" fmla="val 16000"/>
            </a:avLst>
          </a:prstGeom>
          <a:solidFill>
            <a:srgbClr val="FFFFFF"/>
          </a:solidFill>
          <a:ln w="22225">
            <a:solidFill>
              <a:srgbClr val="0E7490"/>
            </a:solidFill>
            <a:prstDash val="solid"/>
          </a:ln>
        </p:spPr>
      </p:sp>
      <p:sp>
        <p:nvSpPr>
          <p:cNvPr id="61" name="Text 59"/>
          <p:cNvSpPr txBox="1"/>
          <p:nvPr/>
        </p:nvSpPr>
        <p:spPr>
          <a:xfrm>
            <a:off x="4489704" y="3273552"/>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62</a:t>
            </a:r>
            <a:endParaRPr lang="en-US" sz="1300" dirty="0"/>
          </a:p>
        </p:txBody>
      </p:sp>
      <p:sp>
        <p:nvSpPr>
          <p:cNvPr id="62" name="Text 60"/>
          <p:cNvSpPr txBox="1"/>
          <p:nvPr/>
        </p:nvSpPr>
        <p:spPr>
          <a:xfrm>
            <a:off x="4489704" y="3749040"/>
            <a:ext cx="457200"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7</a:t>
            </a:r>
            <a:endParaRPr lang="en-US" sz="850" dirty="0"/>
          </a:p>
        </p:txBody>
      </p:sp>
      <p:sp>
        <p:nvSpPr>
          <p:cNvPr id="63" name="Text 61"/>
          <p:cNvSpPr txBox="1"/>
          <p:nvPr/>
        </p:nvSpPr>
        <p:spPr>
          <a:xfrm>
            <a:off x="2807208" y="3913632"/>
            <a:ext cx="640080" cy="201168"/>
          </a:xfrm>
          <a:prstGeom prst="rect">
            <a:avLst/>
          </a:prstGeom>
          <a:noFill/>
          <a:ln/>
        </p:spPr>
        <p:txBody>
          <a:bodyPr wrap="square" lIns="0" tIns="0" rIns="0" bIns="0" rtlCol="0" anchor="ctr"/>
          <a:lstStyle/>
          <a:p>
            <a:pPr marL="0" indent="0" algn="ctr">
              <a:buNone/>
            </a:pPr>
            <a:r>
              <a:rPr lang="en-US" sz="950" b="1" dirty="0">
                <a:solidFill>
                  <a:srgbClr val="0E7490"/>
                </a:solidFill>
                <a:latin typeface="Courier New" pitchFamily="34" charset="0"/>
                <a:ea typeface="Courier New" pitchFamily="34" charset="-122"/>
                <a:cs typeface="Courier New" pitchFamily="34" charset="-120"/>
              </a:rPr>
              <a:t>L</a:t>
            </a:r>
            <a:endParaRPr lang="en-US" sz="950" dirty="0"/>
          </a:p>
        </p:txBody>
      </p:sp>
      <p:sp>
        <p:nvSpPr>
          <p:cNvPr id="64" name="Text 62"/>
          <p:cNvSpPr txBox="1"/>
          <p:nvPr/>
        </p:nvSpPr>
        <p:spPr>
          <a:xfrm>
            <a:off x="3337560" y="3913632"/>
            <a:ext cx="640080" cy="201168"/>
          </a:xfrm>
          <a:prstGeom prst="rect">
            <a:avLst/>
          </a:prstGeom>
          <a:noFill/>
          <a:ln/>
        </p:spPr>
        <p:txBody>
          <a:bodyPr wrap="square" lIns="0" tIns="0" rIns="0" bIns="0" rtlCol="0" anchor="ctr"/>
          <a:lstStyle/>
          <a:p>
            <a:pPr marL="0" indent="0" algn="ctr">
              <a:buNone/>
            </a:pPr>
            <a:r>
              <a:rPr lang="en-US" sz="950" b="1" dirty="0">
                <a:solidFill>
                  <a:srgbClr val="D97706"/>
                </a:solidFill>
                <a:latin typeface="Courier New" pitchFamily="34" charset="0"/>
                <a:ea typeface="Courier New" pitchFamily="34" charset="-122"/>
                <a:cs typeface="Courier New" pitchFamily="34" charset="-120"/>
              </a:rPr>
              <a:t>M</a:t>
            </a:r>
            <a:endParaRPr lang="en-US" sz="950" dirty="0"/>
          </a:p>
        </p:txBody>
      </p:sp>
      <p:sp>
        <p:nvSpPr>
          <p:cNvPr id="65" name="Text 63"/>
          <p:cNvSpPr txBox="1"/>
          <p:nvPr/>
        </p:nvSpPr>
        <p:spPr>
          <a:xfrm>
            <a:off x="4398264" y="3913632"/>
            <a:ext cx="640080" cy="201168"/>
          </a:xfrm>
          <a:prstGeom prst="rect">
            <a:avLst/>
          </a:prstGeom>
          <a:noFill/>
          <a:ln/>
        </p:spPr>
        <p:txBody>
          <a:bodyPr wrap="square" lIns="0" tIns="0" rIns="0" bIns="0" rtlCol="0" anchor="ctr"/>
          <a:lstStyle/>
          <a:p>
            <a:pPr marL="0" indent="0" algn="ctr">
              <a:buNone/>
            </a:pPr>
            <a:r>
              <a:rPr lang="en-US" sz="950" b="1" dirty="0">
                <a:solidFill>
                  <a:srgbClr val="DC2626"/>
                </a:solidFill>
                <a:latin typeface="Courier New" pitchFamily="34" charset="0"/>
                <a:ea typeface="Courier New" pitchFamily="34" charset="-122"/>
                <a:cs typeface="Courier New" pitchFamily="34" charset="-120"/>
              </a:rPr>
              <a:t>H</a:t>
            </a:r>
            <a:endParaRPr lang="en-US" sz="950" dirty="0"/>
          </a:p>
        </p:txBody>
      </p:sp>
      <p:sp>
        <p:nvSpPr>
          <p:cNvPr id="66" name="Text 64"/>
          <p:cNvSpPr txBox="1"/>
          <p:nvPr/>
        </p:nvSpPr>
        <p:spPr>
          <a:xfrm>
            <a:off x="5257800" y="3319272"/>
            <a:ext cx="6217920" cy="411480"/>
          </a:xfrm>
          <a:prstGeom prst="rect">
            <a:avLst/>
          </a:prstGeom>
          <a:noFill/>
          <a:ln/>
        </p:spPr>
        <p:txBody>
          <a:bodyPr wrap="square" lIns="0" tIns="0" rIns="0" bIns="0" rtlCol="0" anchor="ctr"/>
          <a:lstStyle/>
          <a:p>
            <a:pPr marL="0" indent="0">
              <a:buNone/>
            </a:pPr>
            <a:r>
              <a:rPr lang="en-US" sz="1200" b="1" dirty="0">
                <a:solidFill>
                  <a:srgbClr val="10242E"/>
                </a:solidFill>
                <a:latin typeface="Calibri" pitchFamily="34" charset="0"/>
                <a:ea typeface="Calibri" pitchFamily="34" charset="-122"/>
                <a:cs typeface="Calibri" pitchFamily="34" charset="-120"/>
              </a:rPr>
              <a:t>A[5] = 32 &gt; 23   →   key is in the LEFT half   →   high = mid − 1 = 4</a:t>
            </a:r>
            <a:endParaRPr lang="en-US" sz="1200" dirty="0"/>
          </a:p>
        </p:txBody>
      </p:sp>
      <p:sp>
        <p:nvSpPr>
          <p:cNvPr id="67" name="Text 65"/>
          <p:cNvSpPr txBox="1"/>
          <p:nvPr/>
        </p:nvSpPr>
        <p:spPr>
          <a:xfrm>
            <a:off x="5257800" y="3730752"/>
            <a:ext cx="6217920" cy="274320"/>
          </a:xfrm>
          <a:prstGeom prst="rect">
            <a:avLst/>
          </a:prstGeom>
          <a:noFill/>
          <a:ln/>
        </p:spPr>
        <p:txBody>
          <a:bodyPr wrap="square" lIns="0" tIns="0" rIns="0" bIns="0" rtlCol="0" anchor="ctr"/>
          <a:lstStyle/>
          <a:p>
            <a:pPr marL="0" indent="0">
              <a:buNone/>
            </a:pPr>
            <a:r>
              <a:rPr lang="en-US" sz="1050" i="1" dirty="0">
                <a:solidFill>
                  <a:srgbClr val="5B6584"/>
                </a:solidFill>
                <a:latin typeface="Calibri" pitchFamily="34" charset="0"/>
                <a:ea typeface="Calibri" pitchFamily="34" charset="-122"/>
                <a:cs typeface="Calibri" pitchFamily="34" charset="-120"/>
              </a:rPr>
              <a:t>discards indices 5–7 (3 elements)</a:t>
            </a:r>
            <a:endParaRPr lang="en-US" sz="1050" dirty="0"/>
          </a:p>
        </p:txBody>
      </p:sp>
      <p:sp>
        <p:nvSpPr>
          <p:cNvPr id="68" name="Shape 66"/>
          <p:cNvSpPr/>
          <p:nvPr/>
        </p:nvSpPr>
        <p:spPr>
          <a:xfrm>
            <a:off x="548640" y="4306824"/>
            <a:ext cx="11064240" cy="1325880"/>
          </a:xfrm>
          <a:prstGeom prst="roundRect">
            <a:avLst>
              <a:gd name="adj" fmla="val 6897"/>
            </a:avLst>
          </a:prstGeom>
          <a:solidFill>
            <a:srgbClr val="DCFCE9"/>
          </a:solidFill>
          <a:ln w="12700">
            <a:solidFill>
              <a:srgbClr val="6FCF9A"/>
            </a:solidFill>
            <a:prstDash val="solid"/>
          </a:ln>
        </p:spPr>
      </p:sp>
      <p:sp>
        <p:nvSpPr>
          <p:cNvPr id="69" name="Text 67"/>
          <p:cNvSpPr txBox="1"/>
          <p:nvPr/>
        </p:nvSpPr>
        <p:spPr>
          <a:xfrm>
            <a:off x="777240" y="4379976"/>
            <a:ext cx="10515600" cy="274320"/>
          </a:xfrm>
          <a:prstGeom prst="rect">
            <a:avLst/>
          </a:prstGeom>
          <a:noFill/>
          <a:ln/>
        </p:spPr>
        <p:txBody>
          <a:bodyPr wrap="square" lIns="0" tIns="0" rIns="0" bIns="0" rtlCol="0" anchor="ctr"/>
          <a:lstStyle/>
          <a:p>
            <a:pPr marL="0" indent="0">
              <a:buNone/>
            </a:pPr>
            <a:r>
              <a:rPr lang="en-US" sz="1150" b="1" dirty="0">
                <a:solidFill>
                  <a:srgbClr val="10242E"/>
                </a:solidFill>
                <a:latin typeface="Courier New" pitchFamily="34" charset="0"/>
                <a:ea typeface="Courier New" pitchFamily="34" charset="-122"/>
                <a:cs typeface="Courier New" pitchFamily="34" charset="-120"/>
              </a:rPr>
              <a:t>Probe 3:  low = 4, high = 4,  mid = ⌊(4+4)/2⌋ = 4</a:t>
            </a:r>
            <a:endParaRPr lang="en-US" sz="1150" dirty="0"/>
          </a:p>
        </p:txBody>
      </p:sp>
      <p:sp>
        <p:nvSpPr>
          <p:cNvPr id="70" name="Shape 68"/>
          <p:cNvSpPr/>
          <p:nvPr/>
        </p:nvSpPr>
        <p:spPr>
          <a:xfrm>
            <a:off x="777240" y="4718304"/>
            <a:ext cx="457200" cy="457200"/>
          </a:xfrm>
          <a:prstGeom prst="roundRect">
            <a:avLst>
              <a:gd name="adj" fmla="val 16000"/>
            </a:avLst>
          </a:prstGeom>
          <a:solidFill>
            <a:srgbClr val="E5E7EB"/>
          </a:solidFill>
          <a:ln w="22225">
            <a:solidFill>
              <a:srgbClr val="CBD0D6"/>
            </a:solidFill>
            <a:prstDash val="solid"/>
          </a:ln>
        </p:spPr>
      </p:sp>
      <p:sp>
        <p:nvSpPr>
          <p:cNvPr id="71" name="Text 69"/>
          <p:cNvSpPr txBox="1"/>
          <p:nvPr/>
        </p:nvSpPr>
        <p:spPr>
          <a:xfrm>
            <a:off x="777240" y="4718304"/>
            <a:ext cx="457200" cy="457200"/>
          </a:xfrm>
          <a:prstGeom prst="rect">
            <a:avLst/>
          </a:prstGeom>
          <a:noFill/>
          <a:ln/>
        </p:spPr>
        <p:txBody>
          <a:bodyPr wrap="square" lIns="0" tIns="0" rIns="0" bIns="0" rtlCol="0" anchor="ctr"/>
          <a:lstStyle/>
          <a:p>
            <a:pPr marL="0" indent="0" algn="ctr">
              <a:buNone/>
            </a:pPr>
            <a:r>
              <a:rPr lang="en-US" sz="1300" b="1" dirty="0">
                <a:solidFill>
                  <a:srgbClr val="9CA3AF"/>
                </a:solidFill>
                <a:latin typeface="Courier New" pitchFamily="34" charset="0"/>
                <a:ea typeface="Courier New" pitchFamily="34" charset="-122"/>
                <a:cs typeface="Courier New" pitchFamily="34" charset="-120"/>
              </a:rPr>
              <a:t>5</a:t>
            </a:r>
            <a:endParaRPr lang="en-US" sz="1300" dirty="0"/>
          </a:p>
        </p:txBody>
      </p:sp>
      <p:sp>
        <p:nvSpPr>
          <p:cNvPr id="72" name="Text 70"/>
          <p:cNvSpPr txBox="1"/>
          <p:nvPr/>
        </p:nvSpPr>
        <p:spPr>
          <a:xfrm>
            <a:off x="777240" y="5193792"/>
            <a:ext cx="457200"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0</a:t>
            </a:r>
            <a:endParaRPr lang="en-US" sz="850" dirty="0"/>
          </a:p>
        </p:txBody>
      </p:sp>
      <p:sp>
        <p:nvSpPr>
          <p:cNvPr id="73" name="Shape 71"/>
          <p:cNvSpPr/>
          <p:nvPr/>
        </p:nvSpPr>
        <p:spPr>
          <a:xfrm>
            <a:off x="1307592" y="4718304"/>
            <a:ext cx="457200" cy="457200"/>
          </a:xfrm>
          <a:prstGeom prst="roundRect">
            <a:avLst>
              <a:gd name="adj" fmla="val 16000"/>
            </a:avLst>
          </a:prstGeom>
          <a:solidFill>
            <a:srgbClr val="E5E7EB"/>
          </a:solidFill>
          <a:ln w="22225">
            <a:solidFill>
              <a:srgbClr val="CBD0D6"/>
            </a:solidFill>
            <a:prstDash val="solid"/>
          </a:ln>
        </p:spPr>
      </p:sp>
      <p:sp>
        <p:nvSpPr>
          <p:cNvPr id="74" name="Text 72"/>
          <p:cNvSpPr txBox="1"/>
          <p:nvPr/>
        </p:nvSpPr>
        <p:spPr>
          <a:xfrm>
            <a:off x="1307592" y="4718304"/>
            <a:ext cx="457200" cy="457200"/>
          </a:xfrm>
          <a:prstGeom prst="rect">
            <a:avLst/>
          </a:prstGeom>
          <a:noFill/>
          <a:ln/>
        </p:spPr>
        <p:txBody>
          <a:bodyPr wrap="square" lIns="0" tIns="0" rIns="0" bIns="0" rtlCol="0" anchor="ctr"/>
          <a:lstStyle/>
          <a:p>
            <a:pPr marL="0" indent="0" algn="ctr">
              <a:buNone/>
            </a:pPr>
            <a:r>
              <a:rPr lang="en-US" sz="1300" b="1" dirty="0">
                <a:solidFill>
                  <a:srgbClr val="9CA3AF"/>
                </a:solidFill>
                <a:latin typeface="Courier New" pitchFamily="34" charset="0"/>
                <a:ea typeface="Courier New" pitchFamily="34" charset="-122"/>
                <a:cs typeface="Courier New" pitchFamily="34" charset="-120"/>
              </a:rPr>
              <a:t>7</a:t>
            </a:r>
            <a:endParaRPr lang="en-US" sz="1300" dirty="0"/>
          </a:p>
        </p:txBody>
      </p:sp>
      <p:sp>
        <p:nvSpPr>
          <p:cNvPr id="75" name="Text 73"/>
          <p:cNvSpPr txBox="1"/>
          <p:nvPr/>
        </p:nvSpPr>
        <p:spPr>
          <a:xfrm>
            <a:off x="1307592" y="5193792"/>
            <a:ext cx="457200"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1</a:t>
            </a:r>
            <a:endParaRPr lang="en-US" sz="850" dirty="0"/>
          </a:p>
        </p:txBody>
      </p:sp>
      <p:sp>
        <p:nvSpPr>
          <p:cNvPr id="76" name="Shape 74"/>
          <p:cNvSpPr/>
          <p:nvPr/>
        </p:nvSpPr>
        <p:spPr>
          <a:xfrm>
            <a:off x="1837944" y="4718304"/>
            <a:ext cx="457200" cy="457200"/>
          </a:xfrm>
          <a:prstGeom prst="roundRect">
            <a:avLst>
              <a:gd name="adj" fmla="val 16000"/>
            </a:avLst>
          </a:prstGeom>
          <a:solidFill>
            <a:srgbClr val="E5E7EB"/>
          </a:solidFill>
          <a:ln w="22225">
            <a:solidFill>
              <a:srgbClr val="CBD0D6"/>
            </a:solidFill>
            <a:prstDash val="solid"/>
          </a:ln>
        </p:spPr>
      </p:sp>
      <p:sp>
        <p:nvSpPr>
          <p:cNvPr id="77" name="Text 75"/>
          <p:cNvSpPr txBox="1"/>
          <p:nvPr/>
        </p:nvSpPr>
        <p:spPr>
          <a:xfrm>
            <a:off x="1837944" y="4718304"/>
            <a:ext cx="457200" cy="457200"/>
          </a:xfrm>
          <a:prstGeom prst="rect">
            <a:avLst/>
          </a:prstGeom>
          <a:noFill/>
          <a:ln/>
        </p:spPr>
        <p:txBody>
          <a:bodyPr wrap="square" lIns="0" tIns="0" rIns="0" bIns="0" rtlCol="0" anchor="ctr"/>
          <a:lstStyle/>
          <a:p>
            <a:pPr marL="0" indent="0" algn="ctr">
              <a:buNone/>
            </a:pPr>
            <a:r>
              <a:rPr lang="en-US" sz="1300" b="1" dirty="0">
                <a:solidFill>
                  <a:srgbClr val="9CA3AF"/>
                </a:solidFill>
                <a:latin typeface="Courier New" pitchFamily="34" charset="0"/>
                <a:ea typeface="Courier New" pitchFamily="34" charset="-122"/>
                <a:cs typeface="Courier New" pitchFamily="34" charset="-120"/>
              </a:rPr>
              <a:t>14</a:t>
            </a:r>
            <a:endParaRPr lang="en-US" sz="1300" dirty="0"/>
          </a:p>
        </p:txBody>
      </p:sp>
      <p:sp>
        <p:nvSpPr>
          <p:cNvPr id="78" name="Text 76"/>
          <p:cNvSpPr txBox="1"/>
          <p:nvPr/>
        </p:nvSpPr>
        <p:spPr>
          <a:xfrm>
            <a:off x="1837944" y="5193792"/>
            <a:ext cx="457200"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2</a:t>
            </a:r>
            <a:endParaRPr lang="en-US" sz="850" dirty="0"/>
          </a:p>
        </p:txBody>
      </p:sp>
      <p:sp>
        <p:nvSpPr>
          <p:cNvPr id="79" name="Shape 77"/>
          <p:cNvSpPr/>
          <p:nvPr/>
        </p:nvSpPr>
        <p:spPr>
          <a:xfrm>
            <a:off x="2368296" y="4718304"/>
            <a:ext cx="457200" cy="457200"/>
          </a:xfrm>
          <a:prstGeom prst="roundRect">
            <a:avLst>
              <a:gd name="adj" fmla="val 16000"/>
            </a:avLst>
          </a:prstGeom>
          <a:solidFill>
            <a:srgbClr val="E5E7EB"/>
          </a:solidFill>
          <a:ln w="22225">
            <a:solidFill>
              <a:srgbClr val="CBD0D6"/>
            </a:solidFill>
            <a:prstDash val="solid"/>
          </a:ln>
        </p:spPr>
      </p:sp>
      <p:sp>
        <p:nvSpPr>
          <p:cNvPr id="80" name="Text 78"/>
          <p:cNvSpPr txBox="1"/>
          <p:nvPr/>
        </p:nvSpPr>
        <p:spPr>
          <a:xfrm>
            <a:off x="2368296" y="4718304"/>
            <a:ext cx="457200" cy="457200"/>
          </a:xfrm>
          <a:prstGeom prst="rect">
            <a:avLst/>
          </a:prstGeom>
          <a:noFill/>
          <a:ln/>
        </p:spPr>
        <p:txBody>
          <a:bodyPr wrap="square" lIns="0" tIns="0" rIns="0" bIns="0" rtlCol="0" anchor="ctr"/>
          <a:lstStyle/>
          <a:p>
            <a:pPr marL="0" indent="0" algn="ctr">
              <a:buNone/>
            </a:pPr>
            <a:r>
              <a:rPr lang="en-US" sz="1300" b="1" dirty="0">
                <a:solidFill>
                  <a:srgbClr val="9CA3AF"/>
                </a:solidFill>
                <a:latin typeface="Courier New" pitchFamily="34" charset="0"/>
                <a:ea typeface="Courier New" pitchFamily="34" charset="-122"/>
                <a:cs typeface="Courier New" pitchFamily="34" charset="-120"/>
              </a:rPr>
              <a:t>19</a:t>
            </a:r>
            <a:endParaRPr lang="en-US" sz="1300" dirty="0"/>
          </a:p>
        </p:txBody>
      </p:sp>
      <p:sp>
        <p:nvSpPr>
          <p:cNvPr id="81" name="Text 79"/>
          <p:cNvSpPr txBox="1"/>
          <p:nvPr/>
        </p:nvSpPr>
        <p:spPr>
          <a:xfrm>
            <a:off x="2368296" y="5193792"/>
            <a:ext cx="457200"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3</a:t>
            </a:r>
            <a:endParaRPr lang="en-US" sz="850" dirty="0"/>
          </a:p>
        </p:txBody>
      </p:sp>
      <p:sp>
        <p:nvSpPr>
          <p:cNvPr id="82" name="Shape 80"/>
          <p:cNvSpPr/>
          <p:nvPr/>
        </p:nvSpPr>
        <p:spPr>
          <a:xfrm>
            <a:off x="2898648" y="4718304"/>
            <a:ext cx="457200" cy="457200"/>
          </a:xfrm>
          <a:prstGeom prst="roundRect">
            <a:avLst>
              <a:gd name="adj" fmla="val 16000"/>
            </a:avLst>
          </a:prstGeom>
          <a:solidFill>
            <a:srgbClr val="059669"/>
          </a:solidFill>
          <a:ln w="22225">
            <a:solidFill>
              <a:srgbClr val="059669"/>
            </a:solidFill>
            <a:prstDash val="solid"/>
          </a:ln>
        </p:spPr>
      </p:sp>
      <p:sp>
        <p:nvSpPr>
          <p:cNvPr id="83" name="Text 81"/>
          <p:cNvSpPr txBox="1"/>
          <p:nvPr/>
        </p:nvSpPr>
        <p:spPr>
          <a:xfrm>
            <a:off x="2898648" y="4718304"/>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23</a:t>
            </a:r>
            <a:endParaRPr lang="en-US" sz="1300" dirty="0"/>
          </a:p>
        </p:txBody>
      </p:sp>
      <p:sp>
        <p:nvSpPr>
          <p:cNvPr id="84" name="Text 82"/>
          <p:cNvSpPr txBox="1"/>
          <p:nvPr/>
        </p:nvSpPr>
        <p:spPr>
          <a:xfrm>
            <a:off x="2898648" y="5193792"/>
            <a:ext cx="457200"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4</a:t>
            </a:r>
            <a:endParaRPr lang="en-US" sz="850" dirty="0"/>
          </a:p>
        </p:txBody>
      </p:sp>
      <p:sp>
        <p:nvSpPr>
          <p:cNvPr id="85" name="Shape 83"/>
          <p:cNvSpPr/>
          <p:nvPr/>
        </p:nvSpPr>
        <p:spPr>
          <a:xfrm>
            <a:off x="3429000" y="4718304"/>
            <a:ext cx="457200" cy="457200"/>
          </a:xfrm>
          <a:prstGeom prst="roundRect">
            <a:avLst>
              <a:gd name="adj" fmla="val 16000"/>
            </a:avLst>
          </a:prstGeom>
          <a:solidFill>
            <a:srgbClr val="E5E7EB"/>
          </a:solidFill>
          <a:ln w="22225">
            <a:solidFill>
              <a:srgbClr val="CBD0D6"/>
            </a:solidFill>
            <a:prstDash val="solid"/>
          </a:ln>
        </p:spPr>
      </p:sp>
      <p:sp>
        <p:nvSpPr>
          <p:cNvPr id="86" name="Text 84"/>
          <p:cNvSpPr txBox="1"/>
          <p:nvPr/>
        </p:nvSpPr>
        <p:spPr>
          <a:xfrm>
            <a:off x="3429000" y="4718304"/>
            <a:ext cx="457200" cy="457200"/>
          </a:xfrm>
          <a:prstGeom prst="rect">
            <a:avLst/>
          </a:prstGeom>
          <a:noFill/>
          <a:ln/>
        </p:spPr>
        <p:txBody>
          <a:bodyPr wrap="square" lIns="0" tIns="0" rIns="0" bIns="0" rtlCol="0" anchor="ctr"/>
          <a:lstStyle/>
          <a:p>
            <a:pPr marL="0" indent="0" algn="ctr">
              <a:buNone/>
            </a:pPr>
            <a:r>
              <a:rPr lang="en-US" sz="1300" b="1" dirty="0">
                <a:solidFill>
                  <a:srgbClr val="9CA3AF"/>
                </a:solidFill>
                <a:latin typeface="Courier New" pitchFamily="34" charset="0"/>
                <a:ea typeface="Courier New" pitchFamily="34" charset="-122"/>
                <a:cs typeface="Courier New" pitchFamily="34" charset="-120"/>
              </a:rPr>
              <a:t>32</a:t>
            </a:r>
            <a:endParaRPr lang="en-US" sz="1300" dirty="0"/>
          </a:p>
        </p:txBody>
      </p:sp>
      <p:sp>
        <p:nvSpPr>
          <p:cNvPr id="87" name="Text 85"/>
          <p:cNvSpPr txBox="1"/>
          <p:nvPr/>
        </p:nvSpPr>
        <p:spPr>
          <a:xfrm>
            <a:off x="3429000" y="5193792"/>
            <a:ext cx="457200"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5</a:t>
            </a:r>
            <a:endParaRPr lang="en-US" sz="850" dirty="0"/>
          </a:p>
        </p:txBody>
      </p:sp>
      <p:sp>
        <p:nvSpPr>
          <p:cNvPr id="88" name="Shape 86"/>
          <p:cNvSpPr/>
          <p:nvPr/>
        </p:nvSpPr>
        <p:spPr>
          <a:xfrm>
            <a:off x="3959352" y="4718304"/>
            <a:ext cx="457200" cy="457200"/>
          </a:xfrm>
          <a:prstGeom prst="roundRect">
            <a:avLst>
              <a:gd name="adj" fmla="val 16000"/>
            </a:avLst>
          </a:prstGeom>
          <a:solidFill>
            <a:srgbClr val="E5E7EB"/>
          </a:solidFill>
          <a:ln w="22225">
            <a:solidFill>
              <a:srgbClr val="CBD0D6"/>
            </a:solidFill>
            <a:prstDash val="solid"/>
          </a:ln>
        </p:spPr>
      </p:sp>
      <p:sp>
        <p:nvSpPr>
          <p:cNvPr id="89" name="Text 87"/>
          <p:cNvSpPr txBox="1"/>
          <p:nvPr/>
        </p:nvSpPr>
        <p:spPr>
          <a:xfrm>
            <a:off x="3959352" y="4718304"/>
            <a:ext cx="457200" cy="457200"/>
          </a:xfrm>
          <a:prstGeom prst="rect">
            <a:avLst/>
          </a:prstGeom>
          <a:noFill/>
          <a:ln/>
        </p:spPr>
        <p:txBody>
          <a:bodyPr wrap="square" lIns="0" tIns="0" rIns="0" bIns="0" rtlCol="0" anchor="ctr"/>
          <a:lstStyle/>
          <a:p>
            <a:pPr marL="0" indent="0" algn="ctr">
              <a:buNone/>
            </a:pPr>
            <a:r>
              <a:rPr lang="en-US" sz="1300" b="1" dirty="0">
                <a:solidFill>
                  <a:srgbClr val="9CA3AF"/>
                </a:solidFill>
                <a:latin typeface="Courier New" pitchFamily="34" charset="0"/>
                <a:ea typeface="Courier New" pitchFamily="34" charset="-122"/>
                <a:cs typeface="Courier New" pitchFamily="34" charset="-120"/>
              </a:rPr>
              <a:t>34</a:t>
            </a:r>
            <a:endParaRPr lang="en-US" sz="1300" dirty="0"/>
          </a:p>
        </p:txBody>
      </p:sp>
      <p:sp>
        <p:nvSpPr>
          <p:cNvPr id="90" name="Text 88"/>
          <p:cNvSpPr txBox="1"/>
          <p:nvPr/>
        </p:nvSpPr>
        <p:spPr>
          <a:xfrm>
            <a:off x="3959352" y="5193792"/>
            <a:ext cx="457200"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6</a:t>
            </a:r>
            <a:endParaRPr lang="en-US" sz="850" dirty="0"/>
          </a:p>
        </p:txBody>
      </p:sp>
      <p:sp>
        <p:nvSpPr>
          <p:cNvPr id="91" name="Shape 89"/>
          <p:cNvSpPr/>
          <p:nvPr/>
        </p:nvSpPr>
        <p:spPr>
          <a:xfrm>
            <a:off x="4489704" y="4718304"/>
            <a:ext cx="457200" cy="457200"/>
          </a:xfrm>
          <a:prstGeom prst="roundRect">
            <a:avLst>
              <a:gd name="adj" fmla="val 16000"/>
            </a:avLst>
          </a:prstGeom>
          <a:solidFill>
            <a:srgbClr val="E5E7EB"/>
          </a:solidFill>
          <a:ln w="22225">
            <a:solidFill>
              <a:srgbClr val="CBD0D6"/>
            </a:solidFill>
            <a:prstDash val="solid"/>
          </a:ln>
        </p:spPr>
      </p:sp>
      <p:sp>
        <p:nvSpPr>
          <p:cNvPr id="92" name="Text 90"/>
          <p:cNvSpPr txBox="1"/>
          <p:nvPr/>
        </p:nvSpPr>
        <p:spPr>
          <a:xfrm>
            <a:off x="4489704" y="4718304"/>
            <a:ext cx="457200" cy="457200"/>
          </a:xfrm>
          <a:prstGeom prst="rect">
            <a:avLst/>
          </a:prstGeom>
          <a:noFill/>
          <a:ln/>
        </p:spPr>
        <p:txBody>
          <a:bodyPr wrap="square" lIns="0" tIns="0" rIns="0" bIns="0" rtlCol="0" anchor="ctr"/>
          <a:lstStyle/>
          <a:p>
            <a:pPr marL="0" indent="0" algn="ctr">
              <a:buNone/>
            </a:pPr>
            <a:r>
              <a:rPr lang="en-US" sz="1300" b="1" dirty="0">
                <a:solidFill>
                  <a:srgbClr val="9CA3AF"/>
                </a:solidFill>
                <a:latin typeface="Courier New" pitchFamily="34" charset="0"/>
                <a:ea typeface="Courier New" pitchFamily="34" charset="-122"/>
                <a:cs typeface="Courier New" pitchFamily="34" charset="-120"/>
              </a:rPr>
              <a:t>62</a:t>
            </a:r>
            <a:endParaRPr lang="en-US" sz="1300" dirty="0"/>
          </a:p>
        </p:txBody>
      </p:sp>
      <p:sp>
        <p:nvSpPr>
          <p:cNvPr id="93" name="Text 91"/>
          <p:cNvSpPr txBox="1"/>
          <p:nvPr/>
        </p:nvSpPr>
        <p:spPr>
          <a:xfrm>
            <a:off x="4489704" y="5193792"/>
            <a:ext cx="457200"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7</a:t>
            </a:r>
            <a:endParaRPr lang="en-US" sz="850" dirty="0"/>
          </a:p>
        </p:txBody>
      </p:sp>
      <p:sp>
        <p:nvSpPr>
          <p:cNvPr id="94" name="Text 92"/>
          <p:cNvSpPr txBox="1"/>
          <p:nvPr/>
        </p:nvSpPr>
        <p:spPr>
          <a:xfrm>
            <a:off x="2807208" y="5358384"/>
            <a:ext cx="640080" cy="201168"/>
          </a:xfrm>
          <a:prstGeom prst="rect">
            <a:avLst/>
          </a:prstGeom>
          <a:noFill/>
          <a:ln/>
        </p:spPr>
        <p:txBody>
          <a:bodyPr wrap="square" lIns="0" tIns="0" rIns="0" bIns="0" rtlCol="0" anchor="ctr"/>
          <a:lstStyle/>
          <a:p>
            <a:pPr marL="0" indent="0" algn="ctr">
              <a:buNone/>
            </a:pPr>
            <a:r>
              <a:rPr lang="en-US" sz="950" b="1" dirty="0">
                <a:solidFill>
                  <a:srgbClr val="D97706"/>
                </a:solidFill>
                <a:latin typeface="Courier New" pitchFamily="34" charset="0"/>
                <a:ea typeface="Courier New" pitchFamily="34" charset="-122"/>
                <a:cs typeface="Courier New" pitchFamily="34" charset="-120"/>
              </a:rPr>
              <a:t>L,H,M</a:t>
            </a:r>
            <a:endParaRPr lang="en-US" sz="950" dirty="0"/>
          </a:p>
        </p:txBody>
      </p:sp>
      <p:sp>
        <p:nvSpPr>
          <p:cNvPr id="95" name="Text 93"/>
          <p:cNvSpPr txBox="1"/>
          <p:nvPr/>
        </p:nvSpPr>
        <p:spPr>
          <a:xfrm>
            <a:off x="5257800" y="4764024"/>
            <a:ext cx="6217920" cy="411480"/>
          </a:xfrm>
          <a:prstGeom prst="rect">
            <a:avLst/>
          </a:prstGeom>
          <a:noFill/>
          <a:ln/>
        </p:spPr>
        <p:txBody>
          <a:bodyPr wrap="square" lIns="0" tIns="0" rIns="0" bIns="0" rtlCol="0" anchor="ctr"/>
          <a:lstStyle/>
          <a:p>
            <a:pPr marL="0" indent="0">
              <a:buNone/>
            </a:pPr>
            <a:r>
              <a:rPr lang="en-US" sz="1200" b="1" dirty="0">
                <a:solidFill>
                  <a:srgbClr val="059669"/>
                </a:solidFill>
                <a:latin typeface="Calibri" pitchFamily="34" charset="0"/>
                <a:ea typeface="Calibri" pitchFamily="34" charset="-122"/>
                <a:cs typeface="Calibri" pitchFamily="34" charset="-120"/>
              </a:rPr>
              <a:t>A[4] = 23 = 23   →   FOUND at index 4</a:t>
            </a:r>
            <a:endParaRPr lang="en-US" sz="1200" dirty="0"/>
          </a:p>
        </p:txBody>
      </p:sp>
      <p:sp>
        <p:nvSpPr>
          <p:cNvPr id="96" name="Text 94"/>
          <p:cNvSpPr txBox="1"/>
          <p:nvPr/>
        </p:nvSpPr>
        <p:spPr>
          <a:xfrm>
            <a:off x="5257800" y="5175504"/>
            <a:ext cx="6217920" cy="274320"/>
          </a:xfrm>
          <a:prstGeom prst="rect">
            <a:avLst/>
          </a:prstGeom>
          <a:noFill/>
          <a:ln/>
        </p:spPr>
        <p:txBody>
          <a:bodyPr wrap="square" lIns="0" tIns="0" rIns="0" bIns="0" rtlCol="0" anchor="ctr"/>
          <a:lstStyle/>
          <a:p>
            <a:pPr marL="0" indent="0">
              <a:buNone/>
            </a:pPr>
            <a:r>
              <a:rPr lang="en-US" sz="1050" i="1" dirty="0">
                <a:solidFill>
                  <a:srgbClr val="5B6584"/>
                </a:solidFill>
                <a:latin typeface="Calibri" pitchFamily="34" charset="0"/>
                <a:ea typeface="Calibri" pitchFamily="34" charset="-122"/>
                <a:cs typeface="Calibri" pitchFamily="34" charset="-120"/>
              </a:rPr>
              <a:t>range had a single candidate left</a:t>
            </a:r>
            <a:endParaRPr lang="en-US" sz="1050" dirty="0"/>
          </a:p>
        </p:txBody>
      </p:sp>
      <p:sp>
        <p:nvSpPr>
          <p:cNvPr id="97" name="Shape 95"/>
          <p:cNvSpPr/>
          <p:nvPr/>
        </p:nvSpPr>
        <p:spPr>
          <a:xfrm>
            <a:off x="548640" y="5769864"/>
            <a:ext cx="11064240" cy="566928"/>
          </a:xfrm>
          <a:prstGeom prst="roundRect">
            <a:avLst>
              <a:gd name="adj" fmla="val 16129"/>
            </a:avLst>
          </a:prstGeom>
          <a:solidFill>
            <a:schemeClr val="accent3">
              <a:lumMod val="20000"/>
              <a:lumOff val="80000"/>
            </a:schemeClr>
          </a:solidFill>
          <a:ln w="12700">
            <a:solidFill>
              <a:srgbClr val="10242E"/>
            </a:solidFill>
            <a:prstDash val="solid"/>
          </a:ln>
        </p:spPr>
      </p:sp>
      <p:sp>
        <p:nvSpPr>
          <p:cNvPr id="98" name="Text 96"/>
          <p:cNvSpPr txBox="1"/>
          <p:nvPr/>
        </p:nvSpPr>
        <p:spPr>
          <a:xfrm>
            <a:off x="777240" y="5769864"/>
            <a:ext cx="10607040" cy="566928"/>
          </a:xfrm>
          <a:prstGeom prst="rect">
            <a:avLst/>
          </a:prstGeom>
          <a:noFill/>
          <a:ln/>
        </p:spPr>
        <p:txBody>
          <a:bodyPr wrap="square" lIns="0" tIns="0" rIns="0" bIns="0" rtlCol="0" anchor="ctr"/>
          <a:lstStyle/>
          <a:p>
            <a:pPr marL="0" indent="0">
              <a:buNone/>
            </a:pPr>
            <a:r>
              <a:rPr lang="en-US" sz="1400" b="1" dirty="0">
                <a:latin typeface="Courier New" pitchFamily="34" charset="0"/>
                <a:ea typeface="Courier New" pitchFamily="34" charset="-122"/>
                <a:cs typeface="Courier New" pitchFamily="34" charset="-120"/>
              </a:rPr>
              <a:t>Result:  found at index 4 after 3 probes</a:t>
            </a:r>
            <a:r>
              <a:rPr lang="en-US" sz="1400" dirty="0">
                <a:latin typeface="Courier New" pitchFamily="34" charset="0"/>
                <a:ea typeface="Courier New" pitchFamily="34" charset="-122"/>
                <a:cs typeface="Courier New" pitchFamily="34" charset="-120"/>
              </a:rPr>
              <a:t>     (worst-case bound for n = 8:  ⌊log₂ 8⌋ + 1 = 4)</a:t>
            </a:r>
            <a:endParaRPr lang="en-US" sz="1400" dirty="0"/>
          </a:p>
        </p:txBody>
      </p:sp>
      <p:sp>
        <p:nvSpPr>
          <p:cNvPr id="99" name="Text 97"/>
          <p:cNvSpPr txBox="1"/>
          <p:nvPr/>
        </p:nvSpPr>
        <p:spPr>
          <a:xfrm>
            <a:off x="548640" y="6547104"/>
            <a:ext cx="6858000" cy="256032"/>
          </a:xfrm>
          <a:prstGeom prst="rect">
            <a:avLst/>
          </a:prstGeom>
          <a:noFill/>
          <a:ln/>
        </p:spPr>
        <p:txBody>
          <a:bodyPr wrap="square" lIns="0" tIns="0" rIns="0" bIns="0" rtlCol="0" anchor="ctr"/>
          <a:lstStyle/>
          <a:p>
            <a:pPr marL="0" indent="0">
              <a:buNone/>
            </a:pPr>
            <a:r>
              <a:rPr lang="en-US" sz="900" dirty="0">
                <a:solidFill>
                  <a:srgbClr val="5B6584"/>
                </a:solidFill>
                <a:latin typeface="Calibri" pitchFamily="34" charset="0"/>
                <a:ea typeface="Calibri" pitchFamily="34" charset="-122"/>
                <a:cs typeface="Calibri" pitchFamily="34" charset="-120"/>
              </a:rPr>
              <a:t>Linear &amp; Binary Search  |  Data Structures Using C</a:t>
            </a:r>
            <a:endParaRPr lang="en-US" sz="900" dirty="0"/>
          </a:p>
        </p:txBody>
      </p:sp>
      <p:sp>
        <p:nvSpPr>
          <p:cNvPr id="100" name="Text 98"/>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500000">
            <a:off x="10972800" y="-1005840"/>
            <a:ext cx="2377440" cy="2377440"/>
          </a:xfrm>
          <a:prstGeom prst="triangle">
            <a:avLst/>
          </a:prstGeom>
          <a:solidFill>
            <a:srgbClr val="0E7490">
              <a:alpha val="5000"/>
            </a:srgbClr>
          </a:solidFill>
          <a:ln/>
        </p:spPr>
      </p:sp>
      <p:sp>
        <p:nvSpPr>
          <p:cNvPr id="3" name="Shape 1"/>
          <p:cNvSpPr/>
          <p:nvPr/>
        </p:nvSpPr>
        <p:spPr>
          <a:xfrm rot="12300000">
            <a:off x="-1097280" y="5760720"/>
            <a:ext cx="2377440" cy="2377440"/>
          </a:xfrm>
          <a:prstGeom prst="triangle">
            <a:avLst/>
          </a:prstGeom>
          <a:solidFill>
            <a:srgbClr val="0E7490">
              <a:alpha val="5000"/>
            </a:srgbClr>
          </a:solidFill>
          <a:ln/>
        </p:spPr>
      </p:sp>
      <p:sp>
        <p:nvSpPr>
          <p:cNvPr id="4" name="Text 2"/>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22A6C4"/>
                </a:solidFill>
                <a:latin typeface="Calibri" pitchFamily="34" charset="0"/>
                <a:ea typeface="Calibri" pitchFamily="34" charset="-122"/>
                <a:cs typeface="Calibri" pitchFamily="34" charset="-120"/>
              </a:rPr>
              <a:t>TRACE — BINARY SEARCH</a:t>
            </a:r>
            <a:endParaRPr lang="en-US" sz="1300" dirty="0"/>
          </a:p>
        </p:txBody>
      </p:sp>
      <p:sp>
        <p:nvSpPr>
          <p:cNvPr id="5" name="Text 3"/>
          <p:cNvSpPr txBox="1"/>
          <p:nvPr/>
        </p:nvSpPr>
        <p:spPr>
          <a:xfrm>
            <a:off x="548640" y="621792"/>
            <a:ext cx="11064240" cy="731520"/>
          </a:xfrm>
          <a:prstGeom prst="rect">
            <a:avLst/>
          </a:prstGeom>
          <a:noFill/>
          <a:ln/>
        </p:spPr>
        <p:txBody>
          <a:bodyPr wrap="square" lIns="0" tIns="0" rIns="0" bIns="0" rtlCol="0" anchor="ctr"/>
          <a:lstStyle/>
          <a:p>
            <a:pPr marL="0" indent="0">
              <a:buNone/>
            </a:pPr>
            <a:r>
              <a:rPr lang="en-US" sz="3000" b="1" dirty="0">
                <a:solidFill>
                  <a:srgbClr val="10242E"/>
                </a:solidFill>
                <a:latin typeface="Cambria" pitchFamily="34" charset="0"/>
                <a:ea typeface="Cambria" pitchFamily="34" charset="-122"/>
                <a:cs typeface="Cambria" pitchFamily="34" charset="-120"/>
              </a:rPr>
              <a:t>Absent Key (20) and the Worst Case (62)</a:t>
            </a:r>
            <a:endParaRPr lang="en-US" sz="3000" dirty="0"/>
          </a:p>
        </p:txBody>
      </p:sp>
      <p:sp>
        <p:nvSpPr>
          <p:cNvPr id="6" name="Text 4"/>
          <p:cNvSpPr txBox="1"/>
          <p:nvPr/>
        </p:nvSpPr>
        <p:spPr>
          <a:xfrm>
            <a:off x="548640" y="1298448"/>
            <a:ext cx="4572000" cy="256032"/>
          </a:xfrm>
          <a:prstGeom prst="rect">
            <a:avLst/>
          </a:prstGeom>
          <a:noFill/>
          <a:ln/>
        </p:spPr>
        <p:txBody>
          <a:bodyPr wrap="square" lIns="0" tIns="0" rIns="0" bIns="0" rtlCol="0" anchor="ctr"/>
          <a:lstStyle/>
          <a:p>
            <a:pPr marL="0" indent="0">
              <a:buNone/>
            </a:pPr>
            <a:r>
              <a:rPr lang="en-US" sz="1150" b="1" kern="0" spc="100" dirty="0">
                <a:solidFill>
                  <a:srgbClr val="DC2626"/>
                </a:solidFill>
                <a:latin typeface="Calibri" pitchFamily="34" charset="0"/>
                <a:ea typeface="Calibri" pitchFamily="34" charset="-122"/>
                <a:cs typeface="Calibri" pitchFamily="34" charset="-120"/>
              </a:rPr>
              <a:t>KEY = 20  (absent)</a:t>
            </a:r>
            <a:endParaRPr lang="en-US" sz="1150" dirty="0"/>
          </a:p>
        </p:txBody>
      </p:sp>
      <p:sp>
        <p:nvSpPr>
          <p:cNvPr id="7" name="Shape 5"/>
          <p:cNvSpPr/>
          <p:nvPr/>
        </p:nvSpPr>
        <p:spPr>
          <a:xfrm>
            <a:off x="548640" y="1600200"/>
            <a:ext cx="6400800" cy="384048"/>
          </a:xfrm>
          <a:prstGeom prst="roundRect">
            <a:avLst>
              <a:gd name="adj" fmla="val 23810"/>
            </a:avLst>
          </a:prstGeom>
          <a:solidFill>
            <a:srgbClr val="0E7490"/>
          </a:solidFill>
          <a:ln w="12700">
            <a:solidFill>
              <a:srgbClr val="0E7490"/>
            </a:solidFill>
            <a:prstDash val="solid"/>
          </a:ln>
        </p:spPr>
      </p:sp>
      <p:sp>
        <p:nvSpPr>
          <p:cNvPr id="8" name="Text 6"/>
          <p:cNvSpPr txBox="1"/>
          <p:nvPr/>
        </p:nvSpPr>
        <p:spPr>
          <a:xfrm>
            <a:off x="548640" y="1600200"/>
            <a:ext cx="731520" cy="38404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Probe</a:t>
            </a:r>
            <a:endParaRPr lang="en-US" sz="1150" dirty="0"/>
          </a:p>
        </p:txBody>
      </p:sp>
      <p:sp>
        <p:nvSpPr>
          <p:cNvPr id="9" name="Text 7"/>
          <p:cNvSpPr txBox="1"/>
          <p:nvPr/>
        </p:nvSpPr>
        <p:spPr>
          <a:xfrm>
            <a:off x="1280160" y="1600200"/>
            <a:ext cx="731520" cy="38404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low</a:t>
            </a:r>
            <a:endParaRPr lang="en-US" sz="1150" dirty="0"/>
          </a:p>
        </p:txBody>
      </p:sp>
      <p:sp>
        <p:nvSpPr>
          <p:cNvPr id="10" name="Text 8"/>
          <p:cNvSpPr txBox="1"/>
          <p:nvPr/>
        </p:nvSpPr>
        <p:spPr>
          <a:xfrm>
            <a:off x="2011680" y="1600200"/>
            <a:ext cx="731520" cy="38404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high</a:t>
            </a:r>
            <a:endParaRPr lang="en-US" sz="1150" dirty="0"/>
          </a:p>
        </p:txBody>
      </p:sp>
      <p:sp>
        <p:nvSpPr>
          <p:cNvPr id="11" name="Text 9"/>
          <p:cNvSpPr txBox="1"/>
          <p:nvPr/>
        </p:nvSpPr>
        <p:spPr>
          <a:xfrm>
            <a:off x="2743200" y="1600200"/>
            <a:ext cx="731520" cy="38404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mid</a:t>
            </a:r>
            <a:endParaRPr lang="en-US" sz="1150" dirty="0"/>
          </a:p>
        </p:txBody>
      </p:sp>
      <p:sp>
        <p:nvSpPr>
          <p:cNvPr id="12" name="Text 10"/>
          <p:cNvSpPr txBox="1"/>
          <p:nvPr/>
        </p:nvSpPr>
        <p:spPr>
          <a:xfrm>
            <a:off x="3474720" y="1600200"/>
            <a:ext cx="914400" cy="38404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A[mid]</a:t>
            </a:r>
            <a:endParaRPr lang="en-US" sz="1150" dirty="0"/>
          </a:p>
        </p:txBody>
      </p:sp>
      <p:sp>
        <p:nvSpPr>
          <p:cNvPr id="13" name="Text 11"/>
          <p:cNvSpPr txBox="1"/>
          <p:nvPr/>
        </p:nvSpPr>
        <p:spPr>
          <a:xfrm>
            <a:off x="4389120" y="1600200"/>
            <a:ext cx="2560320" cy="38404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Decision</a:t>
            </a:r>
            <a:endParaRPr lang="en-US" sz="1150" dirty="0"/>
          </a:p>
        </p:txBody>
      </p:sp>
      <p:sp>
        <p:nvSpPr>
          <p:cNvPr id="14" name="Shape 12"/>
          <p:cNvSpPr/>
          <p:nvPr/>
        </p:nvSpPr>
        <p:spPr>
          <a:xfrm>
            <a:off x="548640" y="1984248"/>
            <a:ext cx="6400800" cy="411480"/>
          </a:xfrm>
          <a:prstGeom prst="roundRect">
            <a:avLst>
              <a:gd name="adj" fmla="val 22222"/>
            </a:avLst>
          </a:prstGeom>
          <a:solidFill>
            <a:srgbClr val="E6F5F9"/>
          </a:solidFill>
          <a:ln w="12700">
            <a:solidFill>
              <a:srgbClr val="B8E0EA"/>
            </a:solidFill>
            <a:prstDash val="solid"/>
          </a:ln>
        </p:spPr>
      </p:sp>
      <p:sp>
        <p:nvSpPr>
          <p:cNvPr id="15" name="Text 13"/>
          <p:cNvSpPr txBox="1"/>
          <p:nvPr/>
        </p:nvSpPr>
        <p:spPr>
          <a:xfrm>
            <a:off x="548640" y="1984248"/>
            <a:ext cx="731520" cy="411480"/>
          </a:xfrm>
          <a:prstGeom prst="rect">
            <a:avLst/>
          </a:prstGeom>
          <a:noFill/>
          <a:ln/>
        </p:spPr>
        <p:txBody>
          <a:bodyPr wrap="square" lIns="0" tIns="0" rIns="0" bIns="0" rtlCol="0" anchor="ctr"/>
          <a:lstStyle/>
          <a:p>
            <a:pPr marL="0" indent="0" algn="ctr">
              <a:buNone/>
            </a:pPr>
            <a:r>
              <a:rPr lang="en-US" sz="1150" b="1" dirty="0">
                <a:solidFill>
                  <a:srgbClr val="1B2233"/>
                </a:solidFill>
                <a:latin typeface="Calibri" pitchFamily="34" charset="0"/>
                <a:ea typeface="Calibri" pitchFamily="34" charset="-122"/>
                <a:cs typeface="Calibri" pitchFamily="34" charset="-120"/>
              </a:rPr>
              <a:t>1</a:t>
            </a:r>
            <a:endParaRPr lang="en-US" sz="1150" dirty="0"/>
          </a:p>
        </p:txBody>
      </p:sp>
      <p:sp>
        <p:nvSpPr>
          <p:cNvPr id="16" name="Text 14"/>
          <p:cNvSpPr txBox="1"/>
          <p:nvPr/>
        </p:nvSpPr>
        <p:spPr>
          <a:xfrm>
            <a:off x="1280160" y="1984248"/>
            <a:ext cx="731520" cy="411480"/>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0</a:t>
            </a:r>
            <a:endParaRPr lang="en-US" sz="1150" dirty="0"/>
          </a:p>
        </p:txBody>
      </p:sp>
      <p:sp>
        <p:nvSpPr>
          <p:cNvPr id="17" name="Text 15"/>
          <p:cNvSpPr txBox="1"/>
          <p:nvPr/>
        </p:nvSpPr>
        <p:spPr>
          <a:xfrm>
            <a:off x="2011680" y="1984248"/>
            <a:ext cx="731520" cy="411480"/>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7</a:t>
            </a:r>
            <a:endParaRPr lang="en-US" sz="1150" dirty="0"/>
          </a:p>
        </p:txBody>
      </p:sp>
      <p:sp>
        <p:nvSpPr>
          <p:cNvPr id="18" name="Text 16"/>
          <p:cNvSpPr txBox="1"/>
          <p:nvPr/>
        </p:nvSpPr>
        <p:spPr>
          <a:xfrm>
            <a:off x="2743200" y="1984248"/>
            <a:ext cx="731520" cy="411480"/>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3</a:t>
            </a:r>
            <a:endParaRPr lang="en-US" sz="1150" dirty="0"/>
          </a:p>
        </p:txBody>
      </p:sp>
      <p:sp>
        <p:nvSpPr>
          <p:cNvPr id="19" name="Text 17"/>
          <p:cNvSpPr txBox="1"/>
          <p:nvPr/>
        </p:nvSpPr>
        <p:spPr>
          <a:xfrm>
            <a:off x="3474720" y="1984248"/>
            <a:ext cx="914400" cy="411480"/>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19</a:t>
            </a:r>
            <a:endParaRPr lang="en-US" sz="1150" dirty="0"/>
          </a:p>
        </p:txBody>
      </p:sp>
      <p:sp>
        <p:nvSpPr>
          <p:cNvPr id="20" name="Text 18"/>
          <p:cNvSpPr txBox="1"/>
          <p:nvPr/>
        </p:nvSpPr>
        <p:spPr>
          <a:xfrm>
            <a:off x="4389120" y="1984248"/>
            <a:ext cx="2560320" cy="411480"/>
          </a:xfrm>
          <a:prstGeom prst="rect">
            <a:avLst/>
          </a:prstGeom>
          <a:noFill/>
          <a:ln/>
        </p:spPr>
        <p:txBody>
          <a:bodyPr wrap="square" lIns="101600" tIns="101600" rIns="101600" bIns="101600" rtlCol="0" anchor="ctr"/>
          <a:lstStyle/>
          <a:p>
            <a:pPr marL="0" indent="0" algn="l">
              <a:buNone/>
            </a:pPr>
            <a:r>
              <a:rPr lang="en-US" sz="1150" dirty="0">
                <a:solidFill>
                  <a:srgbClr val="1B2233"/>
                </a:solidFill>
                <a:latin typeface="Calibri" pitchFamily="34" charset="0"/>
                <a:ea typeface="Calibri" pitchFamily="34" charset="-122"/>
                <a:cs typeface="Calibri" pitchFamily="34" charset="-120"/>
              </a:rPr>
              <a:t>19 &lt; 20  →  low = 4</a:t>
            </a:r>
            <a:endParaRPr lang="en-US" sz="1150" dirty="0"/>
          </a:p>
        </p:txBody>
      </p:sp>
      <p:sp>
        <p:nvSpPr>
          <p:cNvPr id="21" name="Shape 19"/>
          <p:cNvSpPr/>
          <p:nvPr/>
        </p:nvSpPr>
        <p:spPr>
          <a:xfrm>
            <a:off x="548640" y="2395728"/>
            <a:ext cx="6400800" cy="411480"/>
          </a:xfrm>
          <a:prstGeom prst="roundRect">
            <a:avLst>
              <a:gd name="adj" fmla="val 22222"/>
            </a:avLst>
          </a:prstGeom>
          <a:solidFill>
            <a:srgbClr val="FFFFFF"/>
          </a:solidFill>
          <a:ln w="12700">
            <a:solidFill>
              <a:srgbClr val="B8E0EA"/>
            </a:solidFill>
            <a:prstDash val="solid"/>
          </a:ln>
        </p:spPr>
      </p:sp>
      <p:sp>
        <p:nvSpPr>
          <p:cNvPr id="22" name="Text 20"/>
          <p:cNvSpPr txBox="1"/>
          <p:nvPr/>
        </p:nvSpPr>
        <p:spPr>
          <a:xfrm>
            <a:off x="548640" y="2395728"/>
            <a:ext cx="731520" cy="411480"/>
          </a:xfrm>
          <a:prstGeom prst="rect">
            <a:avLst/>
          </a:prstGeom>
          <a:noFill/>
          <a:ln/>
        </p:spPr>
        <p:txBody>
          <a:bodyPr wrap="square" lIns="0" tIns="0" rIns="0" bIns="0" rtlCol="0" anchor="ctr"/>
          <a:lstStyle/>
          <a:p>
            <a:pPr marL="0" indent="0" algn="ctr">
              <a:buNone/>
            </a:pPr>
            <a:r>
              <a:rPr lang="en-US" sz="1150" b="1" dirty="0">
                <a:solidFill>
                  <a:srgbClr val="1B2233"/>
                </a:solidFill>
                <a:latin typeface="Calibri" pitchFamily="34" charset="0"/>
                <a:ea typeface="Calibri" pitchFamily="34" charset="-122"/>
                <a:cs typeface="Calibri" pitchFamily="34" charset="-120"/>
              </a:rPr>
              <a:t>2</a:t>
            </a:r>
            <a:endParaRPr lang="en-US" sz="1150" dirty="0"/>
          </a:p>
        </p:txBody>
      </p:sp>
      <p:sp>
        <p:nvSpPr>
          <p:cNvPr id="23" name="Text 21"/>
          <p:cNvSpPr txBox="1"/>
          <p:nvPr/>
        </p:nvSpPr>
        <p:spPr>
          <a:xfrm>
            <a:off x="1280160" y="2395728"/>
            <a:ext cx="731520" cy="411480"/>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4</a:t>
            </a:r>
            <a:endParaRPr lang="en-US" sz="1150" dirty="0"/>
          </a:p>
        </p:txBody>
      </p:sp>
      <p:sp>
        <p:nvSpPr>
          <p:cNvPr id="24" name="Text 22"/>
          <p:cNvSpPr txBox="1"/>
          <p:nvPr/>
        </p:nvSpPr>
        <p:spPr>
          <a:xfrm>
            <a:off x="2011680" y="2395728"/>
            <a:ext cx="731520" cy="411480"/>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7</a:t>
            </a:r>
            <a:endParaRPr lang="en-US" sz="1150" dirty="0"/>
          </a:p>
        </p:txBody>
      </p:sp>
      <p:sp>
        <p:nvSpPr>
          <p:cNvPr id="25" name="Text 23"/>
          <p:cNvSpPr txBox="1"/>
          <p:nvPr/>
        </p:nvSpPr>
        <p:spPr>
          <a:xfrm>
            <a:off x="2743200" y="2395728"/>
            <a:ext cx="731520" cy="411480"/>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5</a:t>
            </a:r>
            <a:endParaRPr lang="en-US" sz="1150" dirty="0"/>
          </a:p>
        </p:txBody>
      </p:sp>
      <p:sp>
        <p:nvSpPr>
          <p:cNvPr id="26" name="Text 24"/>
          <p:cNvSpPr txBox="1"/>
          <p:nvPr/>
        </p:nvSpPr>
        <p:spPr>
          <a:xfrm>
            <a:off x="3474720" y="2395728"/>
            <a:ext cx="914400" cy="411480"/>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32</a:t>
            </a:r>
            <a:endParaRPr lang="en-US" sz="1150" dirty="0"/>
          </a:p>
        </p:txBody>
      </p:sp>
      <p:sp>
        <p:nvSpPr>
          <p:cNvPr id="27" name="Text 25"/>
          <p:cNvSpPr txBox="1"/>
          <p:nvPr/>
        </p:nvSpPr>
        <p:spPr>
          <a:xfrm>
            <a:off x="4389120" y="2395728"/>
            <a:ext cx="2560320" cy="411480"/>
          </a:xfrm>
          <a:prstGeom prst="rect">
            <a:avLst/>
          </a:prstGeom>
          <a:noFill/>
          <a:ln/>
        </p:spPr>
        <p:txBody>
          <a:bodyPr wrap="square" lIns="101600" tIns="101600" rIns="101600" bIns="101600" rtlCol="0" anchor="ctr"/>
          <a:lstStyle/>
          <a:p>
            <a:pPr marL="0" indent="0" algn="l">
              <a:buNone/>
            </a:pPr>
            <a:r>
              <a:rPr lang="en-US" sz="1150" dirty="0">
                <a:solidFill>
                  <a:srgbClr val="1B2233"/>
                </a:solidFill>
                <a:latin typeface="Calibri" pitchFamily="34" charset="0"/>
                <a:ea typeface="Calibri" pitchFamily="34" charset="-122"/>
                <a:cs typeface="Calibri" pitchFamily="34" charset="-120"/>
              </a:rPr>
              <a:t>32 &gt; 20  →  high = 4</a:t>
            </a:r>
            <a:endParaRPr lang="en-US" sz="1150" dirty="0"/>
          </a:p>
        </p:txBody>
      </p:sp>
      <p:sp>
        <p:nvSpPr>
          <p:cNvPr id="28" name="Shape 26"/>
          <p:cNvSpPr/>
          <p:nvPr/>
        </p:nvSpPr>
        <p:spPr>
          <a:xfrm>
            <a:off x="548640" y="2807208"/>
            <a:ext cx="6400800" cy="411480"/>
          </a:xfrm>
          <a:prstGeom prst="roundRect">
            <a:avLst>
              <a:gd name="adj" fmla="val 22222"/>
            </a:avLst>
          </a:prstGeom>
          <a:solidFill>
            <a:srgbClr val="E6F5F9"/>
          </a:solidFill>
          <a:ln w="12700">
            <a:solidFill>
              <a:srgbClr val="B8E0EA"/>
            </a:solidFill>
            <a:prstDash val="solid"/>
          </a:ln>
        </p:spPr>
      </p:sp>
      <p:sp>
        <p:nvSpPr>
          <p:cNvPr id="29" name="Text 27"/>
          <p:cNvSpPr txBox="1"/>
          <p:nvPr/>
        </p:nvSpPr>
        <p:spPr>
          <a:xfrm>
            <a:off x="548640" y="2807208"/>
            <a:ext cx="731520" cy="411480"/>
          </a:xfrm>
          <a:prstGeom prst="rect">
            <a:avLst/>
          </a:prstGeom>
          <a:noFill/>
          <a:ln/>
        </p:spPr>
        <p:txBody>
          <a:bodyPr wrap="square" lIns="0" tIns="0" rIns="0" bIns="0" rtlCol="0" anchor="ctr"/>
          <a:lstStyle/>
          <a:p>
            <a:pPr marL="0" indent="0" algn="ctr">
              <a:buNone/>
            </a:pPr>
            <a:r>
              <a:rPr lang="en-US" sz="1150" b="1" dirty="0">
                <a:solidFill>
                  <a:srgbClr val="1B2233"/>
                </a:solidFill>
                <a:latin typeface="Calibri" pitchFamily="34" charset="0"/>
                <a:ea typeface="Calibri" pitchFamily="34" charset="-122"/>
                <a:cs typeface="Calibri" pitchFamily="34" charset="-120"/>
              </a:rPr>
              <a:t>3</a:t>
            </a:r>
            <a:endParaRPr lang="en-US" sz="1150" dirty="0"/>
          </a:p>
        </p:txBody>
      </p:sp>
      <p:sp>
        <p:nvSpPr>
          <p:cNvPr id="30" name="Text 28"/>
          <p:cNvSpPr txBox="1"/>
          <p:nvPr/>
        </p:nvSpPr>
        <p:spPr>
          <a:xfrm>
            <a:off x="1280160" y="2807208"/>
            <a:ext cx="731520" cy="411480"/>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4</a:t>
            </a:r>
            <a:endParaRPr lang="en-US" sz="1150" dirty="0"/>
          </a:p>
        </p:txBody>
      </p:sp>
      <p:sp>
        <p:nvSpPr>
          <p:cNvPr id="31" name="Text 29"/>
          <p:cNvSpPr txBox="1"/>
          <p:nvPr/>
        </p:nvSpPr>
        <p:spPr>
          <a:xfrm>
            <a:off x="2011680" y="2807208"/>
            <a:ext cx="731520" cy="411480"/>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4</a:t>
            </a:r>
            <a:endParaRPr lang="en-US" sz="1150" dirty="0"/>
          </a:p>
        </p:txBody>
      </p:sp>
      <p:sp>
        <p:nvSpPr>
          <p:cNvPr id="32" name="Text 30"/>
          <p:cNvSpPr txBox="1"/>
          <p:nvPr/>
        </p:nvSpPr>
        <p:spPr>
          <a:xfrm>
            <a:off x="2743200" y="2807208"/>
            <a:ext cx="731520" cy="411480"/>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4</a:t>
            </a:r>
            <a:endParaRPr lang="en-US" sz="1150" dirty="0"/>
          </a:p>
        </p:txBody>
      </p:sp>
      <p:sp>
        <p:nvSpPr>
          <p:cNvPr id="33" name="Text 31"/>
          <p:cNvSpPr txBox="1"/>
          <p:nvPr/>
        </p:nvSpPr>
        <p:spPr>
          <a:xfrm>
            <a:off x="3474720" y="2807208"/>
            <a:ext cx="914400" cy="411480"/>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23</a:t>
            </a:r>
            <a:endParaRPr lang="en-US" sz="1150" dirty="0"/>
          </a:p>
        </p:txBody>
      </p:sp>
      <p:sp>
        <p:nvSpPr>
          <p:cNvPr id="34" name="Text 32"/>
          <p:cNvSpPr txBox="1"/>
          <p:nvPr/>
        </p:nvSpPr>
        <p:spPr>
          <a:xfrm>
            <a:off x="4389120" y="2807208"/>
            <a:ext cx="2560320" cy="411480"/>
          </a:xfrm>
          <a:prstGeom prst="rect">
            <a:avLst/>
          </a:prstGeom>
          <a:noFill/>
          <a:ln/>
        </p:spPr>
        <p:txBody>
          <a:bodyPr wrap="square" lIns="101600" tIns="101600" rIns="101600" bIns="101600" rtlCol="0" anchor="ctr"/>
          <a:lstStyle/>
          <a:p>
            <a:pPr marL="0" indent="0" algn="l">
              <a:buNone/>
            </a:pPr>
            <a:r>
              <a:rPr lang="en-US" sz="1150" dirty="0">
                <a:solidFill>
                  <a:srgbClr val="1B2233"/>
                </a:solidFill>
                <a:latin typeface="Calibri" pitchFamily="34" charset="0"/>
                <a:ea typeface="Calibri" pitchFamily="34" charset="-122"/>
                <a:cs typeface="Calibri" pitchFamily="34" charset="-120"/>
              </a:rPr>
              <a:t>23 &gt; 20  →  high = 3</a:t>
            </a:r>
            <a:endParaRPr lang="en-US" sz="1150" dirty="0"/>
          </a:p>
        </p:txBody>
      </p:sp>
      <p:sp>
        <p:nvSpPr>
          <p:cNvPr id="35" name="Shape 33"/>
          <p:cNvSpPr/>
          <p:nvPr/>
        </p:nvSpPr>
        <p:spPr>
          <a:xfrm>
            <a:off x="548640" y="3218688"/>
            <a:ext cx="6400800" cy="411480"/>
          </a:xfrm>
          <a:prstGeom prst="roundRect">
            <a:avLst>
              <a:gd name="adj" fmla="val 22222"/>
            </a:avLst>
          </a:prstGeom>
          <a:solidFill>
            <a:srgbClr val="FFFFFF"/>
          </a:solidFill>
          <a:ln w="12700">
            <a:solidFill>
              <a:srgbClr val="B8E0EA"/>
            </a:solidFill>
            <a:prstDash val="solid"/>
          </a:ln>
        </p:spPr>
      </p:sp>
      <p:sp>
        <p:nvSpPr>
          <p:cNvPr id="36" name="Text 34"/>
          <p:cNvSpPr txBox="1"/>
          <p:nvPr/>
        </p:nvSpPr>
        <p:spPr>
          <a:xfrm>
            <a:off x="548640" y="3218688"/>
            <a:ext cx="731520" cy="411480"/>
          </a:xfrm>
          <a:prstGeom prst="rect">
            <a:avLst/>
          </a:prstGeom>
          <a:noFill/>
          <a:ln/>
        </p:spPr>
        <p:txBody>
          <a:bodyPr wrap="square" lIns="0" tIns="0" rIns="0" bIns="0" rtlCol="0" anchor="ctr"/>
          <a:lstStyle/>
          <a:p>
            <a:pPr marL="0" indent="0" algn="ctr">
              <a:buNone/>
            </a:pPr>
            <a:r>
              <a:rPr lang="en-US" sz="1150" b="1" dirty="0">
                <a:solidFill>
                  <a:srgbClr val="1B2233"/>
                </a:solidFill>
                <a:latin typeface="Calibri" pitchFamily="34" charset="0"/>
                <a:ea typeface="Calibri" pitchFamily="34" charset="-122"/>
                <a:cs typeface="Calibri" pitchFamily="34" charset="-120"/>
              </a:rPr>
              <a:t>end</a:t>
            </a:r>
            <a:endParaRPr lang="en-US" sz="1150" dirty="0"/>
          </a:p>
        </p:txBody>
      </p:sp>
      <p:sp>
        <p:nvSpPr>
          <p:cNvPr id="37" name="Text 35"/>
          <p:cNvSpPr txBox="1"/>
          <p:nvPr/>
        </p:nvSpPr>
        <p:spPr>
          <a:xfrm>
            <a:off x="1280160" y="3218688"/>
            <a:ext cx="731520" cy="411480"/>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4</a:t>
            </a:r>
            <a:endParaRPr lang="en-US" sz="1150" dirty="0"/>
          </a:p>
        </p:txBody>
      </p:sp>
      <p:sp>
        <p:nvSpPr>
          <p:cNvPr id="38" name="Text 36"/>
          <p:cNvSpPr txBox="1"/>
          <p:nvPr/>
        </p:nvSpPr>
        <p:spPr>
          <a:xfrm>
            <a:off x="2011680" y="3218688"/>
            <a:ext cx="731520" cy="411480"/>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3</a:t>
            </a:r>
            <a:endParaRPr lang="en-US" sz="1150" dirty="0"/>
          </a:p>
        </p:txBody>
      </p:sp>
      <p:sp>
        <p:nvSpPr>
          <p:cNvPr id="39" name="Text 37"/>
          <p:cNvSpPr txBox="1"/>
          <p:nvPr/>
        </p:nvSpPr>
        <p:spPr>
          <a:xfrm>
            <a:off x="2743200" y="3218688"/>
            <a:ext cx="731520" cy="411480"/>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a:t>
            </a:r>
            <a:endParaRPr lang="en-US" sz="1150" dirty="0"/>
          </a:p>
        </p:txBody>
      </p:sp>
      <p:sp>
        <p:nvSpPr>
          <p:cNvPr id="40" name="Text 38"/>
          <p:cNvSpPr txBox="1"/>
          <p:nvPr/>
        </p:nvSpPr>
        <p:spPr>
          <a:xfrm>
            <a:off x="3474720" y="3218688"/>
            <a:ext cx="914400" cy="411480"/>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a:t>
            </a:r>
            <a:endParaRPr lang="en-US" sz="1150" dirty="0"/>
          </a:p>
        </p:txBody>
      </p:sp>
      <p:sp>
        <p:nvSpPr>
          <p:cNvPr id="41" name="Text 39"/>
          <p:cNvSpPr txBox="1"/>
          <p:nvPr/>
        </p:nvSpPr>
        <p:spPr>
          <a:xfrm>
            <a:off x="4389120" y="3218688"/>
            <a:ext cx="2560320" cy="411480"/>
          </a:xfrm>
          <a:prstGeom prst="rect">
            <a:avLst/>
          </a:prstGeom>
          <a:noFill/>
          <a:ln/>
        </p:spPr>
        <p:txBody>
          <a:bodyPr wrap="square" lIns="101600" tIns="101600" rIns="101600" bIns="101600" rtlCol="0" anchor="ctr"/>
          <a:lstStyle/>
          <a:p>
            <a:pPr marL="0" indent="0" algn="l">
              <a:buNone/>
            </a:pPr>
            <a:r>
              <a:rPr lang="en-US" sz="1150" dirty="0">
                <a:solidFill>
                  <a:srgbClr val="1B2233"/>
                </a:solidFill>
                <a:latin typeface="Calibri" pitchFamily="34" charset="0"/>
                <a:ea typeface="Calibri" pitchFamily="34" charset="-122"/>
                <a:cs typeface="Calibri" pitchFamily="34" charset="-120"/>
              </a:rPr>
              <a:t>low &gt; high  →  return −1</a:t>
            </a:r>
            <a:endParaRPr lang="en-US" sz="1150" dirty="0"/>
          </a:p>
        </p:txBody>
      </p:sp>
      <p:sp>
        <p:nvSpPr>
          <p:cNvPr id="42" name="Text 40"/>
          <p:cNvSpPr txBox="1"/>
          <p:nvPr/>
        </p:nvSpPr>
        <p:spPr>
          <a:xfrm>
            <a:off x="548640" y="3721608"/>
            <a:ext cx="6858000" cy="274320"/>
          </a:xfrm>
          <a:prstGeom prst="rect">
            <a:avLst/>
          </a:prstGeom>
          <a:noFill/>
          <a:ln/>
        </p:spPr>
        <p:txBody>
          <a:bodyPr wrap="square" lIns="0" tIns="0" rIns="0" bIns="0" rtlCol="0" anchor="ctr"/>
          <a:lstStyle/>
          <a:p>
            <a:pPr marL="0" indent="0">
              <a:buNone/>
            </a:pPr>
            <a:r>
              <a:rPr lang="en-US" sz="1100" i="1" dirty="0">
                <a:solidFill>
                  <a:srgbClr val="5B6584"/>
                </a:solidFill>
                <a:latin typeface="Calibri" pitchFamily="34" charset="0"/>
                <a:ea typeface="Calibri" pitchFamily="34" charset="-122"/>
                <a:cs typeface="Calibri" pitchFamily="34" charset="-120"/>
              </a:rPr>
              <a:t>3 probes, then the range is empty</a:t>
            </a:r>
            <a:endParaRPr lang="en-US" sz="1100" dirty="0"/>
          </a:p>
        </p:txBody>
      </p:sp>
      <p:sp>
        <p:nvSpPr>
          <p:cNvPr id="43" name="Text 41"/>
          <p:cNvSpPr txBox="1"/>
          <p:nvPr/>
        </p:nvSpPr>
        <p:spPr>
          <a:xfrm>
            <a:off x="548640" y="4114800"/>
            <a:ext cx="7315200" cy="256032"/>
          </a:xfrm>
          <a:prstGeom prst="rect">
            <a:avLst/>
          </a:prstGeom>
          <a:noFill/>
          <a:ln/>
        </p:spPr>
        <p:txBody>
          <a:bodyPr wrap="square" lIns="0" tIns="0" rIns="0" bIns="0" rtlCol="0" anchor="ctr"/>
          <a:lstStyle/>
          <a:p>
            <a:pPr marL="0" indent="0">
              <a:buNone/>
            </a:pPr>
            <a:r>
              <a:rPr lang="en-US" sz="1150" b="1" kern="0" spc="100" dirty="0">
                <a:solidFill>
                  <a:srgbClr val="D97706"/>
                </a:solidFill>
                <a:latin typeface="Calibri" pitchFamily="34" charset="0"/>
                <a:ea typeface="Calibri" pitchFamily="34" charset="-122"/>
                <a:cs typeface="Calibri" pitchFamily="34" charset="-120"/>
              </a:rPr>
              <a:t>KEY = 62  (worst case: found at the last position)</a:t>
            </a:r>
            <a:endParaRPr lang="en-US" sz="1150" dirty="0"/>
          </a:p>
        </p:txBody>
      </p:sp>
      <p:sp>
        <p:nvSpPr>
          <p:cNvPr id="44" name="Shape 42"/>
          <p:cNvSpPr/>
          <p:nvPr/>
        </p:nvSpPr>
        <p:spPr>
          <a:xfrm>
            <a:off x="548640" y="4407408"/>
            <a:ext cx="6400800" cy="365760"/>
          </a:xfrm>
          <a:prstGeom prst="roundRect">
            <a:avLst>
              <a:gd name="adj" fmla="val 25000"/>
            </a:avLst>
          </a:prstGeom>
          <a:solidFill>
            <a:srgbClr val="D97706"/>
          </a:solidFill>
          <a:ln w="12700">
            <a:solidFill>
              <a:srgbClr val="D97706"/>
            </a:solidFill>
            <a:prstDash val="solid"/>
          </a:ln>
        </p:spPr>
      </p:sp>
      <p:sp>
        <p:nvSpPr>
          <p:cNvPr id="45" name="Text 43"/>
          <p:cNvSpPr txBox="1"/>
          <p:nvPr/>
        </p:nvSpPr>
        <p:spPr>
          <a:xfrm>
            <a:off x="548640" y="4407408"/>
            <a:ext cx="731520" cy="36576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Probe</a:t>
            </a:r>
            <a:endParaRPr lang="en-US" sz="1150" dirty="0"/>
          </a:p>
        </p:txBody>
      </p:sp>
      <p:sp>
        <p:nvSpPr>
          <p:cNvPr id="46" name="Text 44"/>
          <p:cNvSpPr txBox="1"/>
          <p:nvPr/>
        </p:nvSpPr>
        <p:spPr>
          <a:xfrm>
            <a:off x="1280160" y="4407408"/>
            <a:ext cx="731520" cy="36576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low</a:t>
            </a:r>
            <a:endParaRPr lang="en-US" sz="1150" dirty="0"/>
          </a:p>
        </p:txBody>
      </p:sp>
      <p:sp>
        <p:nvSpPr>
          <p:cNvPr id="47" name="Text 45"/>
          <p:cNvSpPr txBox="1"/>
          <p:nvPr/>
        </p:nvSpPr>
        <p:spPr>
          <a:xfrm>
            <a:off x="2011680" y="4407408"/>
            <a:ext cx="731520" cy="36576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high</a:t>
            </a:r>
            <a:endParaRPr lang="en-US" sz="1150" dirty="0"/>
          </a:p>
        </p:txBody>
      </p:sp>
      <p:sp>
        <p:nvSpPr>
          <p:cNvPr id="48" name="Text 46"/>
          <p:cNvSpPr txBox="1"/>
          <p:nvPr/>
        </p:nvSpPr>
        <p:spPr>
          <a:xfrm>
            <a:off x="2743200" y="4407408"/>
            <a:ext cx="731520" cy="36576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mid</a:t>
            </a:r>
            <a:endParaRPr lang="en-US" sz="1150" dirty="0"/>
          </a:p>
        </p:txBody>
      </p:sp>
      <p:sp>
        <p:nvSpPr>
          <p:cNvPr id="49" name="Text 47"/>
          <p:cNvSpPr txBox="1"/>
          <p:nvPr/>
        </p:nvSpPr>
        <p:spPr>
          <a:xfrm>
            <a:off x="3474720" y="4407408"/>
            <a:ext cx="914400" cy="36576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A[mid]</a:t>
            </a:r>
            <a:endParaRPr lang="en-US" sz="1150" dirty="0"/>
          </a:p>
        </p:txBody>
      </p:sp>
      <p:sp>
        <p:nvSpPr>
          <p:cNvPr id="50" name="Text 48"/>
          <p:cNvSpPr txBox="1"/>
          <p:nvPr/>
        </p:nvSpPr>
        <p:spPr>
          <a:xfrm>
            <a:off x="4389120" y="4407408"/>
            <a:ext cx="2560320" cy="36576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Decision</a:t>
            </a:r>
            <a:endParaRPr lang="en-US" sz="1150" dirty="0"/>
          </a:p>
        </p:txBody>
      </p:sp>
      <p:sp>
        <p:nvSpPr>
          <p:cNvPr id="51" name="Shape 49"/>
          <p:cNvSpPr/>
          <p:nvPr/>
        </p:nvSpPr>
        <p:spPr>
          <a:xfrm>
            <a:off x="548640" y="4773168"/>
            <a:ext cx="6400800" cy="384048"/>
          </a:xfrm>
          <a:prstGeom prst="roundRect">
            <a:avLst>
              <a:gd name="adj" fmla="val 23810"/>
            </a:avLst>
          </a:prstGeom>
          <a:solidFill>
            <a:srgbClr val="FDF3E7"/>
          </a:solidFill>
          <a:ln w="12700">
            <a:solidFill>
              <a:srgbClr val="F0C89A"/>
            </a:solidFill>
            <a:prstDash val="solid"/>
          </a:ln>
        </p:spPr>
      </p:sp>
      <p:sp>
        <p:nvSpPr>
          <p:cNvPr id="52" name="Text 50"/>
          <p:cNvSpPr txBox="1"/>
          <p:nvPr/>
        </p:nvSpPr>
        <p:spPr>
          <a:xfrm>
            <a:off x="548640" y="4773168"/>
            <a:ext cx="731520" cy="384048"/>
          </a:xfrm>
          <a:prstGeom prst="rect">
            <a:avLst/>
          </a:prstGeom>
          <a:noFill/>
          <a:ln/>
        </p:spPr>
        <p:txBody>
          <a:bodyPr wrap="square" lIns="0" tIns="0" rIns="0" bIns="0" rtlCol="0" anchor="ctr"/>
          <a:lstStyle/>
          <a:p>
            <a:pPr marL="0" indent="0" algn="ctr">
              <a:buNone/>
            </a:pPr>
            <a:r>
              <a:rPr lang="en-US" sz="1150" b="1" dirty="0">
                <a:solidFill>
                  <a:srgbClr val="1B2233"/>
                </a:solidFill>
                <a:latin typeface="Calibri" pitchFamily="34" charset="0"/>
                <a:ea typeface="Calibri" pitchFamily="34" charset="-122"/>
                <a:cs typeface="Calibri" pitchFamily="34" charset="-120"/>
              </a:rPr>
              <a:t>1</a:t>
            </a:r>
            <a:endParaRPr lang="en-US" sz="1150" dirty="0"/>
          </a:p>
        </p:txBody>
      </p:sp>
      <p:sp>
        <p:nvSpPr>
          <p:cNvPr id="53" name="Text 51"/>
          <p:cNvSpPr txBox="1"/>
          <p:nvPr/>
        </p:nvSpPr>
        <p:spPr>
          <a:xfrm>
            <a:off x="1280160" y="4773168"/>
            <a:ext cx="731520" cy="384048"/>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0</a:t>
            </a:r>
            <a:endParaRPr lang="en-US" sz="1150" dirty="0"/>
          </a:p>
        </p:txBody>
      </p:sp>
      <p:sp>
        <p:nvSpPr>
          <p:cNvPr id="54" name="Text 52"/>
          <p:cNvSpPr txBox="1"/>
          <p:nvPr/>
        </p:nvSpPr>
        <p:spPr>
          <a:xfrm>
            <a:off x="2011680" y="4773168"/>
            <a:ext cx="731520" cy="384048"/>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7</a:t>
            </a:r>
            <a:endParaRPr lang="en-US" sz="1150" dirty="0"/>
          </a:p>
        </p:txBody>
      </p:sp>
      <p:sp>
        <p:nvSpPr>
          <p:cNvPr id="55" name="Text 53"/>
          <p:cNvSpPr txBox="1"/>
          <p:nvPr/>
        </p:nvSpPr>
        <p:spPr>
          <a:xfrm>
            <a:off x="2743200" y="4773168"/>
            <a:ext cx="731520" cy="384048"/>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3</a:t>
            </a:r>
            <a:endParaRPr lang="en-US" sz="1150" dirty="0"/>
          </a:p>
        </p:txBody>
      </p:sp>
      <p:sp>
        <p:nvSpPr>
          <p:cNvPr id="56" name="Text 54"/>
          <p:cNvSpPr txBox="1"/>
          <p:nvPr/>
        </p:nvSpPr>
        <p:spPr>
          <a:xfrm>
            <a:off x="3474720" y="4773168"/>
            <a:ext cx="914400" cy="384048"/>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19</a:t>
            </a:r>
            <a:endParaRPr lang="en-US" sz="1150" dirty="0"/>
          </a:p>
        </p:txBody>
      </p:sp>
      <p:sp>
        <p:nvSpPr>
          <p:cNvPr id="57" name="Text 55"/>
          <p:cNvSpPr txBox="1"/>
          <p:nvPr/>
        </p:nvSpPr>
        <p:spPr>
          <a:xfrm>
            <a:off x="4389120" y="4773168"/>
            <a:ext cx="2560320" cy="384048"/>
          </a:xfrm>
          <a:prstGeom prst="rect">
            <a:avLst/>
          </a:prstGeom>
          <a:noFill/>
          <a:ln/>
        </p:spPr>
        <p:txBody>
          <a:bodyPr wrap="square" lIns="101600" tIns="101600" rIns="101600" bIns="101600" rtlCol="0" anchor="ctr"/>
          <a:lstStyle/>
          <a:p>
            <a:pPr marL="0" indent="0" algn="l">
              <a:buNone/>
            </a:pPr>
            <a:r>
              <a:rPr lang="en-US" sz="1150" dirty="0">
                <a:solidFill>
                  <a:srgbClr val="1B2233"/>
                </a:solidFill>
                <a:latin typeface="Calibri" pitchFamily="34" charset="0"/>
                <a:ea typeface="Calibri" pitchFamily="34" charset="-122"/>
                <a:cs typeface="Calibri" pitchFamily="34" charset="-120"/>
              </a:rPr>
              <a:t>19 &lt; 62  →  low = 4</a:t>
            </a:r>
            <a:endParaRPr lang="en-US" sz="1150" dirty="0"/>
          </a:p>
        </p:txBody>
      </p:sp>
      <p:sp>
        <p:nvSpPr>
          <p:cNvPr id="58" name="Shape 56"/>
          <p:cNvSpPr/>
          <p:nvPr/>
        </p:nvSpPr>
        <p:spPr>
          <a:xfrm>
            <a:off x="548640" y="5157216"/>
            <a:ext cx="6400800" cy="384048"/>
          </a:xfrm>
          <a:prstGeom prst="roundRect">
            <a:avLst>
              <a:gd name="adj" fmla="val 23810"/>
            </a:avLst>
          </a:prstGeom>
          <a:solidFill>
            <a:srgbClr val="FFFFFF"/>
          </a:solidFill>
          <a:ln w="12700">
            <a:solidFill>
              <a:srgbClr val="F0C89A"/>
            </a:solidFill>
            <a:prstDash val="solid"/>
          </a:ln>
        </p:spPr>
      </p:sp>
      <p:sp>
        <p:nvSpPr>
          <p:cNvPr id="59" name="Text 57"/>
          <p:cNvSpPr txBox="1"/>
          <p:nvPr/>
        </p:nvSpPr>
        <p:spPr>
          <a:xfrm>
            <a:off x="548640" y="5157216"/>
            <a:ext cx="731520" cy="384048"/>
          </a:xfrm>
          <a:prstGeom prst="rect">
            <a:avLst/>
          </a:prstGeom>
          <a:noFill/>
          <a:ln/>
        </p:spPr>
        <p:txBody>
          <a:bodyPr wrap="square" lIns="0" tIns="0" rIns="0" bIns="0" rtlCol="0" anchor="ctr"/>
          <a:lstStyle/>
          <a:p>
            <a:pPr marL="0" indent="0" algn="ctr">
              <a:buNone/>
            </a:pPr>
            <a:r>
              <a:rPr lang="en-US" sz="1150" b="1" dirty="0">
                <a:solidFill>
                  <a:srgbClr val="1B2233"/>
                </a:solidFill>
                <a:latin typeface="Calibri" pitchFamily="34" charset="0"/>
                <a:ea typeface="Calibri" pitchFamily="34" charset="-122"/>
                <a:cs typeface="Calibri" pitchFamily="34" charset="-120"/>
              </a:rPr>
              <a:t>2</a:t>
            </a:r>
            <a:endParaRPr lang="en-US" sz="1150" dirty="0"/>
          </a:p>
        </p:txBody>
      </p:sp>
      <p:sp>
        <p:nvSpPr>
          <p:cNvPr id="60" name="Text 58"/>
          <p:cNvSpPr txBox="1"/>
          <p:nvPr/>
        </p:nvSpPr>
        <p:spPr>
          <a:xfrm>
            <a:off x="1280160" y="5157216"/>
            <a:ext cx="731520" cy="384048"/>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4</a:t>
            </a:r>
            <a:endParaRPr lang="en-US" sz="1150" dirty="0"/>
          </a:p>
        </p:txBody>
      </p:sp>
      <p:sp>
        <p:nvSpPr>
          <p:cNvPr id="61" name="Text 59"/>
          <p:cNvSpPr txBox="1"/>
          <p:nvPr/>
        </p:nvSpPr>
        <p:spPr>
          <a:xfrm>
            <a:off x="2011680" y="5157216"/>
            <a:ext cx="731520" cy="384048"/>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7</a:t>
            </a:r>
            <a:endParaRPr lang="en-US" sz="1150" dirty="0"/>
          </a:p>
        </p:txBody>
      </p:sp>
      <p:sp>
        <p:nvSpPr>
          <p:cNvPr id="62" name="Text 60"/>
          <p:cNvSpPr txBox="1"/>
          <p:nvPr/>
        </p:nvSpPr>
        <p:spPr>
          <a:xfrm>
            <a:off x="2743200" y="5157216"/>
            <a:ext cx="731520" cy="384048"/>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5</a:t>
            </a:r>
            <a:endParaRPr lang="en-US" sz="1150" dirty="0"/>
          </a:p>
        </p:txBody>
      </p:sp>
      <p:sp>
        <p:nvSpPr>
          <p:cNvPr id="63" name="Text 61"/>
          <p:cNvSpPr txBox="1"/>
          <p:nvPr/>
        </p:nvSpPr>
        <p:spPr>
          <a:xfrm>
            <a:off x="3474720" y="5157216"/>
            <a:ext cx="914400" cy="384048"/>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32</a:t>
            </a:r>
            <a:endParaRPr lang="en-US" sz="1150" dirty="0"/>
          </a:p>
        </p:txBody>
      </p:sp>
      <p:sp>
        <p:nvSpPr>
          <p:cNvPr id="64" name="Text 62"/>
          <p:cNvSpPr txBox="1"/>
          <p:nvPr/>
        </p:nvSpPr>
        <p:spPr>
          <a:xfrm>
            <a:off x="4389120" y="5157216"/>
            <a:ext cx="2560320" cy="384048"/>
          </a:xfrm>
          <a:prstGeom prst="rect">
            <a:avLst/>
          </a:prstGeom>
          <a:noFill/>
          <a:ln/>
        </p:spPr>
        <p:txBody>
          <a:bodyPr wrap="square" lIns="101600" tIns="101600" rIns="101600" bIns="101600" rtlCol="0" anchor="ctr"/>
          <a:lstStyle/>
          <a:p>
            <a:pPr marL="0" indent="0" algn="l">
              <a:buNone/>
            </a:pPr>
            <a:r>
              <a:rPr lang="en-US" sz="1150" dirty="0">
                <a:solidFill>
                  <a:srgbClr val="1B2233"/>
                </a:solidFill>
                <a:latin typeface="Calibri" pitchFamily="34" charset="0"/>
                <a:ea typeface="Calibri" pitchFamily="34" charset="-122"/>
                <a:cs typeface="Calibri" pitchFamily="34" charset="-120"/>
              </a:rPr>
              <a:t>32 &lt; 62  →  low = 6</a:t>
            </a:r>
            <a:endParaRPr lang="en-US" sz="1150" dirty="0"/>
          </a:p>
        </p:txBody>
      </p:sp>
      <p:sp>
        <p:nvSpPr>
          <p:cNvPr id="65" name="Shape 63"/>
          <p:cNvSpPr/>
          <p:nvPr/>
        </p:nvSpPr>
        <p:spPr>
          <a:xfrm>
            <a:off x="548640" y="5541264"/>
            <a:ext cx="6400800" cy="384048"/>
          </a:xfrm>
          <a:prstGeom prst="roundRect">
            <a:avLst>
              <a:gd name="adj" fmla="val 23810"/>
            </a:avLst>
          </a:prstGeom>
          <a:solidFill>
            <a:srgbClr val="FDF3E7"/>
          </a:solidFill>
          <a:ln w="12700">
            <a:solidFill>
              <a:srgbClr val="F0C89A"/>
            </a:solidFill>
            <a:prstDash val="solid"/>
          </a:ln>
        </p:spPr>
      </p:sp>
      <p:sp>
        <p:nvSpPr>
          <p:cNvPr id="66" name="Text 64"/>
          <p:cNvSpPr txBox="1"/>
          <p:nvPr/>
        </p:nvSpPr>
        <p:spPr>
          <a:xfrm>
            <a:off x="548640" y="5541264"/>
            <a:ext cx="731520" cy="384048"/>
          </a:xfrm>
          <a:prstGeom prst="rect">
            <a:avLst/>
          </a:prstGeom>
          <a:noFill/>
          <a:ln/>
        </p:spPr>
        <p:txBody>
          <a:bodyPr wrap="square" lIns="0" tIns="0" rIns="0" bIns="0" rtlCol="0" anchor="ctr"/>
          <a:lstStyle/>
          <a:p>
            <a:pPr marL="0" indent="0" algn="ctr">
              <a:buNone/>
            </a:pPr>
            <a:r>
              <a:rPr lang="en-US" sz="1150" b="1" dirty="0">
                <a:solidFill>
                  <a:srgbClr val="1B2233"/>
                </a:solidFill>
                <a:latin typeface="Calibri" pitchFamily="34" charset="0"/>
                <a:ea typeface="Calibri" pitchFamily="34" charset="-122"/>
                <a:cs typeface="Calibri" pitchFamily="34" charset="-120"/>
              </a:rPr>
              <a:t>3</a:t>
            </a:r>
            <a:endParaRPr lang="en-US" sz="1150" dirty="0"/>
          </a:p>
        </p:txBody>
      </p:sp>
      <p:sp>
        <p:nvSpPr>
          <p:cNvPr id="67" name="Text 65"/>
          <p:cNvSpPr txBox="1"/>
          <p:nvPr/>
        </p:nvSpPr>
        <p:spPr>
          <a:xfrm>
            <a:off x="1280160" y="5541264"/>
            <a:ext cx="731520" cy="384048"/>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6</a:t>
            </a:r>
            <a:endParaRPr lang="en-US" sz="1150" dirty="0"/>
          </a:p>
        </p:txBody>
      </p:sp>
      <p:sp>
        <p:nvSpPr>
          <p:cNvPr id="68" name="Text 66"/>
          <p:cNvSpPr txBox="1"/>
          <p:nvPr/>
        </p:nvSpPr>
        <p:spPr>
          <a:xfrm>
            <a:off x="2011680" y="5541264"/>
            <a:ext cx="731520" cy="384048"/>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7</a:t>
            </a:r>
            <a:endParaRPr lang="en-US" sz="1150" dirty="0"/>
          </a:p>
        </p:txBody>
      </p:sp>
      <p:sp>
        <p:nvSpPr>
          <p:cNvPr id="69" name="Text 67"/>
          <p:cNvSpPr txBox="1"/>
          <p:nvPr/>
        </p:nvSpPr>
        <p:spPr>
          <a:xfrm>
            <a:off x="2743200" y="5541264"/>
            <a:ext cx="731520" cy="384048"/>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6</a:t>
            </a:r>
            <a:endParaRPr lang="en-US" sz="1150" dirty="0"/>
          </a:p>
        </p:txBody>
      </p:sp>
      <p:sp>
        <p:nvSpPr>
          <p:cNvPr id="70" name="Text 68"/>
          <p:cNvSpPr txBox="1"/>
          <p:nvPr/>
        </p:nvSpPr>
        <p:spPr>
          <a:xfrm>
            <a:off x="3474720" y="5541264"/>
            <a:ext cx="914400" cy="384048"/>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34</a:t>
            </a:r>
            <a:endParaRPr lang="en-US" sz="1150" dirty="0"/>
          </a:p>
        </p:txBody>
      </p:sp>
      <p:sp>
        <p:nvSpPr>
          <p:cNvPr id="71" name="Text 69"/>
          <p:cNvSpPr txBox="1"/>
          <p:nvPr/>
        </p:nvSpPr>
        <p:spPr>
          <a:xfrm>
            <a:off x="4389120" y="5541264"/>
            <a:ext cx="2560320" cy="384048"/>
          </a:xfrm>
          <a:prstGeom prst="rect">
            <a:avLst/>
          </a:prstGeom>
          <a:noFill/>
          <a:ln/>
        </p:spPr>
        <p:txBody>
          <a:bodyPr wrap="square" lIns="101600" tIns="101600" rIns="101600" bIns="101600" rtlCol="0" anchor="ctr"/>
          <a:lstStyle/>
          <a:p>
            <a:pPr marL="0" indent="0" algn="l">
              <a:buNone/>
            </a:pPr>
            <a:r>
              <a:rPr lang="en-US" sz="1150" dirty="0">
                <a:solidFill>
                  <a:srgbClr val="1B2233"/>
                </a:solidFill>
                <a:latin typeface="Calibri" pitchFamily="34" charset="0"/>
                <a:ea typeface="Calibri" pitchFamily="34" charset="-122"/>
                <a:cs typeface="Calibri" pitchFamily="34" charset="-120"/>
              </a:rPr>
              <a:t>34 &lt; 62  →  low = 7</a:t>
            </a:r>
            <a:endParaRPr lang="en-US" sz="1150" dirty="0"/>
          </a:p>
        </p:txBody>
      </p:sp>
      <p:sp>
        <p:nvSpPr>
          <p:cNvPr id="72" name="Shape 70"/>
          <p:cNvSpPr/>
          <p:nvPr/>
        </p:nvSpPr>
        <p:spPr>
          <a:xfrm>
            <a:off x="548640" y="5925312"/>
            <a:ext cx="6400800" cy="384048"/>
          </a:xfrm>
          <a:prstGeom prst="roundRect">
            <a:avLst>
              <a:gd name="adj" fmla="val 23810"/>
            </a:avLst>
          </a:prstGeom>
          <a:solidFill>
            <a:srgbClr val="FFFFFF"/>
          </a:solidFill>
          <a:ln w="12700">
            <a:solidFill>
              <a:srgbClr val="F0C89A"/>
            </a:solidFill>
            <a:prstDash val="solid"/>
          </a:ln>
        </p:spPr>
      </p:sp>
      <p:sp>
        <p:nvSpPr>
          <p:cNvPr id="73" name="Text 71"/>
          <p:cNvSpPr txBox="1"/>
          <p:nvPr/>
        </p:nvSpPr>
        <p:spPr>
          <a:xfrm>
            <a:off x="548640" y="5925312"/>
            <a:ext cx="731520" cy="384048"/>
          </a:xfrm>
          <a:prstGeom prst="rect">
            <a:avLst/>
          </a:prstGeom>
          <a:noFill/>
          <a:ln/>
        </p:spPr>
        <p:txBody>
          <a:bodyPr wrap="square" lIns="0" tIns="0" rIns="0" bIns="0" rtlCol="0" anchor="ctr"/>
          <a:lstStyle/>
          <a:p>
            <a:pPr marL="0" indent="0" algn="ctr">
              <a:buNone/>
            </a:pPr>
            <a:r>
              <a:rPr lang="en-US" sz="1150" b="1" dirty="0">
                <a:solidFill>
                  <a:srgbClr val="1B2233"/>
                </a:solidFill>
                <a:latin typeface="Calibri" pitchFamily="34" charset="0"/>
                <a:ea typeface="Calibri" pitchFamily="34" charset="-122"/>
                <a:cs typeface="Calibri" pitchFamily="34" charset="-120"/>
              </a:rPr>
              <a:t>4</a:t>
            </a:r>
            <a:endParaRPr lang="en-US" sz="1150" dirty="0"/>
          </a:p>
        </p:txBody>
      </p:sp>
      <p:sp>
        <p:nvSpPr>
          <p:cNvPr id="74" name="Text 72"/>
          <p:cNvSpPr txBox="1"/>
          <p:nvPr/>
        </p:nvSpPr>
        <p:spPr>
          <a:xfrm>
            <a:off x="1280160" y="5925312"/>
            <a:ext cx="731520" cy="384048"/>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7</a:t>
            </a:r>
            <a:endParaRPr lang="en-US" sz="1150" dirty="0"/>
          </a:p>
        </p:txBody>
      </p:sp>
      <p:sp>
        <p:nvSpPr>
          <p:cNvPr id="75" name="Text 73"/>
          <p:cNvSpPr txBox="1"/>
          <p:nvPr/>
        </p:nvSpPr>
        <p:spPr>
          <a:xfrm>
            <a:off x="2011680" y="5925312"/>
            <a:ext cx="731520" cy="384048"/>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7</a:t>
            </a:r>
            <a:endParaRPr lang="en-US" sz="1150" dirty="0"/>
          </a:p>
        </p:txBody>
      </p:sp>
      <p:sp>
        <p:nvSpPr>
          <p:cNvPr id="76" name="Text 74"/>
          <p:cNvSpPr txBox="1"/>
          <p:nvPr/>
        </p:nvSpPr>
        <p:spPr>
          <a:xfrm>
            <a:off x="2743200" y="5925312"/>
            <a:ext cx="731520" cy="384048"/>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7</a:t>
            </a:r>
            <a:endParaRPr lang="en-US" sz="1150" dirty="0"/>
          </a:p>
        </p:txBody>
      </p:sp>
      <p:sp>
        <p:nvSpPr>
          <p:cNvPr id="77" name="Text 75"/>
          <p:cNvSpPr txBox="1"/>
          <p:nvPr/>
        </p:nvSpPr>
        <p:spPr>
          <a:xfrm>
            <a:off x="3474720" y="5925312"/>
            <a:ext cx="914400" cy="384048"/>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62</a:t>
            </a:r>
            <a:endParaRPr lang="en-US" sz="1150" dirty="0"/>
          </a:p>
        </p:txBody>
      </p:sp>
      <p:sp>
        <p:nvSpPr>
          <p:cNvPr id="78" name="Text 76"/>
          <p:cNvSpPr txBox="1"/>
          <p:nvPr/>
        </p:nvSpPr>
        <p:spPr>
          <a:xfrm>
            <a:off x="4389120" y="5925312"/>
            <a:ext cx="2560320" cy="384048"/>
          </a:xfrm>
          <a:prstGeom prst="rect">
            <a:avLst/>
          </a:prstGeom>
          <a:noFill/>
          <a:ln/>
        </p:spPr>
        <p:txBody>
          <a:bodyPr wrap="square" lIns="101600" tIns="101600" rIns="101600" bIns="101600" rtlCol="0" anchor="ctr"/>
          <a:lstStyle/>
          <a:p>
            <a:pPr marL="0" indent="0" algn="l">
              <a:buNone/>
            </a:pPr>
            <a:r>
              <a:rPr lang="en-US" sz="1150" dirty="0">
                <a:solidFill>
                  <a:srgbClr val="1B2233"/>
                </a:solidFill>
                <a:latin typeface="Calibri" pitchFamily="34" charset="0"/>
                <a:ea typeface="Calibri" pitchFamily="34" charset="-122"/>
                <a:cs typeface="Calibri" pitchFamily="34" charset="-120"/>
              </a:rPr>
              <a:t>62 = 62  →  FOUND, index 7</a:t>
            </a:r>
            <a:endParaRPr lang="en-US" sz="1150" dirty="0"/>
          </a:p>
        </p:txBody>
      </p:sp>
      <p:sp>
        <p:nvSpPr>
          <p:cNvPr id="79" name="Text 77"/>
          <p:cNvSpPr txBox="1"/>
          <p:nvPr/>
        </p:nvSpPr>
        <p:spPr>
          <a:xfrm>
            <a:off x="7498080" y="1600200"/>
            <a:ext cx="4114800" cy="256032"/>
          </a:xfrm>
          <a:prstGeom prst="rect">
            <a:avLst/>
          </a:prstGeom>
          <a:noFill/>
          <a:ln/>
        </p:spPr>
        <p:txBody>
          <a:bodyPr wrap="square" lIns="0" tIns="0" rIns="0" bIns="0" rtlCol="0" anchor="ctr"/>
          <a:lstStyle/>
          <a:p>
            <a:pPr marL="0" indent="0">
              <a:buNone/>
            </a:pPr>
            <a:r>
              <a:rPr lang="en-US" sz="1050" b="1" kern="0" spc="50" dirty="0">
                <a:solidFill>
                  <a:srgbClr val="0E7490"/>
                </a:solidFill>
                <a:latin typeface="Calibri" pitchFamily="34" charset="0"/>
                <a:ea typeface="Calibri" pitchFamily="34" charset="-122"/>
                <a:cs typeface="Calibri" pitchFamily="34" charset="-120"/>
              </a:rPr>
              <a:t>RANGE SIZE AFTER EACH PROBE  (key = 62)</a:t>
            </a:r>
            <a:endParaRPr lang="en-US" sz="1050" dirty="0"/>
          </a:p>
        </p:txBody>
      </p:sp>
      <p:sp>
        <p:nvSpPr>
          <p:cNvPr id="80" name="Text 78"/>
          <p:cNvSpPr txBox="1"/>
          <p:nvPr/>
        </p:nvSpPr>
        <p:spPr>
          <a:xfrm>
            <a:off x="7498080" y="1965960"/>
            <a:ext cx="1280160" cy="365760"/>
          </a:xfrm>
          <a:prstGeom prst="rect">
            <a:avLst/>
          </a:prstGeom>
          <a:noFill/>
          <a:ln/>
        </p:spPr>
        <p:txBody>
          <a:bodyPr wrap="square" lIns="0" tIns="0" rIns="0" bIns="0" rtlCol="0" anchor="ctr"/>
          <a:lstStyle/>
          <a:p>
            <a:pPr marL="0" indent="0">
              <a:buNone/>
            </a:pPr>
            <a:r>
              <a:rPr lang="en-US" sz="1100" dirty="0">
                <a:solidFill>
                  <a:srgbClr val="5B6584"/>
                </a:solidFill>
                <a:latin typeface="Calibri" pitchFamily="34" charset="0"/>
                <a:ea typeface="Calibri" pitchFamily="34" charset="-122"/>
                <a:cs typeface="Calibri" pitchFamily="34" charset="-120"/>
              </a:rPr>
              <a:t>start</a:t>
            </a:r>
            <a:endParaRPr lang="en-US" sz="1100" dirty="0"/>
          </a:p>
        </p:txBody>
      </p:sp>
      <p:sp>
        <p:nvSpPr>
          <p:cNvPr id="81" name="Shape 79"/>
          <p:cNvSpPr/>
          <p:nvPr/>
        </p:nvSpPr>
        <p:spPr>
          <a:xfrm>
            <a:off x="8778240" y="2002536"/>
            <a:ext cx="2340864" cy="292608"/>
          </a:xfrm>
          <a:prstGeom prst="roundRect">
            <a:avLst>
              <a:gd name="adj" fmla="val 18750"/>
            </a:avLst>
          </a:prstGeom>
          <a:solidFill>
            <a:srgbClr val="0E7490"/>
          </a:solidFill>
          <a:ln/>
        </p:spPr>
      </p:sp>
      <p:sp>
        <p:nvSpPr>
          <p:cNvPr id="82" name="Text 80"/>
          <p:cNvSpPr txBox="1"/>
          <p:nvPr/>
        </p:nvSpPr>
        <p:spPr>
          <a:xfrm>
            <a:off x="11210544" y="1965960"/>
            <a:ext cx="457200" cy="365760"/>
          </a:xfrm>
          <a:prstGeom prst="rect">
            <a:avLst/>
          </a:prstGeom>
          <a:noFill/>
          <a:ln/>
        </p:spPr>
        <p:txBody>
          <a:bodyPr wrap="square" lIns="0" tIns="0" rIns="0" bIns="0" rtlCol="0" anchor="ctr"/>
          <a:lstStyle/>
          <a:p>
            <a:pPr marL="0" indent="0">
              <a:buNone/>
            </a:pPr>
            <a:r>
              <a:rPr lang="en-US" sz="1200" b="1" dirty="0">
                <a:solidFill>
                  <a:srgbClr val="10242E"/>
                </a:solidFill>
                <a:latin typeface="Courier New" pitchFamily="34" charset="0"/>
                <a:ea typeface="Courier New" pitchFamily="34" charset="-122"/>
                <a:cs typeface="Courier New" pitchFamily="34" charset="-120"/>
              </a:rPr>
              <a:t>8</a:t>
            </a:r>
            <a:endParaRPr lang="en-US" sz="1200" dirty="0"/>
          </a:p>
        </p:txBody>
      </p:sp>
      <p:sp>
        <p:nvSpPr>
          <p:cNvPr id="83" name="Text 81"/>
          <p:cNvSpPr txBox="1"/>
          <p:nvPr/>
        </p:nvSpPr>
        <p:spPr>
          <a:xfrm>
            <a:off x="7498080" y="2532888"/>
            <a:ext cx="1280160" cy="365760"/>
          </a:xfrm>
          <a:prstGeom prst="rect">
            <a:avLst/>
          </a:prstGeom>
          <a:noFill/>
          <a:ln/>
        </p:spPr>
        <p:txBody>
          <a:bodyPr wrap="square" lIns="0" tIns="0" rIns="0" bIns="0" rtlCol="0" anchor="ctr"/>
          <a:lstStyle/>
          <a:p>
            <a:pPr marL="0" indent="0">
              <a:buNone/>
            </a:pPr>
            <a:r>
              <a:rPr lang="en-US" sz="1100" dirty="0">
                <a:solidFill>
                  <a:srgbClr val="5B6584"/>
                </a:solidFill>
                <a:latin typeface="Calibri" pitchFamily="34" charset="0"/>
                <a:ea typeface="Calibri" pitchFamily="34" charset="-122"/>
                <a:cs typeface="Calibri" pitchFamily="34" charset="-120"/>
              </a:rPr>
              <a:t>after probe 1</a:t>
            </a:r>
            <a:endParaRPr lang="en-US" sz="1100" dirty="0"/>
          </a:p>
        </p:txBody>
      </p:sp>
      <p:sp>
        <p:nvSpPr>
          <p:cNvPr id="84" name="Shape 82"/>
          <p:cNvSpPr/>
          <p:nvPr/>
        </p:nvSpPr>
        <p:spPr>
          <a:xfrm>
            <a:off x="8778240" y="2569464"/>
            <a:ext cx="1170432" cy="292608"/>
          </a:xfrm>
          <a:prstGeom prst="roundRect">
            <a:avLst>
              <a:gd name="adj" fmla="val 18750"/>
            </a:avLst>
          </a:prstGeom>
          <a:solidFill>
            <a:srgbClr val="0E7490"/>
          </a:solidFill>
          <a:ln/>
        </p:spPr>
      </p:sp>
      <p:sp>
        <p:nvSpPr>
          <p:cNvPr id="85" name="Text 83"/>
          <p:cNvSpPr txBox="1"/>
          <p:nvPr/>
        </p:nvSpPr>
        <p:spPr>
          <a:xfrm>
            <a:off x="10040112" y="2532888"/>
            <a:ext cx="457200" cy="365760"/>
          </a:xfrm>
          <a:prstGeom prst="rect">
            <a:avLst/>
          </a:prstGeom>
          <a:noFill/>
          <a:ln/>
        </p:spPr>
        <p:txBody>
          <a:bodyPr wrap="square" lIns="0" tIns="0" rIns="0" bIns="0" rtlCol="0" anchor="ctr"/>
          <a:lstStyle/>
          <a:p>
            <a:pPr marL="0" indent="0">
              <a:buNone/>
            </a:pPr>
            <a:r>
              <a:rPr lang="en-US" sz="1200" b="1" dirty="0">
                <a:solidFill>
                  <a:srgbClr val="10242E"/>
                </a:solidFill>
                <a:latin typeface="Courier New" pitchFamily="34" charset="0"/>
                <a:ea typeface="Courier New" pitchFamily="34" charset="-122"/>
                <a:cs typeface="Courier New" pitchFamily="34" charset="-120"/>
              </a:rPr>
              <a:t>4</a:t>
            </a:r>
            <a:endParaRPr lang="en-US" sz="1200" dirty="0"/>
          </a:p>
        </p:txBody>
      </p:sp>
      <p:sp>
        <p:nvSpPr>
          <p:cNvPr id="86" name="Text 84"/>
          <p:cNvSpPr txBox="1"/>
          <p:nvPr/>
        </p:nvSpPr>
        <p:spPr>
          <a:xfrm>
            <a:off x="7498080" y="3099816"/>
            <a:ext cx="1280160" cy="365760"/>
          </a:xfrm>
          <a:prstGeom prst="rect">
            <a:avLst/>
          </a:prstGeom>
          <a:noFill/>
          <a:ln/>
        </p:spPr>
        <p:txBody>
          <a:bodyPr wrap="square" lIns="0" tIns="0" rIns="0" bIns="0" rtlCol="0" anchor="ctr"/>
          <a:lstStyle/>
          <a:p>
            <a:pPr marL="0" indent="0">
              <a:buNone/>
            </a:pPr>
            <a:r>
              <a:rPr lang="en-US" sz="1100" dirty="0">
                <a:solidFill>
                  <a:srgbClr val="5B6584"/>
                </a:solidFill>
                <a:latin typeface="Calibri" pitchFamily="34" charset="0"/>
                <a:ea typeface="Calibri" pitchFamily="34" charset="-122"/>
                <a:cs typeface="Calibri" pitchFamily="34" charset="-120"/>
              </a:rPr>
              <a:t>after probe 2</a:t>
            </a:r>
            <a:endParaRPr lang="en-US" sz="1100" dirty="0"/>
          </a:p>
        </p:txBody>
      </p:sp>
      <p:sp>
        <p:nvSpPr>
          <p:cNvPr id="87" name="Shape 85"/>
          <p:cNvSpPr/>
          <p:nvPr/>
        </p:nvSpPr>
        <p:spPr>
          <a:xfrm>
            <a:off x="8778240" y="3136392"/>
            <a:ext cx="585216" cy="292608"/>
          </a:xfrm>
          <a:prstGeom prst="roundRect">
            <a:avLst>
              <a:gd name="adj" fmla="val 18750"/>
            </a:avLst>
          </a:prstGeom>
          <a:solidFill>
            <a:srgbClr val="0E7490"/>
          </a:solidFill>
          <a:ln/>
        </p:spPr>
      </p:sp>
      <p:sp>
        <p:nvSpPr>
          <p:cNvPr id="88" name="Text 86"/>
          <p:cNvSpPr txBox="1"/>
          <p:nvPr/>
        </p:nvSpPr>
        <p:spPr>
          <a:xfrm>
            <a:off x="9454896" y="3099816"/>
            <a:ext cx="457200" cy="365760"/>
          </a:xfrm>
          <a:prstGeom prst="rect">
            <a:avLst/>
          </a:prstGeom>
          <a:noFill/>
          <a:ln/>
        </p:spPr>
        <p:txBody>
          <a:bodyPr wrap="square" lIns="0" tIns="0" rIns="0" bIns="0" rtlCol="0" anchor="ctr"/>
          <a:lstStyle/>
          <a:p>
            <a:pPr marL="0" indent="0">
              <a:buNone/>
            </a:pPr>
            <a:r>
              <a:rPr lang="en-US" sz="1200" b="1" dirty="0">
                <a:solidFill>
                  <a:srgbClr val="10242E"/>
                </a:solidFill>
                <a:latin typeface="Courier New" pitchFamily="34" charset="0"/>
                <a:ea typeface="Courier New" pitchFamily="34" charset="-122"/>
                <a:cs typeface="Courier New" pitchFamily="34" charset="-120"/>
              </a:rPr>
              <a:t>2</a:t>
            </a:r>
            <a:endParaRPr lang="en-US" sz="1200" dirty="0"/>
          </a:p>
        </p:txBody>
      </p:sp>
      <p:sp>
        <p:nvSpPr>
          <p:cNvPr id="89" name="Text 87"/>
          <p:cNvSpPr txBox="1"/>
          <p:nvPr/>
        </p:nvSpPr>
        <p:spPr>
          <a:xfrm>
            <a:off x="7498080" y="3666744"/>
            <a:ext cx="1280160" cy="365760"/>
          </a:xfrm>
          <a:prstGeom prst="rect">
            <a:avLst/>
          </a:prstGeom>
          <a:noFill/>
          <a:ln/>
        </p:spPr>
        <p:txBody>
          <a:bodyPr wrap="square" lIns="0" tIns="0" rIns="0" bIns="0" rtlCol="0" anchor="ctr"/>
          <a:lstStyle/>
          <a:p>
            <a:pPr marL="0" indent="0">
              <a:buNone/>
            </a:pPr>
            <a:r>
              <a:rPr lang="en-US" sz="1100" dirty="0">
                <a:solidFill>
                  <a:srgbClr val="5B6584"/>
                </a:solidFill>
                <a:latin typeface="Calibri" pitchFamily="34" charset="0"/>
                <a:ea typeface="Calibri" pitchFamily="34" charset="-122"/>
                <a:cs typeface="Calibri" pitchFamily="34" charset="-120"/>
              </a:rPr>
              <a:t>after probe 3</a:t>
            </a:r>
            <a:endParaRPr lang="en-US" sz="1100" dirty="0"/>
          </a:p>
        </p:txBody>
      </p:sp>
      <p:sp>
        <p:nvSpPr>
          <p:cNvPr id="90" name="Shape 88"/>
          <p:cNvSpPr/>
          <p:nvPr/>
        </p:nvSpPr>
        <p:spPr>
          <a:xfrm>
            <a:off x="8778240" y="3703320"/>
            <a:ext cx="292608" cy="292608"/>
          </a:xfrm>
          <a:prstGeom prst="roundRect">
            <a:avLst>
              <a:gd name="adj" fmla="val 18750"/>
            </a:avLst>
          </a:prstGeom>
          <a:solidFill>
            <a:srgbClr val="0E7490"/>
          </a:solidFill>
          <a:ln/>
        </p:spPr>
      </p:sp>
      <p:sp>
        <p:nvSpPr>
          <p:cNvPr id="91" name="Text 89"/>
          <p:cNvSpPr txBox="1"/>
          <p:nvPr/>
        </p:nvSpPr>
        <p:spPr>
          <a:xfrm>
            <a:off x="9162288" y="3666744"/>
            <a:ext cx="457200" cy="365760"/>
          </a:xfrm>
          <a:prstGeom prst="rect">
            <a:avLst/>
          </a:prstGeom>
          <a:noFill/>
          <a:ln/>
        </p:spPr>
        <p:txBody>
          <a:bodyPr wrap="square" lIns="0" tIns="0" rIns="0" bIns="0" rtlCol="0" anchor="ctr"/>
          <a:lstStyle/>
          <a:p>
            <a:pPr marL="0" indent="0">
              <a:buNone/>
            </a:pPr>
            <a:r>
              <a:rPr lang="en-US" sz="1200" b="1" dirty="0">
                <a:solidFill>
                  <a:srgbClr val="10242E"/>
                </a:solidFill>
                <a:latin typeface="Courier New" pitchFamily="34" charset="0"/>
                <a:ea typeface="Courier New" pitchFamily="34" charset="-122"/>
                <a:cs typeface="Courier New" pitchFamily="34" charset="-120"/>
              </a:rPr>
              <a:t>1</a:t>
            </a:r>
            <a:endParaRPr lang="en-US" sz="1200" dirty="0"/>
          </a:p>
        </p:txBody>
      </p:sp>
      <p:sp>
        <p:nvSpPr>
          <p:cNvPr id="92" name="Shape 90"/>
          <p:cNvSpPr/>
          <p:nvPr/>
        </p:nvSpPr>
        <p:spPr>
          <a:xfrm>
            <a:off x="7498080" y="4343400"/>
            <a:ext cx="4114800" cy="1371600"/>
          </a:xfrm>
          <a:prstGeom prst="roundRect">
            <a:avLst>
              <a:gd name="adj" fmla="val 6667"/>
            </a:avLst>
          </a:prstGeom>
          <a:solidFill>
            <a:schemeClr val="bg2">
              <a:lumMod val="90000"/>
            </a:schemeClr>
          </a:solidFill>
          <a:ln w="12700">
            <a:solidFill>
              <a:srgbClr val="10242E"/>
            </a:solidFill>
            <a:prstDash val="solid"/>
          </a:ln>
        </p:spPr>
      </p:sp>
      <p:sp>
        <p:nvSpPr>
          <p:cNvPr id="93" name="Text 91"/>
          <p:cNvSpPr txBox="1"/>
          <p:nvPr/>
        </p:nvSpPr>
        <p:spPr>
          <a:xfrm>
            <a:off x="7680960" y="4343400"/>
            <a:ext cx="3749040" cy="1371600"/>
          </a:xfrm>
          <a:prstGeom prst="rect">
            <a:avLst/>
          </a:prstGeom>
          <a:noFill/>
          <a:ln/>
        </p:spPr>
        <p:txBody>
          <a:bodyPr wrap="square" lIns="0" tIns="0" rIns="0" bIns="0" rtlCol="0" anchor="ctr"/>
          <a:lstStyle/>
          <a:p>
            <a:pPr marL="0" indent="0">
              <a:lnSpc>
                <a:spcPct val="130000"/>
              </a:lnSpc>
              <a:buNone/>
            </a:pPr>
            <a:r>
              <a:rPr lang="en-US" sz="1600" dirty="0">
                <a:latin typeface="Calibri" pitchFamily="34" charset="0"/>
                <a:ea typeface="Calibri" pitchFamily="34" charset="-122"/>
                <a:cs typeface="Calibri" pitchFamily="34" charset="-120"/>
              </a:rPr>
              <a:t>8 → 4 → 2 → 1 → 0: the range halves every probe, so n = 8 = 2³ needs 3 halvings + 1 final probe = ⌊log₂ 8⌋ + 1 = 4.</a:t>
            </a:r>
            <a:endParaRPr lang="en-US" sz="1600" dirty="0"/>
          </a:p>
        </p:txBody>
      </p:sp>
      <p:sp>
        <p:nvSpPr>
          <p:cNvPr id="94" name="Text 92"/>
          <p:cNvSpPr txBox="1"/>
          <p:nvPr/>
        </p:nvSpPr>
        <p:spPr>
          <a:xfrm>
            <a:off x="548640" y="6547104"/>
            <a:ext cx="6858000" cy="256032"/>
          </a:xfrm>
          <a:prstGeom prst="rect">
            <a:avLst/>
          </a:prstGeom>
          <a:noFill/>
          <a:ln/>
        </p:spPr>
        <p:txBody>
          <a:bodyPr wrap="square" lIns="0" tIns="0" rIns="0" bIns="0" rtlCol="0" anchor="ctr"/>
          <a:lstStyle/>
          <a:p>
            <a:pPr marL="0" indent="0">
              <a:buNone/>
            </a:pPr>
            <a:r>
              <a:rPr lang="en-US" sz="900" dirty="0">
                <a:solidFill>
                  <a:srgbClr val="5B6584"/>
                </a:solidFill>
                <a:latin typeface="Calibri" pitchFamily="34" charset="0"/>
                <a:ea typeface="Calibri" pitchFamily="34" charset="-122"/>
                <a:cs typeface="Calibri" pitchFamily="34" charset="-120"/>
              </a:rPr>
              <a:t>Linear &amp; Binary Search  |  Data Structures Using C</a:t>
            </a:r>
            <a:endParaRPr lang="en-US" sz="900" dirty="0"/>
          </a:p>
        </p:txBody>
      </p:sp>
      <p:sp>
        <p:nvSpPr>
          <p:cNvPr id="95" name="Text 93"/>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500000">
            <a:off x="10972800" y="-1005840"/>
            <a:ext cx="2377440" cy="2377440"/>
          </a:xfrm>
          <a:prstGeom prst="triangle">
            <a:avLst/>
          </a:prstGeom>
          <a:solidFill>
            <a:srgbClr val="0E7490">
              <a:alpha val="5000"/>
            </a:srgbClr>
          </a:solidFill>
          <a:ln/>
        </p:spPr>
      </p:sp>
      <p:sp>
        <p:nvSpPr>
          <p:cNvPr id="3" name="Shape 1"/>
          <p:cNvSpPr/>
          <p:nvPr/>
        </p:nvSpPr>
        <p:spPr>
          <a:xfrm rot="12300000">
            <a:off x="-1097280" y="5760720"/>
            <a:ext cx="2377440" cy="2377440"/>
          </a:xfrm>
          <a:prstGeom prst="triangle">
            <a:avLst/>
          </a:prstGeom>
          <a:solidFill>
            <a:srgbClr val="0E7490">
              <a:alpha val="5000"/>
            </a:srgbClr>
          </a:solidFill>
          <a:ln/>
        </p:spPr>
      </p:sp>
      <p:sp>
        <p:nvSpPr>
          <p:cNvPr id="4" name="Text 2"/>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22A6C4"/>
                </a:solidFill>
                <a:latin typeface="Calibri" pitchFamily="34" charset="0"/>
                <a:ea typeface="Calibri" pitchFamily="34" charset="-122"/>
                <a:cs typeface="Calibri" pitchFamily="34" charset="-120"/>
              </a:rPr>
              <a:t>CONNECTING THE PROBES</a:t>
            </a:r>
            <a:endParaRPr lang="en-US" sz="1300" dirty="0"/>
          </a:p>
        </p:txBody>
      </p:sp>
      <p:sp>
        <p:nvSpPr>
          <p:cNvPr id="5" name="Text 3"/>
          <p:cNvSpPr txBox="1"/>
          <p:nvPr/>
        </p:nvSpPr>
        <p:spPr>
          <a:xfrm>
            <a:off x="548640" y="621792"/>
            <a:ext cx="11064240" cy="731520"/>
          </a:xfrm>
          <a:prstGeom prst="rect">
            <a:avLst/>
          </a:prstGeom>
          <a:noFill/>
          <a:ln/>
        </p:spPr>
        <p:txBody>
          <a:bodyPr wrap="square" lIns="0" tIns="0" rIns="0" bIns="0" rtlCol="0" anchor="ctr"/>
          <a:lstStyle/>
          <a:p>
            <a:pPr marL="0" indent="0">
              <a:buNone/>
            </a:pPr>
            <a:r>
              <a:rPr lang="en-US" sz="3000" b="1" dirty="0">
                <a:solidFill>
                  <a:srgbClr val="10242E"/>
                </a:solidFill>
                <a:latin typeface="Cambria" pitchFamily="34" charset="0"/>
                <a:ea typeface="Cambria" pitchFamily="34" charset="-122"/>
                <a:cs typeface="Cambria" pitchFamily="34" charset="-120"/>
              </a:rPr>
              <a:t>Binary-Search Decision Tree for n = 8</a:t>
            </a:r>
            <a:endParaRPr lang="en-US" sz="3000" dirty="0"/>
          </a:p>
        </p:txBody>
      </p:sp>
      <p:sp>
        <p:nvSpPr>
          <p:cNvPr id="6" name="Shape 4"/>
          <p:cNvSpPr/>
          <p:nvPr/>
        </p:nvSpPr>
        <p:spPr>
          <a:xfrm>
            <a:off x="3383280" y="2130552"/>
            <a:ext cx="0" cy="201168"/>
          </a:xfrm>
          <a:prstGeom prst="line">
            <a:avLst/>
          </a:prstGeom>
          <a:noFill/>
          <a:ln w="12700">
            <a:solidFill>
              <a:srgbClr val="5B6584"/>
            </a:solidFill>
            <a:prstDash val="solid"/>
          </a:ln>
        </p:spPr>
      </p:sp>
      <p:sp>
        <p:nvSpPr>
          <p:cNvPr id="7" name="Shape 5"/>
          <p:cNvSpPr/>
          <p:nvPr/>
        </p:nvSpPr>
        <p:spPr>
          <a:xfrm>
            <a:off x="1920240" y="2331720"/>
            <a:ext cx="1463040" cy="0"/>
          </a:xfrm>
          <a:prstGeom prst="line">
            <a:avLst/>
          </a:prstGeom>
          <a:noFill/>
          <a:ln w="12700">
            <a:solidFill>
              <a:srgbClr val="5B6584"/>
            </a:solidFill>
            <a:prstDash val="solid"/>
          </a:ln>
        </p:spPr>
      </p:sp>
      <p:sp>
        <p:nvSpPr>
          <p:cNvPr id="8" name="Shape 6"/>
          <p:cNvSpPr/>
          <p:nvPr/>
        </p:nvSpPr>
        <p:spPr>
          <a:xfrm>
            <a:off x="1920240" y="2331720"/>
            <a:ext cx="0" cy="201168"/>
          </a:xfrm>
          <a:prstGeom prst="line">
            <a:avLst/>
          </a:prstGeom>
          <a:noFill/>
          <a:ln w="12700">
            <a:solidFill>
              <a:srgbClr val="5B6584"/>
            </a:solidFill>
            <a:prstDash val="solid"/>
          </a:ln>
        </p:spPr>
      </p:sp>
      <p:sp>
        <p:nvSpPr>
          <p:cNvPr id="9" name="Shape 7"/>
          <p:cNvSpPr/>
          <p:nvPr/>
        </p:nvSpPr>
        <p:spPr>
          <a:xfrm>
            <a:off x="3383280" y="2130552"/>
            <a:ext cx="0" cy="201168"/>
          </a:xfrm>
          <a:prstGeom prst="line">
            <a:avLst/>
          </a:prstGeom>
          <a:noFill/>
          <a:ln w="12700">
            <a:solidFill>
              <a:srgbClr val="5B6584"/>
            </a:solidFill>
            <a:prstDash val="solid"/>
          </a:ln>
        </p:spPr>
      </p:sp>
      <p:sp>
        <p:nvSpPr>
          <p:cNvPr id="10" name="Shape 8"/>
          <p:cNvSpPr/>
          <p:nvPr/>
        </p:nvSpPr>
        <p:spPr>
          <a:xfrm>
            <a:off x="3383280" y="2331720"/>
            <a:ext cx="1645920" cy="0"/>
          </a:xfrm>
          <a:prstGeom prst="line">
            <a:avLst/>
          </a:prstGeom>
          <a:noFill/>
          <a:ln w="12700">
            <a:solidFill>
              <a:srgbClr val="5B6584"/>
            </a:solidFill>
            <a:prstDash val="solid"/>
          </a:ln>
        </p:spPr>
      </p:sp>
      <p:sp>
        <p:nvSpPr>
          <p:cNvPr id="11" name="Shape 9"/>
          <p:cNvSpPr/>
          <p:nvPr/>
        </p:nvSpPr>
        <p:spPr>
          <a:xfrm>
            <a:off x="5029200" y="2331720"/>
            <a:ext cx="0" cy="201168"/>
          </a:xfrm>
          <a:prstGeom prst="line">
            <a:avLst/>
          </a:prstGeom>
          <a:noFill/>
          <a:ln w="12700">
            <a:solidFill>
              <a:srgbClr val="5B6584"/>
            </a:solidFill>
            <a:prstDash val="solid"/>
          </a:ln>
        </p:spPr>
      </p:sp>
      <p:sp>
        <p:nvSpPr>
          <p:cNvPr id="12" name="Shape 10"/>
          <p:cNvSpPr/>
          <p:nvPr/>
        </p:nvSpPr>
        <p:spPr>
          <a:xfrm>
            <a:off x="1920240" y="3044952"/>
            <a:ext cx="0" cy="201168"/>
          </a:xfrm>
          <a:prstGeom prst="line">
            <a:avLst/>
          </a:prstGeom>
          <a:noFill/>
          <a:ln w="12700">
            <a:solidFill>
              <a:srgbClr val="5B6584"/>
            </a:solidFill>
            <a:prstDash val="solid"/>
          </a:ln>
        </p:spPr>
      </p:sp>
      <p:sp>
        <p:nvSpPr>
          <p:cNvPr id="13" name="Shape 11"/>
          <p:cNvSpPr/>
          <p:nvPr/>
        </p:nvSpPr>
        <p:spPr>
          <a:xfrm>
            <a:off x="1097280" y="3246120"/>
            <a:ext cx="822960" cy="0"/>
          </a:xfrm>
          <a:prstGeom prst="line">
            <a:avLst/>
          </a:prstGeom>
          <a:noFill/>
          <a:ln w="12700">
            <a:solidFill>
              <a:srgbClr val="5B6584"/>
            </a:solidFill>
            <a:prstDash val="solid"/>
          </a:ln>
        </p:spPr>
      </p:sp>
      <p:sp>
        <p:nvSpPr>
          <p:cNvPr id="14" name="Shape 12"/>
          <p:cNvSpPr/>
          <p:nvPr/>
        </p:nvSpPr>
        <p:spPr>
          <a:xfrm>
            <a:off x="1097280" y="3246120"/>
            <a:ext cx="0" cy="201168"/>
          </a:xfrm>
          <a:prstGeom prst="line">
            <a:avLst/>
          </a:prstGeom>
          <a:noFill/>
          <a:ln w="12700">
            <a:solidFill>
              <a:srgbClr val="5B6584"/>
            </a:solidFill>
            <a:prstDash val="solid"/>
          </a:ln>
        </p:spPr>
      </p:sp>
      <p:sp>
        <p:nvSpPr>
          <p:cNvPr id="15" name="Shape 13"/>
          <p:cNvSpPr/>
          <p:nvPr/>
        </p:nvSpPr>
        <p:spPr>
          <a:xfrm>
            <a:off x="1920240" y="3044952"/>
            <a:ext cx="0" cy="201168"/>
          </a:xfrm>
          <a:prstGeom prst="line">
            <a:avLst/>
          </a:prstGeom>
          <a:noFill/>
          <a:ln w="12700">
            <a:solidFill>
              <a:srgbClr val="5B6584"/>
            </a:solidFill>
            <a:prstDash val="solid"/>
          </a:ln>
        </p:spPr>
      </p:sp>
      <p:sp>
        <p:nvSpPr>
          <p:cNvPr id="16" name="Shape 14"/>
          <p:cNvSpPr/>
          <p:nvPr/>
        </p:nvSpPr>
        <p:spPr>
          <a:xfrm>
            <a:off x="1920240" y="3246120"/>
            <a:ext cx="822960" cy="0"/>
          </a:xfrm>
          <a:prstGeom prst="line">
            <a:avLst/>
          </a:prstGeom>
          <a:noFill/>
          <a:ln w="12700">
            <a:solidFill>
              <a:srgbClr val="5B6584"/>
            </a:solidFill>
            <a:prstDash val="solid"/>
          </a:ln>
        </p:spPr>
      </p:sp>
      <p:sp>
        <p:nvSpPr>
          <p:cNvPr id="17" name="Shape 15"/>
          <p:cNvSpPr/>
          <p:nvPr/>
        </p:nvSpPr>
        <p:spPr>
          <a:xfrm>
            <a:off x="2743200" y="3246120"/>
            <a:ext cx="0" cy="201168"/>
          </a:xfrm>
          <a:prstGeom prst="line">
            <a:avLst/>
          </a:prstGeom>
          <a:noFill/>
          <a:ln w="12700">
            <a:solidFill>
              <a:srgbClr val="5B6584"/>
            </a:solidFill>
            <a:prstDash val="solid"/>
          </a:ln>
        </p:spPr>
      </p:sp>
      <p:sp>
        <p:nvSpPr>
          <p:cNvPr id="18" name="Shape 16"/>
          <p:cNvSpPr/>
          <p:nvPr/>
        </p:nvSpPr>
        <p:spPr>
          <a:xfrm>
            <a:off x="5029200" y="3044952"/>
            <a:ext cx="0" cy="201168"/>
          </a:xfrm>
          <a:prstGeom prst="line">
            <a:avLst/>
          </a:prstGeom>
          <a:noFill/>
          <a:ln w="12700">
            <a:solidFill>
              <a:srgbClr val="5B6584"/>
            </a:solidFill>
            <a:prstDash val="solid"/>
          </a:ln>
        </p:spPr>
      </p:sp>
      <p:sp>
        <p:nvSpPr>
          <p:cNvPr id="19" name="Shape 17"/>
          <p:cNvSpPr/>
          <p:nvPr/>
        </p:nvSpPr>
        <p:spPr>
          <a:xfrm>
            <a:off x="4389120" y="3246120"/>
            <a:ext cx="640080" cy="0"/>
          </a:xfrm>
          <a:prstGeom prst="line">
            <a:avLst/>
          </a:prstGeom>
          <a:noFill/>
          <a:ln w="12700">
            <a:solidFill>
              <a:srgbClr val="5B6584"/>
            </a:solidFill>
            <a:prstDash val="solid"/>
          </a:ln>
        </p:spPr>
      </p:sp>
      <p:sp>
        <p:nvSpPr>
          <p:cNvPr id="20" name="Shape 18"/>
          <p:cNvSpPr/>
          <p:nvPr/>
        </p:nvSpPr>
        <p:spPr>
          <a:xfrm>
            <a:off x="4389120" y="3246120"/>
            <a:ext cx="0" cy="201168"/>
          </a:xfrm>
          <a:prstGeom prst="line">
            <a:avLst/>
          </a:prstGeom>
          <a:noFill/>
          <a:ln w="12700">
            <a:solidFill>
              <a:srgbClr val="5B6584"/>
            </a:solidFill>
            <a:prstDash val="solid"/>
          </a:ln>
        </p:spPr>
      </p:sp>
      <p:sp>
        <p:nvSpPr>
          <p:cNvPr id="21" name="Shape 19"/>
          <p:cNvSpPr/>
          <p:nvPr/>
        </p:nvSpPr>
        <p:spPr>
          <a:xfrm>
            <a:off x="5029200" y="3044952"/>
            <a:ext cx="0" cy="201168"/>
          </a:xfrm>
          <a:prstGeom prst="line">
            <a:avLst/>
          </a:prstGeom>
          <a:noFill/>
          <a:ln w="12700">
            <a:solidFill>
              <a:srgbClr val="5B6584"/>
            </a:solidFill>
            <a:prstDash val="solid"/>
          </a:ln>
        </p:spPr>
      </p:sp>
      <p:sp>
        <p:nvSpPr>
          <p:cNvPr id="22" name="Shape 20"/>
          <p:cNvSpPr/>
          <p:nvPr/>
        </p:nvSpPr>
        <p:spPr>
          <a:xfrm>
            <a:off x="5029200" y="3246120"/>
            <a:ext cx="640080" cy="0"/>
          </a:xfrm>
          <a:prstGeom prst="line">
            <a:avLst/>
          </a:prstGeom>
          <a:noFill/>
          <a:ln w="12700">
            <a:solidFill>
              <a:srgbClr val="5B6584"/>
            </a:solidFill>
            <a:prstDash val="solid"/>
          </a:ln>
        </p:spPr>
      </p:sp>
      <p:sp>
        <p:nvSpPr>
          <p:cNvPr id="23" name="Shape 21"/>
          <p:cNvSpPr/>
          <p:nvPr/>
        </p:nvSpPr>
        <p:spPr>
          <a:xfrm>
            <a:off x="5669280" y="3246120"/>
            <a:ext cx="0" cy="201168"/>
          </a:xfrm>
          <a:prstGeom prst="line">
            <a:avLst/>
          </a:prstGeom>
          <a:noFill/>
          <a:ln w="12700">
            <a:solidFill>
              <a:srgbClr val="5B6584"/>
            </a:solidFill>
            <a:prstDash val="solid"/>
          </a:ln>
        </p:spPr>
      </p:sp>
      <p:sp>
        <p:nvSpPr>
          <p:cNvPr id="24" name="Shape 22"/>
          <p:cNvSpPr/>
          <p:nvPr/>
        </p:nvSpPr>
        <p:spPr>
          <a:xfrm>
            <a:off x="5669280" y="3959352"/>
            <a:ext cx="0" cy="201168"/>
          </a:xfrm>
          <a:prstGeom prst="line">
            <a:avLst/>
          </a:prstGeom>
          <a:noFill/>
          <a:ln w="12700">
            <a:solidFill>
              <a:srgbClr val="5B6584"/>
            </a:solidFill>
            <a:prstDash val="solid"/>
          </a:ln>
        </p:spPr>
      </p:sp>
      <p:sp>
        <p:nvSpPr>
          <p:cNvPr id="25" name="Shape 23"/>
          <p:cNvSpPr/>
          <p:nvPr/>
        </p:nvSpPr>
        <p:spPr>
          <a:xfrm>
            <a:off x="5669280" y="4160520"/>
            <a:ext cx="685800" cy="0"/>
          </a:xfrm>
          <a:prstGeom prst="line">
            <a:avLst/>
          </a:prstGeom>
          <a:noFill/>
          <a:ln w="12700">
            <a:solidFill>
              <a:srgbClr val="5B6584"/>
            </a:solidFill>
            <a:prstDash val="solid"/>
          </a:ln>
        </p:spPr>
      </p:sp>
      <p:sp>
        <p:nvSpPr>
          <p:cNvPr id="26" name="Shape 24"/>
          <p:cNvSpPr/>
          <p:nvPr/>
        </p:nvSpPr>
        <p:spPr>
          <a:xfrm>
            <a:off x="6355080" y="4160520"/>
            <a:ext cx="0" cy="201168"/>
          </a:xfrm>
          <a:prstGeom prst="line">
            <a:avLst/>
          </a:prstGeom>
          <a:noFill/>
          <a:ln w="12700">
            <a:solidFill>
              <a:srgbClr val="5B6584"/>
            </a:solidFill>
            <a:prstDash val="solid"/>
          </a:ln>
        </p:spPr>
      </p:sp>
      <p:sp>
        <p:nvSpPr>
          <p:cNvPr id="27" name="Shape 25"/>
          <p:cNvSpPr/>
          <p:nvPr/>
        </p:nvSpPr>
        <p:spPr>
          <a:xfrm>
            <a:off x="845820" y="3451860"/>
            <a:ext cx="502920" cy="502920"/>
          </a:xfrm>
          <a:prstGeom prst="ellipse">
            <a:avLst/>
          </a:prstGeom>
          <a:solidFill>
            <a:srgbClr val="FFFFFF"/>
          </a:solidFill>
          <a:ln w="22225">
            <a:solidFill>
              <a:srgbClr val="0E7490"/>
            </a:solidFill>
            <a:prstDash val="solid"/>
          </a:ln>
        </p:spPr>
      </p:sp>
      <p:sp>
        <p:nvSpPr>
          <p:cNvPr id="28" name="Text 26"/>
          <p:cNvSpPr txBox="1"/>
          <p:nvPr/>
        </p:nvSpPr>
        <p:spPr>
          <a:xfrm>
            <a:off x="845820" y="3451860"/>
            <a:ext cx="502920" cy="50292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5</a:t>
            </a:r>
            <a:endParaRPr lang="en-US" sz="1300" dirty="0"/>
          </a:p>
        </p:txBody>
      </p:sp>
      <p:sp>
        <p:nvSpPr>
          <p:cNvPr id="29" name="Text 27"/>
          <p:cNvSpPr txBox="1"/>
          <p:nvPr/>
        </p:nvSpPr>
        <p:spPr>
          <a:xfrm>
            <a:off x="274320" y="3611880"/>
            <a:ext cx="530352" cy="182880"/>
          </a:xfrm>
          <a:prstGeom prst="rect">
            <a:avLst/>
          </a:prstGeom>
          <a:noFill/>
          <a:ln/>
        </p:spPr>
        <p:txBody>
          <a:bodyPr wrap="square" lIns="0" tIns="0" rIns="0" bIns="0" rtlCol="0" anchor="ctr"/>
          <a:lstStyle/>
          <a:p>
            <a:pPr marL="0" indent="0" algn="r">
              <a:buNone/>
            </a:pPr>
            <a:r>
              <a:rPr lang="en-US" sz="850" dirty="0">
                <a:solidFill>
                  <a:srgbClr val="5B6584"/>
                </a:solidFill>
                <a:latin typeface="Courier New" pitchFamily="34" charset="0"/>
                <a:ea typeface="Courier New" pitchFamily="34" charset="-122"/>
                <a:cs typeface="Courier New" pitchFamily="34" charset="-120"/>
              </a:rPr>
              <a:t>i=0</a:t>
            </a:r>
            <a:endParaRPr lang="en-US" sz="850" dirty="0"/>
          </a:p>
        </p:txBody>
      </p:sp>
      <p:sp>
        <p:nvSpPr>
          <p:cNvPr id="30" name="Shape 28"/>
          <p:cNvSpPr/>
          <p:nvPr/>
        </p:nvSpPr>
        <p:spPr>
          <a:xfrm>
            <a:off x="1668780" y="2537460"/>
            <a:ext cx="502920" cy="502920"/>
          </a:xfrm>
          <a:prstGeom prst="ellipse">
            <a:avLst/>
          </a:prstGeom>
          <a:solidFill>
            <a:srgbClr val="FFFFFF"/>
          </a:solidFill>
          <a:ln w="22225">
            <a:solidFill>
              <a:srgbClr val="0E7490"/>
            </a:solidFill>
            <a:prstDash val="solid"/>
          </a:ln>
        </p:spPr>
      </p:sp>
      <p:sp>
        <p:nvSpPr>
          <p:cNvPr id="31" name="Text 29"/>
          <p:cNvSpPr txBox="1"/>
          <p:nvPr/>
        </p:nvSpPr>
        <p:spPr>
          <a:xfrm>
            <a:off x="1668780" y="2537460"/>
            <a:ext cx="502920" cy="50292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7</a:t>
            </a:r>
            <a:endParaRPr lang="en-US" sz="1300" dirty="0"/>
          </a:p>
        </p:txBody>
      </p:sp>
      <p:sp>
        <p:nvSpPr>
          <p:cNvPr id="32" name="Text 30"/>
          <p:cNvSpPr txBox="1"/>
          <p:nvPr/>
        </p:nvSpPr>
        <p:spPr>
          <a:xfrm>
            <a:off x="1097280" y="2697480"/>
            <a:ext cx="530352" cy="182880"/>
          </a:xfrm>
          <a:prstGeom prst="rect">
            <a:avLst/>
          </a:prstGeom>
          <a:noFill/>
          <a:ln/>
        </p:spPr>
        <p:txBody>
          <a:bodyPr wrap="square" lIns="0" tIns="0" rIns="0" bIns="0" rtlCol="0" anchor="ctr"/>
          <a:lstStyle/>
          <a:p>
            <a:pPr marL="0" indent="0" algn="r">
              <a:buNone/>
            </a:pPr>
            <a:r>
              <a:rPr lang="en-US" sz="850" dirty="0">
                <a:solidFill>
                  <a:srgbClr val="5B6584"/>
                </a:solidFill>
                <a:latin typeface="Courier New" pitchFamily="34" charset="0"/>
                <a:ea typeface="Courier New" pitchFamily="34" charset="-122"/>
                <a:cs typeface="Courier New" pitchFamily="34" charset="-120"/>
              </a:rPr>
              <a:t>i=1</a:t>
            </a:r>
            <a:endParaRPr lang="en-US" sz="850" dirty="0"/>
          </a:p>
        </p:txBody>
      </p:sp>
      <p:sp>
        <p:nvSpPr>
          <p:cNvPr id="33" name="Shape 31"/>
          <p:cNvSpPr/>
          <p:nvPr/>
        </p:nvSpPr>
        <p:spPr>
          <a:xfrm>
            <a:off x="2491740" y="3451860"/>
            <a:ext cx="502920" cy="502920"/>
          </a:xfrm>
          <a:prstGeom prst="ellipse">
            <a:avLst/>
          </a:prstGeom>
          <a:solidFill>
            <a:srgbClr val="FFFFFF"/>
          </a:solidFill>
          <a:ln w="22225">
            <a:solidFill>
              <a:srgbClr val="0E7490"/>
            </a:solidFill>
            <a:prstDash val="solid"/>
          </a:ln>
        </p:spPr>
      </p:sp>
      <p:sp>
        <p:nvSpPr>
          <p:cNvPr id="34" name="Text 32"/>
          <p:cNvSpPr txBox="1"/>
          <p:nvPr/>
        </p:nvSpPr>
        <p:spPr>
          <a:xfrm>
            <a:off x="2491740" y="3451860"/>
            <a:ext cx="502920" cy="50292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14</a:t>
            </a:r>
            <a:endParaRPr lang="en-US" sz="1300" dirty="0"/>
          </a:p>
        </p:txBody>
      </p:sp>
      <p:sp>
        <p:nvSpPr>
          <p:cNvPr id="35" name="Text 33"/>
          <p:cNvSpPr txBox="1"/>
          <p:nvPr/>
        </p:nvSpPr>
        <p:spPr>
          <a:xfrm>
            <a:off x="1920240" y="3611880"/>
            <a:ext cx="530352" cy="182880"/>
          </a:xfrm>
          <a:prstGeom prst="rect">
            <a:avLst/>
          </a:prstGeom>
          <a:noFill/>
          <a:ln/>
        </p:spPr>
        <p:txBody>
          <a:bodyPr wrap="square" lIns="0" tIns="0" rIns="0" bIns="0" rtlCol="0" anchor="ctr"/>
          <a:lstStyle/>
          <a:p>
            <a:pPr marL="0" indent="0" algn="r">
              <a:buNone/>
            </a:pPr>
            <a:r>
              <a:rPr lang="en-US" sz="850" dirty="0">
                <a:solidFill>
                  <a:srgbClr val="5B6584"/>
                </a:solidFill>
                <a:latin typeface="Courier New" pitchFamily="34" charset="0"/>
                <a:ea typeface="Courier New" pitchFamily="34" charset="-122"/>
                <a:cs typeface="Courier New" pitchFamily="34" charset="-120"/>
              </a:rPr>
              <a:t>i=2</a:t>
            </a:r>
            <a:endParaRPr lang="en-US" sz="850" dirty="0"/>
          </a:p>
        </p:txBody>
      </p:sp>
      <p:sp>
        <p:nvSpPr>
          <p:cNvPr id="36" name="Shape 34"/>
          <p:cNvSpPr/>
          <p:nvPr/>
        </p:nvSpPr>
        <p:spPr>
          <a:xfrm>
            <a:off x="3131820" y="1623060"/>
            <a:ext cx="502920" cy="502920"/>
          </a:xfrm>
          <a:prstGeom prst="ellipse">
            <a:avLst/>
          </a:prstGeom>
          <a:solidFill>
            <a:srgbClr val="D97706"/>
          </a:solidFill>
          <a:ln w="22225">
            <a:solidFill>
              <a:srgbClr val="D97706"/>
            </a:solidFill>
            <a:prstDash val="solid"/>
          </a:ln>
        </p:spPr>
      </p:sp>
      <p:sp>
        <p:nvSpPr>
          <p:cNvPr id="37" name="Text 35"/>
          <p:cNvSpPr txBox="1"/>
          <p:nvPr/>
        </p:nvSpPr>
        <p:spPr>
          <a:xfrm>
            <a:off x="3131820" y="162306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19</a:t>
            </a:r>
            <a:endParaRPr lang="en-US" sz="1300" dirty="0"/>
          </a:p>
        </p:txBody>
      </p:sp>
      <p:sp>
        <p:nvSpPr>
          <p:cNvPr id="38" name="Text 36"/>
          <p:cNvSpPr txBox="1"/>
          <p:nvPr/>
        </p:nvSpPr>
        <p:spPr>
          <a:xfrm>
            <a:off x="2560320" y="1783080"/>
            <a:ext cx="530352" cy="182880"/>
          </a:xfrm>
          <a:prstGeom prst="rect">
            <a:avLst/>
          </a:prstGeom>
          <a:noFill/>
          <a:ln/>
        </p:spPr>
        <p:txBody>
          <a:bodyPr wrap="square" lIns="0" tIns="0" rIns="0" bIns="0" rtlCol="0" anchor="ctr"/>
          <a:lstStyle/>
          <a:p>
            <a:pPr marL="0" indent="0" algn="r">
              <a:buNone/>
            </a:pPr>
            <a:r>
              <a:rPr lang="en-US" sz="850" dirty="0">
                <a:solidFill>
                  <a:srgbClr val="5B6584"/>
                </a:solidFill>
                <a:latin typeface="Courier New" pitchFamily="34" charset="0"/>
                <a:ea typeface="Courier New" pitchFamily="34" charset="-122"/>
                <a:cs typeface="Courier New" pitchFamily="34" charset="-120"/>
              </a:rPr>
              <a:t>i=3</a:t>
            </a:r>
            <a:endParaRPr lang="en-US" sz="850" dirty="0"/>
          </a:p>
        </p:txBody>
      </p:sp>
      <p:sp>
        <p:nvSpPr>
          <p:cNvPr id="39" name="Shape 37"/>
          <p:cNvSpPr/>
          <p:nvPr/>
        </p:nvSpPr>
        <p:spPr>
          <a:xfrm>
            <a:off x="4137660" y="3451860"/>
            <a:ext cx="502920" cy="502920"/>
          </a:xfrm>
          <a:prstGeom prst="ellipse">
            <a:avLst/>
          </a:prstGeom>
          <a:solidFill>
            <a:srgbClr val="FFFFFF"/>
          </a:solidFill>
          <a:ln w="22225">
            <a:solidFill>
              <a:srgbClr val="0E7490"/>
            </a:solidFill>
            <a:prstDash val="solid"/>
          </a:ln>
        </p:spPr>
      </p:sp>
      <p:sp>
        <p:nvSpPr>
          <p:cNvPr id="40" name="Text 38"/>
          <p:cNvSpPr txBox="1"/>
          <p:nvPr/>
        </p:nvSpPr>
        <p:spPr>
          <a:xfrm>
            <a:off x="4137660" y="3451860"/>
            <a:ext cx="502920" cy="50292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23</a:t>
            </a:r>
            <a:endParaRPr lang="en-US" sz="1300" dirty="0"/>
          </a:p>
        </p:txBody>
      </p:sp>
      <p:sp>
        <p:nvSpPr>
          <p:cNvPr id="41" name="Text 39"/>
          <p:cNvSpPr txBox="1"/>
          <p:nvPr/>
        </p:nvSpPr>
        <p:spPr>
          <a:xfrm>
            <a:off x="3566160" y="3611880"/>
            <a:ext cx="530352" cy="182880"/>
          </a:xfrm>
          <a:prstGeom prst="rect">
            <a:avLst/>
          </a:prstGeom>
          <a:noFill/>
          <a:ln/>
        </p:spPr>
        <p:txBody>
          <a:bodyPr wrap="square" lIns="0" tIns="0" rIns="0" bIns="0" rtlCol="0" anchor="ctr"/>
          <a:lstStyle/>
          <a:p>
            <a:pPr marL="0" indent="0" algn="r">
              <a:buNone/>
            </a:pPr>
            <a:r>
              <a:rPr lang="en-US" sz="850" dirty="0">
                <a:solidFill>
                  <a:srgbClr val="5B6584"/>
                </a:solidFill>
                <a:latin typeface="Courier New" pitchFamily="34" charset="0"/>
                <a:ea typeface="Courier New" pitchFamily="34" charset="-122"/>
                <a:cs typeface="Courier New" pitchFamily="34" charset="-120"/>
              </a:rPr>
              <a:t>i=4</a:t>
            </a:r>
            <a:endParaRPr lang="en-US" sz="850" dirty="0"/>
          </a:p>
        </p:txBody>
      </p:sp>
      <p:sp>
        <p:nvSpPr>
          <p:cNvPr id="42" name="Shape 40"/>
          <p:cNvSpPr/>
          <p:nvPr/>
        </p:nvSpPr>
        <p:spPr>
          <a:xfrm>
            <a:off x="4777740" y="2537460"/>
            <a:ext cx="502920" cy="502920"/>
          </a:xfrm>
          <a:prstGeom prst="ellipse">
            <a:avLst/>
          </a:prstGeom>
          <a:solidFill>
            <a:srgbClr val="FFFFFF"/>
          </a:solidFill>
          <a:ln w="22225">
            <a:solidFill>
              <a:srgbClr val="0E7490"/>
            </a:solidFill>
            <a:prstDash val="solid"/>
          </a:ln>
        </p:spPr>
      </p:sp>
      <p:sp>
        <p:nvSpPr>
          <p:cNvPr id="43" name="Text 41"/>
          <p:cNvSpPr txBox="1"/>
          <p:nvPr/>
        </p:nvSpPr>
        <p:spPr>
          <a:xfrm>
            <a:off x="4777740" y="2537460"/>
            <a:ext cx="502920" cy="50292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32</a:t>
            </a:r>
            <a:endParaRPr lang="en-US" sz="1300" dirty="0"/>
          </a:p>
        </p:txBody>
      </p:sp>
      <p:sp>
        <p:nvSpPr>
          <p:cNvPr id="44" name="Text 42"/>
          <p:cNvSpPr txBox="1"/>
          <p:nvPr/>
        </p:nvSpPr>
        <p:spPr>
          <a:xfrm>
            <a:off x="4206240" y="2697480"/>
            <a:ext cx="530352" cy="182880"/>
          </a:xfrm>
          <a:prstGeom prst="rect">
            <a:avLst/>
          </a:prstGeom>
          <a:noFill/>
          <a:ln/>
        </p:spPr>
        <p:txBody>
          <a:bodyPr wrap="square" lIns="0" tIns="0" rIns="0" bIns="0" rtlCol="0" anchor="ctr"/>
          <a:lstStyle/>
          <a:p>
            <a:pPr marL="0" indent="0" algn="r">
              <a:buNone/>
            </a:pPr>
            <a:r>
              <a:rPr lang="en-US" sz="850" dirty="0">
                <a:solidFill>
                  <a:srgbClr val="5B6584"/>
                </a:solidFill>
                <a:latin typeface="Courier New" pitchFamily="34" charset="0"/>
                <a:ea typeface="Courier New" pitchFamily="34" charset="-122"/>
                <a:cs typeface="Courier New" pitchFamily="34" charset="-120"/>
              </a:rPr>
              <a:t>i=5</a:t>
            </a:r>
            <a:endParaRPr lang="en-US" sz="850" dirty="0"/>
          </a:p>
        </p:txBody>
      </p:sp>
      <p:sp>
        <p:nvSpPr>
          <p:cNvPr id="45" name="Shape 43"/>
          <p:cNvSpPr/>
          <p:nvPr/>
        </p:nvSpPr>
        <p:spPr>
          <a:xfrm>
            <a:off x="5417820" y="3451860"/>
            <a:ext cx="502920" cy="502920"/>
          </a:xfrm>
          <a:prstGeom prst="ellipse">
            <a:avLst/>
          </a:prstGeom>
          <a:solidFill>
            <a:srgbClr val="FFFFFF"/>
          </a:solidFill>
          <a:ln w="22225">
            <a:solidFill>
              <a:srgbClr val="0E7490"/>
            </a:solidFill>
            <a:prstDash val="solid"/>
          </a:ln>
        </p:spPr>
      </p:sp>
      <p:sp>
        <p:nvSpPr>
          <p:cNvPr id="46" name="Text 44"/>
          <p:cNvSpPr txBox="1"/>
          <p:nvPr/>
        </p:nvSpPr>
        <p:spPr>
          <a:xfrm>
            <a:off x="5417820" y="3451860"/>
            <a:ext cx="502920" cy="50292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34</a:t>
            </a:r>
            <a:endParaRPr lang="en-US" sz="1300" dirty="0"/>
          </a:p>
        </p:txBody>
      </p:sp>
      <p:sp>
        <p:nvSpPr>
          <p:cNvPr id="47" name="Text 45"/>
          <p:cNvSpPr txBox="1"/>
          <p:nvPr/>
        </p:nvSpPr>
        <p:spPr>
          <a:xfrm>
            <a:off x="4846320" y="3611880"/>
            <a:ext cx="530352" cy="182880"/>
          </a:xfrm>
          <a:prstGeom prst="rect">
            <a:avLst/>
          </a:prstGeom>
          <a:noFill/>
          <a:ln/>
        </p:spPr>
        <p:txBody>
          <a:bodyPr wrap="square" lIns="0" tIns="0" rIns="0" bIns="0" rtlCol="0" anchor="ctr"/>
          <a:lstStyle/>
          <a:p>
            <a:pPr marL="0" indent="0" algn="r">
              <a:buNone/>
            </a:pPr>
            <a:r>
              <a:rPr lang="en-US" sz="850" dirty="0">
                <a:solidFill>
                  <a:srgbClr val="5B6584"/>
                </a:solidFill>
                <a:latin typeface="Courier New" pitchFamily="34" charset="0"/>
                <a:ea typeface="Courier New" pitchFamily="34" charset="-122"/>
                <a:cs typeface="Courier New" pitchFamily="34" charset="-120"/>
              </a:rPr>
              <a:t>i=6</a:t>
            </a:r>
            <a:endParaRPr lang="en-US" sz="850" dirty="0"/>
          </a:p>
        </p:txBody>
      </p:sp>
      <p:sp>
        <p:nvSpPr>
          <p:cNvPr id="48" name="Shape 46"/>
          <p:cNvSpPr/>
          <p:nvPr/>
        </p:nvSpPr>
        <p:spPr>
          <a:xfrm>
            <a:off x="6103620" y="4366260"/>
            <a:ext cx="502920" cy="502920"/>
          </a:xfrm>
          <a:prstGeom prst="ellipse">
            <a:avLst/>
          </a:prstGeom>
          <a:solidFill>
            <a:srgbClr val="FFFFFF"/>
          </a:solidFill>
          <a:ln w="22225">
            <a:solidFill>
              <a:srgbClr val="0E7490"/>
            </a:solidFill>
            <a:prstDash val="solid"/>
          </a:ln>
        </p:spPr>
      </p:sp>
      <p:sp>
        <p:nvSpPr>
          <p:cNvPr id="49" name="Text 47"/>
          <p:cNvSpPr txBox="1"/>
          <p:nvPr/>
        </p:nvSpPr>
        <p:spPr>
          <a:xfrm>
            <a:off x="6103620" y="4366260"/>
            <a:ext cx="502920" cy="50292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62</a:t>
            </a:r>
            <a:endParaRPr lang="en-US" sz="1300" dirty="0"/>
          </a:p>
        </p:txBody>
      </p:sp>
      <p:sp>
        <p:nvSpPr>
          <p:cNvPr id="50" name="Text 48"/>
          <p:cNvSpPr txBox="1"/>
          <p:nvPr/>
        </p:nvSpPr>
        <p:spPr>
          <a:xfrm>
            <a:off x="5532120" y="4526280"/>
            <a:ext cx="530352" cy="182880"/>
          </a:xfrm>
          <a:prstGeom prst="rect">
            <a:avLst/>
          </a:prstGeom>
          <a:noFill/>
          <a:ln/>
        </p:spPr>
        <p:txBody>
          <a:bodyPr wrap="square" lIns="0" tIns="0" rIns="0" bIns="0" rtlCol="0" anchor="ctr"/>
          <a:lstStyle/>
          <a:p>
            <a:pPr marL="0" indent="0" algn="r">
              <a:buNone/>
            </a:pPr>
            <a:r>
              <a:rPr lang="en-US" sz="850" dirty="0">
                <a:solidFill>
                  <a:srgbClr val="5B6584"/>
                </a:solidFill>
                <a:latin typeface="Courier New" pitchFamily="34" charset="0"/>
                <a:ea typeface="Courier New" pitchFamily="34" charset="-122"/>
                <a:cs typeface="Courier New" pitchFamily="34" charset="-120"/>
              </a:rPr>
              <a:t>i=7</a:t>
            </a:r>
            <a:endParaRPr lang="en-US" sz="850" dirty="0"/>
          </a:p>
        </p:txBody>
      </p:sp>
      <p:sp>
        <p:nvSpPr>
          <p:cNvPr id="51" name="Text 49"/>
          <p:cNvSpPr txBox="1"/>
          <p:nvPr/>
        </p:nvSpPr>
        <p:spPr>
          <a:xfrm>
            <a:off x="6903720" y="1737360"/>
            <a:ext cx="868680" cy="274320"/>
          </a:xfrm>
          <a:prstGeom prst="rect">
            <a:avLst/>
          </a:prstGeom>
          <a:noFill/>
          <a:ln/>
        </p:spPr>
        <p:txBody>
          <a:bodyPr wrap="square" lIns="0" tIns="0" rIns="0" bIns="0" rtlCol="0" anchor="ctr"/>
          <a:lstStyle/>
          <a:p>
            <a:pPr marL="0" indent="0">
              <a:buNone/>
            </a:pPr>
            <a:r>
              <a:rPr lang="en-US" sz="1050" i="1" dirty="0">
                <a:solidFill>
                  <a:srgbClr val="0E7490"/>
                </a:solidFill>
                <a:latin typeface="Calibri" pitchFamily="34" charset="0"/>
                <a:ea typeface="Calibri" pitchFamily="34" charset="-122"/>
                <a:cs typeface="Calibri" pitchFamily="34" charset="-120"/>
              </a:rPr>
              <a:t>probe 1</a:t>
            </a:r>
            <a:endParaRPr lang="en-US" sz="1050" dirty="0"/>
          </a:p>
        </p:txBody>
      </p:sp>
      <p:sp>
        <p:nvSpPr>
          <p:cNvPr id="52" name="Text 50"/>
          <p:cNvSpPr txBox="1"/>
          <p:nvPr/>
        </p:nvSpPr>
        <p:spPr>
          <a:xfrm>
            <a:off x="6903720" y="2651760"/>
            <a:ext cx="868680" cy="274320"/>
          </a:xfrm>
          <a:prstGeom prst="rect">
            <a:avLst/>
          </a:prstGeom>
          <a:noFill/>
          <a:ln/>
        </p:spPr>
        <p:txBody>
          <a:bodyPr wrap="square" lIns="0" tIns="0" rIns="0" bIns="0" rtlCol="0" anchor="ctr"/>
          <a:lstStyle/>
          <a:p>
            <a:pPr marL="0" indent="0">
              <a:buNone/>
            </a:pPr>
            <a:r>
              <a:rPr lang="en-US" sz="1050" i="1" dirty="0">
                <a:solidFill>
                  <a:srgbClr val="0E7490"/>
                </a:solidFill>
                <a:latin typeface="Calibri" pitchFamily="34" charset="0"/>
                <a:ea typeface="Calibri" pitchFamily="34" charset="-122"/>
                <a:cs typeface="Calibri" pitchFamily="34" charset="-120"/>
              </a:rPr>
              <a:t>probe 2</a:t>
            </a:r>
            <a:endParaRPr lang="en-US" sz="1050" dirty="0"/>
          </a:p>
        </p:txBody>
      </p:sp>
      <p:sp>
        <p:nvSpPr>
          <p:cNvPr id="53" name="Text 51"/>
          <p:cNvSpPr txBox="1"/>
          <p:nvPr/>
        </p:nvSpPr>
        <p:spPr>
          <a:xfrm>
            <a:off x="6903720" y="3566160"/>
            <a:ext cx="868680" cy="274320"/>
          </a:xfrm>
          <a:prstGeom prst="rect">
            <a:avLst/>
          </a:prstGeom>
          <a:noFill/>
          <a:ln/>
        </p:spPr>
        <p:txBody>
          <a:bodyPr wrap="square" lIns="0" tIns="0" rIns="0" bIns="0" rtlCol="0" anchor="ctr"/>
          <a:lstStyle/>
          <a:p>
            <a:pPr marL="0" indent="0">
              <a:buNone/>
            </a:pPr>
            <a:r>
              <a:rPr lang="en-US" sz="1050" i="1" dirty="0">
                <a:solidFill>
                  <a:srgbClr val="0E7490"/>
                </a:solidFill>
                <a:latin typeface="Calibri" pitchFamily="34" charset="0"/>
                <a:ea typeface="Calibri" pitchFamily="34" charset="-122"/>
                <a:cs typeface="Calibri" pitchFamily="34" charset="-120"/>
              </a:rPr>
              <a:t>probe 3</a:t>
            </a:r>
            <a:endParaRPr lang="en-US" sz="1050" dirty="0"/>
          </a:p>
        </p:txBody>
      </p:sp>
      <p:sp>
        <p:nvSpPr>
          <p:cNvPr id="54" name="Text 52"/>
          <p:cNvSpPr txBox="1"/>
          <p:nvPr/>
        </p:nvSpPr>
        <p:spPr>
          <a:xfrm>
            <a:off x="6903720" y="4480560"/>
            <a:ext cx="868680" cy="274320"/>
          </a:xfrm>
          <a:prstGeom prst="rect">
            <a:avLst/>
          </a:prstGeom>
          <a:noFill/>
          <a:ln/>
        </p:spPr>
        <p:txBody>
          <a:bodyPr wrap="square" lIns="0" tIns="0" rIns="0" bIns="0" rtlCol="0" anchor="ctr"/>
          <a:lstStyle/>
          <a:p>
            <a:pPr marL="0" indent="0">
              <a:buNone/>
            </a:pPr>
            <a:r>
              <a:rPr lang="en-US" sz="1050" i="1" dirty="0">
                <a:solidFill>
                  <a:srgbClr val="0E7490"/>
                </a:solidFill>
                <a:latin typeface="Calibri" pitchFamily="34" charset="0"/>
                <a:ea typeface="Calibri" pitchFamily="34" charset="-122"/>
                <a:cs typeface="Calibri" pitchFamily="34" charset="-120"/>
              </a:rPr>
              <a:t>probe 4</a:t>
            </a:r>
            <a:endParaRPr lang="en-US" sz="1050" dirty="0"/>
          </a:p>
        </p:txBody>
      </p:sp>
      <p:sp>
        <p:nvSpPr>
          <p:cNvPr id="55" name="Text 53"/>
          <p:cNvSpPr txBox="1"/>
          <p:nvPr/>
        </p:nvSpPr>
        <p:spPr>
          <a:xfrm>
            <a:off x="548640" y="5257800"/>
            <a:ext cx="7040880" cy="502920"/>
          </a:xfrm>
          <a:prstGeom prst="rect">
            <a:avLst/>
          </a:prstGeom>
          <a:noFill/>
          <a:ln/>
        </p:spPr>
        <p:txBody>
          <a:bodyPr wrap="square" lIns="0" tIns="0" rIns="0" bIns="0" rtlCol="0" anchor="ctr"/>
          <a:lstStyle/>
          <a:p>
            <a:pPr marL="0" indent="0">
              <a:lnSpc>
                <a:spcPct val="120000"/>
              </a:lnSpc>
              <a:buNone/>
            </a:pPr>
            <a:r>
              <a:rPr lang="en-US" sz="1050" i="1" dirty="0">
                <a:solidFill>
                  <a:srgbClr val="5B6584"/>
                </a:solidFill>
                <a:latin typeface="Calibri" pitchFamily="34" charset="0"/>
                <a:ea typeface="Calibri" pitchFamily="34" charset="-122"/>
                <a:cs typeface="Calibri" pitchFamily="34" charset="-120"/>
              </a:rPr>
              <a:t>Each node is a probe; going left or right = the key is smaller or larger. Level d holds 2^(d−1) keys, so depth ≤ ⌊log₂ n⌋ + 1.</a:t>
            </a:r>
            <a:endParaRPr lang="en-US" sz="1050" dirty="0"/>
          </a:p>
        </p:txBody>
      </p:sp>
      <p:sp>
        <p:nvSpPr>
          <p:cNvPr id="56" name="Shape 54"/>
          <p:cNvSpPr/>
          <p:nvPr/>
        </p:nvSpPr>
        <p:spPr>
          <a:xfrm>
            <a:off x="7863840" y="1463040"/>
            <a:ext cx="3749040" cy="365760"/>
          </a:xfrm>
          <a:prstGeom prst="roundRect">
            <a:avLst>
              <a:gd name="adj" fmla="val 25000"/>
            </a:avLst>
          </a:prstGeom>
          <a:solidFill>
            <a:srgbClr val="0E7490"/>
          </a:solidFill>
          <a:ln w="12700">
            <a:solidFill>
              <a:srgbClr val="0E7490"/>
            </a:solidFill>
            <a:prstDash val="solid"/>
          </a:ln>
        </p:spPr>
      </p:sp>
      <p:sp>
        <p:nvSpPr>
          <p:cNvPr id="57" name="Text 55"/>
          <p:cNvSpPr txBox="1"/>
          <p:nvPr/>
        </p:nvSpPr>
        <p:spPr>
          <a:xfrm>
            <a:off x="7863840" y="1463040"/>
            <a:ext cx="1188720" cy="36576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Key</a:t>
            </a:r>
            <a:endParaRPr lang="en-US" sz="1150" dirty="0"/>
          </a:p>
        </p:txBody>
      </p:sp>
      <p:sp>
        <p:nvSpPr>
          <p:cNvPr id="58" name="Text 56"/>
          <p:cNvSpPr txBox="1"/>
          <p:nvPr/>
        </p:nvSpPr>
        <p:spPr>
          <a:xfrm>
            <a:off x="9052560" y="1463040"/>
            <a:ext cx="1188720" cy="36576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Index</a:t>
            </a:r>
            <a:endParaRPr lang="en-US" sz="1150" dirty="0"/>
          </a:p>
        </p:txBody>
      </p:sp>
      <p:sp>
        <p:nvSpPr>
          <p:cNvPr id="59" name="Text 57"/>
          <p:cNvSpPr txBox="1"/>
          <p:nvPr/>
        </p:nvSpPr>
        <p:spPr>
          <a:xfrm>
            <a:off x="10241280" y="1463040"/>
            <a:ext cx="1371600" cy="36576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Probes</a:t>
            </a:r>
            <a:endParaRPr lang="en-US" sz="1150" dirty="0"/>
          </a:p>
        </p:txBody>
      </p:sp>
      <p:sp>
        <p:nvSpPr>
          <p:cNvPr id="60" name="Shape 58"/>
          <p:cNvSpPr/>
          <p:nvPr/>
        </p:nvSpPr>
        <p:spPr>
          <a:xfrm>
            <a:off x="7863840" y="1828800"/>
            <a:ext cx="3749040" cy="365760"/>
          </a:xfrm>
          <a:prstGeom prst="roundRect">
            <a:avLst>
              <a:gd name="adj" fmla="val 25000"/>
            </a:avLst>
          </a:prstGeom>
          <a:solidFill>
            <a:srgbClr val="E6F5F9"/>
          </a:solidFill>
          <a:ln w="12700">
            <a:solidFill>
              <a:srgbClr val="B8E0EA"/>
            </a:solidFill>
            <a:prstDash val="solid"/>
          </a:ln>
        </p:spPr>
      </p:sp>
      <p:sp>
        <p:nvSpPr>
          <p:cNvPr id="61" name="Text 59"/>
          <p:cNvSpPr txBox="1"/>
          <p:nvPr/>
        </p:nvSpPr>
        <p:spPr>
          <a:xfrm>
            <a:off x="7863840" y="1828800"/>
            <a:ext cx="1188720" cy="365760"/>
          </a:xfrm>
          <a:prstGeom prst="rect">
            <a:avLst/>
          </a:prstGeom>
          <a:noFill/>
          <a:ln/>
        </p:spPr>
        <p:txBody>
          <a:bodyPr wrap="square" lIns="0" tIns="0" rIns="0" bIns="0" rtlCol="0" anchor="ctr"/>
          <a:lstStyle/>
          <a:p>
            <a:pPr marL="0" indent="0" algn="ctr">
              <a:buNone/>
            </a:pPr>
            <a:r>
              <a:rPr lang="en-US" sz="1150" b="1" dirty="0">
                <a:solidFill>
                  <a:srgbClr val="1B2233"/>
                </a:solidFill>
                <a:latin typeface="Courier New" pitchFamily="34" charset="0"/>
                <a:ea typeface="Courier New" pitchFamily="34" charset="-122"/>
                <a:cs typeface="Courier New" pitchFamily="34" charset="-120"/>
              </a:rPr>
              <a:t>5</a:t>
            </a:r>
            <a:endParaRPr lang="en-US" sz="1150" dirty="0"/>
          </a:p>
        </p:txBody>
      </p:sp>
      <p:sp>
        <p:nvSpPr>
          <p:cNvPr id="62" name="Text 60"/>
          <p:cNvSpPr txBox="1"/>
          <p:nvPr/>
        </p:nvSpPr>
        <p:spPr>
          <a:xfrm>
            <a:off x="9052560" y="1828800"/>
            <a:ext cx="1188720" cy="365760"/>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0</a:t>
            </a:r>
            <a:endParaRPr lang="en-US" sz="1150" dirty="0"/>
          </a:p>
        </p:txBody>
      </p:sp>
      <p:sp>
        <p:nvSpPr>
          <p:cNvPr id="63" name="Text 61"/>
          <p:cNvSpPr txBox="1"/>
          <p:nvPr/>
        </p:nvSpPr>
        <p:spPr>
          <a:xfrm>
            <a:off x="10241280" y="1828800"/>
            <a:ext cx="1371600" cy="365760"/>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3</a:t>
            </a:r>
            <a:endParaRPr lang="en-US" sz="1150" dirty="0"/>
          </a:p>
        </p:txBody>
      </p:sp>
      <p:sp>
        <p:nvSpPr>
          <p:cNvPr id="64" name="Shape 62"/>
          <p:cNvSpPr/>
          <p:nvPr/>
        </p:nvSpPr>
        <p:spPr>
          <a:xfrm>
            <a:off x="7863840" y="2194560"/>
            <a:ext cx="3749040" cy="365760"/>
          </a:xfrm>
          <a:prstGeom prst="roundRect">
            <a:avLst>
              <a:gd name="adj" fmla="val 25000"/>
            </a:avLst>
          </a:prstGeom>
          <a:solidFill>
            <a:srgbClr val="FFFFFF"/>
          </a:solidFill>
          <a:ln w="12700">
            <a:solidFill>
              <a:srgbClr val="B8E0EA"/>
            </a:solidFill>
            <a:prstDash val="solid"/>
          </a:ln>
        </p:spPr>
      </p:sp>
      <p:sp>
        <p:nvSpPr>
          <p:cNvPr id="65" name="Text 63"/>
          <p:cNvSpPr txBox="1"/>
          <p:nvPr/>
        </p:nvSpPr>
        <p:spPr>
          <a:xfrm>
            <a:off x="7863840" y="2194560"/>
            <a:ext cx="1188720" cy="365760"/>
          </a:xfrm>
          <a:prstGeom prst="rect">
            <a:avLst/>
          </a:prstGeom>
          <a:noFill/>
          <a:ln/>
        </p:spPr>
        <p:txBody>
          <a:bodyPr wrap="square" lIns="0" tIns="0" rIns="0" bIns="0" rtlCol="0" anchor="ctr"/>
          <a:lstStyle/>
          <a:p>
            <a:pPr marL="0" indent="0" algn="ctr">
              <a:buNone/>
            </a:pPr>
            <a:r>
              <a:rPr lang="en-US" sz="1150" b="1" dirty="0">
                <a:solidFill>
                  <a:srgbClr val="1B2233"/>
                </a:solidFill>
                <a:latin typeface="Courier New" pitchFamily="34" charset="0"/>
                <a:ea typeface="Courier New" pitchFamily="34" charset="-122"/>
                <a:cs typeface="Courier New" pitchFamily="34" charset="-120"/>
              </a:rPr>
              <a:t>7</a:t>
            </a:r>
            <a:endParaRPr lang="en-US" sz="1150" dirty="0"/>
          </a:p>
        </p:txBody>
      </p:sp>
      <p:sp>
        <p:nvSpPr>
          <p:cNvPr id="66" name="Text 64"/>
          <p:cNvSpPr txBox="1"/>
          <p:nvPr/>
        </p:nvSpPr>
        <p:spPr>
          <a:xfrm>
            <a:off x="9052560" y="2194560"/>
            <a:ext cx="1188720" cy="365760"/>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1</a:t>
            </a:r>
            <a:endParaRPr lang="en-US" sz="1150" dirty="0"/>
          </a:p>
        </p:txBody>
      </p:sp>
      <p:sp>
        <p:nvSpPr>
          <p:cNvPr id="67" name="Text 65"/>
          <p:cNvSpPr txBox="1"/>
          <p:nvPr/>
        </p:nvSpPr>
        <p:spPr>
          <a:xfrm>
            <a:off x="10241280" y="2194560"/>
            <a:ext cx="1371600" cy="365760"/>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2</a:t>
            </a:r>
            <a:endParaRPr lang="en-US" sz="1150" dirty="0"/>
          </a:p>
        </p:txBody>
      </p:sp>
      <p:sp>
        <p:nvSpPr>
          <p:cNvPr id="68" name="Shape 66"/>
          <p:cNvSpPr/>
          <p:nvPr/>
        </p:nvSpPr>
        <p:spPr>
          <a:xfrm>
            <a:off x="7863840" y="2560320"/>
            <a:ext cx="3749040" cy="365760"/>
          </a:xfrm>
          <a:prstGeom prst="roundRect">
            <a:avLst>
              <a:gd name="adj" fmla="val 25000"/>
            </a:avLst>
          </a:prstGeom>
          <a:solidFill>
            <a:srgbClr val="E6F5F9"/>
          </a:solidFill>
          <a:ln w="12700">
            <a:solidFill>
              <a:srgbClr val="B8E0EA"/>
            </a:solidFill>
            <a:prstDash val="solid"/>
          </a:ln>
        </p:spPr>
      </p:sp>
      <p:sp>
        <p:nvSpPr>
          <p:cNvPr id="69" name="Text 67"/>
          <p:cNvSpPr txBox="1"/>
          <p:nvPr/>
        </p:nvSpPr>
        <p:spPr>
          <a:xfrm>
            <a:off x="7863840" y="2560320"/>
            <a:ext cx="1188720" cy="365760"/>
          </a:xfrm>
          <a:prstGeom prst="rect">
            <a:avLst/>
          </a:prstGeom>
          <a:noFill/>
          <a:ln/>
        </p:spPr>
        <p:txBody>
          <a:bodyPr wrap="square" lIns="0" tIns="0" rIns="0" bIns="0" rtlCol="0" anchor="ctr"/>
          <a:lstStyle/>
          <a:p>
            <a:pPr marL="0" indent="0" algn="ctr">
              <a:buNone/>
            </a:pPr>
            <a:r>
              <a:rPr lang="en-US" sz="1150" b="1" dirty="0">
                <a:solidFill>
                  <a:srgbClr val="1B2233"/>
                </a:solidFill>
                <a:latin typeface="Courier New" pitchFamily="34" charset="0"/>
                <a:ea typeface="Courier New" pitchFamily="34" charset="-122"/>
                <a:cs typeface="Courier New" pitchFamily="34" charset="-120"/>
              </a:rPr>
              <a:t>14</a:t>
            </a:r>
            <a:endParaRPr lang="en-US" sz="1150" dirty="0"/>
          </a:p>
        </p:txBody>
      </p:sp>
      <p:sp>
        <p:nvSpPr>
          <p:cNvPr id="70" name="Text 68"/>
          <p:cNvSpPr txBox="1"/>
          <p:nvPr/>
        </p:nvSpPr>
        <p:spPr>
          <a:xfrm>
            <a:off x="9052560" y="2560320"/>
            <a:ext cx="1188720" cy="365760"/>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2</a:t>
            </a:r>
            <a:endParaRPr lang="en-US" sz="1150" dirty="0"/>
          </a:p>
        </p:txBody>
      </p:sp>
      <p:sp>
        <p:nvSpPr>
          <p:cNvPr id="71" name="Text 69"/>
          <p:cNvSpPr txBox="1"/>
          <p:nvPr/>
        </p:nvSpPr>
        <p:spPr>
          <a:xfrm>
            <a:off x="10241280" y="2560320"/>
            <a:ext cx="1371600" cy="365760"/>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3</a:t>
            </a:r>
            <a:endParaRPr lang="en-US" sz="1150" dirty="0"/>
          </a:p>
        </p:txBody>
      </p:sp>
      <p:sp>
        <p:nvSpPr>
          <p:cNvPr id="72" name="Shape 70"/>
          <p:cNvSpPr/>
          <p:nvPr/>
        </p:nvSpPr>
        <p:spPr>
          <a:xfrm>
            <a:off x="7863840" y="2926080"/>
            <a:ext cx="3749040" cy="365760"/>
          </a:xfrm>
          <a:prstGeom prst="roundRect">
            <a:avLst>
              <a:gd name="adj" fmla="val 25000"/>
            </a:avLst>
          </a:prstGeom>
          <a:solidFill>
            <a:srgbClr val="FFFFFF"/>
          </a:solidFill>
          <a:ln w="12700">
            <a:solidFill>
              <a:srgbClr val="B8E0EA"/>
            </a:solidFill>
            <a:prstDash val="solid"/>
          </a:ln>
        </p:spPr>
      </p:sp>
      <p:sp>
        <p:nvSpPr>
          <p:cNvPr id="73" name="Text 71"/>
          <p:cNvSpPr txBox="1"/>
          <p:nvPr/>
        </p:nvSpPr>
        <p:spPr>
          <a:xfrm>
            <a:off x="7863840" y="2926080"/>
            <a:ext cx="1188720" cy="365760"/>
          </a:xfrm>
          <a:prstGeom prst="rect">
            <a:avLst/>
          </a:prstGeom>
          <a:noFill/>
          <a:ln/>
        </p:spPr>
        <p:txBody>
          <a:bodyPr wrap="square" lIns="0" tIns="0" rIns="0" bIns="0" rtlCol="0" anchor="ctr"/>
          <a:lstStyle/>
          <a:p>
            <a:pPr marL="0" indent="0" algn="ctr">
              <a:buNone/>
            </a:pPr>
            <a:r>
              <a:rPr lang="en-US" sz="1150" b="1" dirty="0">
                <a:solidFill>
                  <a:srgbClr val="1B2233"/>
                </a:solidFill>
                <a:latin typeface="Courier New" pitchFamily="34" charset="0"/>
                <a:ea typeface="Courier New" pitchFamily="34" charset="-122"/>
                <a:cs typeface="Courier New" pitchFamily="34" charset="-120"/>
              </a:rPr>
              <a:t>19</a:t>
            </a:r>
            <a:endParaRPr lang="en-US" sz="1150" dirty="0"/>
          </a:p>
        </p:txBody>
      </p:sp>
      <p:sp>
        <p:nvSpPr>
          <p:cNvPr id="74" name="Text 72"/>
          <p:cNvSpPr txBox="1"/>
          <p:nvPr/>
        </p:nvSpPr>
        <p:spPr>
          <a:xfrm>
            <a:off x="9052560" y="2926080"/>
            <a:ext cx="1188720" cy="365760"/>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3</a:t>
            </a:r>
            <a:endParaRPr lang="en-US" sz="1150" dirty="0"/>
          </a:p>
        </p:txBody>
      </p:sp>
      <p:sp>
        <p:nvSpPr>
          <p:cNvPr id="75" name="Text 73"/>
          <p:cNvSpPr txBox="1"/>
          <p:nvPr/>
        </p:nvSpPr>
        <p:spPr>
          <a:xfrm>
            <a:off x="10241280" y="2926080"/>
            <a:ext cx="1371600" cy="365760"/>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1</a:t>
            </a:r>
            <a:endParaRPr lang="en-US" sz="1150" dirty="0"/>
          </a:p>
        </p:txBody>
      </p:sp>
      <p:sp>
        <p:nvSpPr>
          <p:cNvPr id="76" name="Shape 74"/>
          <p:cNvSpPr/>
          <p:nvPr/>
        </p:nvSpPr>
        <p:spPr>
          <a:xfrm>
            <a:off x="7863840" y="3291840"/>
            <a:ext cx="3749040" cy="365760"/>
          </a:xfrm>
          <a:prstGeom prst="roundRect">
            <a:avLst>
              <a:gd name="adj" fmla="val 25000"/>
            </a:avLst>
          </a:prstGeom>
          <a:solidFill>
            <a:srgbClr val="E6F5F9"/>
          </a:solidFill>
          <a:ln w="12700">
            <a:solidFill>
              <a:srgbClr val="B8E0EA"/>
            </a:solidFill>
            <a:prstDash val="solid"/>
          </a:ln>
        </p:spPr>
      </p:sp>
      <p:sp>
        <p:nvSpPr>
          <p:cNvPr id="77" name="Text 75"/>
          <p:cNvSpPr txBox="1"/>
          <p:nvPr/>
        </p:nvSpPr>
        <p:spPr>
          <a:xfrm>
            <a:off x="7863840" y="3291840"/>
            <a:ext cx="1188720" cy="365760"/>
          </a:xfrm>
          <a:prstGeom prst="rect">
            <a:avLst/>
          </a:prstGeom>
          <a:noFill/>
          <a:ln/>
        </p:spPr>
        <p:txBody>
          <a:bodyPr wrap="square" lIns="0" tIns="0" rIns="0" bIns="0" rtlCol="0" anchor="ctr"/>
          <a:lstStyle/>
          <a:p>
            <a:pPr marL="0" indent="0" algn="ctr">
              <a:buNone/>
            </a:pPr>
            <a:r>
              <a:rPr lang="en-US" sz="1150" b="1" dirty="0">
                <a:solidFill>
                  <a:srgbClr val="1B2233"/>
                </a:solidFill>
                <a:latin typeface="Courier New" pitchFamily="34" charset="0"/>
                <a:ea typeface="Courier New" pitchFamily="34" charset="-122"/>
                <a:cs typeface="Courier New" pitchFamily="34" charset="-120"/>
              </a:rPr>
              <a:t>23</a:t>
            </a:r>
            <a:endParaRPr lang="en-US" sz="1150" dirty="0"/>
          </a:p>
        </p:txBody>
      </p:sp>
      <p:sp>
        <p:nvSpPr>
          <p:cNvPr id="78" name="Text 76"/>
          <p:cNvSpPr txBox="1"/>
          <p:nvPr/>
        </p:nvSpPr>
        <p:spPr>
          <a:xfrm>
            <a:off x="9052560" y="3291840"/>
            <a:ext cx="1188720" cy="365760"/>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4</a:t>
            </a:r>
            <a:endParaRPr lang="en-US" sz="1150" dirty="0"/>
          </a:p>
        </p:txBody>
      </p:sp>
      <p:sp>
        <p:nvSpPr>
          <p:cNvPr id="79" name="Text 77"/>
          <p:cNvSpPr txBox="1"/>
          <p:nvPr/>
        </p:nvSpPr>
        <p:spPr>
          <a:xfrm>
            <a:off x="10241280" y="3291840"/>
            <a:ext cx="1371600" cy="365760"/>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3</a:t>
            </a:r>
            <a:endParaRPr lang="en-US" sz="1150" dirty="0"/>
          </a:p>
        </p:txBody>
      </p:sp>
      <p:sp>
        <p:nvSpPr>
          <p:cNvPr id="80" name="Shape 78"/>
          <p:cNvSpPr/>
          <p:nvPr/>
        </p:nvSpPr>
        <p:spPr>
          <a:xfrm>
            <a:off x="7863840" y="3657600"/>
            <a:ext cx="3749040" cy="365760"/>
          </a:xfrm>
          <a:prstGeom prst="roundRect">
            <a:avLst>
              <a:gd name="adj" fmla="val 25000"/>
            </a:avLst>
          </a:prstGeom>
          <a:solidFill>
            <a:srgbClr val="FFFFFF"/>
          </a:solidFill>
          <a:ln w="12700">
            <a:solidFill>
              <a:srgbClr val="B8E0EA"/>
            </a:solidFill>
            <a:prstDash val="solid"/>
          </a:ln>
        </p:spPr>
      </p:sp>
      <p:sp>
        <p:nvSpPr>
          <p:cNvPr id="81" name="Text 79"/>
          <p:cNvSpPr txBox="1"/>
          <p:nvPr/>
        </p:nvSpPr>
        <p:spPr>
          <a:xfrm>
            <a:off x="7863840" y="3657600"/>
            <a:ext cx="1188720" cy="365760"/>
          </a:xfrm>
          <a:prstGeom prst="rect">
            <a:avLst/>
          </a:prstGeom>
          <a:noFill/>
          <a:ln/>
        </p:spPr>
        <p:txBody>
          <a:bodyPr wrap="square" lIns="0" tIns="0" rIns="0" bIns="0" rtlCol="0" anchor="ctr"/>
          <a:lstStyle/>
          <a:p>
            <a:pPr marL="0" indent="0" algn="ctr">
              <a:buNone/>
            </a:pPr>
            <a:r>
              <a:rPr lang="en-US" sz="1150" b="1" dirty="0">
                <a:solidFill>
                  <a:srgbClr val="1B2233"/>
                </a:solidFill>
                <a:latin typeface="Courier New" pitchFamily="34" charset="0"/>
                <a:ea typeface="Courier New" pitchFamily="34" charset="-122"/>
                <a:cs typeface="Courier New" pitchFamily="34" charset="-120"/>
              </a:rPr>
              <a:t>32</a:t>
            </a:r>
            <a:endParaRPr lang="en-US" sz="1150" dirty="0"/>
          </a:p>
        </p:txBody>
      </p:sp>
      <p:sp>
        <p:nvSpPr>
          <p:cNvPr id="82" name="Text 80"/>
          <p:cNvSpPr txBox="1"/>
          <p:nvPr/>
        </p:nvSpPr>
        <p:spPr>
          <a:xfrm>
            <a:off x="9052560" y="3657600"/>
            <a:ext cx="1188720" cy="365760"/>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5</a:t>
            </a:r>
            <a:endParaRPr lang="en-US" sz="1150" dirty="0"/>
          </a:p>
        </p:txBody>
      </p:sp>
      <p:sp>
        <p:nvSpPr>
          <p:cNvPr id="83" name="Text 81"/>
          <p:cNvSpPr txBox="1"/>
          <p:nvPr/>
        </p:nvSpPr>
        <p:spPr>
          <a:xfrm>
            <a:off x="10241280" y="3657600"/>
            <a:ext cx="1371600" cy="365760"/>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2</a:t>
            </a:r>
            <a:endParaRPr lang="en-US" sz="1150" dirty="0"/>
          </a:p>
        </p:txBody>
      </p:sp>
      <p:sp>
        <p:nvSpPr>
          <p:cNvPr id="84" name="Shape 82"/>
          <p:cNvSpPr/>
          <p:nvPr/>
        </p:nvSpPr>
        <p:spPr>
          <a:xfrm>
            <a:off x="7863840" y="4023360"/>
            <a:ext cx="3749040" cy="365760"/>
          </a:xfrm>
          <a:prstGeom prst="roundRect">
            <a:avLst>
              <a:gd name="adj" fmla="val 25000"/>
            </a:avLst>
          </a:prstGeom>
          <a:solidFill>
            <a:srgbClr val="E6F5F9"/>
          </a:solidFill>
          <a:ln w="12700">
            <a:solidFill>
              <a:srgbClr val="B8E0EA"/>
            </a:solidFill>
            <a:prstDash val="solid"/>
          </a:ln>
        </p:spPr>
      </p:sp>
      <p:sp>
        <p:nvSpPr>
          <p:cNvPr id="85" name="Text 83"/>
          <p:cNvSpPr txBox="1"/>
          <p:nvPr/>
        </p:nvSpPr>
        <p:spPr>
          <a:xfrm>
            <a:off x="7863840" y="4023360"/>
            <a:ext cx="1188720" cy="365760"/>
          </a:xfrm>
          <a:prstGeom prst="rect">
            <a:avLst/>
          </a:prstGeom>
          <a:noFill/>
          <a:ln/>
        </p:spPr>
        <p:txBody>
          <a:bodyPr wrap="square" lIns="0" tIns="0" rIns="0" bIns="0" rtlCol="0" anchor="ctr"/>
          <a:lstStyle/>
          <a:p>
            <a:pPr marL="0" indent="0" algn="ctr">
              <a:buNone/>
            </a:pPr>
            <a:r>
              <a:rPr lang="en-US" sz="1150" b="1" dirty="0">
                <a:solidFill>
                  <a:srgbClr val="1B2233"/>
                </a:solidFill>
                <a:latin typeface="Courier New" pitchFamily="34" charset="0"/>
                <a:ea typeface="Courier New" pitchFamily="34" charset="-122"/>
                <a:cs typeface="Courier New" pitchFamily="34" charset="-120"/>
              </a:rPr>
              <a:t>34</a:t>
            </a:r>
            <a:endParaRPr lang="en-US" sz="1150" dirty="0"/>
          </a:p>
        </p:txBody>
      </p:sp>
      <p:sp>
        <p:nvSpPr>
          <p:cNvPr id="86" name="Text 84"/>
          <p:cNvSpPr txBox="1"/>
          <p:nvPr/>
        </p:nvSpPr>
        <p:spPr>
          <a:xfrm>
            <a:off x="9052560" y="4023360"/>
            <a:ext cx="1188720" cy="365760"/>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6</a:t>
            </a:r>
            <a:endParaRPr lang="en-US" sz="1150" dirty="0"/>
          </a:p>
        </p:txBody>
      </p:sp>
      <p:sp>
        <p:nvSpPr>
          <p:cNvPr id="87" name="Text 85"/>
          <p:cNvSpPr txBox="1"/>
          <p:nvPr/>
        </p:nvSpPr>
        <p:spPr>
          <a:xfrm>
            <a:off x="10241280" y="4023360"/>
            <a:ext cx="1371600" cy="365760"/>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3</a:t>
            </a:r>
            <a:endParaRPr lang="en-US" sz="1150" dirty="0"/>
          </a:p>
        </p:txBody>
      </p:sp>
      <p:sp>
        <p:nvSpPr>
          <p:cNvPr id="88" name="Shape 86"/>
          <p:cNvSpPr/>
          <p:nvPr/>
        </p:nvSpPr>
        <p:spPr>
          <a:xfrm>
            <a:off x="7863840" y="4389120"/>
            <a:ext cx="3749040" cy="365760"/>
          </a:xfrm>
          <a:prstGeom prst="roundRect">
            <a:avLst>
              <a:gd name="adj" fmla="val 25000"/>
            </a:avLst>
          </a:prstGeom>
          <a:solidFill>
            <a:srgbClr val="FFFFFF"/>
          </a:solidFill>
          <a:ln w="12700">
            <a:solidFill>
              <a:srgbClr val="B8E0EA"/>
            </a:solidFill>
            <a:prstDash val="solid"/>
          </a:ln>
        </p:spPr>
      </p:sp>
      <p:sp>
        <p:nvSpPr>
          <p:cNvPr id="89" name="Text 87"/>
          <p:cNvSpPr txBox="1"/>
          <p:nvPr/>
        </p:nvSpPr>
        <p:spPr>
          <a:xfrm>
            <a:off x="7863840" y="4389120"/>
            <a:ext cx="1188720" cy="365760"/>
          </a:xfrm>
          <a:prstGeom prst="rect">
            <a:avLst/>
          </a:prstGeom>
          <a:noFill/>
          <a:ln/>
        </p:spPr>
        <p:txBody>
          <a:bodyPr wrap="square" lIns="0" tIns="0" rIns="0" bIns="0" rtlCol="0" anchor="ctr"/>
          <a:lstStyle/>
          <a:p>
            <a:pPr marL="0" indent="0" algn="ctr">
              <a:buNone/>
            </a:pPr>
            <a:r>
              <a:rPr lang="en-US" sz="1150" b="1" dirty="0">
                <a:solidFill>
                  <a:srgbClr val="1B2233"/>
                </a:solidFill>
                <a:latin typeface="Courier New" pitchFamily="34" charset="0"/>
                <a:ea typeface="Courier New" pitchFamily="34" charset="-122"/>
                <a:cs typeface="Courier New" pitchFamily="34" charset="-120"/>
              </a:rPr>
              <a:t>62</a:t>
            </a:r>
            <a:endParaRPr lang="en-US" sz="1150" dirty="0"/>
          </a:p>
        </p:txBody>
      </p:sp>
      <p:sp>
        <p:nvSpPr>
          <p:cNvPr id="90" name="Text 88"/>
          <p:cNvSpPr txBox="1"/>
          <p:nvPr/>
        </p:nvSpPr>
        <p:spPr>
          <a:xfrm>
            <a:off x="9052560" y="4389120"/>
            <a:ext cx="1188720" cy="365760"/>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7</a:t>
            </a:r>
            <a:endParaRPr lang="en-US" sz="1150" dirty="0"/>
          </a:p>
        </p:txBody>
      </p:sp>
      <p:sp>
        <p:nvSpPr>
          <p:cNvPr id="91" name="Text 89"/>
          <p:cNvSpPr txBox="1"/>
          <p:nvPr/>
        </p:nvSpPr>
        <p:spPr>
          <a:xfrm>
            <a:off x="10241280" y="4389120"/>
            <a:ext cx="1371600" cy="365760"/>
          </a:xfrm>
          <a:prstGeom prst="rect">
            <a:avLst/>
          </a:prstGeom>
          <a:noFill/>
          <a:ln/>
        </p:spPr>
        <p:txBody>
          <a:bodyPr wrap="square" lIns="0" tIns="0" rIns="0" bIns="0" rtlCol="0" anchor="ctr"/>
          <a:lstStyle/>
          <a:p>
            <a:pPr marL="0" indent="0" algn="ctr">
              <a:buNone/>
            </a:pPr>
            <a:r>
              <a:rPr lang="en-US" sz="1150" dirty="0">
                <a:solidFill>
                  <a:srgbClr val="1B2233"/>
                </a:solidFill>
                <a:latin typeface="Courier New" pitchFamily="34" charset="0"/>
                <a:ea typeface="Courier New" pitchFamily="34" charset="-122"/>
                <a:cs typeface="Courier New" pitchFamily="34" charset="-120"/>
              </a:rPr>
              <a:t>4</a:t>
            </a:r>
            <a:endParaRPr lang="en-US" sz="1150" dirty="0"/>
          </a:p>
        </p:txBody>
      </p:sp>
      <p:sp>
        <p:nvSpPr>
          <p:cNvPr id="92" name="Shape 90"/>
          <p:cNvSpPr/>
          <p:nvPr/>
        </p:nvSpPr>
        <p:spPr>
          <a:xfrm>
            <a:off x="7863840" y="4754880"/>
            <a:ext cx="3749040" cy="411480"/>
          </a:xfrm>
          <a:prstGeom prst="roundRect">
            <a:avLst>
              <a:gd name="adj" fmla="val 22222"/>
            </a:avLst>
          </a:prstGeom>
          <a:solidFill>
            <a:srgbClr val="DCFCE9"/>
          </a:solidFill>
          <a:ln w="12700">
            <a:solidFill>
              <a:srgbClr val="6FCF9A"/>
            </a:solidFill>
            <a:prstDash val="solid"/>
          </a:ln>
        </p:spPr>
      </p:sp>
      <p:sp>
        <p:nvSpPr>
          <p:cNvPr id="93" name="Text 91"/>
          <p:cNvSpPr txBox="1"/>
          <p:nvPr/>
        </p:nvSpPr>
        <p:spPr>
          <a:xfrm>
            <a:off x="7863840" y="4754880"/>
            <a:ext cx="3749040" cy="411480"/>
          </a:xfrm>
          <a:prstGeom prst="rect">
            <a:avLst/>
          </a:prstGeom>
          <a:noFill/>
          <a:ln/>
        </p:spPr>
        <p:txBody>
          <a:bodyPr wrap="square" lIns="0" tIns="0" rIns="0" bIns="0" rtlCol="0" anchor="ctr"/>
          <a:lstStyle/>
          <a:p>
            <a:pPr marL="0" indent="0" algn="ctr">
              <a:buNone/>
            </a:pPr>
            <a:r>
              <a:rPr lang="en-US" sz="1200" b="1" dirty="0">
                <a:solidFill>
                  <a:srgbClr val="059669"/>
                </a:solidFill>
                <a:latin typeface="Courier New" pitchFamily="34" charset="0"/>
                <a:ea typeface="Courier New" pitchFamily="34" charset="-122"/>
                <a:cs typeface="Courier New" pitchFamily="34" charset="-120"/>
              </a:rPr>
              <a:t>TOTAL = 21 probes</a:t>
            </a:r>
            <a:endParaRPr lang="en-US" sz="1200" dirty="0"/>
          </a:p>
        </p:txBody>
      </p:sp>
      <p:sp>
        <p:nvSpPr>
          <p:cNvPr id="94" name="Shape 92"/>
          <p:cNvSpPr/>
          <p:nvPr/>
        </p:nvSpPr>
        <p:spPr>
          <a:xfrm>
            <a:off x="548640" y="5852160"/>
            <a:ext cx="11064240" cy="566928"/>
          </a:xfrm>
          <a:prstGeom prst="roundRect">
            <a:avLst>
              <a:gd name="adj" fmla="val 16129"/>
            </a:avLst>
          </a:prstGeom>
          <a:solidFill>
            <a:schemeClr val="bg2">
              <a:lumMod val="75000"/>
            </a:schemeClr>
          </a:solidFill>
          <a:ln w="12700">
            <a:solidFill>
              <a:srgbClr val="10242E"/>
            </a:solidFill>
            <a:prstDash val="solid"/>
          </a:ln>
        </p:spPr>
      </p:sp>
      <p:sp>
        <p:nvSpPr>
          <p:cNvPr id="95" name="Text 93"/>
          <p:cNvSpPr txBox="1"/>
          <p:nvPr/>
        </p:nvSpPr>
        <p:spPr>
          <a:xfrm>
            <a:off x="777240" y="5852160"/>
            <a:ext cx="10607040" cy="566928"/>
          </a:xfrm>
          <a:prstGeom prst="rect">
            <a:avLst/>
          </a:prstGeom>
          <a:noFill/>
          <a:ln/>
        </p:spPr>
        <p:txBody>
          <a:bodyPr wrap="square" lIns="0" tIns="0" rIns="0" bIns="0" rtlCol="0" anchor="ctr"/>
          <a:lstStyle/>
          <a:p>
            <a:pPr marL="0" indent="0">
              <a:buNone/>
            </a:pPr>
            <a:r>
              <a:rPr lang="en-US" sz="1400" b="1" dirty="0">
                <a:latin typeface="Courier New" pitchFamily="34" charset="0"/>
                <a:ea typeface="Courier New" pitchFamily="34" charset="-122"/>
                <a:cs typeface="Courier New" pitchFamily="34" charset="-120"/>
              </a:rPr>
              <a:t>Average (successful):  binary 21/8 = 2.625 probes  vs  linear (8+1)/2 = 4.5  →  ≈ 42% fewer, widening with n</a:t>
            </a:r>
            <a:endParaRPr lang="en-US" sz="1400" dirty="0"/>
          </a:p>
        </p:txBody>
      </p:sp>
      <p:sp>
        <p:nvSpPr>
          <p:cNvPr id="96" name="Text 94"/>
          <p:cNvSpPr txBox="1"/>
          <p:nvPr/>
        </p:nvSpPr>
        <p:spPr>
          <a:xfrm>
            <a:off x="548640" y="6547104"/>
            <a:ext cx="6858000" cy="256032"/>
          </a:xfrm>
          <a:prstGeom prst="rect">
            <a:avLst/>
          </a:prstGeom>
          <a:noFill/>
          <a:ln/>
        </p:spPr>
        <p:txBody>
          <a:bodyPr wrap="square" lIns="0" tIns="0" rIns="0" bIns="0" rtlCol="0" anchor="ctr"/>
          <a:lstStyle/>
          <a:p>
            <a:pPr marL="0" indent="0">
              <a:buNone/>
            </a:pPr>
            <a:r>
              <a:rPr lang="en-US" sz="900" dirty="0">
                <a:solidFill>
                  <a:srgbClr val="5B6584"/>
                </a:solidFill>
                <a:latin typeface="Calibri" pitchFamily="34" charset="0"/>
                <a:ea typeface="Calibri" pitchFamily="34" charset="-122"/>
                <a:cs typeface="Calibri" pitchFamily="34" charset="-120"/>
              </a:rPr>
              <a:t>Linear &amp; Binary Search  |  Data Structures Using C</a:t>
            </a:r>
            <a:endParaRPr lang="en-US" sz="900" dirty="0"/>
          </a:p>
        </p:txBody>
      </p:sp>
      <p:sp>
        <p:nvSpPr>
          <p:cNvPr id="97" name="Text 95"/>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rot="1500000">
            <a:off x="10972800" y="-1005840"/>
            <a:ext cx="2377440" cy="2377440"/>
          </a:xfrm>
          <a:prstGeom prst="triangle">
            <a:avLst/>
          </a:prstGeom>
          <a:solidFill>
            <a:srgbClr val="FFFFFF">
              <a:alpha val="8000"/>
            </a:srgbClr>
          </a:solidFill>
          <a:ln/>
        </p:spPr>
      </p:sp>
      <p:sp>
        <p:nvSpPr>
          <p:cNvPr id="3" name="Shape 1"/>
          <p:cNvSpPr/>
          <p:nvPr/>
        </p:nvSpPr>
        <p:spPr>
          <a:xfrm rot="12300000">
            <a:off x="-1097280" y="5760720"/>
            <a:ext cx="2377440" cy="2377440"/>
          </a:xfrm>
          <a:prstGeom prst="triangle">
            <a:avLst/>
          </a:prstGeom>
          <a:solidFill>
            <a:srgbClr val="FFFFFF">
              <a:alpha val="8000"/>
            </a:srgbClr>
          </a:solidFill>
          <a:ln/>
        </p:spPr>
      </p:sp>
      <p:sp>
        <p:nvSpPr>
          <p:cNvPr id="4" name="Text 2"/>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D97706"/>
                </a:solidFill>
                <a:latin typeface="Calibri" pitchFamily="34" charset="0"/>
                <a:ea typeface="Calibri" pitchFamily="34" charset="-122"/>
                <a:cs typeface="Calibri" pitchFamily="34" charset="-120"/>
              </a:rPr>
              <a:t>THE ALGORITHM</a:t>
            </a:r>
            <a:endParaRPr lang="en-US" sz="1300" dirty="0"/>
          </a:p>
        </p:txBody>
      </p:sp>
      <p:sp>
        <p:nvSpPr>
          <p:cNvPr id="5" name="Text 3"/>
          <p:cNvSpPr txBox="1"/>
          <p:nvPr/>
        </p:nvSpPr>
        <p:spPr>
          <a:xfrm>
            <a:off x="548640" y="621792"/>
            <a:ext cx="11064240" cy="731520"/>
          </a:xfrm>
          <a:prstGeom prst="rect">
            <a:avLst/>
          </a:prstGeom>
          <a:noFill/>
          <a:ln/>
        </p:spPr>
        <p:txBody>
          <a:bodyPr wrap="square" lIns="0" tIns="0" rIns="0" bIns="0" rtlCol="0" anchor="ctr"/>
          <a:lstStyle/>
          <a:p>
            <a:pPr marL="0" indent="0">
              <a:buNone/>
            </a:pPr>
            <a:r>
              <a:rPr lang="en-US" sz="3000" b="1" dirty="0">
                <a:latin typeface="Cambria" pitchFamily="34" charset="0"/>
                <a:ea typeface="Cambria" pitchFamily="34" charset="-122"/>
                <a:cs typeface="Cambria" pitchFamily="34" charset="-120"/>
              </a:rPr>
              <a:t>Pseudocode</a:t>
            </a:r>
            <a:endParaRPr lang="en-US" sz="3000" dirty="0"/>
          </a:p>
        </p:txBody>
      </p:sp>
      <p:sp>
        <p:nvSpPr>
          <p:cNvPr id="6" name="Shape 4"/>
          <p:cNvSpPr/>
          <p:nvPr/>
        </p:nvSpPr>
        <p:spPr>
          <a:xfrm>
            <a:off x="548640" y="1417320"/>
            <a:ext cx="5486400" cy="1783080"/>
          </a:xfrm>
          <a:prstGeom prst="roundRect">
            <a:avLst>
              <a:gd name="adj" fmla="val 4103"/>
            </a:avLst>
          </a:prstGeom>
          <a:solidFill>
            <a:schemeClr val="bg2">
              <a:lumMod val="90000"/>
            </a:schemeClr>
          </a:solidFill>
          <a:ln/>
        </p:spPr>
      </p:sp>
      <p:sp>
        <p:nvSpPr>
          <p:cNvPr id="7" name="Text 5"/>
          <p:cNvSpPr txBox="1"/>
          <p:nvPr/>
        </p:nvSpPr>
        <p:spPr>
          <a:xfrm>
            <a:off x="777240" y="1581912"/>
            <a:ext cx="5029200" cy="1453896"/>
          </a:xfrm>
          <a:prstGeom prst="rect">
            <a:avLst/>
          </a:prstGeom>
          <a:noFill/>
          <a:ln/>
        </p:spPr>
        <p:txBody>
          <a:bodyPr wrap="square" lIns="0" tIns="0" rIns="0" bIns="0" rtlCol="0" anchor="t"/>
          <a:lstStyle/>
          <a:p>
            <a:pPr marL="0" indent="0">
              <a:lnSpc>
                <a:spcPct val="130000"/>
              </a:lnSpc>
              <a:buNone/>
            </a:pPr>
            <a:r>
              <a:rPr lang="en-US" sz="1600" b="1" dirty="0">
                <a:latin typeface="Courier New" pitchFamily="34" charset="0"/>
                <a:ea typeface="Courier New" pitchFamily="34" charset="-122"/>
                <a:cs typeface="Courier New" pitchFamily="34" charset="-120"/>
              </a:rPr>
              <a:t>LINEAR-SEARCH(A, n, key)
  for i = 0 to n − 1
      if A[i] = key
          return i
  return NOT-FOUND</a:t>
            </a:r>
            <a:endParaRPr lang="en-US" sz="1600" b="1" dirty="0"/>
          </a:p>
        </p:txBody>
      </p:sp>
      <p:sp>
        <p:nvSpPr>
          <p:cNvPr id="8" name="Shape 6"/>
          <p:cNvSpPr/>
          <p:nvPr/>
        </p:nvSpPr>
        <p:spPr>
          <a:xfrm>
            <a:off x="548640" y="3383280"/>
            <a:ext cx="5486400" cy="2971800"/>
          </a:xfrm>
          <a:prstGeom prst="roundRect">
            <a:avLst>
              <a:gd name="adj" fmla="val 2462"/>
            </a:avLst>
          </a:prstGeom>
          <a:solidFill>
            <a:schemeClr val="accent2">
              <a:lumMod val="20000"/>
              <a:lumOff val="80000"/>
            </a:schemeClr>
          </a:solidFill>
          <a:ln/>
        </p:spPr>
      </p:sp>
      <p:sp>
        <p:nvSpPr>
          <p:cNvPr id="9" name="Text 7"/>
          <p:cNvSpPr txBox="1"/>
          <p:nvPr/>
        </p:nvSpPr>
        <p:spPr>
          <a:xfrm>
            <a:off x="579120" y="3547872"/>
            <a:ext cx="5455920" cy="2642616"/>
          </a:xfrm>
          <a:prstGeom prst="rect">
            <a:avLst/>
          </a:prstGeom>
          <a:noFill/>
          <a:ln/>
        </p:spPr>
        <p:txBody>
          <a:bodyPr wrap="square" lIns="0" tIns="0" rIns="0" bIns="0" rtlCol="0" anchor="t"/>
          <a:lstStyle/>
          <a:p>
            <a:pPr marL="0" indent="0">
              <a:lnSpc>
                <a:spcPct val="130000"/>
              </a:lnSpc>
              <a:buNone/>
            </a:pPr>
            <a:r>
              <a:rPr lang="en-US" sz="1600" b="1" dirty="0">
                <a:latin typeface="Courier New" pitchFamily="34" charset="0"/>
                <a:ea typeface="Courier New" pitchFamily="34" charset="-122"/>
                <a:cs typeface="Courier New" pitchFamily="34" charset="-120"/>
              </a:rPr>
              <a:t>BINARY-SEARCH(A, n, key)
  low = 0;  high = n − 1
  while low ≤ high
      mid = ⌊(low + high) / 2⌋
      if A[mid] = key:   return mid
      else if A[mid] &lt; key:  low = mid + 1
      else:                  high = mid − 1
  return NOT-FOUND</a:t>
            </a:r>
            <a:endParaRPr lang="en-US" sz="1600" b="1" dirty="0"/>
          </a:p>
        </p:txBody>
      </p:sp>
      <p:sp>
        <p:nvSpPr>
          <p:cNvPr id="10" name="Shape 8"/>
          <p:cNvSpPr/>
          <p:nvPr/>
        </p:nvSpPr>
        <p:spPr>
          <a:xfrm>
            <a:off x="6263640" y="1417320"/>
            <a:ext cx="5349240" cy="2743200"/>
          </a:xfrm>
          <a:prstGeom prst="roundRect">
            <a:avLst>
              <a:gd name="adj" fmla="val 3333"/>
            </a:avLst>
          </a:prstGeom>
          <a:solidFill>
            <a:schemeClr val="tx2">
              <a:lumMod val="20000"/>
              <a:lumOff val="80000"/>
            </a:schemeClr>
          </a:solidFill>
          <a:ln w="12700">
            <a:solidFill>
              <a:srgbClr val="0E7490"/>
            </a:solidFill>
            <a:prstDash val="solid"/>
          </a:ln>
        </p:spPr>
      </p:sp>
      <p:sp>
        <p:nvSpPr>
          <p:cNvPr id="11" name="Text 9"/>
          <p:cNvSpPr txBox="1"/>
          <p:nvPr/>
        </p:nvSpPr>
        <p:spPr>
          <a:xfrm>
            <a:off x="6492240" y="1554480"/>
            <a:ext cx="4937760" cy="274320"/>
          </a:xfrm>
          <a:prstGeom prst="rect">
            <a:avLst/>
          </a:prstGeom>
          <a:noFill/>
          <a:ln/>
        </p:spPr>
        <p:txBody>
          <a:bodyPr wrap="square" lIns="0" tIns="0" rIns="0" bIns="0" rtlCol="0" anchor="ctr"/>
          <a:lstStyle/>
          <a:p>
            <a:pPr marL="0" indent="0">
              <a:buNone/>
            </a:pPr>
            <a:r>
              <a:rPr lang="en-US" sz="1050" b="1" kern="0" spc="120" dirty="0">
                <a:solidFill>
                  <a:srgbClr val="D97706"/>
                </a:solidFill>
                <a:latin typeface="Calibri" pitchFamily="34" charset="0"/>
                <a:ea typeface="Calibri" pitchFamily="34" charset="-122"/>
                <a:cs typeface="Calibri" pitchFamily="34" charset="-120"/>
              </a:rPr>
              <a:t>LINE-BY-LINE</a:t>
            </a:r>
            <a:endParaRPr lang="en-US" sz="1050" dirty="0"/>
          </a:p>
        </p:txBody>
      </p:sp>
      <p:sp>
        <p:nvSpPr>
          <p:cNvPr id="12" name="Text 10"/>
          <p:cNvSpPr txBox="1"/>
          <p:nvPr/>
        </p:nvSpPr>
        <p:spPr>
          <a:xfrm>
            <a:off x="6492240" y="1901952"/>
            <a:ext cx="4937760" cy="411480"/>
          </a:xfrm>
          <a:prstGeom prst="rect">
            <a:avLst/>
          </a:prstGeom>
          <a:noFill/>
          <a:ln/>
        </p:spPr>
        <p:txBody>
          <a:bodyPr wrap="square" lIns="0" tIns="0" rIns="0" bIns="0" rtlCol="0" anchor="ctr"/>
          <a:lstStyle/>
          <a:p>
            <a:pPr marL="0" indent="0">
              <a:lnSpc>
                <a:spcPct val="110000"/>
              </a:lnSpc>
              <a:buNone/>
            </a:pPr>
            <a:r>
              <a:rPr lang="en-US" sz="1400" b="1" dirty="0">
                <a:latin typeface="Courier New" pitchFamily="34" charset="0"/>
                <a:ea typeface="Courier New" pitchFamily="34" charset="-122"/>
                <a:cs typeface="Courier New" pitchFamily="34" charset="-120"/>
              </a:rPr>
              <a:t>for i = 0 to n−1  —  </a:t>
            </a:r>
            <a:r>
              <a:rPr lang="en-US" sz="1600" dirty="0">
                <a:latin typeface="Calibri" pitchFamily="34" charset="0"/>
                <a:ea typeface="Calibri" pitchFamily="34" charset="-122"/>
                <a:cs typeface="Calibri" pitchFamily="34" charset="-120"/>
              </a:rPr>
              <a:t>Visit every position once, left to right.</a:t>
            </a:r>
            <a:endParaRPr lang="en-US" sz="1400" dirty="0"/>
          </a:p>
        </p:txBody>
      </p:sp>
      <p:sp>
        <p:nvSpPr>
          <p:cNvPr id="13" name="Text 11"/>
          <p:cNvSpPr txBox="1"/>
          <p:nvPr/>
        </p:nvSpPr>
        <p:spPr>
          <a:xfrm>
            <a:off x="6492240" y="2331720"/>
            <a:ext cx="4937760" cy="411480"/>
          </a:xfrm>
          <a:prstGeom prst="rect">
            <a:avLst/>
          </a:prstGeom>
          <a:noFill/>
          <a:ln/>
        </p:spPr>
        <p:txBody>
          <a:bodyPr wrap="square" lIns="0" tIns="0" rIns="0" bIns="0" rtlCol="0" anchor="ctr"/>
          <a:lstStyle/>
          <a:p>
            <a:pPr marL="0" indent="0">
              <a:lnSpc>
                <a:spcPct val="110000"/>
              </a:lnSpc>
              <a:buNone/>
            </a:pPr>
            <a:r>
              <a:rPr lang="en-US" sz="1400" b="1" dirty="0">
                <a:latin typeface="Courier New" pitchFamily="34" charset="0"/>
                <a:ea typeface="Courier New" pitchFamily="34" charset="-122"/>
                <a:cs typeface="Courier New" pitchFamily="34" charset="-120"/>
              </a:rPr>
              <a:t>if A[i] = key  —  </a:t>
            </a:r>
            <a:r>
              <a:rPr lang="en-US" sz="1600" dirty="0">
                <a:latin typeface="Calibri" pitchFamily="34" charset="0"/>
                <a:ea typeface="Calibri" pitchFamily="34" charset="-122"/>
                <a:cs typeface="Calibri" pitchFamily="34" charset="-120"/>
              </a:rPr>
              <a:t>The only test linear search ever makes.</a:t>
            </a:r>
            <a:endParaRPr lang="en-US" sz="1400" dirty="0"/>
          </a:p>
        </p:txBody>
      </p:sp>
      <p:sp>
        <p:nvSpPr>
          <p:cNvPr id="14" name="Text 12"/>
          <p:cNvSpPr txBox="1"/>
          <p:nvPr/>
        </p:nvSpPr>
        <p:spPr>
          <a:xfrm>
            <a:off x="6492240" y="2761488"/>
            <a:ext cx="4937760" cy="411480"/>
          </a:xfrm>
          <a:prstGeom prst="rect">
            <a:avLst/>
          </a:prstGeom>
          <a:noFill/>
          <a:ln/>
        </p:spPr>
        <p:txBody>
          <a:bodyPr wrap="square" lIns="0" tIns="0" rIns="0" bIns="0" rtlCol="0" anchor="ctr"/>
          <a:lstStyle/>
          <a:p>
            <a:pPr marL="0" indent="0">
              <a:lnSpc>
                <a:spcPct val="110000"/>
              </a:lnSpc>
              <a:buNone/>
            </a:pPr>
            <a:r>
              <a:rPr lang="en-US" sz="1400" b="1" dirty="0">
                <a:latin typeface="Courier New" pitchFamily="34" charset="0"/>
                <a:ea typeface="Courier New" pitchFamily="34" charset="-122"/>
                <a:cs typeface="Courier New" pitchFamily="34" charset="-120"/>
              </a:rPr>
              <a:t>low, high  —  </a:t>
            </a:r>
            <a:r>
              <a:rPr lang="en-US" sz="1600" dirty="0">
                <a:latin typeface="Calibri" pitchFamily="34" charset="0"/>
                <a:ea typeface="Calibri" pitchFamily="34" charset="-122"/>
                <a:cs typeface="Calibri" pitchFamily="34" charset="-120"/>
              </a:rPr>
              <a:t>The inclusive range still able to contain the key.</a:t>
            </a:r>
            <a:endParaRPr lang="en-US" sz="1400" dirty="0"/>
          </a:p>
        </p:txBody>
      </p:sp>
      <p:sp>
        <p:nvSpPr>
          <p:cNvPr id="15" name="Text 13"/>
          <p:cNvSpPr txBox="1"/>
          <p:nvPr/>
        </p:nvSpPr>
        <p:spPr>
          <a:xfrm>
            <a:off x="6492240" y="3191256"/>
            <a:ext cx="4937760" cy="411480"/>
          </a:xfrm>
          <a:prstGeom prst="rect">
            <a:avLst/>
          </a:prstGeom>
          <a:noFill/>
          <a:ln/>
        </p:spPr>
        <p:txBody>
          <a:bodyPr wrap="square" lIns="0" tIns="0" rIns="0" bIns="0" rtlCol="0" anchor="ctr"/>
          <a:lstStyle/>
          <a:p>
            <a:pPr marL="0" indent="0">
              <a:lnSpc>
                <a:spcPct val="110000"/>
              </a:lnSpc>
              <a:buNone/>
            </a:pPr>
            <a:r>
              <a:rPr lang="en-US" sz="1400" b="1" dirty="0">
                <a:latin typeface="Courier New" pitchFamily="34" charset="0"/>
                <a:ea typeface="Courier New" pitchFamily="34" charset="-122"/>
                <a:cs typeface="Courier New" pitchFamily="34" charset="-120"/>
              </a:rPr>
              <a:t>mid  —  </a:t>
            </a:r>
            <a:r>
              <a:rPr lang="en-US" sz="1600" dirty="0">
                <a:latin typeface="Calibri" pitchFamily="34" charset="0"/>
                <a:ea typeface="Calibri" pitchFamily="34" charset="-122"/>
                <a:cs typeface="Calibri" pitchFamily="34" charset="-120"/>
              </a:rPr>
              <a:t>Probe position — splits the range in two.</a:t>
            </a:r>
            <a:endParaRPr lang="en-US" sz="1400" dirty="0"/>
          </a:p>
        </p:txBody>
      </p:sp>
      <p:sp>
        <p:nvSpPr>
          <p:cNvPr id="16" name="Text 14"/>
          <p:cNvSpPr txBox="1"/>
          <p:nvPr/>
        </p:nvSpPr>
        <p:spPr>
          <a:xfrm>
            <a:off x="6492240" y="3621024"/>
            <a:ext cx="4937760" cy="411480"/>
          </a:xfrm>
          <a:prstGeom prst="rect">
            <a:avLst/>
          </a:prstGeom>
          <a:noFill/>
          <a:ln/>
        </p:spPr>
        <p:txBody>
          <a:bodyPr wrap="square" lIns="0" tIns="0" rIns="0" bIns="0" rtlCol="0" anchor="ctr"/>
          <a:lstStyle/>
          <a:p>
            <a:pPr marL="0" indent="0">
              <a:lnSpc>
                <a:spcPct val="110000"/>
              </a:lnSpc>
              <a:buNone/>
            </a:pPr>
            <a:r>
              <a:rPr lang="en-US" sz="1400" b="1" dirty="0">
                <a:latin typeface="Courier New" pitchFamily="34" charset="0"/>
                <a:ea typeface="Courier New" pitchFamily="34" charset="-122"/>
                <a:cs typeface="Courier New" pitchFamily="34" charset="-120"/>
              </a:rPr>
              <a:t>low = mid + 1 / high = mid − 1  —  </a:t>
            </a:r>
            <a:r>
              <a:rPr lang="en-US" sz="1600" dirty="0">
                <a:latin typeface="Calibri" pitchFamily="34" charset="0"/>
                <a:ea typeface="Calibri" pitchFamily="34" charset="-122"/>
                <a:cs typeface="Calibri" pitchFamily="34" charset="-120"/>
              </a:rPr>
              <a:t>Discard the half that cannot hold the key (mid itself is already ruled out).</a:t>
            </a:r>
            <a:endParaRPr lang="en-US" sz="1400" dirty="0"/>
          </a:p>
        </p:txBody>
      </p:sp>
      <p:sp>
        <p:nvSpPr>
          <p:cNvPr id="17" name="Shape 15"/>
          <p:cNvSpPr/>
          <p:nvPr/>
        </p:nvSpPr>
        <p:spPr>
          <a:xfrm>
            <a:off x="6263640" y="4343400"/>
            <a:ext cx="5349240" cy="2011680"/>
          </a:xfrm>
          <a:prstGeom prst="roundRect">
            <a:avLst>
              <a:gd name="adj" fmla="val 4545"/>
            </a:avLst>
          </a:prstGeom>
          <a:solidFill>
            <a:schemeClr val="accent3">
              <a:lumMod val="20000"/>
              <a:lumOff val="80000"/>
            </a:schemeClr>
          </a:solidFill>
          <a:ln w="12700">
            <a:solidFill>
              <a:srgbClr val="0E7490"/>
            </a:solidFill>
            <a:prstDash val="solid"/>
          </a:ln>
        </p:spPr>
      </p:sp>
      <p:sp>
        <p:nvSpPr>
          <p:cNvPr id="18" name="Text 16"/>
          <p:cNvSpPr txBox="1"/>
          <p:nvPr/>
        </p:nvSpPr>
        <p:spPr>
          <a:xfrm>
            <a:off x="6492240" y="4480560"/>
            <a:ext cx="4937760" cy="274320"/>
          </a:xfrm>
          <a:prstGeom prst="rect">
            <a:avLst/>
          </a:prstGeom>
          <a:noFill/>
          <a:ln/>
        </p:spPr>
        <p:txBody>
          <a:bodyPr wrap="square" lIns="0" tIns="0" rIns="0" bIns="0" rtlCol="0" anchor="ctr"/>
          <a:lstStyle/>
          <a:p>
            <a:pPr marL="0" indent="0">
              <a:buNone/>
            </a:pPr>
            <a:r>
              <a:rPr lang="en-US" sz="1600" b="1" kern="0" spc="120" dirty="0">
                <a:solidFill>
                  <a:srgbClr val="D97706"/>
                </a:solidFill>
                <a:latin typeface="Calibri" pitchFamily="34" charset="0"/>
                <a:ea typeface="Calibri" pitchFamily="34" charset="-122"/>
                <a:cs typeface="Calibri" pitchFamily="34" charset="-120"/>
              </a:rPr>
              <a:t>WHY ±1 MATTERS</a:t>
            </a:r>
            <a:endParaRPr lang="en-US" sz="1600" dirty="0"/>
          </a:p>
        </p:txBody>
      </p:sp>
      <p:sp>
        <p:nvSpPr>
          <p:cNvPr id="19" name="Text 17"/>
          <p:cNvSpPr txBox="1"/>
          <p:nvPr/>
        </p:nvSpPr>
        <p:spPr>
          <a:xfrm>
            <a:off x="6492240" y="4773168"/>
            <a:ext cx="4937760" cy="1508760"/>
          </a:xfrm>
          <a:prstGeom prst="rect">
            <a:avLst/>
          </a:prstGeom>
          <a:noFill/>
          <a:ln/>
        </p:spPr>
        <p:txBody>
          <a:bodyPr wrap="square" lIns="0" tIns="0" rIns="0" bIns="0" rtlCol="0" anchor="ctr"/>
          <a:lstStyle/>
          <a:p>
            <a:pPr marL="0" indent="0">
              <a:lnSpc>
                <a:spcPct val="130000"/>
              </a:lnSpc>
              <a:buNone/>
            </a:pPr>
            <a:r>
              <a:rPr lang="en-US" sz="1600" dirty="0">
                <a:latin typeface="Calibri" pitchFamily="34" charset="0"/>
                <a:ea typeface="Calibri" pitchFamily="34" charset="-122"/>
                <a:cs typeface="Calibri" pitchFamily="34" charset="-120"/>
              </a:rPr>
              <a:t>Setting low = mid (instead of mid + 1) or high = mid (instead of mid − 1) can leave the range unchanged when it has 1–2 elements — an infinite loop. The ±1 guarantees the range shrinks every iteration, so the loop terminates.</a:t>
            </a:r>
            <a:endParaRPr lang="en-US" sz="1600" dirty="0"/>
          </a:p>
        </p:txBody>
      </p:sp>
      <p:sp>
        <p:nvSpPr>
          <p:cNvPr id="20" name="Text 18"/>
          <p:cNvSpPr txBox="1"/>
          <p:nvPr/>
        </p:nvSpPr>
        <p:spPr>
          <a:xfrm>
            <a:off x="548640" y="6547104"/>
            <a:ext cx="6858000" cy="256032"/>
          </a:xfrm>
          <a:prstGeom prst="rect">
            <a:avLst/>
          </a:prstGeom>
          <a:noFill/>
          <a:ln/>
        </p:spPr>
        <p:txBody>
          <a:bodyPr wrap="square" lIns="0" tIns="0" rIns="0" bIns="0" rtlCol="0" anchor="ctr"/>
          <a:lstStyle/>
          <a:p>
            <a:pPr marL="0" indent="0">
              <a:buNone/>
            </a:pPr>
            <a:r>
              <a:rPr lang="en-US" sz="900" dirty="0">
                <a:solidFill>
                  <a:srgbClr val="8FC7D6"/>
                </a:solidFill>
                <a:latin typeface="Calibri" pitchFamily="34" charset="0"/>
                <a:ea typeface="Calibri" pitchFamily="34" charset="-122"/>
                <a:cs typeface="Calibri" pitchFamily="34" charset="-120"/>
              </a:rPr>
              <a:t>Linear &amp; Binary Search  |  Data Structures Using C</a:t>
            </a:r>
            <a:endParaRPr lang="en-US" sz="900" dirty="0"/>
          </a:p>
        </p:txBody>
      </p:sp>
      <p:sp>
        <p:nvSpPr>
          <p:cNvPr id="21" name="Text 19"/>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900" dirty="0">
                <a:solidFill>
                  <a:srgbClr val="8FC7D6"/>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rot="1500000">
            <a:off x="10972800" y="-1005840"/>
            <a:ext cx="2377440" cy="2377440"/>
          </a:xfrm>
          <a:prstGeom prst="triangle">
            <a:avLst/>
          </a:prstGeom>
          <a:solidFill>
            <a:srgbClr val="FFFFFF">
              <a:alpha val="8000"/>
            </a:srgbClr>
          </a:solidFill>
          <a:ln/>
        </p:spPr>
      </p:sp>
      <p:sp>
        <p:nvSpPr>
          <p:cNvPr id="3" name="Shape 1"/>
          <p:cNvSpPr/>
          <p:nvPr/>
        </p:nvSpPr>
        <p:spPr>
          <a:xfrm rot="12300000">
            <a:off x="-1097280" y="5760720"/>
            <a:ext cx="2377440" cy="2377440"/>
          </a:xfrm>
          <a:prstGeom prst="triangle">
            <a:avLst/>
          </a:prstGeom>
          <a:solidFill>
            <a:srgbClr val="FFFFFF">
              <a:alpha val="8000"/>
            </a:srgbClr>
          </a:solidFill>
          <a:ln/>
        </p:spPr>
      </p:sp>
      <p:sp>
        <p:nvSpPr>
          <p:cNvPr id="5" name="Text 3"/>
          <p:cNvSpPr txBox="1"/>
          <p:nvPr/>
        </p:nvSpPr>
        <p:spPr>
          <a:xfrm>
            <a:off x="594360" y="271093"/>
            <a:ext cx="11064240" cy="731520"/>
          </a:xfrm>
          <a:prstGeom prst="rect">
            <a:avLst/>
          </a:prstGeom>
          <a:noFill/>
          <a:ln/>
        </p:spPr>
        <p:txBody>
          <a:bodyPr wrap="square" lIns="0" tIns="0" rIns="0" bIns="0" rtlCol="0" anchor="ctr"/>
          <a:lstStyle/>
          <a:p>
            <a:pPr marL="0" indent="0">
              <a:buNone/>
            </a:pPr>
            <a:r>
              <a:rPr lang="en-US" sz="3000" b="1" dirty="0">
                <a:latin typeface="Cambria" pitchFamily="34" charset="0"/>
                <a:ea typeface="Cambria" pitchFamily="34" charset="-122"/>
                <a:cs typeface="Cambria" pitchFamily="34" charset="-120"/>
              </a:rPr>
              <a:t>Linear &amp; Binary Search in C</a:t>
            </a:r>
            <a:endParaRPr lang="en-US" sz="3000" dirty="0"/>
          </a:p>
        </p:txBody>
      </p:sp>
      <p:sp>
        <p:nvSpPr>
          <p:cNvPr id="6" name="Shape 4"/>
          <p:cNvSpPr/>
          <p:nvPr/>
        </p:nvSpPr>
        <p:spPr>
          <a:xfrm>
            <a:off x="548640" y="1075765"/>
            <a:ext cx="6355080" cy="5325035"/>
          </a:xfrm>
          <a:prstGeom prst="roundRect">
            <a:avLst>
              <a:gd name="adj" fmla="val 1455"/>
            </a:avLst>
          </a:prstGeom>
          <a:solidFill>
            <a:schemeClr val="bg2">
              <a:lumMod val="90000"/>
            </a:schemeClr>
          </a:solidFill>
          <a:ln/>
        </p:spPr>
      </p:sp>
      <p:sp>
        <p:nvSpPr>
          <p:cNvPr id="7" name="Text 5"/>
          <p:cNvSpPr txBox="1"/>
          <p:nvPr/>
        </p:nvSpPr>
        <p:spPr>
          <a:xfrm>
            <a:off x="716280" y="1145611"/>
            <a:ext cx="6187440" cy="4700016"/>
          </a:xfrm>
          <a:prstGeom prst="rect">
            <a:avLst/>
          </a:prstGeom>
          <a:noFill/>
          <a:ln/>
        </p:spPr>
        <p:txBody>
          <a:bodyPr wrap="square" lIns="0" tIns="0" rIns="0" bIns="0" rtlCol="0" anchor="t"/>
          <a:lstStyle/>
          <a:p>
            <a:pPr marL="0" indent="0">
              <a:buNone/>
            </a:pPr>
            <a:r>
              <a:rPr lang="en-US" sz="1600" b="1" dirty="0">
                <a:latin typeface="Courier New" pitchFamily="34" charset="0"/>
                <a:ea typeface="Courier New" pitchFamily="34" charset="-122"/>
                <a:cs typeface="Courier New" pitchFamily="34" charset="-120"/>
              </a:rPr>
              <a:t>int linearSearch(int A[], int n, int key)
{
    for (int i = 0; i &lt; n; i++)
        if (A[i] == key)
            return i;
    return -1;
}
int binarySearch(int A[], int n, int key)
{
    int low = 0, high = n - 1;
    while (low &lt;= high)
    {
        int mid = low + (high - low) / 2;
        if (A[mid] == key)
            return mid;
        else if (A[mid] &lt; key)
            low = mid + 1;
        else
            high = mid - 1;
    }
    return -1;
}</a:t>
            </a:r>
            <a:endParaRPr lang="en-US" sz="1600" b="1" dirty="0"/>
          </a:p>
        </p:txBody>
      </p:sp>
      <p:sp>
        <p:nvSpPr>
          <p:cNvPr id="8" name="Shape 6"/>
          <p:cNvSpPr/>
          <p:nvPr/>
        </p:nvSpPr>
        <p:spPr>
          <a:xfrm>
            <a:off x="7040880" y="1075765"/>
            <a:ext cx="4526280" cy="3313355"/>
          </a:xfrm>
          <a:prstGeom prst="roundRect">
            <a:avLst>
              <a:gd name="adj" fmla="val 2424"/>
            </a:avLst>
          </a:prstGeom>
          <a:solidFill>
            <a:schemeClr val="tx2">
              <a:lumMod val="20000"/>
              <a:lumOff val="80000"/>
            </a:schemeClr>
          </a:solidFill>
          <a:ln/>
        </p:spPr>
      </p:sp>
      <p:sp>
        <p:nvSpPr>
          <p:cNvPr id="9" name="Text 7"/>
          <p:cNvSpPr txBox="1"/>
          <p:nvPr/>
        </p:nvSpPr>
        <p:spPr>
          <a:xfrm>
            <a:off x="7178040" y="1177923"/>
            <a:ext cx="4526280" cy="2688336"/>
          </a:xfrm>
          <a:prstGeom prst="rect">
            <a:avLst/>
          </a:prstGeom>
          <a:noFill/>
          <a:ln/>
        </p:spPr>
        <p:txBody>
          <a:bodyPr wrap="square" lIns="0" tIns="0" rIns="0" bIns="0" rtlCol="0" anchor="t"/>
          <a:lstStyle/>
          <a:p>
            <a:pPr marL="0" indent="0">
              <a:buNone/>
            </a:pPr>
            <a:r>
              <a:rPr lang="en-US" sz="1400" b="1" dirty="0">
                <a:latin typeface="Courier New" pitchFamily="34" charset="0"/>
                <a:ea typeface="Courier New" pitchFamily="34" charset="-122"/>
                <a:cs typeface="Courier New" pitchFamily="34" charset="-120"/>
              </a:rPr>
              <a:t>int main()
{
    int U[] = {34,7,23,32,5,62,14,19};
    int S[] = {5,7,14,19,23,32,34,62};
    int n = 8;
    printf("%d\n", linearSearch(U,n,5));   // 4
    printf("%d\n", linearSearch(U,n,50));  // -1
    printf("%d\n", binarySearch(S,n,23));  // 4
    printf("%d\n", binarySearch(S,n,20));  // -1
    return 0;
}</a:t>
            </a:r>
            <a:endParaRPr lang="en-US" sz="1400" b="1" dirty="0"/>
          </a:p>
        </p:txBody>
      </p:sp>
      <p:sp>
        <p:nvSpPr>
          <p:cNvPr id="10" name="Shape 8"/>
          <p:cNvSpPr/>
          <p:nvPr/>
        </p:nvSpPr>
        <p:spPr>
          <a:xfrm>
            <a:off x="7040880" y="4572000"/>
            <a:ext cx="4572000" cy="1783080"/>
          </a:xfrm>
          <a:prstGeom prst="roundRect">
            <a:avLst>
              <a:gd name="adj" fmla="val 5128"/>
            </a:avLst>
          </a:prstGeom>
          <a:solidFill>
            <a:schemeClr val="accent1">
              <a:lumMod val="20000"/>
              <a:lumOff val="80000"/>
            </a:schemeClr>
          </a:solidFill>
          <a:ln w="12700">
            <a:solidFill>
              <a:srgbClr val="0E7490"/>
            </a:solidFill>
            <a:prstDash val="solid"/>
          </a:ln>
        </p:spPr>
      </p:sp>
      <p:sp>
        <p:nvSpPr>
          <p:cNvPr id="11" name="Text 9"/>
          <p:cNvSpPr txBox="1"/>
          <p:nvPr/>
        </p:nvSpPr>
        <p:spPr>
          <a:xfrm>
            <a:off x="7269480" y="4681728"/>
            <a:ext cx="4206240" cy="274320"/>
          </a:xfrm>
          <a:prstGeom prst="rect">
            <a:avLst/>
          </a:prstGeom>
          <a:noFill/>
          <a:ln/>
        </p:spPr>
        <p:txBody>
          <a:bodyPr wrap="square" lIns="0" tIns="0" rIns="0" bIns="0" rtlCol="0" anchor="ctr"/>
          <a:lstStyle/>
          <a:p>
            <a:pPr marL="0" indent="0">
              <a:buNone/>
            </a:pPr>
            <a:r>
              <a:rPr lang="en-US" b="1" kern="0" spc="50" dirty="0">
                <a:solidFill>
                  <a:srgbClr val="D97706"/>
                </a:solidFill>
                <a:latin typeface="Calibri" pitchFamily="34" charset="0"/>
                <a:ea typeface="Calibri" pitchFamily="34" charset="-122"/>
                <a:cs typeface="Calibri" pitchFamily="34" charset="-120"/>
              </a:rPr>
              <a:t>WHY  mid = low + (high − low) / 2 ?</a:t>
            </a:r>
            <a:endParaRPr lang="en-US" dirty="0"/>
          </a:p>
        </p:txBody>
      </p:sp>
      <p:sp>
        <p:nvSpPr>
          <p:cNvPr id="12" name="Text 10"/>
          <p:cNvSpPr txBox="1"/>
          <p:nvPr/>
        </p:nvSpPr>
        <p:spPr>
          <a:xfrm>
            <a:off x="7269480" y="4983480"/>
            <a:ext cx="4206240" cy="1325880"/>
          </a:xfrm>
          <a:prstGeom prst="rect">
            <a:avLst/>
          </a:prstGeom>
          <a:noFill/>
          <a:ln/>
        </p:spPr>
        <p:txBody>
          <a:bodyPr wrap="square" lIns="0" tIns="0" rIns="0" bIns="0" rtlCol="0" anchor="ctr"/>
          <a:lstStyle/>
          <a:p>
            <a:pPr marL="0" indent="0">
              <a:lnSpc>
                <a:spcPct val="130000"/>
              </a:lnSpc>
              <a:buNone/>
            </a:pPr>
            <a:r>
              <a:rPr lang="en-US" sz="1600" dirty="0">
                <a:latin typeface="Calibri" pitchFamily="34" charset="0"/>
                <a:ea typeface="Calibri" pitchFamily="34" charset="-122"/>
                <a:cs typeface="Calibri" pitchFamily="34" charset="-120"/>
              </a:rPr>
              <a:t>It equals ⌊(low+high)/2⌋ mathematically but avoids integer overflow: for very large arrays low + high can exceed INT_MAX = 2,147,483,647.</a:t>
            </a:r>
            <a:endParaRPr lang="en-US" sz="1600" dirty="0"/>
          </a:p>
        </p:txBody>
      </p:sp>
      <p:sp>
        <p:nvSpPr>
          <p:cNvPr id="13" name="Text 11"/>
          <p:cNvSpPr txBox="1"/>
          <p:nvPr/>
        </p:nvSpPr>
        <p:spPr>
          <a:xfrm>
            <a:off x="548640" y="6547104"/>
            <a:ext cx="6858000" cy="256032"/>
          </a:xfrm>
          <a:prstGeom prst="rect">
            <a:avLst/>
          </a:prstGeom>
          <a:noFill/>
          <a:ln/>
        </p:spPr>
        <p:txBody>
          <a:bodyPr wrap="square" lIns="0" tIns="0" rIns="0" bIns="0" rtlCol="0" anchor="ctr"/>
          <a:lstStyle/>
          <a:p>
            <a:pPr marL="0" indent="0">
              <a:buNone/>
            </a:pPr>
            <a:r>
              <a:rPr lang="en-US" sz="900" dirty="0">
                <a:solidFill>
                  <a:srgbClr val="8FC7D6"/>
                </a:solidFill>
                <a:latin typeface="Calibri" pitchFamily="34" charset="0"/>
                <a:ea typeface="Calibri" pitchFamily="34" charset="-122"/>
                <a:cs typeface="Calibri" pitchFamily="34" charset="-120"/>
              </a:rPr>
              <a:t>Linear &amp; Binary Search  |  Data Structures Using C</a:t>
            </a:r>
            <a:endParaRPr lang="en-US" sz="900" dirty="0"/>
          </a:p>
        </p:txBody>
      </p:sp>
      <p:sp>
        <p:nvSpPr>
          <p:cNvPr id="14" name="Text 12"/>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900" dirty="0">
                <a:solidFill>
                  <a:srgbClr val="8FC7D6"/>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500000">
            <a:off x="10972800" y="-1005840"/>
            <a:ext cx="2377440" cy="2377440"/>
          </a:xfrm>
          <a:prstGeom prst="triangle">
            <a:avLst/>
          </a:prstGeom>
          <a:solidFill>
            <a:srgbClr val="0E7490">
              <a:alpha val="5000"/>
            </a:srgbClr>
          </a:solidFill>
          <a:ln/>
        </p:spPr>
      </p:sp>
      <p:sp>
        <p:nvSpPr>
          <p:cNvPr id="3" name="Shape 1"/>
          <p:cNvSpPr/>
          <p:nvPr/>
        </p:nvSpPr>
        <p:spPr>
          <a:xfrm rot="12300000">
            <a:off x="-1097280" y="5760720"/>
            <a:ext cx="2377440" cy="2377440"/>
          </a:xfrm>
          <a:prstGeom prst="triangle">
            <a:avLst/>
          </a:prstGeom>
          <a:solidFill>
            <a:srgbClr val="0E7490">
              <a:alpha val="5000"/>
            </a:srgbClr>
          </a:solidFill>
          <a:ln/>
        </p:spPr>
      </p:sp>
      <p:sp>
        <p:nvSpPr>
          <p:cNvPr id="4" name="Text 2"/>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22A6C4"/>
                </a:solidFill>
                <a:latin typeface="Calibri" pitchFamily="34" charset="0"/>
                <a:ea typeface="Calibri" pitchFamily="34" charset="-122"/>
                <a:cs typeface="Calibri" pitchFamily="34" charset="-120"/>
              </a:rPr>
              <a:t>CONNECTING CODE TO EXAMPLE</a:t>
            </a:r>
            <a:endParaRPr lang="en-US" sz="1300" dirty="0"/>
          </a:p>
        </p:txBody>
      </p:sp>
      <p:sp>
        <p:nvSpPr>
          <p:cNvPr id="5" name="Text 3"/>
          <p:cNvSpPr txBox="1"/>
          <p:nvPr/>
        </p:nvSpPr>
        <p:spPr>
          <a:xfrm>
            <a:off x="548640" y="621792"/>
            <a:ext cx="11064240" cy="731520"/>
          </a:xfrm>
          <a:prstGeom prst="rect">
            <a:avLst/>
          </a:prstGeom>
          <a:noFill/>
          <a:ln/>
        </p:spPr>
        <p:txBody>
          <a:bodyPr wrap="square" lIns="0" tIns="0" rIns="0" bIns="0" rtlCol="0" anchor="ctr"/>
          <a:lstStyle/>
          <a:p>
            <a:pPr marL="0" indent="0">
              <a:buNone/>
            </a:pPr>
            <a:r>
              <a:rPr lang="en-US" sz="3000" b="1" dirty="0">
                <a:solidFill>
                  <a:srgbClr val="10242E"/>
                </a:solidFill>
                <a:latin typeface="Cambria" pitchFamily="34" charset="0"/>
                <a:ea typeface="Cambria" pitchFamily="34" charset="-122"/>
                <a:cs typeface="Cambria" pitchFamily="34" charset="-120"/>
              </a:rPr>
              <a:t>Trace: binarySearch(S, 8, 23)</a:t>
            </a:r>
            <a:endParaRPr lang="en-US" sz="3000" dirty="0"/>
          </a:p>
        </p:txBody>
      </p:sp>
      <p:sp>
        <p:nvSpPr>
          <p:cNvPr id="6" name="Text 4"/>
          <p:cNvSpPr txBox="1"/>
          <p:nvPr/>
        </p:nvSpPr>
        <p:spPr>
          <a:xfrm>
            <a:off x="548640" y="1325880"/>
            <a:ext cx="10972800" cy="292608"/>
          </a:xfrm>
          <a:prstGeom prst="rect">
            <a:avLst/>
          </a:prstGeom>
          <a:noFill/>
          <a:ln/>
        </p:spPr>
        <p:txBody>
          <a:bodyPr wrap="square" lIns="0" tIns="0" rIns="0" bIns="0" rtlCol="0" anchor="ctr"/>
          <a:lstStyle/>
          <a:p>
            <a:pPr marL="0" indent="0">
              <a:buNone/>
            </a:pPr>
            <a:r>
              <a:rPr lang="en-US" sz="1200" dirty="0">
                <a:solidFill>
                  <a:srgbClr val="5B6584"/>
                </a:solidFill>
                <a:latin typeface="Courier New" pitchFamily="34" charset="0"/>
                <a:ea typeface="Courier New" pitchFamily="34" charset="-122"/>
                <a:cs typeface="Courier New" pitchFamily="34" charset="-120"/>
              </a:rPr>
              <a:t>Initial:  low = 0,  high = n − 1 = 7,  key = 23</a:t>
            </a:r>
            <a:endParaRPr lang="en-US" sz="1200" dirty="0"/>
          </a:p>
        </p:txBody>
      </p:sp>
      <p:sp>
        <p:nvSpPr>
          <p:cNvPr id="7" name="Shape 5"/>
          <p:cNvSpPr/>
          <p:nvPr/>
        </p:nvSpPr>
        <p:spPr>
          <a:xfrm>
            <a:off x="548640" y="1737360"/>
            <a:ext cx="11064240" cy="457200"/>
          </a:xfrm>
          <a:prstGeom prst="roundRect">
            <a:avLst>
              <a:gd name="adj" fmla="val 20000"/>
            </a:avLst>
          </a:prstGeom>
          <a:solidFill>
            <a:srgbClr val="0E7490"/>
          </a:solidFill>
          <a:ln w="12700">
            <a:solidFill>
              <a:srgbClr val="0E7490"/>
            </a:solidFill>
            <a:prstDash val="solid"/>
          </a:ln>
        </p:spPr>
      </p:sp>
      <p:sp>
        <p:nvSpPr>
          <p:cNvPr id="8" name="Text 6"/>
          <p:cNvSpPr txBox="1"/>
          <p:nvPr/>
        </p:nvSpPr>
        <p:spPr>
          <a:xfrm>
            <a:off x="548640" y="1737360"/>
            <a:ext cx="73152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Iter</a:t>
            </a:r>
            <a:endParaRPr lang="en-US" sz="1100" dirty="0"/>
          </a:p>
        </p:txBody>
      </p:sp>
      <p:sp>
        <p:nvSpPr>
          <p:cNvPr id="9" name="Text 7"/>
          <p:cNvSpPr txBox="1"/>
          <p:nvPr/>
        </p:nvSpPr>
        <p:spPr>
          <a:xfrm>
            <a:off x="1280160" y="1737360"/>
            <a:ext cx="82296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low</a:t>
            </a:r>
            <a:endParaRPr lang="en-US" sz="1100" dirty="0"/>
          </a:p>
        </p:txBody>
      </p:sp>
      <p:sp>
        <p:nvSpPr>
          <p:cNvPr id="10" name="Text 8"/>
          <p:cNvSpPr txBox="1"/>
          <p:nvPr/>
        </p:nvSpPr>
        <p:spPr>
          <a:xfrm>
            <a:off x="2103120" y="1737360"/>
            <a:ext cx="82296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high</a:t>
            </a:r>
            <a:endParaRPr lang="en-US" sz="1100" dirty="0"/>
          </a:p>
        </p:txBody>
      </p:sp>
      <p:sp>
        <p:nvSpPr>
          <p:cNvPr id="11" name="Text 9"/>
          <p:cNvSpPr txBox="1"/>
          <p:nvPr/>
        </p:nvSpPr>
        <p:spPr>
          <a:xfrm>
            <a:off x="2926080" y="1737360"/>
            <a:ext cx="301752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mid = low + (high − low)/2</a:t>
            </a:r>
            <a:endParaRPr lang="en-US" sz="1100" dirty="0"/>
          </a:p>
        </p:txBody>
      </p:sp>
      <p:sp>
        <p:nvSpPr>
          <p:cNvPr id="12" name="Text 10"/>
          <p:cNvSpPr txBox="1"/>
          <p:nvPr/>
        </p:nvSpPr>
        <p:spPr>
          <a:xfrm>
            <a:off x="5943600" y="1737360"/>
            <a:ext cx="100584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A[mid]</a:t>
            </a:r>
            <a:endParaRPr lang="en-US" sz="1100" dirty="0"/>
          </a:p>
        </p:txBody>
      </p:sp>
      <p:sp>
        <p:nvSpPr>
          <p:cNvPr id="13" name="Text 11"/>
          <p:cNvSpPr txBox="1"/>
          <p:nvPr/>
        </p:nvSpPr>
        <p:spPr>
          <a:xfrm>
            <a:off x="6949440" y="1737360"/>
            <a:ext cx="283464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Tests executed</a:t>
            </a:r>
            <a:endParaRPr lang="en-US" sz="1100" dirty="0"/>
          </a:p>
        </p:txBody>
      </p:sp>
      <p:sp>
        <p:nvSpPr>
          <p:cNvPr id="14" name="Text 12"/>
          <p:cNvSpPr txBox="1"/>
          <p:nvPr/>
        </p:nvSpPr>
        <p:spPr>
          <a:xfrm>
            <a:off x="9784080" y="1737360"/>
            <a:ext cx="182880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Action</a:t>
            </a:r>
            <a:endParaRPr lang="en-US" sz="1100" dirty="0"/>
          </a:p>
        </p:txBody>
      </p:sp>
      <p:sp>
        <p:nvSpPr>
          <p:cNvPr id="15" name="Shape 13"/>
          <p:cNvSpPr/>
          <p:nvPr/>
        </p:nvSpPr>
        <p:spPr>
          <a:xfrm>
            <a:off x="548640" y="2194560"/>
            <a:ext cx="11064240" cy="502920"/>
          </a:xfrm>
          <a:prstGeom prst="roundRect">
            <a:avLst>
              <a:gd name="adj" fmla="val 18182"/>
            </a:avLst>
          </a:prstGeom>
          <a:solidFill>
            <a:srgbClr val="E6F5F9"/>
          </a:solidFill>
          <a:ln w="12700">
            <a:solidFill>
              <a:srgbClr val="B8E0EA"/>
            </a:solidFill>
            <a:prstDash val="solid"/>
          </a:ln>
        </p:spPr>
      </p:sp>
      <p:sp>
        <p:nvSpPr>
          <p:cNvPr id="16" name="Text 14"/>
          <p:cNvSpPr txBox="1"/>
          <p:nvPr/>
        </p:nvSpPr>
        <p:spPr>
          <a:xfrm>
            <a:off x="548640" y="2194560"/>
            <a:ext cx="731520" cy="502920"/>
          </a:xfrm>
          <a:prstGeom prst="rect">
            <a:avLst/>
          </a:prstGeom>
          <a:noFill/>
          <a:ln/>
        </p:spPr>
        <p:txBody>
          <a:bodyPr wrap="square" lIns="0" tIns="0" rIns="0" bIns="0" rtlCol="0" anchor="ctr"/>
          <a:lstStyle/>
          <a:p>
            <a:pPr marL="0" indent="0" algn="ctr">
              <a:buNone/>
            </a:pPr>
            <a:r>
              <a:rPr lang="en-US" sz="1100" b="1" dirty="0">
                <a:solidFill>
                  <a:srgbClr val="1B2233"/>
                </a:solidFill>
                <a:latin typeface="Calibri" pitchFamily="34" charset="0"/>
                <a:ea typeface="Calibri" pitchFamily="34" charset="-122"/>
                <a:cs typeface="Calibri" pitchFamily="34" charset="-120"/>
              </a:rPr>
              <a:t>1</a:t>
            </a:r>
            <a:endParaRPr lang="en-US" sz="1100" dirty="0"/>
          </a:p>
        </p:txBody>
      </p:sp>
      <p:sp>
        <p:nvSpPr>
          <p:cNvPr id="17" name="Text 15"/>
          <p:cNvSpPr txBox="1"/>
          <p:nvPr/>
        </p:nvSpPr>
        <p:spPr>
          <a:xfrm>
            <a:off x="1280160" y="2194560"/>
            <a:ext cx="822960" cy="502920"/>
          </a:xfrm>
          <a:prstGeom prst="rect">
            <a:avLst/>
          </a:prstGeom>
          <a:noFill/>
          <a:ln/>
        </p:spPr>
        <p:txBody>
          <a:bodyPr wrap="square" lIns="0" tIns="0" rIns="0" bIns="0" rtlCol="0" anchor="ctr"/>
          <a:lstStyle/>
          <a:p>
            <a:pPr marL="0" indent="0" algn="ctr">
              <a:buNone/>
            </a:pPr>
            <a:r>
              <a:rPr lang="en-US" sz="1100" dirty="0">
                <a:solidFill>
                  <a:srgbClr val="1B2233"/>
                </a:solidFill>
                <a:latin typeface="Courier New" pitchFamily="34" charset="0"/>
                <a:ea typeface="Courier New" pitchFamily="34" charset="-122"/>
                <a:cs typeface="Courier New" pitchFamily="34" charset="-120"/>
              </a:rPr>
              <a:t>0</a:t>
            </a:r>
            <a:endParaRPr lang="en-US" sz="1100" dirty="0"/>
          </a:p>
        </p:txBody>
      </p:sp>
      <p:sp>
        <p:nvSpPr>
          <p:cNvPr id="18" name="Text 16"/>
          <p:cNvSpPr txBox="1"/>
          <p:nvPr/>
        </p:nvSpPr>
        <p:spPr>
          <a:xfrm>
            <a:off x="2103120" y="2194560"/>
            <a:ext cx="822960" cy="502920"/>
          </a:xfrm>
          <a:prstGeom prst="rect">
            <a:avLst/>
          </a:prstGeom>
          <a:noFill/>
          <a:ln/>
        </p:spPr>
        <p:txBody>
          <a:bodyPr wrap="square" lIns="0" tIns="0" rIns="0" bIns="0" rtlCol="0" anchor="ctr"/>
          <a:lstStyle/>
          <a:p>
            <a:pPr marL="0" indent="0" algn="ctr">
              <a:buNone/>
            </a:pPr>
            <a:r>
              <a:rPr lang="en-US" sz="1100" dirty="0">
                <a:solidFill>
                  <a:srgbClr val="1B2233"/>
                </a:solidFill>
                <a:latin typeface="Courier New" pitchFamily="34" charset="0"/>
                <a:ea typeface="Courier New" pitchFamily="34" charset="-122"/>
                <a:cs typeface="Courier New" pitchFamily="34" charset="-120"/>
              </a:rPr>
              <a:t>7</a:t>
            </a:r>
            <a:endParaRPr lang="en-US" sz="1100" dirty="0"/>
          </a:p>
        </p:txBody>
      </p:sp>
      <p:sp>
        <p:nvSpPr>
          <p:cNvPr id="19" name="Text 17"/>
          <p:cNvSpPr txBox="1"/>
          <p:nvPr/>
        </p:nvSpPr>
        <p:spPr>
          <a:xfrm>
            <a:off x="2926080" y="2194560"/>
            <a:ext cx="3017520" cy="502920"/>
          </a:xfrm>
          <a:prstGeom prst="rect">
            <a:avLst/>
          </a:prstGeom>
          <a:noFill/>
          <a:ln/>
        </p:spPr>
        <p:txBody>
          <a:bodyPr wrap="square" lIns="0" tIns="0" rIns="0" bIns="0" rtlCol="0" anchor="ctr"/>
          <a:lstStyle/>
          <a:p>
            <a:pPr marL="0" indent="0" algn="ctr">
              <a:buNone/>
            </a:pPr>
            <a:r>
              <a:rPr lang="en-US" sz="1100" dirty="0">
                <a:solidFill>
                  <a:srgbClr val="1B2233"/>
                </a:solidFill>
                <a:latin typeface="Courier New" pitchFamily="34" charset="0"/>
                <a:ea typeface="Courier New" pitchFamily="34" charset="-122"/>
                <a:cs typeface="Courier New" pitchFamily="34" charset="-120"/>
              </a:rPr>
              <a:t>0 + (7−0)/2 = 3</a:t>
            </a:r>
            <a:endParaRPr lang="en-US" sz="1100" dirty="0"/>
          </a:p>
        </p:txBody>
      </p:sp>
      <p:sp>
        <p:nvSpPr>
          <p:cNvPr id="20" name="Text 18"/>
          <p:cNvSpPr txBox="1"/>
          <p:nvPr/>
        </p:nvSpPr>
        <p:spPr>
          <a:xfrm>
            <a:off x="5943600" y="2194560"/>
            <a:ext cx="1005840" cy="502920"/>
          </a:xfrm>
          <a:prstGeom prst="rect">
            <a:avLst/>
          </a:prstGeom>
          <a:noFill/>
          <a:ln/>
        </p:spPr>
        <p:txBody>
          <a:bodyPr wrap="square" lIns="0" tIns="0" rIns="0" bIns="0" rtlCol="0" anchor="ctr"/>
          <a:lstStyle/>
          <a:p>
            <a:pPr marL="0" indent="0" algn="ctr">
              <a:buNone/>
            </a:pPr>
            <a:r>
              <a:rPr lang="en-US" sz="1100" dirty="0">
                <a:solidFill>
                  <a:srgbClr val="1B2233"/>
                </a:solidFill>
                <a:latin typeface="Courier New" pitchFamily="34" charset="0"/>
                <a:ea typeface="Courier New" pitchFamily="34" charset="-122"/>
                <a:cs typeface="Courier New" pitchFamily="34" charset="-120"/>
              </a:rPr>
              <a:t>19</a:t>
            </a:r>
            <a:endParaRPr lang="en-US" sz="1100" dirty="0"/>
          </a:p>
        </p:txBody>
      </p:sp>
      <p:sp>
        <p:nvSpPr>
          <p:cNvPr id="21" name="Text 19"/>
          <p:cNvSpPr txBox="1"/>
          <p:nvPr/>
        </p:nvSpPr>
        <p:spPr>
          <a:xfrm>
            <a:off x="6949440" y="2194560"/>
            <a:ext cx="2834640" cy="502920"/>
          </a:xfrm>
          <a:prstGeom prst="rect">
            <a:avLst/>
          </a:prstGeom>
          <a:noFill/>
          <a:ln/>
        </p:spPr>
        <p:txBody>
          <a:bodyPr wrap="square" lIns="0" tIns="0" rIns="0" bIns="0" rtlCol="0" anchor="ctr"/>
          <a:lstStyle/>
          <a:p>
            <a:pPr marL="0" indent="0" algn="ctr">
              <a:buNone/>
            </a:pPr>
            <a:r>
              <a:rPr lang="en-US" sz="1100" dirty="0">
                <a:solidFill>
                  <a:srgbClr val="1B2233"/>
                </a:solidFill>
                <a:latin typeface="Courier New" pitchFamily="34" charset="0"/>
                <a:ea typeface="Courier New" pitchFamily="34" charset="-122"/>
                <a:cs typeface="Courier New" pitchFamily="34" charset="-120"/>
              </a:rPr>
              <a:t>19==23? no;  19&lt;23? yes</a:t>
            </a:r>
            <a:endParaRPr lang="en-US" sz="1100" dirty="0"/>
          </a:p>
        </p:txBody>
      </p:sp>
      <p:sp>
        <p:nvSpPr>
          <p:cNvPr id="22" name="Text 20"/>
          <p:cNvSpPr txBox="1"/>
          <p:nvPr/>
        </p:nvSpPr>
        <p:spPr>
          <a:xfrm>
            <a:off x="9784080" y="2194560"/>
            <a:ext cx="1828800" cy="502920"/>
          </a:xfrm>
          <a:prstGeom prst="rect">
            <a:avLst/>
          </a:prstGeom>
          <a:noFill/>
          <a:ln/>
        </p:spPr>
        <p:txBody>
          <a:bodyPr wrap="square" lIns="0" tIns="0" rIns="0" bIns="0" rtlCol="0" anchor="ctr"/>
          <a:lstStyle/>
          <a:p>
            <a:pPr marL="0" indent="0" algn="ctr">
              <a:buNone/>
            </a:pPr>
            <a:r>
              <a:rPr lang="en-US" sz="1100" dirty="0">
                <a:solidFill>
                  <a:srgbClr val="1B2233"/>
                </a:solidFill>
                <a:latin typeface="Courier New" pitchFamily="34" charset="0"/>
                <a:ea typeface="Courier New" pitchFamily="34" charset="-122"/>
                <a:cs typeface="Courier New" pitchFamily="34" charset="-120"/>
              </a:rPr>
              <a:t>low = 4</a:t>
            </a:r>
            <a:endParaRPr lang="en-US" sz="1100" dirty="0"/>
          </a:p>
        </p:txBody>
      </p:sp>
      <p:sp>
        <p:nvSpPr>
          <p:cNvPr id="23" name="Shape 21"/>
          <p:cNvSpPr/>
          <p:nvPr/>
        </p:nvSpPr>
        <p:spPr>
          <a:xfrm>
            <a:off x="548640" y="2697480"/>
            <a:ext cx="11064240" cy="502920"/>
          </a:xfrm>
          <a:prstGeom prst="roundRect">
            <a:avLst>
              <a:gd name="adj" fmla="val 18182"/>
            </a:avLst>
          </a:prstGeom>
          <a:solidFill>
            <a:srgbClr val="FFFFFF"/>
          </a:solidFill>
          <a:ln w="12700">
            <a:solidFill>
              <a:srgbClr val="B8E0EA"/>
            </a:solidFill>
            <a:prstDash val="solid"/>
          </a:ln>
        </p:spPr>
      </p:sp>
      <p:sp>
        <p:nvSpPr>
          <p:cNvPr id="24" name="Text 22"/>
          <p:cNvSpPr txBox="1"/>
          <p:nvPr/>
        </p:nvSpPr>
        <p:spPr>
          <a:xfrm>
            <a:off x="548640" y="2697480"/>
            <a:ext cx="731520" cy="502920"/>
          </a:xfrm>
          <a:prstGeom prst="rect">
            <a:avLst/>
          </a:prstGeom>
          <a:noFill/>
          <a:ln/>
        </p:spPr>
        <p:txBody>
          <a:bodyPr wrap="square" lIns="0" tIns="0" rIns="0" bIns="0" rtlCol="0" anchor="ctr"/>
          <a:lstStyle/>
          <a:p>
            <a:pPr marL="0" indent="0" algn="ctr">
              <a:buNone/>
            </a:pPr>
            <a:r>
              <a:rPr lang="en-US" sz="1100" b="1" dirty="0">
                <a:solidFill>
                  <a:srgbClr val="1B2233"/>
                </a:solidFill>
                <a:latin typeface="Calibri" pitchFamily="34" charset="0"/>
                <a:ea typeface="Calibri" pitchFamily="34" charset="-122"/>
                <a:cs typeface="Calibri" pitchFamily="34" charset="-120"/>
              </a:rPr>
              <a:t>2</a:t>
            </a:r>
            <a:endParaRPr lang="en-US" sz="1100" dirty="0"/>
          </a:p>
        </p:txBody>
      </p:sp>
      <p:sp>
        <p:nvSpPr>
          <p:cNvPr id="25" name="Text 23"/>
          <p:cNvSpPr txBox="1"/>
          <p:nvPr/>
        </p:nvSpPr>
        <p:spPr>
          <a:xfrm>
            <a:off x="1280160" y="2697480"/>
            <a:ext cx="822960" cy="502920"/>
          </a:xfrm>
          <a:prstGeom prst="rect">
            <a:avLst/>
          </a:prstGeom>
          <a:noFill/>
          <a:ln/>
        </p:spPr>
        <p:txBody>
          <a:bodyPr wrap="square" lIns="0" tIns="0" rIns="0" bIns="0" rtlCol="0" anchor="ctr"/>
          <a:lstStyle/>
          <a:p>
            <a:pPr marL="0" indent="0" algn="ctr">
              <a:buNone/>
            </a:pPr>
            <a:r>
              <a:rPr lang="en-US" sz="1100" dirty="0">
                <a:solidFill>
                  <a:srgbClr val="1B2233"/>
                </a:solidFill>
                <a:latin typeface="Courier New" pitchFamily="34" charset="0"/>
                <a:ea typeface="Courier New" pitchFamily="34" charset="-122"/>
                <a:cs typeface="Courier New" pitchFamily="34" charset="-120"/>
              </a:rPr>
              <a:t>4</a:t>
            </a:r>
            <a:endParaRPr lang="en-US" sz="1100" dirty="0"/>
          </a:p>
        </p:txBody>
      </p:sp>
      <p:sp>
        <p:nvSpPr>
          <p:cNvPr id="26" name="Text 24"/>
          <p:cNvSpPr txBox="1"/>
          <p:nvPr/>
        </p:nvSpPr>
        <p:spPr>
          <a:xfrm>
            <a:off x="2103120" y="2697480"/>
            <a:ext cx="822960" cy="502920"/>
          </a:xfrm>
          <a:prstGeom prst="rect">
            <a:avLst/>
          </a:prstGeom>
          <a:noFill/>
          <a:ln/>
        </p:spPr>
        <p:txBody>
          <a:bodyPr wrap="square" lIns="0" tIns="0" rIns="0" bIns="0" rtlCol="0" anchor="ctr"/>
          <a:lstStyle/>
          <a:p>
            <a:pPr marL="0" indent="0" algn="ctr">
              <a:buNone/>
            </a:pPr>
            <a:r>
              <a:rPr lang="en-US" sz="1100" dirty="0">
                <a:solidFill>
                  <a:srgbClr val="1B2233"/>
                </a:solidFill>
                <a:latin typeface="Courier New" pitchFamily="34" charset="0"/>
                <a:ea typeface="Courier New" pitchFamily="34" charset="-122"/>
                <a:cs typeface="Courier New" pitchFamily="34" charset="-120"/>
              </a:rPr>
              <a:t>7</a:t>
            </a:r>
            <a:endParaRPr lang="en-US" sz="1100" dirty="0"/>
          </a:p>
        </p:txBody>
      </p:sp>
      <p:sp>
        <p:nvSpPr>
          <p:cNvPr id="27" name="Text 25"/>
          <p:cNvSpPr txBox="1"/>
          <p:nvPr/>
        </p:nvSpPr>
        <p:spPr>
          <a:xfrm>
            <a:off x="2926080" y="2697480"/>
            <a:ext cx="3017520" cy="502920"/>
          </a:xfrm>
          <a:prstGeom prst="rect">
            <a:avLst/>
          </a:prstGeom>
          <a:noFill/>
          <a:ln/>
        </p:spPr>
        <p:txBody>
          <a:bodyPr wrap="square" lIns="0" tIns="0" rIns="0" bIns="0" rtlCol="0" anchor="ctr"/>
          <a:lstStyle/>
          <a:p>
            <a:pPr marL="0" indent="0" algn="ctr">
              <a:buNone/>
            </a:pPr>
            <a:r>
              <a:rPr lang="en-US" sz="1100" dirty="0">
                <a:solidFill>
                  <a:srgbClr val="1B2233"/>
                </a:solidFill>
                <a:latin typeface="Courier New" pitchFamily="34" charset="0"/>
                <a:ea typeface="Courier New" pitchFamily="34" charset="-122"/>
                <a:cs typeface="Courier New" pitchFamily="34" charset="-120"/>
              </a:rPr>
              <a:t>4 + (7−4)/2 = 5</a:t>
            </a:r>
            <a:endParaRPr lang="en-US" sz="1100" dirty="0"/>
          </a:p>
        </p:txBody>
      </p:sp>
      <p:sp>
        <p:nvSpPr>
          <p:cNvPr id="28" name="Text 26"/>
          <p:cNvSpPr txBox="1"/>
          <p:nvPr/>
        </p:nvSpPr>
        <p:spPr>
          <a:xfrm>
            <a:off x="5943600" y="2697480"/>
            <a:ext cx="1005840" cy="502920"/>
          </a:xfrm>
          <a:prstGeom prst="rect">
            <a:avLst/>
          </a:prstGeom>
          <a:noFill/>
          <a:ln/>
        </p:spPr>
        <p:txBody>
          <a:bodyPr wrap="square" lIns="0" tIns="0" rIns="0" bIns="0" rtlCol="0" anchor="ctr"/>
          <a:lstStyle/>
          <a:p>
            <a:pPr marL="0" indent="0" algn="ctr">
              <a:buNone/>
            </a:pPr>
            <a:r>
              <a:rPr lang="en-US" sz="1100" dirty="0">
                <a:solidFill>
                  <a:srgbClr val="1B2233"/>
                </a:solidFill>
                <a:latin typeface="Courier New" pitchFamily="34" charset="0"/>
                <a:ea typeface="Courier New" pitchFamily="34" charset="-122"/>
                <a:cs typeface="Courier New" pitchFamily="34" charset="-120"/>
              </a:rPr>
              <a:t>32</a:t>
            </a:r>
            <a:endParaRPr lang="en-US" sz="1100" dirty="0"/>
          </a:p>
        </p:txBody>
      </p:sp>
      <p:sp>
        <p:nvSpPr>
          <p:cNvPr id="29" name="Text 27"/>
          <p:cNvSpPr txBox="1"/>
          <p:nvPr/>
        </p:nvSpPr>
        <p:spPr>
          <a:xfrm>
            <a:off x="6949440" y="2697480"/>
            <a:ext cx="2834640" cy="502920"/>
          </a:xfrm>
          <a:prstGeom prst="rect">
            <a:avLst/>
          </a:prstGeom>
          <a:noFill/>
          <a:ln/>
        </p:spPr>
        <p:txBody>
          <a:bodyPr wrap="square" lIns="0" tIns="0" rIns="0" bIns="0" rtlCol="0" anchor="ctr"/>
          <a:lstStyle/>
          <a:p>
            <a:pPr marL="0" indent="0" algn="ctr">
              <a:buNone/>
            </a:pPr>
            <a:r>
              <a:rPr lang="en-US" sz="1100" dirty="0">
                <a:solidFill>
                  <a:srgbClr val="1B2233"/>
                </a:solidFill>
                <a:latin typeface="Courier New" pitchFamily="34" charset="0"/>
                <a:ea typeface="Courier New" pitchFamily="34" charset="-122"/>
                <a:cs typeface="Courier New" pitchFamily="34" charset="-120"/>
              </a:rPr>
              <a:t>32==23? no;  32&lt;23? no</a:t>
            </a:r>
            <a:endParaRPr lang="en-US" sz="1100" dirty="0"/>
          </a:p>
        </p:txBody>
      </p:sp>
      <p:sp>
        <p:nvSpPr>
          <p:cNvPr id="30" name="Text 28"/>
          <p:cNvSpPr txBox="1"/>
          <p:nvPr/>
        </p:nvSpPr>
        <p:spPr>
          <a:xfrm>
            <a:off x="9784080" y="2697480"/>
            <a:ext cx="1828800" cy="502920"/>
          </a:xfrm>
          <a:prstGeom prst="rect">
            <a:avLst/>
          </a:prstGeom>
          <a:noFill/>
          <a:ln/>
        </p:spPr>
        <p:txBody>
          <a:bodyPr wrap="square" lIns="0" tIns="0" rIns="0" bIns="0" rtlCol="0" anchor="ctr"/>
          <a:lstStyle/>
          <a:p>
            <a:pPr marL="0" indent="0" algn="ctr">
              <a:buNone/>
            </a:pPr>
            <a:r>
              <a:rPr lang="en-US" sz="1100" dirty="0">
                <a:solidFill>
                  <a:srgbClr val="1B2233"/>
                </a:solidFill>
                <a:latin typeface="Courier New" pitchFamily="34" charset="0"/>
                <a:ea typeface="Courier New" pitchFamily="34" charset="-122"/>
                <a:cs typeface="Courier New" pitchFamily="34" charset="-120"/>
              </a:rPr>
              <a:t>high = 4</a:t>
            </a:r>
            <a:endParaRPr lang="en-US" sz="1100" dirty="0"/>
          </a:p>
        </p:txBody>
      </p:sp>
      <p:sp>
        <p:nvSpPr>
          <p:cNvPr id="31" name="Shape 29"/>
          <p:cNvSpPr/>
          <p:nvPr/>
        </p:nvSpPr>
        <p:spPr>
          <a:xfrm>
            <a:off x="548640" y="3200400"/>
            <a:ext cx="11064240" cy="502920"/>
          </a:xfrm>
          <a:prstGeom prst="roundRect">
            <a:avLst>
              <a:gd name="adj" fmla="val 18182"/>
            </a:avLst>
          </a:prstGeom>
          <a:solidFill>
            <a:srgbClr val="E6F5F9"/>
          </a:solidFill>
          <a:ln w="12700">
            <a:solidFill>
              <a:srgbClr val="B8E0EA"/>
            </a:solidFill>
            <a:prstDash val="solid"/>
          </a:ln>
        </p:spPr>
      </p:sp>
      <p:sp>
        <p:nvSpPr>
          <p:cNvPr id="32" name="Text 30"/>
          <p:cNvSpPr txBox="1"/>
          <p:nvPr/>
        </p:nvSpPr>
        <p:spPr>
          <a:xfrm>
            <a:off x="548640" y="3200400"/>
            <a:ext cx="731520" cy="502920"/>
          </a:xfrm>
          <a:prstGeom prst="rect">
            <a:avLst/>
          </a:prstGeom>
          <a:noFill/>
          <a:ln/>
        </p:spPr>
        <p:txBody>
          <a:bodyPr wrap="square" lIns="0" tIns="0" rIns="0" bIns="0" rtlCol="0" anchor="ctr"/>
          <a:lstStyle/>
          <a:p>
            <a:pPr marL="0" indent="0" algn="ctr">
              <a:buNone/>
            </a:pPr>
            <a:r>
              <a:rPr lang="en-US" sz="1100" b="1" dirty="0">
                <a:solidFill>
                  <a:srgbClr val="1B2233"/>
                </a:solidFill>
                <a:latin typeface="Calibri" pitchFamily="34" charset="0"/>
                <a:ea typeface="Calibri" pitchFamily="34" charset="-122"/>
                <a:cs typeface="Calibri" pitchFamily="34" charset="-120"/>
              </a:rPr>
              <a:t>3</a:t>
            </a:r>
            <a:endParaRPr lang="en-US" sz="1100" dirty="0"/>
          </a:p>
        </p:txBody>
      </p:sp>
      <p:sp>
        <p:nvSpPr>
          <p:cNvPr id="33" name="Text 31"/>
          <p:cNvSpPr txBox="1"/>
          <p:nvPr/>
        </p:nvSpPr>
        <p:spPr>
          <a:xfrm>
            <a:off x="1280160" y="3200400"/>
            <a:ext cx="822960" cy="502920"/>
          </a:xfrm>
          <a:prstGeom prst="rect">
            <a:avLst/>
          </a:prstGeom>
          <a:noFill/>
          <a:ln/>
        </p:spPr>
        <p:txBody>
          <a:bodyPr wrap="square" lIns="0" tIns="0" rIns="0" bIns="0" rtlCol="0" anchor="ctr"/>
          <a:lstStyle/>
          <a:p>
            <a:pPr marL="0" indent="0" algn="ctr">
              <a:buNone/>
            </a:pPr>
            <a:r>
              <a:rPr lang="en-US" sz="1100" dirty="0">
                <a:solidFill>
                  <a:srgbClr val="1B2233"/>
                </a:solidFill>
                <a:latin typeface="Courier New" pitchFamily="34" charset="0"/>
                <a:ea typeface="Courier New" pitchFamily="34" charset="-122"/>
                <a:cs typeface="Courier New" pitchFamily="34" charset="-120"/>
              </a:rPr>
              <a:t>4</a:t>
            </a:r>
            <a:endParaRPr lang="en-US" sz="1100" dirty="0"/>
          </a:p>
        </p:txBody>
      </p:sp>
      <p:sp>
        <p:nvSpPr>
          <p:cNvPr id="34" name="Text 32"/>
          <p:cNvSpPr txBox="1"/>
          <p:nvPr/>
        </p:nvSpPr>
        <p:spPr>
          <a:xfrm>
            <a:off x="2103120" y="3200400"/>
            <a:ext cx="822960" cy="502920"/>
          </a:xfrm>
          <a:prstGeom prst="rect">
            <a:avLst/>
          </a:prstGeom>
          <a:noFill/>
          <a:ln/>
        </p:spPr>
        <p:txBody>
          <a:bodyPr wrap="square" lIns="0" tIns="0" rIns="0" bIns="0" rtlCol="0" anchor="ctr"/>
          <a:lstStyle/>
          <a:p>
            <a:pPr marL="0" indent="0" algn="ctr">
              <a:buNone/>
            </a:pPr>
            <a:r>
              <a:rPr lang="en-US" sz="1100" dirty="0">
                <a:solidFill>
                  <a:srgbClr val="1B2233"/>
                </a:solidFill>
                <a:latin typeface="Courier New" pitchFamily="34" charset="0"/>
                <a:ea typeface="Courier New" pitchFamily="34" charset="-122"/>
                <a:cs typeface="Courier New" pitchFamily="34" charset="-120"/>
              </a:rPr>
              <a:t>4</a:t>
            </a:r>
            <a:endParaRPr lang="en-US" sz="1100" dirty="0"/>
          </a:p>
        </p:txBody>
      </p:sp>
      <p:sp>
        <p:nvSpPr>
          <p:cNvPr id="35" name="Text 33"/>
          <p:cNvSpPr txBox="1"/>
          <p:nvPr/>
        </p:nvSpPr>
        <p:spPr>
          <a:xfrm>
            <a:off x="2926080" y="3200400"/>
            <a:ext cx="3017520" cy="502920"/>
          </a:xfrm>
          <a:prstGeom prst="rect">
            <a:avLst/>
          </a:prstGeom>
          <a:noFill/>
          <a:ln/>
        </p:spPr>
        <p:txBody>
          <a:bodyPr wrap="square" lIns="0" tIns="0" rIns="0" bIns="0" rtlCol="0" anchor="ctr"/>
          <a:lstStyle/>
          <a:p>
            <a:pPr marL="0" indent="0" algn="ctr">
              <a:buNone/>
            </a:pPr>
            <a:r>
              <a:rPr lang="en-US" sz="1100" dirty="0">
                <a:solidFill>
                  <a:srgbClr val="1B2233"/>
                </a:solidFill>
                <a:latin typeface="Courier New" pitchFamily="34" charset="0"/>
                <a:ea typeface="Courier New" pitchFamily="34" charset="-122"/>
                <a:cs typeface="Courier New" pitchFamily="34" charset="-120"/>
              </a:rPr>
              <a:t>4 + (4−4)/2 = 4</a:t>
            </a:r>
            <a:endParaRPr lang="en-US" sz="1100" dirty="0"/>
          </a:p>
        </p:txBody>
      </p:sp>
      <p:sp>
        <p:nvSpPr>
          <p:cNvPr id="36" name="Text 34"/>
          <p:cNvSpPr txBox="1"/>
          <p:nvPr/>
        </p:nvSpPr>
        <p:spPr>
          <a:xfrm>
            <a:off x="5943600" y="3200400"/>
            <a:ext cx="1005840" cy="502920"/>
          </a:xfrm>
          <a:prstGeom prst="rect">
            <a:avLst/>
          </a:prstGeom>
          <a:noFill/>
          <a:ln/>
        </p:spPr>
        <p:txBody>
          <a:bodyPr wrap="square" lIns="0" tIns="0" rIns="0" bIns="0" rtlCol="0" anchor="ctr"/>
          <a:lstStyle/>
          <a:p>
            <a:pPr marL="0" indent="0" algn="ctr">
              <a:buNone/>
            </a:pPr>
            <a:r>
              <a:rPr lang="en-US" sz="1100" dirty="0">
                <a:solidFill>
                  <a:srgbClr val="1B2233"/>
                </a:solidFill>
                <a:latin typeface="Courier New" pitchFamily="34" charset="0"/>
                <a:ea typeface="Courier New" pitchFamily="34" charset="-122"/>
                <a:cs typeface="Courier New" pitchFamily="34" charset="-120"/>
              </a:rPr>
              <a:t>23</a:t>
            </a:r>
            <a:endParaRPr lang="en-US" sz="1100" dirty="0"/>
          </a:p>
        </p:txBody>
      </p:sp>
      <p:sp>
        <p:nvSpPr>
          <p:cNvPr id="37" name="Text 35"/>
          <p:cNvSpPr txBox="1"/>
          <p:nvPr/>
        </p:nvSpPr>
        <p:spPr>
          <a:xfrm>
            <a:off x="6949440" y="3200400"/>
            <a:ext cx="2834640" cy="502920"/>
          </a:xfrm>
          <a:prstGeom prst="rect">
            <a:avLst/>
          </a:prstGeom>
          <a:noFill/>
          <a:ln/>
        </p:spPr>
        <p:txBody>
          <a:bodyPr wrap="square" lIns="0" tIns="0" rIns="0" bIns="0" rtlCol="0" anchor="ctr"/>
          <a:lstStyle/>
          <a:p>
            <a:pPr marL="0" indent="0" algn="ctr">
              <a:buNone/>
            </a:pPr>
            <a:r>
              <a:rPr lang="en-US" sz="1100" dirty="0">
                <a:solidFill>
                  <a:srgbClr val="1B2233"/>
                </a:solidFill>
                <a:latin typeface="Courier New" pitchFamily="34" charset="0"/>
                <a:ea typeface="Courier New" pitchFamily="34" charset="-122"/>
                <a:cs typeface="Courier New" pitchFamily="34" charset="-120"/>
              </a:rPr>
              <a:t>23==23? yes</a:t>
            </a:r>
            <a:endParaRPr lang="en-US" sz="1100" dirty="0"/>
          </a:p>
        </p:txBody>
      </p:sp>
      <p:sp>
        <p:nvSpPr>
          <p:cNvPr id="38" name="Text 36"/>
          <p:cNvSpPr txBox="1"/>
          <p:nvPr/>
        </p:nvSpPr>
        <p:spPr>
          <a:xfrm>
            <a:off x="9784080" y="3200400"/>
            <a:ext cx="1828800" cy="502920"/>
          </a:xfrm>
          <a:prstGeom prst="rect">
            <a:avLst/>
          </a:prstGeom>
          <a:noFill/>
          <a:ln/>
        </p:spPr>
        <p:txBody>
          <a:bodyPr wrap="square" lIns="0" tIns="0" rIns="0" bIns="0" rtlCol="0" anchor="ctr"/>
          <a:lstStyle/>
          <a:p>
            <a:pPr marL="0" indent="0" algn="ctr">
              <a:buNone/>
            </a:pPr>
            <a:r>
              <a:rPr lang="en-US" sz="1100" dirty="0">
                <a:solidFill>
                  <a:srgbClr val="1B2233"/>
                </a:solidFill>
                <a:latin typeface="Courier New" pitchFamily="34" charset="0"/>
                <a:ea typeface="Courier New" pitchFamily="34" charset="-122"/>
                <a:cs typeface="Courier New" pitchFamily="34" charset="-120"/>
              </a:rPr>
              <a:t>return 4</a:t>
            </a:r>
            <a:endParaRPr lang="en-US" sz="1100" dirty="0"/>
          </a:p>
        </p:txBody>
      </p:sp>
      <p:sp>
        <p:nvSpPr>
          <p:cNvPr id="39" name="Shape 37"/>
          <p:cNvSpPr/>
          <p:nvPr/>
        </p:nvSpPr>
        <p:spPr>
          <a:xfrm>
            <a:off x="548640" y="3931920"/>
            <a:ext cx="5440680" cy="1828800"/>
          </a:xfrm>
          <a:prstGeom prst="roundRect">
            <a:avLst>
              <a:gd name="adj" fmla="val 5000"/>
            </a:avLst>
          </a:prstGeom>
          <a:solidFill>
            <a:srgbClr val="FDF3E7"/>
          </a:solidFill>
          <a:ln w="12700">
            <a:solidFill>
              <a:srgbClr val="F0C89A"/>
            </a:solidFill>
            <a:prstDash val="solid"/>
          </a:ln>
        </p:spPr>
      </p:sp>
      <p:sp>
        <p:nvSpPr>
          <p:cNvPr id="40" name="Text 38"/>
          <p:cNvSpPr txBox="1"/>
          <p:nvPr/>
        </p:nvSpPr>
        <p:spPr>
          <a:xfrm>
            <a:off x="777240" y="4050792"/>
            <a:ext cx="4937760" cy="274320"/>
          </a:xfrm>
          <a:prstGeom prst="rect">
            <a:avLst/>
          </a:prstGeom>
          <a:noFill/>
          <a:ln/>
        </p:spPr>
        <p:txBody>
          <a:bodyPr wrap="square" lIns="0" tIns="0" rIns="0" bIns="0" rtlCol="0" anchor="ctr"/>
          <a:lstStyle/>
          <a:p>
            <a:pPr marL="0" indent="0">
              <a:buNone/>
            </a:pPr>
            <a:r>
              <a:rPr lang="en-US" sz="1600" b="1" kern="0" spc="100" dirty="0">
                <a:solidFill>
                  <a:srgbClr val="D97706"/>
                </a:solidFill>
                <a:latin typeface="Calibri" pitchFamily="34" charset="0"/>
                <a:ea typeface="Calibri" pitchFamily="34" charset="-122"/>
                <a:cs typeface="Calibri" pitchFamily="34" charset="-120"/>
              </a:rPr>
              <a:t>IF THE KEY WERE 20 (absent)</a:t>
            </a:r>
            <a:endParaRPr lang="en-US" sz="1600" dirty="0"/>
          </a:p>
        </p:txBody>
      </p:sp>
      <p:sp>
        <p:nvSpPr>
          <p:cNvPr id="41" name="Text 39"/>
          <p:cNvSpPr txBox="1"/>
          <p:nvPr/>
        </p:nvSpPr>
        <p:spPr>
          <a:xfrm>
            <a:off x="777240" y="4343400"/>
            <a:ext cx="4983480" cy="1371600"/>
          </a:xfrm>
          <a:prstGeom prst="rect">
            <a:avLst/>
          </a:prstGeom>
          <a:noFill/>
          <a:ln/>
        </p:spPr>
        <p:txBody>
          <a:bodyPr wrap="square" lIns="0" tIns="0" rIns="0" bIns="0" rtlCol="0" anchor="t"/>
          <a:lstStyle/>
          <a:p>
            <a:pPr marL="0" indent="0">
              <a:lnSpc>
                <a:spcPct val="130000"/>
              </a:lnSpc>
              <a:buNone/>
            </a:pPr>
            <a:r>
              <a:rPr lang="en-US" dirty="0">
                <a:solidFill>
                  <a:srgbClr val="1B2233"/>
                </a:solidFill>
                <a:latin typeface="Calibri" pitchFamily="34" charset="0"/>
                <a:ea typeface="Calibri" pitchFamily="34" charset="-122"/>
                <a:cs typeface="Calibri" pitchFamily="34" charset="-120"/>
              </a:rPr>
              <a:t>Iteration 3 would take the else-branch: high = mid − 1 = 3. Now low (4) &gt; high (3), so  while (low &lt;= high)  is false, the loop exits, and the function reaches  return -1.</a:t>
            </a:r>
            <a:endParaRPr lang="en-US" dirty="0"/>
          </a:p>
        </p:txBody>
      </p:sp>
      <p:sp>
        <p:nvSpPr>
          <p:cNvPr id="42" name="Shape 40"/>
          <p:cNvSpPr/>
          <p:nvPr/>
        </p:nvSpPr>
        <p:spPr>
          <a:xfrm>
            <a:off x="6172200" y="3931920"/>
            <a:ext cx="5440680" cy="1828800"/>
          </a:xfrm>
          <a:prstGeom prst="roundRect">
            <a:avLst>
              <a:gd name="adj" fmla="val 5000"/>
            </a:avLst>
          </a:prstGeom>
          <a:solidFill>
            <a:schemeClr val="bg2">
              <a:lumMod val="90000"/>
            </a:schemeClr>
          </a:solidFill>
          <a:ln w="12700">
            <a:solidFill>
              <a:srgbClr val="10242E"/>
            </a:solidFill>
            <a:prstDash val="solid"/>
          </a:ln>
        </p:spPr>
      </p:sp>
      <p:sp>
        <p:nvSpPr>
          <p:cNvPr id="43" name="Text 41"/>
          <p:cNvSpPr txBox="1"/>
          <p:nvPr/>
        </p:nvSpPr>
        <p:spPr>
          <a:xfrm>
            <a:off x="6400800" y="4050792"/>
            <a:ext cx="4937760" cy="274320"/>
          </a:xfrm>
          <a:prstGeom prst="rect">
            <a:avLst/>
          </a:prstGeom>
          <a:noFill/>
          <a:ln/>
        </p:spPr>
        <p:txBody>
          <a:bodyPr wrap="square" lIns="0" tIns="0" rIns="0" bIns="0" rtlCol="0" anchor="ctr"/>
          <a:lstStyle/>
          <a:p>
            <a:pPr marL="0" indent="0">
              <a:buNone/>
            </a:pPr>
            <a:r>
              <a:rPr lang="en-US" sz="1600" b="1" kern="0" spc="100" dirty="0">
                <a:solidFill>
                  <a:srgbClr val="D97706"/>
                </a:solidFill>
                <a:latin typeface="Calibri" pitchFamily="34" charset="0"/>
                <a:ea typeface="Calibri" pitchFamily="34" charset="-122"/>
                <a:cs typeface="Calibri" pitchFamily="34" charset="-120"/>
              </a:rPr>
              <a:t>OVERFLOW, WITH NUMBERS</a:t>
            </a:r>
            <a:endParaRPr lang="en-US" sz="1600" dirty="0"/>
          </a:p>
        </p:txBody>
      </p:sp>
      <p:sp>
        <p:nvSpPr>
          <p:cNvPr id="44" name="Text 42"/>
          <p:cNvSpPr txBox="1"/>
          <p:nvPr/>
        </p:nvSpPr>
        <p:spPr>
          <a:xfrm>
            <a:off x="6400800" y="4343400"/>
            <a:ext cx="4983480" cy="1371600"/>
          </a:xfrm>
          <a:prstGeom prst="rect">
            <a:avLst/>
          </a:prstGeom>
          <a:noFill/>
          <a:ln/>
        </p:spPr>
        <p:txBody>
          <a:bodyPr wrap="square" lIns="0" tIns="0" rIns="0" bIns="0" rtlCol="0" anchor="t"/>
          <a:lstStyle/>
          <a:p>
            <a:pPr marL="0" indent="0">
              <a:lnSpc>
                <a:spcPct val="130000"/>
              </a:lnSpc>
              <a:buNone/>
            </a:pPr>
            <a:r>
              <a:rPr lang="en-US" sz="1600" dirty="0">
                <a:latin typeface="Calibri" pitchFamily="34" charset="0"/>
                <a:ea typeface="Calibri" pitchFamily="34" charset="-122"/>
                <a:cs typeface="Calibri" pitchFamily="34" charset="-120"/>
              </a:rPr>
              <a:t>low = 1,500,000,000 and high = 1,600,000,000:</a:t>
            </a:r>
            <a:endParaRPr lang="en-US" sz="1600" dirty="0"/>
          </a:p>
          <a:p>
            <a:pPr marL="0" indent="0">
              <a:lnSpc>
                <a:spcPct val="130000"/>
              </a:lnSpc>
              <a:buNone/>
            </a:pPr>
            <a:r>
              <a:rPr lang="en-US" sz="1600" dirty="0">
                <a:latin typeface="Calibri" pitchFamily="34" charset="0"/>
                <a:ea typeface="Calibri" pitchFamily="34" charset="-122"/>
                <a:cs typeface="Calibri" pitchFamily="34" charset="-120"/>
              </a:rPr>
              <a:t>(low + high) = 3,100,000,000 &gt; INT_MAX (2,147,483,647)  →  overflow.</a:t>
            </a:r>
            <a:endParaRPr lang="en-US" sz="1600" dirty="0"/>
          </a:p>
          <a:p>
            <a:pPr marL="0" indent="0">
              <a:lnSpc>
                <a:spcPct val="130000"/>
              </a:lnSpc>
              <a:buNone/>
            </a:pPr>
            <a:r>
              <a:rPr lang="en-US" sz="1600" dirty="0">
                <a:latin typeface="Calibri" pitchFamily="34" charset="0"/>
                <a:ea typeface="Calibri" pitchFamily="34" charset="-122"/>
                <a:cs typeface="Calibri" pitchFamily="34" charset="-120"/>
              </a:rPr>
              <a:t>low + (high − low)/2 = 1,550,000,000  →  safe.</a:t>
            </a:r>
            <a:endParaRPr lang="en-US" sz="1600" dirty="0"/>
          </a:p>
        </p:txBody>
      </p:sp>
      <p:sp>
        <p:nvSpPr>
          <p:cNvPr id="45" name="Text 43"/>
          <p:cNvSpPr txBox="1"/>
          <p:nvPr/>
        </p:nvSpPr>
        <p:spPr>
          <a:xfrm>
            <a:off x="548640" y="6547104"/>
            <a:ext cx="6858000" cy="256032"/>
          </a:xfrm>
          <a:prstGeom prst="rect">
            <a:avLst/>
          </a:prstGeom>
          <a:noFill/>
          <a:ln/>
        </p:spPr>
        <p:txBody>
          <a:bodyPr wrap="square" lIns="0" tIns="0" rIns="0" bIns="0" rtlCol="0" anchor="ctr"/>
          <a:lstStyle/>
          <a:p>
            <a:pPr marL="0" indent="0">
              <a:buNone/>
            </a:pPr>
            <a:r>
              <a:rPr lang="en-US" sz="900" dirty="0">
                <a:solidFill>
                  <a:srgbClr val="5B6584"/>
                </a:solidFill>
                <a:latin typeface="Calibri" pitchFamily="34" charset="0"/>
                <a:ea typeface="Calibri" pitchFamily="34" charset="-122"/>
                <a:cs typeface="Calibri" pitchFamily="34" charset="-120"/>
              </a:rPr>
              <a:t>Linear &amp; Binary Search  |  Data Structures Using C</a:t>
            </a:r>
            <a:endParaRPr lang="en-US" sz="900" dirty="0"/>
          </a:p>
        </p:txBody>
      </p:sp>
      <p:sp>
        <p:nvSpPr>
          <p:cNvPr id="46" name="Text 44"/>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500000">
            <a:off x="10972800" y="-1005840"/>
            <a:ext cx="2377440" cy="2377440"/>
          </a:xfrm>
          <a:prstGeom prst="triangle">
            <a:avLst/>
          </a:prstGeom>
          <a:solidFill>
            <a:srgbClr val="0E7490">
              <a:alpha val="5000"/>
            </a:srgbClr>
          </a:solidFill>
          <a:ln/>
        </p:spPr>
      </p:sp>
      <p:sp>
        <p:nvSpPr>
          <p:cNvPr id="3" name="Shape 1"/>
          <p:cNvSpPr/>
          <p:nvPr/>
        </p:nvSpPr>
        <p:spPr>
          <a:xfrm rot="12300000">
            <a:off x="-1097280" y="5760720"/>
            <a:ext cx="2377440" cy="2377440"/>
          </a:xfrm>
          <a:prstGeom prst="triangle">
            <a:avLst/>
          </a:prstGeom>
          <a:solidFill>
            <a:srgbClr val="0E7490">
              <a:alpha val="5000"/>
            </a:srgbClr>
          </a:solidFill>
          <a:ln/>
        </p:spPr>
      </p:sp>
      <p:sp>
        <p:nvSpPr>
          <p:cNvPr id="4" name="Text 2"/>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22A6C4"/>
                </a:solidFill>
                <a:latin typeface="Calibri" pitchFamily="34" charset="0"/>
                <a:ea typeface="Calibri" pitchFamily="34" charset="-122"/>
                <a:cs typeface="Calibri" pitchFamily="34" charset="-120"/>
              </a:rPr>
              <a:t>RIGOROUS ANALYSIS — LINEAR SEARCH</a:t>
            </a:r>
            <a:endParaRPr lang="en-US" sz="1300" dirty="0"/>
          </a:p>
        </p:txBody>
      </p:sp>
      <p:sp>
        <p:nvSpPr>
          <p:cNvPr id="5" name="Text 3"/>
          <p:cNvSpPr txBox="1"/>
          <p:nvPr/>
        </p:nvSpPr>
        <p:spPr>
          <a:xfrm>
            <a:off x="548640" y="621792"/>
            <a:ext cx="11064240" cy="731520"/>
          </a:xfrm>
          <a:prstGeom prst="rect">
            <a:avLst/>
          </a:prstGeom>
          <a:noFill/>
          <a:ln/>
        </p:spPr>
        <p:txBody>
          <a:bodyPr wrap="square" lIns="0" tIns="0" rIns="0" bIns="0" rtlCol="0" anchor="ctr"/>
          <a:lstStyle/>
          <a:p>
            <a:pPr marL="0" indent="0">
              <a:buNone/>
            </a:pPr>
            <a:r>
              <a:rPr lang="en-US" sz="3000" b="1" dirty="0">
                <a:solidFill>
                  <a:srgbClr val="10242E"/>
                </a:solidFill>
                <a:latin typeface="Cambria" pitchFamily="34" charset="0"/>
                <a:ea typeface="Cambria" pitchFamily="34" charset="-122"/>
                <a:cs typeface="Cambria" pitchFamily="34" charset="-120"/>
              </a:rPr>
              <a:t>Best, Average and Worst Case</a:t>
            </a:r>
            <a:endParaRPr lang="en-US" sz="3000" dirty="0"/>
          </a:p>
        </p:txBody>
      </p:sp>
      <p:sp>
        <p:nvSpPr>
          <p:cNvPr id="6" name="Shape 4"/>
          <p:cNvSpPr/>
          <p:nvPr/>
        </p:nvSpPr>
        <p:spPr>
          <a:xfrm>
            <a:off x="548640" y="1417320"/>
            <a:ext cx="3520440" cy="2057400"/>
          </a:xfrm>
          <a:prstGeom prst="roundRect">
            <a:avLst>
              <a:gd name="adj" fmla="val 4444"/>
            </a:avLst>
          </a:prstGeom>
          <a:solidFill>
            <a:schemeClr val="accent2">
              <a:lumMod val="20000"/>
              <a:lumOff val="80000"/>
            </a:schemeClr>
          </a:solidFill>
          <a:ln w="12700">
            <a:solidFill>
              <a:srgbClr val="059669"/>
            </a:solidFill>
            <a:prstDash val="solid"/>
          </a:ln>
        </p:spPr>
      </p:sp>
      <p:sp>
        <p:nvSpPr>
          <p:cNvPr id="7" name="Text 5"/>
          <p:cNvSpPr txBox="1"/>
          <p:nvPr/>
        </p:nvSpPr>
        <p:spPr>
          <a:xfrm>
            <a:off x="777240" y="1572768"/>
            <a:ext cx="3108960" cy="274320"/>
          </a:xfrm>
          <a:prstGeom prst="rect">
            <a:avLst/>
          </a:prstGeom>
          <a:noFill/>
          <a:ln/>
        </p:spPr>
        <p:txBody>
          <a:bodyPr wrap="square" lIns="0" tIns="0" rIns="0" bIns="0" rtlCol="0" anchor="ctr"/>
          <a:lstStyle/>
          <a:p>
            <a:pPr marL="0" indent="0">
              <a:buNone/>
            </a:pPr>
            <a:r>
              <a:rPr lang="en-US" b="1" dirty="0">
                <a:latin typeface="Calibri" pitchFamily="34" charset="0"/>
                <a:ea typeface="Calibri" pitchFamily="34" charset="-122"/>
                <a:cs typeface="Calibri" pitchFamily="34" charset="-120"/>
              </a:rPr>
              <a:t>BEST CASE</a:t>
            </a:r>
            <a:endParaRPr lang="en-US" dirty="0"/>
          </a:p>
        </p:txBody>
      </p:sp>
      <p:sp>
        <p:nvSpPr>
          <p:cNvPr id="8" name="Text 6"/>
          <p:cNvSpPr txBox="1"/>
          <p:nvPr/>
        </p:nvSpPr>
        <p:spPr>
          <a:xfrm>
            <a:off x="777240" y="1847088"/>
            <a:ext cx="3108960" cy="640080"/>
          </a:xfrm>
          <a:prstGeom prst="rect">
            <a:avLst/>
          </a:prstGeom>
          <a:noFill/>
          <a:ln/>
        </p:spPr>
        <p:txBody>
          <a:bodyPr wrap="square" lIns="0" tIns="0" rIns="0" bIns="0" rtlCol="0" anchor="ctr"/>
          <a:lstStyle/>
          <a:p>
            <a:pPr marL="0" indent="0">
              <a:buNone/>
            </a:pPr>
            <a:r>
              <a:rPr lang="en-US" sz="3200" b="1" dirty="0">
                <a:latin typeface="Cambria" pitchFamily="34" charset="0"/>
                <a:ea typeface="Cambria" pitchFamily="34" charset="-122"/>
                <a:cs typeface="Cambria" pitchFamily="34" charset="-120"/>
              </a:rPr>
              <a:t>O(1)</a:t>
            </a:r>
            <a:endParaRPr lang="en-US" sz="3200" dirty="0"/>
          </a:p>
        </p:txBody>
      </p:sp>
      <p:sp>
        <p:nvSpPr>
          <p:cNvPr id="9" name="Text 7"/>
          <p:cNvSpPr txBox="1"/>
          <p:nvPr/>
        </p:nvSpPr>
        <p:spPr>
          <a:xfrm>
            <a:off x="777240" y="2514600"/>
            <a:ext cx="3108960" cy="868680"/>
          </a:xfrm>
          <a:prstGeom prst="rect">
            <a:avLst/>
          </a:prstGeom>
          <a:noFill/>
          <a:ln/>
        </p:spPr>
        <p:txBody>
          <a:bodyPr wrap="square" lIns="0" tIns="0" rIns="0" bIns="0" rtlCol="0" anchor="ctr"/>
          <a:lstStyle/>
          <a:p>
            <a:pPr marL="0" indent="0">
              <a:lnSpc>
                <a:spcPct val="125000"/>
              </a:lnSpc>
              <a:buNone/>
            </a:pPr>
            <a:r>
              <a:rPr lang="en-US" dirty="0">
                <a:latin typeface="Calibri" pitchFamily="34" charset="0"/>
                <a:ea typeface="Calibri" pitchFamily="34" charset="-122"/>
                <a:cs typeface="Calibri" pitchFamily="34" charset="-120"/>
              </a:rPr>
              <a:t>Key is at index 0 — 1 comparison.</a:t>
            </a:r>
            <a:endParaRPr lang="en-US" dirty="0"/>
          </a:p>
        </p:txBody>
      </p:sp>
      <p:sp>
        <p:nvSpPr>
          <p:cNvPr id="10" name="Shape 8"/>
          <p:cNvSpPr/>
          <p:nvPr/>
        </p:nvSpPr>
        <p:spPr>
          <a:xfrm>
            <a:off x="4343400" y="1417320"/>
            <a:ext cx="3520440" cy="2057400"/>
          </a:xfrm>
          <a:prstGeom prst="roundRect">
            <a:avLst>
              <a:gd name="adj" fmla="val 4444"/>
            </a:avLst>
          </a:prstGeom>
          <a:solidFill>
            <a:schemeClr val="accent5">
              <a:lumMod val="20000"/>
              <a:lumOff val="80000"/>
            </a:schemeClr>
          </a:solidFill>
          <a:ln w="12700">
            <a:solidFill>
              <a:srgbClr val="0E7490"/>
            </a:solidFill>
            <a:prstDash val="solid"/>
          </a:ln>
        </p:spPr>
      </p:sp>
      <p:sp>
        <p:nvSpPr>
          <p:cNvPr id="11" name="Text 9"/>
          <p:cNvSpPr txBox="1"/>
          <p:nvPr/>
        </p:nvSpPr>
        <p:spPr>
          <a:xfrm>
            <a:off x="4572000" y="1572768"/>
            <a:ext cx="3108960" cy="274320"/>
          </a:xfrm>
          <a:prstGeom prst="rect">
            <a:avLst/>
          </a:prstGeom>
          <a:noFill/>
          <a:ln/>
        </p:spPr>
        <p:txBody>
          <a:bodyPr wrap="square" lIns="0" tIns="0" rIns="0" bIns="0" rtlCol="0" anchor="ctr"/>
          <a:lstStyle/>
          <a:p>
            <a:pPr marL="0" indent="0">
              <a:buNone/>
            </a:pPr>
            <a:r>
              <a:rPr lang="en-US" b="1" dirty="0">
                <a:latin typeface="Calibri" pitchFamily="34" charset="0"/>
                <a:ea typeface="Calibri" pitchFamily="34" charset="-122"/>
                <a:cs typeface="Calibri" pitchFamily="34" charset="-120"/>
              </a:rPr>
              <a:t>AVERAGE CASE</a:t>
            </a:r>
            <a:endParaRPr lang="en-US" dirty="0"/>
          </a:p>
        </p:txBody>
      </p:sp>
      <p:sp>
        <p:nvSpPr>
          <p:cNvPr id="12" name="Text 10"/>
          <p:cNvSpPr txBox="1"/>
          <p:nvPr/>
        </p:nvSpPr>
        <p:spPr>
          <a:xfrm>
            <a:off x="4572000" y="1847088"/>
            <a:ext cx="3108960" cy="640080"/>
          </a:xfrm>
          <a:prstGeom prst="rect">
            <a:avLst/>
          </a:prstGeom>
          <a:noFill/>
          <a:ln/>
        </p:spPr>
        <p:txBody>
          <a:bodyPr wrap="square" lIns="0" tIns="0" rIns="0" bIns="0" rtlCol="0" anchor="ctr"/>
          <a:lstStyle/>
          <a:p>
            <a:pPr marL="0" indent="0">
              <a:buNone/>
            </a:pPr>
            <a:r>
              <a:rPr lang="en-US" sz="3200" b="1" dirty="0">
                <a:latin typeface="Cambria" pitchFamily="34" charset="0"/>
                <a:ea typeface="Cambria" pitchFamily="34" charset="-122"/>
                <a:cs typeface="Cambria" pitchFamily="34" charset="-120"/>
              </a:rPr>
              <a:t>Θ(n)</a:t>
            </a:r>
            <a:endParaRPr lang="en-US" sz="3200" dirty="0"/>
          </a:p>
        </p:txBody>
      </p:sp>
      <p:sp>
        <p:nvSpPr>
          <p:cNvPr id="13" name="Text 11"/>
          <p:cNvSpPr txBox="1"/>
          <p:nvPr/>
        </p:nvSpPr>
        <p:spPr>
          <a:xfrm>
            <a:off x="4572000" y="2514600"/>
            <a:ext cx="3108960" cy="868680"/>
          </a:xfrm>
          <a:prstGeom prst="rect">
            <a:avLst/>
          </a:prstGeom>
          <a:noFill/>
          <a:ln/>
        </p:spPr>
        <p:txBody>
          <a:bodyPr wrap="square" lIns="0" tIns="0" rIns="0" bIns="0" rtlCol="0" anchor="ctr"/>
          <a:lstStyle/>
          <a:p>
            <a:pPr marL="0" indent="0">
              <a:lnSpc>
                <a:spcPct val="125000"/>
              </a:lnSpc>
              <a:buNone/>
            </a:pPr>
            <a:r>
              <a:rPr lang="en-US" dirty="0">
                <a:latin typeface="Calibri" pitchFamily="34" charset="0"/>
                <a:ea typeface="Calibri" pitchFamily="34" charset="-122"/>
                <a:cs typeface="Calibri" pitchFamily="34" charset="-120"/>
              </a:rPr>
              <a:t>≈ (n + 1)/2 comparisons when the key is equally likely at any position.</a:t>
            </a:r>
            <a:endParaRPr lang="en-US" dirty="0"/>
          </a:p>
        </p:txBody>
      </p:sp>
      <p:sp>
        <p:nvSpPr>
          <p:cNvPr id="14" name="Shape 12"/>
          <p:cNvSpPr/>
          <p:nvPr/>
        </p:nvSpPr>
        <p:spPr>
          <a:xfrm>
            <a:off x="8138160" y="1417320"/>
            <a:ext cx="3520440" cy="2057400"/>
          </a:xfrm>
          <a:prstGeom prst="roundRect">
            <a:avLst>
              <a:gd name="adj" fmla="val 4444"/>
            </a:avLst>
          </a:prstGeom>
          <a:solidFill>
            <a:schemeClr val="accent6">
              <a:lumMod val="20000"/>
              <a:lumOff val="80000"/>
            </a:schemeClr>
          </a:solidFill>
          <a:ln w="12700">
            <a:solidFill>
              <a:srgbClr val="DC2626"/>
            </a:solidFill>
            <a:prstDash val="solid"/>
          </a:ln>
        </p:spPr>
      </p:sp>
      <p:sp>
        <p:nvSpPr>
          <p:cNvPr id="15" name="Text 13"/>
          <p:cNvSpPr txBox="1"/>
          <p:nvPr/>
        </p:nvSpPr>
        <p:spPr>
          <a:xfrm>
            <a:off x="8366760" y="1572768"/>
            <a:ext cx="3108960" cy="274320"/>
          </a:xfrm>
          <a:prstGeom prst="rect">
            <a:avLst/>
          </a:prstGeom>
          <a:noFill/>
          <a:ln/>
        </p:spPr>
        <p:txBody>
          <a:bodyPr wrap="square" lIns="0" tIns="0" rIns="0" bIns="0" rtlCol="0" anchor="ctr"/>
          <a:lstStyle/>
          <a:p>
            <a:pPr marL="0" indent="0">
              <a:buNone/>
            </a:pPr>
            <a:r>
              <a:rPr lang="en-US" b="1" dirty="0">
                <a:latin typeface="Calibri" pitchFamily="34" charset="0"/>
                <a:ea typeface="Calibri" pitchFamily="34" charset="-122"/>
                <a:cs typeface="Calibri" pitchFamily="34" charset="-120"/>
              </a:rPr>
              <a:t>WORST CASE</a:t>
            </a:r>
            <a:endParaRPr lang="en-US" dirty="0"/>
          </a:p>
        </p:txBody>
      </p:sp>
      <p:sp>
        <p:nvSpPr>
          <p:cNvPr id="16" name="Text 14"/>
          <p:cNvSpPr txBox="1"/>
          <p:nvPr/>
        </p:nvSpPr>
        <p:spPr>
          <a:xfrm>
            <a:off x="8366760" y="1847088"/>
            <a:ext cx="3108960" cy="640080"/>
          </a:xfrm>
          <a:prstGeom prst="rect">
            <a:avLst/>
          </a:prstGeom>
          <a:noFill/>
          <a:ln/>
        </p:spPr>
        <p:txBody>
          <a:bodyPr wrap="square" lIns="0" tIns="0" rIns="0" bIns="0" rtlCol="0" anchor="ctr"/>
          <a:lstStyle/>
          <a:p>
            <a:pPr marL="0" indent="0">
              <a:buNone/>
            </a:pPr>
            <a:r>
              <a:rPr lang="en-US" sz="3200" b="1" dirty="0">
                <a:latin typeface="Cambria" pitchFamily="34" charset="0"/>
                <a:ea typeface="Cambria" pitchFamily="34" charset="-122"/>
                <a:cs typeface="Cambria" pitchFamily="34" charset="-120"/>
              </a:rPr>
              <a:t>O(n)</a:t>
            </a:r>
            <a:endParaRPr lang="en-US" sz="3200" dirty="0"/>
          </a:p>
        </p:txBody>
      </p:sp>
      <p:sp>
        <p:nvSpPr>
          <p:cNvPr id="17" name="Text 15"/>
          <p:cNvSpPr txBox="1"/>
          <p:nvPr/>
        </p:nvSpPr>
        <p:spPr>
          <a:xfrm>
            <a:off x="8366760" y="2514600"/>
            <a:ext cx="3108960" cy="868680"/>
          </a:xfrm>
          <a:prstGeom prst="rect">
            <a:avLst/>
          </a:prstGeom>
          <a:noFill/>
          <a:ln/>
        </p:spPr>
        <p:txBody>
          <a:bodyPr wrap="square" lIns="0" tIns="0" rIns="0" bIns="0" rtlCol="0" anchor="ctr"/>
          <a:lstStyle/>
          <a:p>
            <a:pPr marL="0" indent="0">
              <a:lnSpc>
                <a:spcPct val="125000"/>
              </a:lnSpc>
              <a:buNone/>
            </a:pPr>
            <a:r>
              <a:rPr lang="en-US" dirty="0">
                <a:latin typeface="Calibri" pitchFamily="34" charset="0"/>
                <a:ea typeface="Calibri" pitchFamily="34" charset="-122"/>
                <a:cs typeface="Calibri" pitchFamily="34" charset="-120"/>
              </a:rPr>
              <a:t>Key is last, or absent — exactly n comparisons.</a:t>
            </a:r>
            <a:endParaRPr lang="en-US" dirty="0"/>
          </a:p>
        </p:txBody>
      </p:sp>
      <p:sp>
        <p:nvSpPr>
          <p:cNvPr id="18" name="Shape 16"/>
          <p:cNvSpPr/>
          <p:nvPr/>
        </p:nvSpPr>
        <p:spPr>
          <a:xfrm>
            <a:off x="548640" y="3657600"/>
            <a:ext cx="5486400" cy="2697480"/>
          </a:xfrm>
          <a:prstGeom prst="roundRect">
            <a:avLst>
              <a:gd name="adj" fmla="val 3390"/>
            </a:avLst>
          </a:prstGeom>
          <a:solidFill>
            <a:srgbClr val="E6F5F9"/>
          </a:solidFill>
          <a:ln w="12700">
            <a:solidFill>
              <a:srgbClr val="B8E0EA"/>
            </a:solidFill>
            <a:prstDash val="solid"/>
          </a:ln>
        </p:spPr>
      </p:sp>
      <p:sp>
        <p:nvSpPr>
          <p:cNvPr id="19" name="Text 17"/>
          <p:cNvSpPr txBox="1"/>
          <p:nvPr/>
        </p:nvSpPr>
        <p:spPr>
          <a:xfrm>
            <a:off x="777240" y="3794760"/>
            <a:ext cx="5029200" cy="274320"/>
          </a:xfrm>
          <a:prstGeom prst="rect">
            <a:avLst/>
          </a:prstGeom>
          <a:noFill/>
          <a:ln/>
        </p:spPr>
        <p:txBody>
          <a:bodyPr wrap="square" lIns="0" tIns="0" rIns="0" bIns="0" rtlCol="0" anchor="ctr"/>
          <a:lstStyle/>
          <a:p>
            <a:pPr marL="0" indent="0">
              <a:buNone/>
            </a:pPr>
            <a:r>
              <a:rPr lang="en-US" b="1" kern="0" spc="80" dirty="0">
                <a:solidFill>
                  <a:srgbClr val="0E7490"/>
                </a:solidFill>
                <a:latin typeface="Calibri" pitchFamily="34" charset="0"/>
                <a:ea typeface="Calibri" pitchFamily="34" charset="-122"/>
                <a:cs typeface="Calibri" pitchFamily="34" charset="-120"/>
              </a:rPr>
              <a:t>AVERAGE CASE — DERIVATION</a:t>
            </a:r>
            <a:endParaRPr lang="en-US" dirty="0"/>
          </a:p>
        </p:txBody>
      </p:sp>
      <p:sp>
        <p:nvSpPr>
          <p:cNvPr id="20" name="Text 18"/>
          <p:cNvSpPr txBox="1"/>
          <p:nvPr/>
        </p:nvSpPr>
        <p:spPr>
          <a:xfrm>
            <a:off x="777240" y="4160520"/>
            <a:ext cx="5029200" cy="2103120"/>
          </a:xfrm>
          <a:prstGeom prst="rect">
            <a:avLst/>
          </a:prstGeom>
          <a:noFill/>
          <a:ln/>
        </p:spPr>
        <p:txBody>
          <a:bodyPr wrap="square" lIns="0" tIns="0" rIns="0" bIns="0" rtlCol="0" anchor="t"/>
          <a:lstStyle/>
          <a:p>
            <a:pPr marL="0" indent="0">
              <a:lnSpc>
                <a:spcPct val="135000"/>
              </a:lnSpc>
              <a:buNone/>
            </a:pPr>
            <a:r>
              <a:rPr lang="en-US" sz="1600" dirty="0">
                <a:solidFill>
                  <a:srgbClr val="1B2233"/>
                </a:solidFill>
                <a:latin typeface="Calibri" pitchFamily="34" charset="0"/>
                <a:ea typeface="Calibri" pitchFamily="34" charset="-122"/>
                <a:cs typeface="Calibri" pitchFamily="34" charset="-120"/>
              </a:rPr>
              <a:t>Key at position i costs i comparisons; each of the n positions has probability 1/n:
</a:t>
            </a:r>
            <a:r>
              <a:rPr lang="en-US" sz="1600" b="1" dirty="0">
                <a:solidFill>
                  <a:srgbClr val="10242E"/>
                </a:solidFill>
                <a:latin typeface="Courier New" pitchFamily="34" charset="0"/>
                <a:ea typeface="Courier New" pitchFamily="34" charset="-122"/>
                <a:cs typeface="Courier New" pitchFamily="34" charset="-120"/>
              </a:rPr>
              <a:t>E[C] = (1/n) · Σ i  =  (1/n) · n(n+1)/2  =  (n+1)/2
</a:t>
            </a:r>
            <a:r>
              <a:rPr lang="en-US" sz="1600" dirty="0">
                <a:solidFill>
                  <a:srgbClr val="1B2233"/>
                </a:solidFill>
                <a:latin typeface="Calibri" pitchFamily="34" charset="0"/>
                <a:ea typeface="Calibri" pitchFamily="34" charset="-122"/>
                <a:cs typeface="Calibri" pitchFamily="34" charset="-120"/>
              </a:rPr>
              <a:t>Check, n = 8:  (1+2+…+8)/8 = 36/8 = 4.5  —  exactly the average over the eight successful searches in U.</a:t>
            </a:r>
            <a:endParaRPr lang="en-US" sz="1600" dirty="0"/>
          </a:p>
        </p:txBody>
      </p:sp>
      <p:sp>
        <p:nvSpPr>
          <p:cNvPr id="21" name="Shape 19"/>
          <p:cNvSpPr/>
          <p:nvPr/>
        </p:nvSpPr>
        <p:spPr>
          <a:xfrm>
            <a:off x="6172200" y="3657600"/>
            <a:ext cx="5440680" cy="2697480"/>
          </a:xfrm>
          <a:prstGeom prst="roundRect">
            <a:avLst>
              <a:gd name="adj" fmla="val 3390"/>
            </a:avLst>
          </a:prstGeom>
          <a:solidFill>
            <a:schemeClr val="tx2">
              <a:lumMod val="40000"/>
              <a:lumOff val="60000"/>
            </a:schemeClr>
          </a:solidFill>
          <a:ln w="12700">
            <a:solidFill>
              <a:srgbClr val="10242E"/>
            </a:solidFill>
            <a:prstDash val="solid"/>
          </a:ln>
        </p:spPr>
      </p:sp>
      <p:sp>
        <p:nvSpPr>
          <p:cNvPr id="22" name="Text 20"/>
          <p:cNvSpPr txBox="1"/>
          <p:nvPr/>
        </p:nvSpPr>
        <p:spPr>
          <a:xfrm>
            <a:off x="6400800" y="3794760"/>
            <a:ext cx="4937760" cy="274320"/>
          </a:xfrm>
          <a:prstGeom prst="rect">
            <a:avLst/>
          </a:prstGeom>
          <a:noFill/>
          <a:ln/>
        </p:spPr>
        <p:txBody>
          <a:bodyPr wrap="square" lIns="0" tIns="0" rIns="0" bIns="0" rtlCol="0" anchor="ctr"/>
          <a:lstStyle/>
          <a:p>
            <a:pPr marL="0" indent="0">
              <a:buNone/>
            </a:pPr>
            <a:r>
              <a:rPr lang="en-US" sz="2000" b="1" kern="0" spc="80" dirty="0">
                <a:latin typeface="Calibri" pitchFamily="34" charset="0"/>
                <a:ea typeface="Calibri" pitchFamily="34" charset="-122"/>
                <a:cs typeface="Calibri" pitchFamily="34" charset="-120"/>
              </a:rPr>
              <a:t>IF THE KEY MAY BE ABSENT</a:t>
            </a:r>
            <a:endParaRPr lang="en-US" sz="2000" dirty="0"/>
          </a:p>
        </p:txBody>
      </p:sp>
      <p:sp>
        <p:nvSpPr>
          <p:cNvPr id="23" name="Text 21"/>
          <p:cNvSpPr txBox="1"/>
          <p:nvPr/>
        </p:nvSpPr>
        <p:spPr>
          <a:xfrm>
            <a:off x="6400800" y="4160520"/>
            <a:ext cx="4983480" cy="2103120"/>
          </a:xfrm>
          <a:prstGeom prst="rect">
            <a:avLst/>
          </a:prstGeom>
          <a:noFill/>
          <a:ln/>
        </p:spPr>
        <p:txBody>
          <a:bodyPr wrap="square" lIns="0" tIns="0" rIns="0" bIns="0" rtlCol="0" anchor="t"/>
          <a:lstStyle/>
          <a:p>
            <a:pPr marL="0" indent="0">
              <a:lnSpc>
                <a:spcPct val="135000"/>
              </a:lnSpc>
              <a:buNone/>
            </a:pPr>
            <a:r>
              <a:rPr lang="en-US" sz="1600" dirty="0">
                <a:latin typeface="Calibri" pitchFamily="34" charset="0"/>
                <a:ea typeface="Calibri" pitchFamily="34" charset="-122"/>
                <a:cs typeface="Calibri" pitchFamily="34" charset="-120"/>
              </a:rPr>
              <a:t>With probability p the key is present (cost (n+1)/2) and with probability 1−p it is absent (cost n):
</a:t>
            </a:r>
            <a:r>
              <a:rPr lang="en-US" sz="1600" b="1" dirty="0">
                <a:latin typeface="Courier New" pitchFamily="34" charset="0"/>
                <a:ea typeface="Courier New" pitchFamily="34" charset="-122"/>
                <a:cs typeface="Courier New" pitchFamily="34" charset="-120"/>
              </a:rPr>
              <a:t>E[C] = p·(n+1)/2 + (1−p)·n
</a:t>
            </a:r>
            <a:r>
              <a:rPr lang="en-US" sz="1600" dirty="0">
                <a:latin typeface="Calibri" pitchFamily="34" charset="0"/>
                <a:ea typeface="Calibri" pitchFamily="34" charset="-122"/>
                <a:cs typeface="Calibri" pitchFamily="34" charset="-120"/>
              </a:rPr>
              <a:t>n = 8, p = 0.5:  0.5·4.5 + 0.5·8 = 2.25 + 4 = 6.25 comparisons.</a:t>
            </a:r>
            <a:endParaRPr lang="en-US" sz="1600" dirty="0"/>
          </a:p>
          <a:p>
            <a:pPr marL="0" indent="0">
              <a:lnSpc>
                <a:spcPct val="135000"/>
              </a:lnSpc>
              <a:buNone/>
            </a:pPr>
            <a:r>
              <a:rPr lang="en-US" sz="1600" dirty="0">
                <a:latin typeface="Calibri" pitchFamily="34" charset="0"/>
                <a:ea typeface="Calibri" pitchFamily="34" charset="-122"/>
                <a:cs typeface="Calibri" pitchFamily="34" charset="-120"/>
              </a:rPr>
              <a:t>Either way the cost grows linearly: Θ(n).</a:t>
            </a:r>
            <a:endParaRPr lang="en-US" sz="1600" dirty="0"/>
          </a:p>
        </p:txBody>
      </p:sp>
      <p:sp>
        <p:nvSpPr>
          <p:cNvPr id="24" name="Text 22"/>
          <p:cNvSpPr txBox="1"/>
          <p:nvPr/>
        </p:nvSpPr>
        <p:spPr>
          <a:xfrm>
            <a:off x="548640" y="6547104"/>
            <a:ext cx="6858000" cy="256032"/>
          </a:xfrm>
          <a:prstGeom prst="rect">
            <a:avLst/>
          </a:prstGeom>
          <a:noFill/>
          <a:ln/>
        </p:spPr>
        <p:txBody>
          <a:bodyPr wrap="square" lIns="0" tIns="0" rIns="0" bIns="0" rtlCol="0" anchor="ctr"/>
          <a:lstStyle/>
          <a:p>
            <a:pPr marL="0" indent="0">
              <a:buNone/>
            </a:pPr>
            <a:r>
              <a:rPr lang="en-US" sz="900" dirty="0">
                <a:solidFill>
                  <a:srgbClr val="5B6584"/>
                </a:solidFill>
                <a:latin typeface="Calibri" pitchFamily="34" charset="0"/>
                <a:ea typeface="Calibri" pitchFamily="34" charset="-122"/>
                <a:cs typeface="Calibri" pitchFamily="34" charset="-120"/>
              </a:rPr>
              <a:t>Linear &amp; Binary Search  |  Data Structures Using C</a:t>
            </a:r>
            <a:endParaRPr lang="en-US" sz="900" dirty="0"/>
          </a:p>
        </p:txBody>
      </p:sp>
      <p:sp>
        <p:nvSpPr>
          <p:cNvPr id="25" name="Text 23"/>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500000">
            <a:off x="10972800" y="-1005840"/>
            <a:ext cx="2377440" cy="2377440"/>
          </a:xfrm>
          <a:prstGeom prst="triangle">
            <a:avLst/>
          </a:prstGeom>
          <a:solidFill>
            <a:srgbClr val="0E7490">
              <a:alpha val="5000"/>
            </a:srgbClr>
          </a:solidFill>
          <a:ln/>
        </p:spPr>
      </p:sp>
      <p:sp>
        <p:nvSpPr>
          <p:cNvPr id="3" name="Shape 1"/>
          <p:cNvSpPr/>
          <p:nvPr/>
        </p:nvSpPr>
        <p:spPr>
          <a:xfrm rot="12300000">
            <a:off x="-1097280" y="5760720"/>
            <a:ext cx="2377440" cy="2377440"/>
          </a:xfrm>
          <a:prstGeom prst="triangle">
            <a:avLst/>
          </a:prstGeom>
          <a:solidFill>
            <a:srgbClr val="0E7490">
              <a:alpha val="5000"/>
            </a:srgbClr>
          </a:solidFill>
          <a:ln/>
        </p:spPr>
      </p:sp>
      <p:sp>
        <p:nvSpPr>
          <p:cNvPr id="4" name="Text 2"/>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22A6C4"/>
                </a:solidFill>
                <a:latin typeface="Calibri" pitchFamily="34" charset="0"/>
                <a:ea typeface="Calibri" pitchFamily="34" charset="-122"/>
                <a:cs typeface="Calibri" pitchFamily="34" charset="-120"/>
              </a:rPr>
              <a:t>RIGOROUS ANALYSIS — BINARY SEARCH</a:t>
            </a:r>
            <a:endParaRPr lang="en-US" sz="1300" dirty="0"/>
          </a:p>
        </p:txBody>
      </p:sp>
      <p:sp>
        <p:nvSpPr>
          <p:cNvPr id="5" name="Text 3"/>
          <p:cNvSpPr txBox="1"/>
          <p:nvPr/>
        </p:nvSpPr>
        <p:spPr>
          <a:xfrm>
            <a:off x="548640" y="621792"/>
            <a:ext cx="11064240" cy="731520"/>
          </a:xfrm>
          <a:prstGeom prst="rect">
            <a:avLst/>
          </a:prstGeom>
          <a:noFill/>
          <a:ln/>
        </p:spPr>
        <p:txBody>
          <a:bodyPr wrap="square" lIns="0" tIns="0" rIns="0" bIns="0" rtlCol="0" anchor="ctr"/>
          <a:lstStyle/>
          <a:p>
            <a:pPr marL="0" indent="0">
              <a:buNone/>
            </a:pPr>
            <a:r>
              <a:rPr lang="en-US" sz="3000" b="1" dirty="0">
                <a:solidFill>
                  <a:srgbClr val="10242E"/>
                </a:solidFill>
                <a:latin typeface="Cambria" pitchFamily="34" charset="0"/>
                <a:ea typeface="Cambria" pitchFamily="34" charset="-122"/>
                <a:cs typeface="Cambria" pitchFamily="34" charset="-120"/>
              </a:rPr>
              <a:t>The Recurrence and the Halving Argument</a:t>
            </a:r>
            <a:endParaRPr lang="en-US" sz="3000" dirty="0"/>
          </a:p>
        </p:txBody>
      </p:sp>
      <p:sp>
        <p:nvSpPr>
          <p:cNvPr id="6" name="Shape 4"/>
          <p:cNvSpPr/>
          <p:nvPr/>
        </p:nvSpPr>
        <p:spPr>
          <a:xfrm>
            <a:off x="548640" y="1417320"/>
            <a:ext cx="5440680" cy="2697480"/>
          </a:xfrm>
          <a:prstGeom prst="roundRect">
            <a:avLst>
              <a:gd name="adj" fmla="val 3390"/>
            </a:avLst>
          </a:prstGeom>
          <a:solidFill>
            <a:srgbClr val="FDF3E7"/>
          </a:solidFill>
          <a:ln w="12700">
            <a:solidFill>
              <a:srgbClr val="F0C89A"/>
            </a:solidFill>
            <a:prstDash val="solid"/>
          </a:ln>
        </p:spPr>
      </p:sp>
      <p:sp>
        <p:nvSpPr>
          <p:cNvPr id="7" name="Text 5"/>
          <p:cNvSpPr txBox="1"/>
          <p:nvPr/>
        </p:nvSpPr>
        <p:spPr>
          <a:xfrm>
            <a:off x="777240" y="1554480"/>
            <a:ext cx="4937760" cy="274320"/>
          </a:xfrm>
          <a:prstGeom prst="rect">
            <a:avLst/>
          </a:prstGeom>
          <a:noFill/>
          <a:ln/>
        </p:spPr>
        <p:txBody>
          <a:bodyPr wrap="square" lIns="0" tIns="0" rIns="0" bIns="0" rtlCol="0" anchor="ctr"/>
          <a:lstStyle/>
          <a:p>
            <a:pPr marL="0" indent="0">
              <a:buNone/>
            </a:pPr>
            <a:r>
              <a:rPr lang="en-US" sz="1100" b="1" kern="0" spc="80" dirty="0">
                <a:solidFill>
                  <a:srgbClr val="D97706"/>
                </a:solidFill>
                <a:latin typeface="Calibri" pitchFamily="34" charset="0"/>
                <a:ea typeface="Calibri" pitchFamily="34" charset="-122"/>
                <a:cs typeface="Calibri" pitchFamily="34" charset="-120"/>
              </a:rPr>
              <a:t>RECURRENCE + MASTER THEOREM</a:t>
            </a:r>
            <a:endParaRPr lang="en-US" sz="1100" dirty="0"/>
          </a:p>
        </p:txBody>
      </p:sp>
      <p:sp>
        <p:nvSpPr>
          <p:cNvPr id="8" name="Text 6"/>
          <p:cNvSpPr txBox="1"/>
          <p:nvPr/>
        </p:nvSpPr>
        <p:spPr>
          <a:xfrm>
            <a:off x="777240" y="1828800"/>
            <a:ext cx="4937760" cy="365760"/>
          </a:xfrm>
          <a:prstGeom prst="rect">
            <a:avLst/>
          </a:prstGeom>
          <a:noFill/>
          <a:ln/>
        </p:spPr>
        <p:txBody>
          <a:bodyPr wrap="square" lIns="0" tIns="0" rIns="0" bIns="0" rtlCol="0" anchor="ctr"/>
          <a:lstStyle/>
          <a:p>
            <a:pPr marL="0" indent="0">
              <a:buNone/>
            </a:pPr>
            <a:r>
              <a:rPr lang="en-US" sz="1700" b="1" dirty="0">
                <a:solidFill>
                  <a:srgbClr val="10242E"/>
                </a:solidFill>
                <a:latin typeface="Courier New" pitchFamily="34" charset="0"/>
                <a:ea typeface="Courier New" pitchFamily="34" charset="-122"/>
                <a:cs typeface="Courier New" pitchFamily="34" charset="-120"/>
              </a:rPr>
              <a:t>T(n) = T(n/2) + Θ(1)</a:t>
            </a:r>
            <a:endParaRPr lang="en-US" sz="1700" dirty="0"/>
          </a:p>
        </p:txBody>
      </p:sp>
      <p:sp>
        <p:nvSpPr>
          <p:cNvPr id="9" name="Text 7"/>
          <p:cNvSpPr txBox="1"/>
          <p:nvPr/>
        </p:nvSpPr>
        <p:spPr>
          <a:xfrm>
            <a:off x="777240" y="2286000"/>
            <a:ext cx="5029200" cy="1783080"/>
          </a:xfrm>
          <a:prstGeom prst="rect">
            <a:avLst/>
          </a:prstGeom>
          <a:noFill/>
          <a:ln/>
        </p:spPr>
        <p:txBody>
          <a:bodyPr wrap="square" lIns="0" tIns="0" rIns="0" bIns="0" rtlCol="0" anchor="t"/>
          <a:lstStyle/>
          <a:p>
            <a:pPr marL="0" indent="0">
              <a:lnSpc>
                <a:spcPct val="140000"/>
              </a:lnSpc>
              <a:buNone/>
            </a:pPr>
            <a:r>
              <a:rPr lang="en-US" sz="1300" dirty="0">
                <a:solidFill>
                  <a:srgbClr val="1B2233"/>
                </a:solidFill>
                <a:latin typeface="Calibri" pitchFamily="34" charset="0"/>
                <a:ea typeface="Calibri" pitchFamily="34" charset="-122"/>
                <a:cs typeface="Calibri" pitchFamily="34" charset="-120"/>
              </a:rPr>
              <a:t>One probe (Θ(1)) leaves ONE subproblem of half the size.
a = 1,  b = 2,  f(n) = Θ(1)
n^(log_b a) = n^(log₂ 1) = n⁰ = 1,  so f(n) = Θ(n^(log_b a))  →  Case 2
</a:t>
            </a:r>
            <a:r>
              <a:rPr lang="en-US" sz="1300" b="1" dirty="0">
                <a:solidFill>
                  <a:srgbClr val="D97706"/>
                </a:solidFill>
                <a:latin typeface="Calibri" pitchFamily="34" charset="0"/>
                <a:ea typeface="Calibri" pitchFamily="34" charset="-122"/>
                <a:cs typeface="Calibri" pitchFamily="34" charset="-120"/>
              </a:rPr>
              <a:t>T(n) = Θ(n^(log_b a) · log n) = Θ(log n)</a:t>
            </a:r>
            <a:endParaRPr lang="en-US" sz="1300" dirty="0"/>
          </a:p>
        </p:txBody>
      </p:sp>
      <p:sp>
        <p:nvSpPr>
          <p:cNvPr id="10" name="Shape 8"/>
          <p:cNvSpPr/>
          <p:nvPr/>
        </p:nvSpPr>
        <p:spPr>
          <a:xfrm>
            <a:off x="6172200" y="1417320"/>
            <a:ext cx="5440680" cy="2697480"/>
          </a:xfrm>
          <a:prstGeom prst="roundRect">
            <a:avLst>
              <a:gd name="adj" fmla="val 3390"/>
            </a:avLst>
          </a:prstGeom>
          <a:solidFill>
            <a:srgbClr val="E6F5F9"/>
          </a:solidFill>
          <a:ln w="12700">
            <a:solidFill>
              <a:srgbClr val="B8E0EA"/>
            </a:solidFill>
            <a:prstDash val="solid"/>
          </a:ln>
        </p:spPr>
      </p:sp>
      <p:sp>
        <p:nvSpPr>
          <p:cNvPr id="11" name="Text 9"/>
          <p:cNvSpPr txBox="1"/>
          <p:nvPr/>
        </p:nvSpPr>
        <p:spPr>
          <a:xfrm>
            <a:off x="6400800" y="1554480"/>
            <a:ext cx="4937760" cy="274320"/>
          </a:xfrm>
          <a:prstGeom prst="rect">
            <a:avLst/>
          </a:prstGeom>
          <a:noFill/>
          <a:ln/>
        </p:spPr>
        <p:txBody>
          <a:bodyPr wrap="square" lIns="0" tIns="0" rIns="0" bIns="0" rtlCol="0" anchor="ctr"/>
          <a:lstStyle/>
          <a:p>
            <a:pPr marL="0" indent="0">
              <a:buNone/>
            </a:pPr>
            <a:r>
              <a:rPr lang="en-US" sz="1100" b="1" kern="0" spc="80" dirty="0">
                <a:solidFill>
                  <a:srgbClr val="0E7490"/>
                </a:solidFill>
                <a:latin typeface="Calibri" pitchFamily="34" charset="0"/>
                <a:ea typeface="Calibri" pitchFamily="34" charset="-122"/>
                <a:cs typeface="Calibri" pitchFamily="34" charset="-120"/>
              </a:rPr>
              <a:t>HALVING ARGUMENT — EXACT BOUND</a:t>
            </a:r>
            <a:endParaRPr lang="en-US" sz="1100" dirty="0"/>
          </a:p>
        </p:txBody>
      </p:sp>
      <p:sp>
        <p:nvSpPr>
          <p:cNvPr id="12" name="Text 10"/>
          <p:cNvSpPr txBox="1"/>
          <p:nvPr/>
        </p:nvSpPr>
        <p:spPr>
          <a:xfrm>
            <a:off x="6400800" y="1874520"/>
            <a:ext cx="5029200" cy="2148840"/>
          </a:xfrm>
          <a:prstGeom prst="rect">
            <a:avLst/>
          </a:prstGeom>
          <a:noFill/>
          <a:ln/>
        </p:spPr>
        <p:txBody>
          <a:bodyPr wrap="square" lIns="0" tIns="0" rIns="0" bIns="0" rtlCol="0" anchor="t"/>
          <a:lstStyle/>
          <a:p>
            <a:pPr marL="0" indent="0">
              <a:lnSpc>
                <a:spcPct val="140000"/>
              </a:lnSpc>
              <a:buNone/>
            </a:pPr>
            <a:r>
              <a:rPr lang="en-US" sz="1300" dirty="0">
                <a:solidFill>
                  <a:srgbClr val="1B2233"/>
                </a:solidFill>
                <a:latin typeface="Calibri" pitchFamily="34" charset="0"/>
                <a:ea typeface="Calibri" pitchFamily="34" charset="-122"/>
                <a:cs typeface="Calibri" pitchFamily="34" charset="-120"/>
              </a:rPr>
              <a:t>After k probes at most ⌊n / 2ᵏ⌋ elements remain (each probe keeps at most half).
The range is empty when ⌊n/2ᵏ⌋ = 0, i.e. 2ᵏ &gt; n, so the worst case is
</a:t>
            </a:r>
            <a:r>
              <a:rPr lang="en-US" sz="1300" b="1" dirty="0">
                <a:solidFill>
                  <a:srgbClr val="0E7490"/>
                </a:solidFill>
                <a:latin typeface="Calibri" pitchFamily="34" charset="0"/>
                <a:ea typeface="Calibri" pitchFamily="34" charset="-122"/>
                <a:cs typeface="Calibri" pitchFamily="34" charset="-120"/>
              </a:rPr>
              <a:t>k = ⌊log₂ n⌋ + 1 probes.
</a:t>
            </a:r>
            <a:r>
              <a:rPr lang="en-US" sz="1300" dirty="0">
                <a:solidFill>
                  <a:srgbClr val="1B2233"/>
                </a:solidFill>
                <a:latin typeface="Calibri" pitchFamily="34" charset="0"/>
                <a:ea typeface="Calibri" pitchFamily="34" charset="-122"/>
                <a:cs typeface="Calibri" pitchFamily="34" charset="-120"/>
              </a:rPr>
              <a:t>n = 8:  ⌊8/2⌋ = 4,  ⌊8/4⌋ = 2,  ⌊8/8⌋ = 1,  ⌊8/16⌋ = 0  →  4 probes ✓</a:t>
            </a:r>
            <a:endParaRPr lang="en-US" sz="1300" dirty="0"/>
          </a:p>
        </p:txBody>
      </p:sp>
      <p:sp>
        <p:nvSpPr>
          <p:cNvPr id="13" name="Text 11"/>
          <p:cNvSpPr txBox="1"/>
          <p:nvPr/>
        </p:nvSpPr>
        <p:spPr>
          <a:xfrm>
            <a:off x="548640" y="4297680"/>
            <a:ext cx="7315200" cy="274320"/>
          </a:xfrm>
          <a:prstGeom prst="rect">
            <a:avLst/>
          </a:prstGeom>
          <a:noFill/>
          <a:ln/>
        </p:spPr>
        <p:txBody>
          <a:bodyPr wrap="square" lIns="0" tIns="0" rIns="0" bIns="0" rtlCol="0" anchor="ctr"/>
          <a:lstStyle/>
          <a:p>
            <a:pPr marL="0" indent="0">
              <a:buNone/>
            </a:pPr>
            <a:r>
              <a:rPr lang="en-US" sz="1100" b="1" kern="0" spc="100" dirty="0">
                <a:solidFill>
                  <a:srgbClr val="10242E"/>
                </a:solidFill>
                <a:latin typeface="Calibri" pitchFamily="34" charset="0"/>
                <a:ea typeface="Calibri" pitchFamily="34" charset="-122"/>
                <a:cs typeface="Calibri" pitchFamily="34" charset="-120"/>
              </a:rPr>
              <a:t>WORST-CASE PROBES  =  ⌊log₂ n⌋ + 1</a:t>
            </a:r>
            <a:endParaRPr lang="en-US" sz="1100" dirty="0"/>
          </a:p>
        </p:txBody>
      </p:sp>
      <p:sp>
        <p:nvSpPr>
          <p:cNvPr id="14" name="Shape 12"/>
          <p:cNvSpPr/>
          <p:nvPr/>
        </p:nvSpPr>
        <p:spPr>
          <a:xfrm>
            <a:off x="548640" y="4663440"/>
            <a:ext cx="2651760" cy="1554480"/>
          </a:xfrm>
          <a:prstGeom prst="roundRect">
            <a:avLst>
              <a:gd name="adj" fmla="val 5882"/>
            </a:avLst>
          </a:prstGeom>
          <a:solidFill>
            <a:srgbClr val="10242E"/>
          </a:solidFill>
          <a:ln w="12700">
            <a:solidFill>
              <a:srgbClr val="10242E"/>
            </a:solidFill>
            <a:prstDash val="solid"/>
          </a:ln>
        </p:spPr>
      </p:sp>
      <p:sp>
        <p:nvSpPr>
          <p:cNvPr id="15" name="Text 13"/>
          <p:cNvSpPr txBox="1"/>
          <p:nvPr/>
        </p:nvSpPr>
        <p:spPr>
          <a:xfrm>
            <a:off x="731520" y="4773168"/>
            <a:ext cx="2286000" cy="274320"/>
          </a:xfrm>
          <a:prstGeom prst="rect">
            <a:avLst/>
          </a:prstGeom>
          <a:noFill/>
          <a:ln/>
        </p:spPr>
        <p:txBody>
          <a:bodyPr wrap="square" lIns="0" tIns="0" rIns="0" bIns="0" rtlCol="0" anchor="ctr"/>
          <a:lstStyle/>
          <a:p>
            <a:pPr marL="0" indent="0">
              <a:buNone/>
            </a:pPr>
            <a:r>
              <a:rPr lang="en-US" sz="1150" dirty="0">
                <a:solidFill>
                  <a:srgbClr val="CFEAF1"/>
                </a:solidFill>
                <a:latin typeface="Calibri" pitchFamily="34" charset="0"/>
                <a:ea typeface="Calibri" pitchFamily="34" charset="-122"/>
                <a:cs typeface="Calibri" pitchFamily="34" charset="-120"/>
              </a:rPr>
              <a:t>n = 8</a:t>
            </a:r>
            <a:endParaRPr lang="en-US" sz="1150" dirty="0"/>
          </a:p>
        </p:txBody>
      </p:sp>
      <p:sp>
        <p:nvSpPr>
          <p:cNvPr id="16" name="Text 14"/>
          <p:cNvSpPr txBox="1"/>
          <p:nvPr/>
        </p:nvSpPr>
        <p:spPr>
          <a:xfrm>
            <a:off x="731520" y="5074920"/>
            <a:ext cx="2286000" cy="640080"/>
          </a:xfrm>
          <a:prstGeom prst="rect">
            <a:avLst/>
          </a:prstGeom>
          <a:noFill/>
          <a:ln/>
        </p:spPr>
        <p:txBody>
          <a:bodyPr wrap="square" lIns="0" tIns="0" rIns="0" bIns="0" rtlCol="0" anchor="ctr"/>
          <a:lstStyle/>
          <a:p>
            <a:pPr marL="0" indent="0">
              <a:buNone/>
            </a:pPr>
            <a:r>
              <a:rPr lang="en-US" sz="3400" b="1" dirty="0">
                <a:solidFill>
                  <a:srgbClr val="D97706"/>
                </a:solidFill>
                <a:latin typeface="Cambria" pitchFamily="34" charset="0"/>
                <a:ea typeface="Cambria" pitchFamily="34" charset="-122"/>
                <a:cs typeface="Cambria" pitchFamily="34" charset="-120"/>
              </a:rPr>
              <a:t>4</a:t>
            </a:r>
            <a:endParaRPr lang="en-US" sz="3400" dirty="0"/>
          </a:p>
        </p:txBody>
      </p:sp>
      <p:sp>
        <p:nvSpPr>
          <p:cNvPr id="17" name="Text 15"/>
          <p:cNvSpPr txBox="1"/>
          <p:nvPr/>
        </p:nvSpPr>
        <p:spPr>
          <a:xfrm>
            <a:off x="731520" y="5760720"/>
            <a:ext cx="2286000" cy="274320"/>
          </a:xfrm>
          <a:prstGeom prst="rect">
            <a:avLst/>
          </a:prstGeom>
          <a:noFill/>
          <a:ln/>
        </p:spPr>
        <p:txBody>
          <a:bodyPr wrap="square" lIns="0" tIns="0" rIns="0" bIns="0" rtlCol="0" anchor="ctr"/>
          <a:lstStyle/>
          <a:p>
            <a:pPr marL="0" indent="0">
              <a:buNone/>
            </a:pPr>
            <a:r>
              <a:rPr lang="en-US" sz="1050" i="1" dirty="0">
                <a:solidFill>
                  <a:srgbClr val="CFEAF1"/>
                </a:solidFill>
                <a:latin typeface="Calibri" pitchFamily="34" charset="0"/>
                <a:ea typeface="Calibri" pitchFamily="34" charset="-122"/>
                <a:cs typeface="Calibri" pitchFamily="34" charset="-120"/>
              </a:rPr>
              <a:t>probes (max)</a:t>
            </a:r>
            <a:endParaRPr lang="en-US" sz="1050" dirty="0"/>
          </a:p>
        </p:txBody>
      </p:sp>
      <p:sp>
        <p:nvSpPr>
          <p:cNvPr id="18" name="Shape 16"/>
          <p:cNvSpPr/>
          <p:nvPr/>
        </p:nvSpPr>
        <p:spPr>
          <a:xfrm>
            <a:off x="3337560" y="4663440"/>
            <a:ext cx="2651760" cy="1554480"/>
          </a:xfrm>
          <a:prstGeom prst="roundRect">
            <a:avLst>
              <a:gd name="adj" fmla="val 5882"/>
            </a:avLst>
          </a:prstGeom>
          <a:solidFill>
            <a:srgbClr val="10242E"/>
          </a:solidFill>
          <a:ln w="12700">
            <a:solidFill>
              <a:srgbClr val="10242E"/>
            </a:solidFill>
            <a:prstDash val="solid"/>
          </a:ln>
        </p:spPr>
      </p:sp>
      <p:sp>
        <p:nvSpPr>
          <p:cNvPr id="19" name="Text 17"/>
          <p:cNvSpPr txBox="1"/>
          <p:nvPr/>
        </p:nvSpPr>
        <p:spPr>
          <a:xfrm>
            <a:off x="3520440" y="4773168"/>
            <a:ext cx="2286000" cy="274320"/>
          </a:xfrm>
          <a:prstGeom prst="rect">
            <a:avLst/>
          </a:prstGeom>
          <a:noFill/>
          <a:ln/>
        </p:spPr>
        <p:txBody>
          <a:bodyPr wrap="square" lIns="0" tIns="0" rIns="0" bIns="0" rtlCol="0" anchor="ctr"/>
          <a:lstStyle/>
          <a:p>
            <a:pPr marL="0" indent="0">
              <a:buNone/>
            </a:pPr>
            <a:r>
              <a:rPr lang="en-US" sz="1150" dirty="0">
                <a:solidFill>
                  <a:srgbClr val="CFEAF1"/>
                </a:solidFill>
                <a:latin typeface="Calibri" pitchFamily="34" charset="0"/>
                <a:ea typeface="Calibri" pitchFamily="34" charset="-122"/>
                <a:cs typeface="Calibri" pitchFamily="34" charset="-120"/>
              </a:rPr>
              <a:t>n = 1,024</a:t>
            </a:r>
            <a:endParaRPr lang="en-US" sz="1150" dirty="0"/>
          </a:p>
        </p:txBody>
      </p:sp>
      <p:sp>
        <p:nvSpPr>
          <p:cNvPr id="20" name="Text 18"/>
          <p:cNvSpPr txBox="1"/>
          <p:nvPr/>
        </p:nvSpPr>
        <p:spPr>
          <a:xfrm>
            <a:off x="3520440" y="5074920"/>
            <a:ext cx="2286000" cy="640080"/>
          </a:xfrm>
          <a:prstGeom prst="rect">
            <a:avLst/>
          </a:prstGeom>
          <a:noFill/>
          <a:ln/>
        </p:spPr>
        <p:txBody>
          <a:bodyPr wrap="square" lIns="0" tIns="0" rIns="0" bIns="0" rtlCol="0" anchor="ctr"/>
          <a:lstStyle/>
          <a:p>
            <a:pPr marL="0" indent="0">
              <a:buNone/>
            </a:pPr>
            <a:r>
              <a:rPr lang="en-US" sz="3400" b="1" dirty="0">
                <a:solidFill>
                  <a:srgbClr val="D97706"/>
                </a:solidFill>
                <a:latin typeface="Cambria" pitchFamily="34" charset="0"/>
                <a:ea typeface="Cambria" pitchFamily="34" charset="-122"/>
                <a:cs typeface="Cambria" pitchFamily="34" charset="-120"/>
              </a:rPr>
              <a:t>11</a:t>
            </a:r>
            <a:endParaRPr lang="en-US" sz="3400" dirty="0"/>
          </a:p>
        </p:txBody>
      </p:sp>
      <p:sp>
        <p:nvSpPr>
          <p:cNvPr id="21" name="Text 19"/>
          <p:cNvSpPr txBox="1"/>
          <p:nvPr/>
        </p:nvSpPr>
        <p:spPr>
          <a:xfrm>
            <a:off x="3520440" y="5760720"/>
            <a:ext cx="2286000" cy="274320"/>
          </a:xfrm>
          <a:prstGeom prst="rect">
            <a:avLst/>
          </a:prstGeom>
          <a:noFill/>
          <a:ln/>
        </p:spPr>
        <p:txBody>
          <a:bodyPr wrap="square" lIns="0" tIns="0" rIns="0" bIns="0" rtlCol="0" anchor="ctr"/>
          <a:lstStyle/>
          <a:p>
            <a:pPr marL="0" indent="0">
              <a:buNone/>
            </a:pPr>
            <a:r>
              <a:rPr lang="en-US" sz="1050" i="1" dirty="0">
                <a:solidFill>
                  <a:srgbClr val="CFEAF1"/>
                </a:solidFill>
                <a:latin typeface="Calibri" pitchFamily="34" charset="0"/>
                <a:ea typeface="Calibri" pitchFamily="34" charset="-122"/>
                <a:cs typeface="Calibri" pitchFamily="34" charset="-120"/>
              </a:rPr>
              <a:t>probes (max)</a:t>
            </a:r>
            <a:endParaRPr lang="en-US" sz="1050" dirty="0"/>
          </a:p>
        </p:txBody>
      </p:sp>
      <p:sp>
        <p:nvSpPr>
          <p:cNvPr id="22" name="Shape 20"/>
          <p:cNvSpPr/>
          <p:nvPr/>
        </p:nvSpPr>
        <p:spPr>
          <a:xfrm>
            <a:off x="6126480" y="4663440"/>
            <a:ext cx="2651760" cy="1554480"/>
          </a:xfrm>
          <a:prstGeom prst="roundRect">
            <a:avLst>
              <a:gd name="adj" fmla="val 5882"/>
            </a:avLst>
          </a:prstGeom>
          <a:solidFill>
            <a:srgbClr val="10242E"/>
          </a:solidFill>
          <a:ln w="12700">
            <a:solidFill>
              <a:srgbClr val="10242E"/>
            </a:solidFill>
            <a:prstDash val="solid"/>
          </a:ln>
        </p:spPr>
      </p:sp>
      <p:sp>
        <p:nvSpPr>
          <p:cNvPr id="23" name="Text 21"/>
          <p:cNvSpPr txBox="1"/>
          <p:nvPr/>
        </p:nvSpPr>
        <p:spPr>
          <a:xfrm>
            <a:off x="6309360" y="4773168"/>
            <a:ext cx="2286000" cy="274320"/>
          </a:xfrm>
          <a:prstGeom prst="rect">
            <a:avLst/>
          </a:prstGeom>
          <a:noFill/>
          <a:ln/>
        </p:spPr>
        <p:txBody>
          <a:bodyPr wrap="square" lIns="0" tIns="0" rIns="0" bIns="0" rtlCol="0" anchor="ctr"/>
          <a:lstStyle/>
          <a:p>
            <a:pPr marL="0" indent="0">
              <a:buNone/>
            </a:pPr>
            <a:r>
              <a:rPr lang="en-US" sz="1150" dirty="0">
                <a:solidFill>
                  <a:srgbClr val="CFEAF1"/>
                </a:solidFill>
                <a:latin typeface="Calibri" pitchFamily="34" charset="0"/>
                <a:ea typeface="Calibri" pitchFamily="34" charset="-122"/>
                <a:cs typeface="Calibri" pitchFamily="34" charset="-120"/>
              </a:rPr>
              <a:t>n = 1,000,000</a:t>
            </a:r>
            <a:endParaRPr lang="en-US" sz="1150" dirty="0"/>
          </a:p>
        </p:txBody>
      </p:sp>
      <p:sp>
        <p:nvSpPr>
          <p:cNvPr id="24" name="Text 22"/>
          <p:cNvSpPr txBox="1"/>
          <p:nvPr/>
        </p:nvSpPr>
        <p:spPr>
          <a:xfrm>
            <a:off x="6309360" y="5074920"/>
            <a:ext cx="2286000" cy="640080"/>
          </a:xfrm>
          <a:prstGeom prst="rect">
            <a:avLst/>
          </a:prstGeom>
          <a:noFill/>
          <a:ln/>
        </p:spPr>
        <p:txBody>
          <a:bodyPr wrap="square" lIns="0" tIns="0" rIns="0" bIns="0" rtlCol="0" anchor="ctr"/>
          <a:lstStyle/>
          <a:p>
            <a:pPr marL="0" indent="0">
              <a:buNone/>
            </a:pPr>
            <a:r>
              <a:rPr lang="en-US" sz="3400" b="1" dirty="0">
                <a:solidFill>
                  <a:srgbClr val="D97706"/>
                </a:solidFill>
                <a:latin typeface="Cambria" pitchFamily="34" charset="0"/>
                <a:ea typeface="Cambria" pitchFamily="34" charset="-122"/>
                <a:cs typeface="Cambria" pitchFamily="34" charset="-120"/>
              </a:rPr>
              <a:t>20</a:t>
            </a:r>
            <a:endParaRPr lang="en-US" sz="3400" dirty="0"/>
          </a:p>
        </p:txBody>
      </p:sp>
      <p:sp>
        <p:nvSpPr>
          <p:cNvPr id="25" name="Text 23"/>
          <p:cNvSpPr txBox="1"/>
          <p:nvPr/>
        </p:nvSpPr>
        <p:spPr>
          <a:xfrm>
            <a:off x="6309360" y="5760720"/>
            <a:ext cx="2286000" cy="274320"/>
          </a:xfrm>
          <a:prstGeom prst="rect">
            <a:avLst/>
          </a:prstGeom>
          <a:noFill/>
          <a:ln/>
        </p:spPr>
        <p:txBody>
          <a:bodyPr wrap="square" lIns="0" tIns="0" rIns="0" bIns="0" rtlCol="0" anchor="ctr"/>
          <a:lstStyle/>
          <a:p>
            <a:pPr marL="0" indent="0">
              <a:buNone/>
            </a:pPr>
            <a:r>
              <a:rPr lang="en-US" sz="1050" i="1" dirty="0">
                <a:solidFill>
                  <a:srgbClr val="CFEAF1"/>
                </a:solidFill>
                <a:latin typeface="Calibri" pitchFamily="34" charset="0"/>
                <a:ea typeface="Calibri" pitchFamily="34" charset="-122"/>
                <a:cs typeface="Calibri" pitchFamily="34" charset="-120"/>
              </a:rPr>
              <a:t>probes (max)</a:t>
            </a:r>
            <a:endParaRPr lang="en-US" sz="1050" dirty="0"/>
          </a:p>
        </p:txBody>
      </p:sp>
      <p:sp>
        <p:nvSpPr>
          <p:cNvPr id="26" name="Shape 24"/>
          <p:cNvSpPr/>
          <p:nvPr/>
        </p:nvSpPr>
        <p:spPr>
          <a:xfrm>
            <a:off x="8915400" y="4663440"/>
            <a:ext cx="2651760" cy="1554480"/>
          </a:xfrm>
          <a:prstGeom prst="roundRect">
            <a:avLst>
              <a:gd name="adj" fmla="val 5882"/>
            </a:avLst>
          </a:prstGeom>
          <a:solidFill>
            <a:srgbClr val="10242E"/>
          </a:solidFill>
          <a:ln w="12700">
            <a:solidFill>
              <a:srgbClr val="10242E"/>
            </a:solidFill>
            <a:prstDash val="solid"/>
          </a:ln>
        </p:spPr>
      </p:sp>
      <p:sp>
        <p:nvSpPr>
          <p:cNvPr id="27" name="Text 25"/>
          <p:cNvSpPr txBox="1"/>
          <p:nvPr/>
        </p:nvSpPr>
        <p:spPr>
          <a:xfrm>
            <a:off x="9098280" y="4773168"/>
            <a:ext cx="2286000" cy="274320"/>
          </a:xfrm>
          <a:prstGeom prst="rect">
            <a:avLst/>
          </a:prstGeom>
          <a:noFill/>
          <a:ln/>
        </p:spPr>
        <p:txBody>
          <a:bodyPr wrap="square" lIns="0" tIns="0" rIns="0" bIns="0" rtlCol="0" anchor="ctr"/>
          <a:lstStyle/>
          <a:p>
            <a:pPr marL="0" indent="0">
              <a:buNone/>
            </a:pPr>
            <a:r>
              <a:rPr lang="en-US" sz="1150" dirty="0">
                <a:solidFill>
                  <a:srgbClr val="CFEAF1"/>
                </a:solidFill>
                <a:latin typeface="Calibri" pitchFamily="34" charset="0"/>
                <a:ea typeface="Calibri" pitchFamily="34" charset="-122"/>
                <a:cs typeface="Calibri" pitchFamily="34" charset="-120"/>
              </a:rPr>
              <a:t>n = 1,000,000,000</a:t>
            </a:r>
            <a:endParaRPr lang="en-US" sz="1150" dirty="0"/>
          </a:p>
        </p:txBody>
      </p:sp>
      <p:sp>
        <p:nvSpPr>
          <p:cNvPr id="28" name="Text 26"/>
          <p:cNvSpPr txBox="1"/>
          <p:nvPr/>
        </p:nvSpPr>
        <p:spPr>
          <a:xfrm>
            <a:off x="9098280" y="5074920"/>
            <a:ext cx="2286000" cy="640080"/>
          </a:xfrm>
          <a:prstGeom prst="rect">
            <a:avLst/>
          </a:prstGeom>
          <a:noFill/>
          <a:ln/>
        </p:spPr>
        <p:txBody>
          <a:bodyPr wrap="square" lIns="0" tIns="0" rIns="0" bIns="0" rtlCol="0" anchor="ctr"/>
          <a:lstStyle/>
          <a:p>
            <a:pPr marL="0" indent="0">
              <a:buNone/>
            </a:pPr>
            <a:r>
              <a:rPr lang="en-US" sz="3400" b="1" dirty="0">
                <a:solidFill>
                  <a:srgbClr val="D97706"/>
                </a:solidFill>
                <a:latin typeface="Cambria" pitchFamily="34" charset="0"/>
                <a:ea typeface="Cambria" pitchFamily="34" charset="-122"/>
                <a:cs typeface="Cambria" pitchFamily="34" charset="-120"/>
              </a:rPr>
              <a:t>30</a:t>
            </a:r>
            <a:endParaRPr lang="en-US" sz="3400" dirty="0"/>
          </a:p>
        </p:txBody>
      </p:sp>
      <p:sp>
        <p:nvSpPr>
          <p:cNvPr id="29" name="Text 27"/>
          <p:cNvSpPr txBox="1"/>
          <p:nvPr/>
        </p:nvSpPr>
        <p:spPr>
          <a:xfrm>
            <a:off x="9098280" y="5760720"/>
            <a:ext cx="2286000" cy="274320"/>
          </a:xfrm>
          <a:prstGeom prst="rect">
            <a:avLst/>
          </a:prstGeom>
          <a:noFill/>
          <a:ln/>
        </p:spPr>
        <p:txBody>
          <a:bodyPr wrap="square" lIns="0" tIns="0" rIns="0" bIns="0" rtlCol="0" anchor="ctr"/>
          <a:lstStyle/>
          <a:p>
            <a:pPr marL="0" indent="0">
              <a:buNone/>
            </a:pPr>
            <a:r>
              <a:rPr lang="en-US" sz="1050" i="1" dirty="0">
                <a:solidFill>
                  <a:srgbClr val="CFEAF1"/>
                </a:solidFill>
                <a:latin typeface="Calibri" pitchFamily="34" charset="0"/>
                <a:ea typeface="Calibri" pitchFamily="34" charset="-122"/>
                <a:cs typeface="Calibri" pitchFamily="34" charset="-120"/>
              </a:rPr>
              <a:t>probes (max)</a:t>
            </a:r>
            <a:endParaRPr lang="en-US" sz="1050" dirty="0"/>
          </a:p>
        </p:txBody>
      </p:sp>
      <p:sp>
        <p:nvSpPr>
          <p:cNvPr id="30" name="Text 28"/>
          <p:cNvSpPr txBox="1"/>
          <p:nvPr/>
        </p:nvSpPr>
        <p:spPr>
          <a:xfrm>
            <a:off x="548640" y="6547104"/>
            <a:ext cx="6858000" cy="256032"/>
          </a:xfrm>
          <a:prstGeom prst="rect">
            <a:avLst/>
          </a:prstGeom>
          <a:noFill/>
          <a:ln/>
        </p:spPr>
        <p:txBody>
          <a:bodyPr wrap="square" lIns="0" tIns="0" rIns="0" bIns="0" rtlCol="0" anchor="ctr"/>
          <a:lstStyle/>
          <a:p>
            <a:pPr marL="0" indent="0">
              <a:buNone/>
            </a:pPr>
            <a:r>
              <a:rPr lang="en-US" sz="900" dirty="0">
                <a:solidFill>
                  <a:srgbClr val="5B6584"/>
                </a:solidFill>
                <a:latin typeface="Calibri" pitchFamily="34" charset="0"/>
                <a:ea typeface="Calibri" pitchFamily="34" charset="-122"/>
                <a:cs typeface="Calibri" pitchFamily="34" charset="-120"/>
              </a:rPr>
              <a:t>Linear &amp; Binary Search  |  Data Structures Using C</a:t>
            </a:r>
            <a:endParaRPr lang="en-US" sz="900" dirty="0"/>
          </a:p>
        </p:txBody>
      </p:sp>
      <p:sp>
        <p:nvSpPr>
          <p:cNvPr id="31" name="Text 29"/>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500000">
            <a:off x="10972800" y="-1005840"/>
            <a:ext cx="2377440" cy="2377440"/>
          </a:xfrm>
          <a:prstGeom prst="triangle">
            <a:avLst/>
          </a:prstGeom>
          <a:solidFill>
            <a:srgbClr val="0E7490">
              <a:alpha val="5000"/>
            </a:srgbClr>
          </a:solidFill>
          <a:ln/>
        </p:spPr>
      </p:sp>
      <p:sp>
        <p:nvSpPr>
          <p:cNvPr id="3" name="Shape 1"/>
          <p:cNvSpPr/>
          <p:nvPr/>
        </p:nvSpPr>
        <p:spPr>
          <a:xfrm rot="12300000">
            <a:off x="-1097280" y="5760720"/>
            <a:ext cx="2377440" cy="2377440"/>
          </a:xfrm>
          <a:prstGeom prst="triangle">
            <a:avLst/>
          </a:prstGeom>
          <a:solidFill>
            <a:srgbClr val="0E7490">
              <a:alpha val="5000"/>
            </a:srgbClr>
          </a:solidFill>
          <a:ln/>
        </p:spPr>
      </p:sp>
      <p:sp>
        <p:nvSpPr>
          <p:cNvPr id="4" name="Text 2"/>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22A6C4"/>
                </a:solidFill>
                <a:latin typeface="Calibri" pitchFamily="34" charset="0"/>
                <a:ea typeface="Calibri" pitchFamily="34" charset="-122"/>
                <a:cs typeface="Calibri" pitchFamily="34" charset="-120"/>
              </a:rPr>
              <a:t>RIGOROUS ANALYSIS</a:t>
            </a:r>
            <a:endParaRPr lang="en-US" sz="1300" dirty="0"/>
          </a:p>
        </p:txBody>
      </p:sp>
      <p:sp>
        <p:nvSpPr>
          <p:cNvPr id="5" name="Text 3"/>
          <p:cNvSpPr txBox="1"/>
          <p:nvPr/>
        </p:nvSpPr>
        <p:spPr>
          <a:xfrm>
            <a:off x="548640" y="621792"/>
            <a:ext cx="11064240" cy="731520"/>
          </a:xfrm>
          <a:prstGeom prst="rect">
            <a:avLst/>
          </a:prstGeom>
          <a:noFill/>
          <a:ln/>
        </p:spPr>
        <p:txBody>
          <a:bodyPr wrap="square" lIns="0" tIns="0" rIns="0" bIns="0" rtlCol="0" anchor="ctr"/>
          <a:lstStyle/>
          <a:p>
            <a:pPr marL="0" indent="0">
              <a:buNone/>
            </a:pPr>
            <a:r>
              <a:rPr lang="en-US" sz="3000" b="1" dirty="0">
                <a:solidFill>
                  <a:srgbClr val="10242E"/>
                </a:solidFill>
                <a:latin typeface="Cambria" pitchFamily="34" charset="0"/>
                <a:ea typeface="Cambria" pitchFamily="34" charset="-122"/>
                <a:cs typeface="Cambria" pitchFamily="34" charset="-120"/>
              </a:rPr>
              <a:t>Complexity Summary</a:t>
            </a:r>
            <a:endParaRPr lang="en-US" sz="3000" dirty="0"/>
          </a:p>
        </p:txBody>
      </p:sp>
      <p:sp>
        <p:nvSpPr>
          <p:cNvPr id="6" name="Shape 4"/>
          <p:cNvSpPr/>
          <p:nvPr/>
        </p:nvSpPr>
        <p:spPr>
          <a:xfrm>
            <a:off x="548640" y="1417320"/>
            <a:ext cx="11064240" cy="457200"/>
          </a:xfrm>
          <a:prstGeom prst="roundRect">
            <a:avLst>
              <a:gd name="adj" fmla="val 20000"/>
            </a:avLst>
          </a:prstGeom>
          <a:solidFill>
            <a:srgbClr val="0E7490"/>
          </a:solidFill>
          <a:ln w="12700">
            <a:solidFill>
              <a:srgbClr val="0E7490"/>
            </a:solidFill>
            <a:prstDash val="solid"/>
          </a:ln>
        </p:spPr>
      </p:sp>
      <p:sp>
        <p:nvSpPr>
          <p:cNvPr id="7" name="Text 5"/>
          <p:cNvSpPr txBox="1"/>
          <p:nvPr/>
        </p:nvSpPr>
        <p:spPr>
          <a:xfrm>
            <a:off x="548640" y="1417320"/>
            <a:ext cx="2743200" cy="457200"/>
          </a:xfrm>
          <a:prstGeom prst="rect">
            <a:avLst/>
          </a:prstGeom>
          <a:noFill/>
          <a:ln/>
        </p:spPr>
        <p:txBody>
          <a:bodyPr wrap="square" lIns="0" tIns="0" rIns="0" bIns="0" rtlCol="0" anchor="ctr"/>
          <a:lstStyle/>
          <a:p>
            <a:pPr marL="0" indent="0" algn="ctr">
              <a:buNone/>
            </a:pPr>
            <a:endParaRPr lang="en-US" sz="1200" dirty="0"/>
          </a:p>
        </p:txBody>
      </p:sp>
      <p:sp>
        <p:nvSpPr>
          <p:cNvPr id="8" name="Text 6"/>
          <p:cNvSpPr txBox="1"/>
          <p:nvPr/>
        </p:nvSpPr>
        <p:spPr>
          <a:xfrm>
            <a:off x="3291840" y="1417320"/>
            <a:ext cx="416052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Linear Search</a:t>
            </a:r>
            <a:endParaRPr lang="en-US" sz="1200" dirty="0"/>
          </a:p>
        </p:txBody>
      </p:sp>
      <p:sp>
        <p:nvSpPr>
          <p:cNvPr id="9" name="Text 7"/>
          <p:cNvSpPr txBox="1"/>
          <p:nvPr/>
        </p:nvSpPr>
        <p:spPr>
          <a:xfrm>
            <a:off x="7452360" y="1417320"/>
            <a:ext cx="416052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Binary Search</a:t>
            </a:r>
            <a:endParaRPr lang="en-US" sz="1200" dirty="0"/>
          </a:p>
        </p:txBody>
      </p:sp>
      <p:sp>
        <p:nvSpPr>
          <p:cNvPr id="10" name="Shape 8"/>
          <p:cNvSpPr/>
          <p:nvPr/>
        </p:nvSpPr>
        <p:spPr>
          <a:xfrm>
            <a:off x="548640" y="1874520"/>
            <a:ext cx="11064240" cy="438912"/>
          </a:xfrm>
          <a:prstGeom prst="roundRect">
            <a:avLst>
              <a:gd name="adj" fmla="val 20833"/>
            </a:avLst>
          </a:prstGeom>
          <a:solidFill>
            <a:srgbClr val="E6F5F9"/>
          </a:solidFill>
          <a:ln w="12700">
            <a:solidFill>
              <a:srgbClr val="B8E0EA"/>
            </a:solidFill>
            <a:prstDash val="solid"/>
          </a:ln>
        </p:spPr>
      </p:sp>
      <p:sp>
        <p:nvSpPr>
          <p:cNvPr id="11" name="Text 9"/>
          <p:cNvSpPr txBox="1"/>
          <p:nvPr/>
        </p:nvSpPr>
        <p:spPr>
          <a:xfrm>
            <a:off x="548640" y="1874520"/>
            <a:ext cx="2743200" cy="438912"/>
          </a:xfrm>
          <a:prstGeom prst="rect">
            <a:avLst/>
          </a:prstGeom>
          <a:noFill/>
          <a:ln/>
        </p:spPr>
        <p:txBody>
          <a:bodyPr wrap="square" lIns="0" tIns="0" rIns="0" bIns="0" rtlCol="0" anchor="ctr"/>
          <a:lstStyle/>
          <a:p>
            <a:pPr marL="0" indent="0" algn="ctr">
              <a:buNone/>
            </a:pPr>
            <a:r>
              <a:rPr lang="en-US" sz="1200" b="1" dirty="0">
                <a:solidFill>
                  <a:srgbClr val="1B2233"/>
                </a:solidFill>
                <a:latin typeface="Calibri" pitchFamily="34" charset="0"/>
                <a:ea typeface="Calibri" pitchFamily="34" charset="-122"/>
                <a:cs typeface="Calibri" pitchFamily="34" charset="-120"/>
              </a:rPr>
              <a:t>Best case</a:t>
            </a:r>
            <a:endParaRPr lang="en-US" sz="1200" dirty="0"/>
          </a:p>
        </p:txBody>
      </p:sp>
      <p:sp>
        <p:nvSpPr>
          <p:cNvPr id="12" name="Text 10"/>
          <p:cNvSpPr txBox="1"/>
          <p:nvPr/>
        </p:nvSpPr>
        <p:spPr>
          <a:xfrm>
            <a:off x="3291840" y="1874520"/>
            <a:ext cx="4160520" cy="438912"/>
          </a:xfrm>
          <a:prstGeom prst="rect">
            <a:avLst/>
          </a:prstGeom>
          <a:noFill/>
          <a:ln/>
        </p:spPr>
        <p:txBody>
          <a:bodyPr wrap="square" lIns="0" tIns="0" rIns="0" bIns="0" rtlCol="0" anchor="ctr"/>
          <a:lstStyle/>
          <a:p>
            <a:pPr marL="0" indent="0" algn="ctr">
              <a:buNone/>
            </a:pPr>
            <a:r>
              <a:rPr lang="en-US" sz="1200" dirty="0">
                <a:solidFill>
                  <a:srgbClr val="1B2233"/>
                </a:solidFill>
                <a:latin typeface="Calibri" pitchFamily="34" charset="0"/>
                <a:ea typeface="Calibri" pitchFamily="34" charset="-122"/>
                <a:cs typeface="Calibri" pitchFamily="34" charset="-120"/>
              </a:rPr>
              <a:t>O(1)  —  key at index 0</a:t>
            </a:r>
            <a:endParaRPr lang="en-US" sz="1200" dirty="0"/>
          </a:p>
        </p:txBody>
      </p:sp>
      <p:sp>
        <p:nvSpPr>
          <p:cNvPr id="13" name="Text 11"/>
          <p:cNvSpPr txBox="1"/>
          <p:nvPr/>
        </p:nvSpPr>
        <p:spPr>
          <a:xfrm>
            <a:off x="7452360" y="1874520"/>
            <a:ext cx="4160520" cy="438912"/>
          </a:xfrm>
          <a:prstGeom prst="rect">
            <a:avLst/>
          </a:prstGeom>
          <a:noFill/>
          <a:ln/>
        </p:spPr>
        <p:txBody>
          <a:bodyPr wrap="square" lIns="0" tIns="0" rIns="0" bIns="0" rtlCol="0" anchor="ctr"/>
          <a:lstStyle/>
          <a:p>
            <a:pPr marL="0" indent="0" algn="ctr">
              <a:buNone/>
            </a:pPr>
            <a:r>
              <a:rPr lang="en-US" sz="1200" dirty="0">
                <a:solidFill>
                  <a:srgbClr val="1B2233"/>
                </a:solidFill>
                <a:latin typeface="Calibri" pitchFamily="34" charset="0"/>
                <a:ea typeface="Calibri" pitchFamily="34" charset="-122"/>
                <a:cs typeface="Calibri" pitchFamily="34" charset="-120"/>
              </a:rPr>
              <a:t>O(1)  —  key at the first mid</a:t>
            </a:r>
            <a:endParaRPr lang="en-US" sz="1200" dirty="0"/>
          </a:p>
        </p:txBody>
      </p:sp>
      <p:sp>
        <p:nvSpPr>
          <p:cNvPr id="14" name="Shape 12"/>
          <p:cNvSpPr/>
          <p:nvPr/>
        </p:nvSpPr>
        <p:spPr>
          <a:xfrm>
            <a:off x="548640" y="2313432"/>
            <a:ext cx="11064240" cy="438912"/>
          </a:xfrm>
          <a:prstGeom prst="roundRect">
            <a:avLst>
              <a:gd name="adj" fmla="val 20833"/>
            </a:avLst>
          </a:prstGeom>
          <a:solidFill>
            <a:srgbClr val="FFFFFF"/>
          </a:solidFill>
          <a:ln w="12700">
            <a:solidFill>
              <a:srgbClr val="B8E0EA"/>
            </a:solidFill>
            <a:prstDash val="solid"/>
          </a:ln>
        </p:spPr>
      </p:sp>
      <p:sp>
        <p:nvSpPr>
          <p:cNvPr id="15" name="Text 13"/>
          <p:cNvSpPr txBox="1"/>
          <p:nvPr/>
        </p:nvSpPr>
        <p:spPr>
          <a:xfrm>
            <a:off x="548640" y="2313432"/>
            <a:ext cx="2743200" cy="438912"/>
          </a:xfrm>
          <a:prstGeom prst="rect">
            <a:avLst/>
          </a:prstGeom>
          <a:noFill/>
          <a:ln/>
        </p:spPr>
        <p:txBody>
          <a:bodyPr wrap="square" lIns="0" tIns="0" rIns="0" bIns="0" rtlCol="0" anchor="ctr"/>
          <a:lstStyle/>
          <a:p>
            <a:pPr marL="0" indent="0" algn="ctr">
              <a:buNone/>
            </a:pPr>
            <a:r>
              <a:rPr lang="en-US" sz="1200" b="1" dirty="0">
                <a:solidFill>
                  <a:srgbClr val="1B2233"/>
                </a:solidFill>
                <a:latin typeface="Calibri" pitchFamily="34" charset="0"/>
                <a:ea typeface="Calibri" pitchFamily="34" charset="-122"/>
                <a:cs typeface="Calibri" pitchFamily="34" charset="-120"/>
              </a:rPr>
              <a:t>Average case</a:t>
            </a:r>
            <a:endParaRPr lang="en-US" sz="1200" dirty="0"/>
          </a:p>
        </p:txBody>
      </p:sp>
      <p:sp>
        <p:nvSpPr>
          <p:cNvPr id="16" name="Text 14"/>
          <p:cNvSpPr txBox="1"/>
          <p:nvPr/>
        </p:nvSpPr>
        <p:spPr>
          <a:xfrm>
            <a:off x="3291840" y="2313432"/>
            <a:ext cx="4160520" cy="438912"/>
          </a:xfrm>
          <a:prstGeom prst="rect">
            <a:avLst/>
          </a:prstGeom>
          <a:noFill/>
          <a:ln/>
        </p:spPr>
        <p:txBody>
          <a:bodyPr wrap="square" lIns="0" tIns="0" rIns="0" bIns="0" rtlCol="0" anchor="ctr"/>
          <a:lstStyle/>
          <a:p>
            <a:pPr marL="0" indent="0" algn="ctr">
              <a:buNone/>
            </a:pPr>
            <a:r>
              <a:rPr lang="en-US" sz="1200" dirty="0">
                <a:solidFill>
                  <a:srgbClr val="1B2233"/>
                </a:solidFill>
                <a:latin typeface="Calibri" pitchFamily="34" charset="0"/>
                <a:ea typeface="Calibri" pitchFamily="34" charset="-122"/>
                <a:cs typeface="Calibri" pitchFamily="34" charset="-120"/>
              </a:rPr>
              <a:t>Θ(n)  —  ≈ (n+1)/2 comparisons</a:t>
            </a:r>
            <a:endParaRPr lang="en-US" sz="1200" dirty="0"/>
          </a:p>
        </p:txBody>
      </p:sp>
      <p:sp>
        <p:nvSpPr>
          <p:cNvPr id="17" name="Text 15"/>
          <p:cNvSpPr txBox="1"/>
          <p:nvPr/>
        </p:nvSpPr>
        <p:spPr>
          <a:xfrm>
            <a:off x="7452360" y="2313432"/>
            <a:ext cx="4160520" cy="438912"/>
          </a:xfrm>
          <a:prstGeom prst="rect">
            <a:avLst/>
          </a:prstGeom>
          <a:noFill/>
          <a:ln/>
        </p:spPr>
        <p:txBody>
          <a:bodyPr wrap="square" lIns="0" tIns="0" rIns="0" bIns="0" rtlCol="0" anchor="ctr"/>
          <a:lstStyle/>
          <a:p>
            <a:pPr marL="0" indent="0" algn="ctr">
              <a:buNone/>
            </a:pPr>
            <a:r>
              <a:rPr lang="en-US" sz="1200" dirty="0">
                <a:solidFill>
                  <a:srgbClr val="1B2233"/>
                </a:solidFill>
                <a:latin typeface="Calibri" pitchFamily="34" charset="0"/>
                <a:ea typeface="Calibri" pitchFamily="34" charset="-122"/>
                <a:cs typeface="Calibri" pitchFamily="34" charset="-120"/>
              </a:rPr>
              <a:t>Θ(log n)  —  ≈ log₂ n − 1 probes</a:t>
            </a:r>
            <a:endParaRPr lang="en-US" sz="1200" dirty="0"/>
          </a:p>
        </p:txBody>
      </p:sp>
      <p:sp>
        <p:nvSpPr>
          <p:cNvPr id="18" name="Shape 16"/>
          <p:cNvSpPr/>
          <p:nvPr/>
        </p:nvSpPr>
        <p:spPr>
          <a:xfrm>
            <a:off x="548640" y="2752344"/>
            <a:ext cx="11064240" cy="438912"/>
          </a:xfrm>
          <a:prstGeom prst="roundRect">
            <a:avLst>
              <a:gd name="adj" fmla="val 20833"/>
            </a:avLst>
          </a:prstGeom>
          <a:solidFill>
            <a:srgbClr val="E6F5F9"/>
          </a:solidFill>
          <a:ln w="12700">
            <a:solidFill>
              <a:srgbClr val="B8E0EA"/>
            </a:solidFill>
            <a:prstDash val="solid"/>
          </a:ln>
        </p:spPr>
      </p:sp>
      <p:sp>
        <p:nvSpPr>
          <p:cNvPr id="19" name="Text 17"/>
          <p:cNvSpPr txBox="1"/>
          <p:nvPr/>
        </p:nvSpPr>
        <p:spPr>
          <a:xfrm>
            <a:off x="548640" y="2752344"/>
            <a:ext cx="2743200" cy="438912"/>
          </a:xfrm>
          <a:prstGeom prst="rect">
            <a:avLst/>
          </a:prstGeom>
          <a:noFill/>
          <a:ln/>
        </p:spPr>
        <p:txBody>
          <a:bodyPr wrap="square" lIns="0" tIns="0" rIns="0" bIns="0" rtlCol="0" anchor="ctr"/>
          <a:lstStyle/>
          <a:p>
            <a:pPr marL="0" indent="0" algn="ctr">
              <a:buNone/>
            </a:pPr>
            <a:r>
              <a:rPr lang="en-US" sz="1200" b="1" dirty="0">
                <a:solidFill>
                  <a:srgbClr val="1B2233"/>
                </a:solidFill>
                <a:latin typeface="Calibri" pitchFamily="34" charset="0"/>
                <a:ea typeface="Calibri" pitchFamily="34" charset="-122"/>
                <a:cs typeface="Calibri" pitchFamily="34" charset="-120"/>
              </a:rPr>
              <a:t>Worst case</a:t>
            </a:r>
            <a:endParaRPr lang="en-US" sz="1200" dirty="0"/>
          </a:p>
        </p:txBody>
      </p:sp>
      <p:sp>
        <p:nvSpPr>
          <p:cNvPr id="20" name="Text 18"/>
          <p:cNvSpPr txBox="1"/>
          <p:nvPr/>
        </p:nvSpPr>
        <p:spPr>
          <a:xfrm>
            <a:off x="3291840" y="2752344"/>
            <a:ext cx="4160520" cy="438912"/>
          </a:xfrm>
          <a:prstGeom prst="rect">
            <a:avLst/>
          </a:prstGeom>
          <a:noFill/>
          <a:ln/>
        </p:spPr>
        <p:txBody>
          <a:bodyPr wrap="square" lIns="0" tIns="0" rIns="0" bIns="0" rtlCol="0" anchor="ctr"/>
          <a:lstStyle/>
          <a:p>
            <a:pPr marL="0" indent="0" algn="ctr">
              <a:buNone/>
            </a:pPr>
            <a:r>
              <a:rPr lang="en-US" sz="1200" dirty="0">
                <a:solidFill>
                  <a:srgbClr val="1B2233"/>
                </a:solidFill>
                <a:latin typeface="Calibri" pitchFamily="34" charset="0"/>
                <a:ea typeface="Calibri" pitchFamily="34" charset="-122"/>
                <a:cs typeface="Calibri" pitchFamily="34" charset="-120"/>
              </a:rPr>
              <a:t>Θ(n)  —  n comparisons</a:t>
            </a:r>
            <a:endParaRPr lang="en-US" sz="1200" dirty="0"/>
          </a:p>
        </p:txBody>
      </p:sp>
      <p:sp>
        <p:nvSpPr>
          <p:cNvPr id="21" name="Text 19"/>
          <p:cNvSpPr txBox="1"/>
          <p:nvPr/>
        </p:nvSpPr>
        <p:spPr>
          <a:xfrm>
            <a:off x="7452360" y="2752344"/>
            <a:ext cx="4160520" cy="438912"/>
          </a:xfrm>
          <a:prstGeom prst="rect">
            <a:avLst/>
          </a:prstGeom>
          <a:noFill/>
          <a:ln/>
        </p:spPr>
        <p:txBody>
          <a:bodyPr wrap="square" lIns="0" tIns="0" rIns="0" bIns="0" rtlCol="0" anchor="ctr"/>
          <a:lstStyle/>
          <a:p>
            <a:pPr marL="0" indent="0" algn="ctr">
              <a:buNone/>
            </a:pPr>
            <a:r>
              <a:rPr lang="en-US" sz="1200" dirty="0">
                <a:solidFill>
                  <a:srgbClr val="1B2233"/>
                </a:solidFill>
                <a:latin typeface="Calibri" pitchFamily="34" charset="0"/>
                <a:ea typeface="Calibri" pitchFamily="34" charset="-122"/>
                <a:cs typeface="Calibri" pitchFamily="34" charset="-120"/>
              </a:rPr>
              <a:t>Θ(log n)  —  ⌊log₂ n⌋ + 1 probes</a:t>
            </a:r>
            <a:endParaRPr lang="en-US" sz="1200" dirty="0"/>
          </a:p>
        </p:txBody>
      </p:sp>
      <p:sp>
        <p:nvSpPr>
          <p:cNvPr id="22" name="Shape 20"/>
          <p:cNvSpPr/>
          <p:nvPr/>
        </p:nvSpPr>
        <p:spPr>
          <a:xfrm>
            <a:off x="548640" y="3191256"/>
            <a:ext cx="11064240" cy="438912"/>
          </a:xfrm>
          <a:prstGeom prst="roundRect">
            <a:avLst>
              <a:gd name="adj" fmla="val 20833"/>
            </a:avLst>
          </a:prstGeom>
          <a:solidFill>
            <a:srgbClr val="FFFFFF"/>
          </a:solidFill>
          <a:ln w="12700">
            <a:solidFill>
              <a:srgbClr val="B8E0EA"/>
            </a:solidFill>
            <a:prstDash val="solid"/>
          </a:ln>
        </p:spPr>
      </p:sp>
      <p:sp>
        <p:nvSpPr>
          <p:cNvPr id="23" name="Text 21"/>
          <p:cNvSpPr txBox="1"/>
          <p:nvPr/>
        </p:nvSpPr>
        <p:spPr>
          <a:xfrm>
            <a:off x="548640" y="3191256"/>
            <a:ext cx="2743200" cy="438912"/>
          </a:xfrm>
          <a:prstGeom prst="rect">
            <a:avLst/>
          </a:prstGeom>
          <a:noFill/>
          <a:ln/>
        </p:spPr>
        <p:txBody>
          <a:bodyPr wrap="square" lIns="0" tIns="0" rIns="0" bIns="0" rtlCol="0" anchor="ctr"/>
          <a:lstStyle/>
          <a:p>
            <a:pPr marL="0" indent="0" algn="ctr">
              <a:buNone/>
            </a:pPr>
            <a:r>
              <a:rPr lang="en-US" sz="1200" b="1" dirty="0">
                <a:solidFill>
                  <a:srgbClr val="1B2233"/>
                </a:solidFill>
                <a:latin typeface="Calibri" pitchFamily="34" charset="0"/>
                <a:ea typeface="Calibri" pitchFamily="34" charset="-122"/>
                <a:cs typeface="Calibri" pitchFamily="34" charset="-120"/>
              </a:rPr>
              <a:t>Extra space</a:t>
            </a:r>
            <a:endParaRPr lang="en-US" sz="1200" dirty="0"/>
          </a:p>
        </p:txBody>
      </p:sp>
      <p:sp>
        <p:nvSpPr>
          <p:cNvPr id="24" name="Text 22"/>
          <p:cNvSpPr txBox="1"/>
          <p:nvPr/>
        </p:nvSpPr>
        <p:spPr>
          <a:xfrm>
            <a:off x="3291840" y="3191256"/>
            <a:ext cx="4160520" cy="438912"/>
          </a:xfrm>
          <a:prstGeom prst="rect">
            <a:avLst/>
          </a:prstGeom>
          <a:noFill/>
          <a:ln/>
        </p:spPr>
        <p:txBody>
          <a:bodyPr wrap="square" lIns="0" tIns="0" rIns="0" bIns="0" rtlCol="0" anchor="ctr"/>
          <a:lstStyle/>
          <a:p>
            <a:pPr marL="0" indent="0" algn="ctr">
              <a:buNone/>
            </a:pPr>
            <a:r>
              <a:rPr lang="en-US" sz="1200" dirty="0">
                <a:solidFill>
                  <a:srgbClr val="1B2233"/>
                </a:solidFill>
                <a:latin typeface="Calibri" pitchFamily="34" charset="0"/>
                <a:ea typeface="Calibri" pitchFamily="34" charset="-122"/>
                <a:cs typeface="Calibri" pitchFamily="34" charset="-120"/>
              </a:rPr>
              <a:t>O(1)</a:t>
            </a:r>
            <a:endParaRPr lang="en-US" sz="1200" dirty="0"/>
          </a:p>
        </p:txBody>
      </p:sp>
      <p:sp>
        <p:nvSpPr>
          <p:cNvPr id="25" name="Text 23"/>
          <p:cNvSpPr txBox="1"/>
          <p:nvPr/>
        </p:nvSpPr>
        <p:spPr>
          <a:xfrm>
            <a:off x="7452360" y="3191256"/>
            <a:ext cx="4160520" cy="438912"/>
          </a:xfrm>
          <a:prstGeom prst="rect">
            <a:avLst/>
          </a:prstGeom>
          <a:noFill/>
          <a:ln/>
        </p:spPr>
        <p:txBody>
          <a:bodyPr wrap="square" lIns="0" tIns="0" rIns="0" bIns="0" rtlCol="0" anchor="ctr"/>
          <a:lstStyle/>
          <a:p>
            <a:pPr marL="0" indent="0" algn="ctr">
              <a:buNone/>
            </a:pPr>
            <a:r>
              <a:rPr lang="en-US" sz="1200" dirty="0">
                <a:solidFill>
                  <a:srgbClr val="1B2233"/>
                </a:solidFill>
                <a:latin typeface="Calibri" pitchFamily="34" charset="0"/>
                <a:ea typeface="Calibri" pitchFamily="34" charset="-122"/>
                <a:cs typeface="Calibri" pitchFamily="34" charset="-120"/>
              </a:rPr>
              <a:t>O(1) iterative,  O(log n) recursive</a:t>
            </a:r>
            <a:endParaRPr lang="en-US" sz="1200" dirty="0"/>
          </a:p>
        </p:txBody>
      </p:sp>
      <p:sp>
        <p:nvSpPr>
          <p:cNvPr id="26" name="Shape 24"/>
          <p:cNvSpPr/>
          <p:nvPr/>
        </p:nvSpPr>
        <p:spPr>
          <a:xfrm>
            <a:off x="548640" y="3630168"/>
            <a:ext cx="11064240" cy="438912"/>
          </a:xfrm>
          <a:prstGeom prst="roundRect">
            <a:avLst>
              <a:gd name="adj" fmla="val 20833"/>
            </a:avLst>
          </a:prstGeom>
          <a:solidFill>
            <a:srgbClr val="E6F5F9"/>
          </a:solidFill>
          <a:ln w="12700">
            <a:solidFill>
              <a:srgbClr val="B8E0EA"/>
            </a:solidFill>
            <a:prstDash val="solid"/>
          </a:ln>
        </p:spPr>
      </p:sp>
      <p:sp>
        <p:nvSpPr>
          <p:cNvPr id="27" name="Text 25"/>
          <p:cNvSpPr txBox="1"/>
          <p:nvPr/>
        </p:nvSpPr>
        <p:spPr>
          <a:xfrm>
            <a:off x="548640" y="3630168"/>
            <a:ext cx="2743200" cy="438912"/>
          </a:xfrm>
          <a:prstGeom prst="rect">
            <a:avLst/>
          </a:prstGeom>
          <a:noFill/>
          <a:ln/>
        </p:spPr>
        <p:txBody>
          <a:bodyPr wrap="square" lIns="0" tIns="0" rIns="0" bIns="0" rtlCol="0" anchor="ctr"/>
          <a:lstStyle/>
          <a:p>
            <a:pPr marL="0" indent="0" algn="ctr">
              <a:buNone/>
            </a:pPr>
            <a:r>
              <a:rPr lang="en-US" sz="1200" b="1" dirty="0">
                <a:solidFill>
                  <a:srgbClr val="1B2233"/>
                </a:solidFill>
                <a:latin typeface="Calibri" pitchFamily="34" charset="0"/>
                <a:ea typeface="Calibri" pitchFamily="34" charset="-122"/>
                <a:cs typeface="Calibri" pitchFamily="34" charset="-120"/>
              </a:rPr>
              <a:t>Precondition</a:t>
            </a:r>
            <a:endParaRPr lang="en-US" sz="1200" dirty="0"/>
          </a:p>
        </p:txBody>
      </p:sp>
      <p:sp>
        <p:nvSpPr>
          <p:cNvPr id="28" name="Text 26"/>
          <p:cNvSpPr txBox="1"/>
          <p:nvPr/>
        </p:nvSpPr>
        <p:spPr>
          <a:xfrm>
            <a:off x="3291840" y="3630168"/>
            <a:ext cx="4160520" cy="438912"/>
          </a:xfrm>
          <a:prstGeom prst="rect">
            <a:avLst/>
          </a:prstGeom>
          <a:noFill/>
          <a:ln/>
        </p:spPr>
        <p:txBody>
          <a:bodyPr wrap="square" lIns="0" tIns="0" rIns="0" bIns="0" rtlCol="0" anchor="ctr"/>
          <a:lstStyle/>
          <a:p>
            <a:pPr marL="0" indent="0" algn="ctr">
              <a:buNone/>
            </a:pPr>
            <a:r>
              <a:rPr lang="en-US" sz="1200" dirty="0">
                <a:solidFill>
                  <a:srgbClr val="1B2233"/>
                </a:solidFill>
                <a:latin typeface="Calibri" pitchFamily="34" charset="0"/>
                <a:ea typeface="Calibri" pitchFamily="34" charset="-122"/>
                <a:cs typeface="Calibri" pitchFamily="34" charset="-120"/>
              </a:rPr>
              <a:t>none</a:t>
            </a:r>
            <a:endParaRPr lang="en-US" sz="1200" dirty="0"/>
          </a:p>
        </p:txBody>
      </p:sp>
      <p:sp>
        <p:nvSpPr>
          <p:cNvPr id="29" name="Text 27"/>
          <p:cNvSpPr txBox="1"/>
          <p:nvPr/>
        </p:nvSpPr>
        <p:spPr>
          <a:xfrm>
            <a:off x="7452360" y="3630168"/>
            <a:ext cx="4160520" cy="438912"/>
          </a:xfrm>
          <a:prstGeom prst="rect">
            <a:avLst/>
          </a:prstGeom>
          <a:noFill/>
          <a:ln/>
        </p:spPr>
        <p:txBody>
          <a:bodyPr wrap="square" lIns="0" tIns="0" rIns="0" bIns="0" rtlCol="0" anchor="ctr"/>
          <a:lstStyle/>
          <a:p>
            <a:pPr marL="0" indent="0" algn="ctr">
              <a:buNone/>
            </a:pPr>
            <a:r>
              <a:rPr lang="en-US" sz="1200" dirty="0">
                <a:solidFill>
                  <a:srgbClr val="1B2233"/>
                </a:solidFill>
                <a:latin typeface="Calibri" pitchFamily="34" charset="0"/>
                <a:ea typeface="Calibri" pitchFamily="34" charset="-122"/>
                <a:cs typeface="Calibri" pitchFamily="34" charset="-120"/>
              </a:rPr>
              <a:t>array must be sorted</a:t>
            </a:r>
            <a:endParaRPr lang="en-US" sz="1200" dirty="0"/>
          </a:p>
        </p:txBody>
      </p:sp>
      <p:sp>
        <p:nvSpPr>
          <p:cNvPr id="30" name="Text 28"/>
          <p:cNvSpPr txBox="1"/>
          <p:nvPr/>
        </p:nvSpPr>
        <p:spPr>
          <a:xfrm>
            <a:off x="548640" y="4297680"/>
            <a:ext cx="10972800" cy="274320"/>
          </a:xfrm>
          <a:prstGeom prst="rect">
            <a:avLst/>
          </a:prstGeom>
          <a:noFill/>
          <a:ln/>
        </p:spPr>
        <p:txBody>
          <a:bodyPr wrap="square" lIns="0" tIns="0" rIns="0" bIns="0" rtlCol="0" anchor="ctr"/>
          <a:lstStyle/>
          <a:p>
            <a:pPr marL="0" indent="0">
              <a:buNone/>
            </a:pPr>
            <a:r>
              <a:rPr lang="en-US" sz="1100" b="1" kern="0" spc="50" dirty="0">
                <a:solidFill>
                  <a:srgbClr val="0E7490"/>
                </a:solidFill>
                <a:latin typeface="Calibri" pitchFamily="34" charset="0"/>
                <a:ea typeface="Calibri" pitchFamily="34" charset="-122"/>
                <a:cs typeface="Calibri" pitchFamily="34" charset="-120"/>
              </a:rPr>
              <a:t>WHAT THE GROWTH RATES MEAN  —  worst case, assuming 1 nanosecond per comparison</a:t>
            </a:r>
            <a:endParaRPr lang="en-US" sz="1100" dirty="0"/>
          </a:p>
        </p:txBody>
      </p:sp>
      <p:sp>
        <p:nvSpPr>
          <p:cNvPr id="31" name="Shape 29"/>
          <p:cNvSpPr/>
          <p:nvPr/>
        </p:nvSpPr>
        <p:spPr>
          <a:xfrm>
            <a:off x="548640" y="4663440"/>
            <a:ext cx="11064240" cy="749808"/>
          </a:xfrm>
          <a:prstGeom prst="roundRect">
            <a:avLst>
              <a:gd name="adj" fmla="val 12195"/>
            </a:avLst>
          </a:prstGeom>
          <a:solidFill>
            <a:srgbClr val="E6F5F9"/>
          </a:solidFill>
          <a:ln w="12700">
            <a:solidFill>
              <a:srgbClr val="B8E0EA"/>
            </a:solidFill>
            <a:prstDash val="solid"/>
          </a:ln>
        </p:spPr>
      </p:sp>
      <p:sp>
        <p:nvSpPr>
          <p:cNvPr id="32" name="Text 30"/>
          <p:cNvSpPr txBox="1"/>
          <p:nvPr/>
        </p:nvSpPr>
        <p:spPr>
          <a:xfrm>
            <a:off x="731520" y="4663440"/>
            <a:ext cx="2011680" cy="749808"/>
          </a:xfrm>
          <a:prstGeom prst="rect">
            <a:avLst/>
          </a:prstGeom>
          <a:noFill/>
          <a:ln/>
        </p:spPr>
        <p:txBody>
          <a:bodyPr wrap="square" lIns="0" tIns="0" rIns="0" bIns="0" rtlCol="0" anchor="ctr"/>
          <a:lstStyle/>
          <a:p>
            <a:pPr marL="0" indent="0">
              <a:buNone/>
            </a:pPr>
            <a:r>
              <a:rPr lang="en-US" sz="1250" b="1" dirty="0">
                <a:solidFill>
                  <a:srgbClr val="10242E"/>
                </a:solidFill>
                <a:latin typeface="Calibri" pitchFamily="34" charset="0"/>
                <a:ea typeface="Calibri" pitchFamily="34" charset="-122"/>
                <a:cs typeface="Calibri" pitchFamily="34" charset="-120"/>
              </a:rPr>
              <a:t>n = 1,000,000</a:t>
            </a:r>
            <a:endParaRPr lang="en-US" sz="1250" dirty="0"/>
          </a:p>
        </p:txBody>
      </p:sp>
      <p:sp>
        <p:nvSpPr>
          <p:cNvPr id="33" name="Text 31"/>
          <p:cNvSpPr txBox="1"/>
          <p:nvPr/>
        </p:nvSpPr>
        <p:spPr>
          <a:xfrm>
            <a:off x="2743200" y="4663440"/>
            <a:ext cx="3383280" cy="749808"/>
          </a:xfrm>
          <a:prstGeom prst="rect">
            <a:avLst/>
          </a:prstGeom>
          <a:noFill/>
          <a:ln/>
        </p:spPr>
        <p:txBody>
          <a:bodyPr wrap="square" lIns="0" tIns="0" rIns="0" bIns="0" rtlCol="0" anchor="ctr"/>
          <a:lstStyle/>
          <a:p>
            <a:pPr marL="0" indent="0">
              <a:buNone/>
            </a:pPr>
            <a:r>
              <a:rPr lang="en-US" sz="1150" dirty="0">
                <a:solidFill>
                  <a:srgbClr val="1B2233"/>
                </a:solidFill>
                <a:latin typeface="Calibri" pitchFamily="34" charset="0"/>
                <a:ea typeface="Calibri" pitchFamily="34" charset="-122"/>
                <a:cs typeface="Calibri" pitchFamily="34" charset="-120"/>
              </a:rPr>
              <a:t>1,000,000 comparisons  ≈ 1 ms</a:t>
            </a:r>
            <a:endParaRPr lang="en-US" sz="1150" dirty="0"/>
          </a:p>
        </p:txBody>
      </p:sp>
      <p:sp>
        <p:nvSpPr>
          <p:cNvPr id="34" name="Text 32"/>
          <p:cNvSpPr txBox="1"/>
          <p:nvPr/>
        </p:nvSpPr>
        <p:spPr>
          <a:xfrm>
            <a:off x="6217920" y="4663440"/>
            <a:ext cx="2377440" cy="749808"/>
          </a:xfrm>
          <a:prstGeom prst="rect">
            <a:avLst/>
          </a:prstGeom>
          <a:noFill/>
          <a:ln/>
        </p:spPr>
        <p:txBody>
          <a:bodyPr wrap="square" lIns="0" tIns="0" rIns="0" bIns="0" rtlCol="0" anchor="ctr"/>
          <a:lstStyle/>
          <a:p>
            <a:pPr marL="0" indent="0">
              <a:buNone/>
            </a:pPr>
            <a:r>
              <a:rPr lang="en-US" sz="1150" dirty="0">
                <a:solidFill>
                  <a:srgbClr val="1B2233"/>
                </a:solidFill>
                <a:latin typeface="Calibri" pitchFamily="34" charset="0"/>
                <a:ea typeface="Calibri" pitchFamily="34" charset="-122"/>
                <a:cs typeface="Calibri" pitchFamily="34" charset="-120"/>
              </a:rPr>
              <a:t>20 probes  ≈ 20 ns</a:t>
            </a:r>
            <a:endParaRPr lang="en-US" sz="1150" dirty="0"/>
          </a:p>
        </p:txBody>
      </p:sp>
      <p:sp>
        <p:nvSpPr>
          <p:cNvPr id="35" name="Text 33"/>
          <p:cNvSpPr txBox="1"/>
          <p:nvPr/>
        </p:nvSpPr>
        <p:spPr>
          <a:xfrm>
            <a:off x="8686800" y="4663440"/>
            <a:ext cx="2834640" cy="749808"/>
          </a:xfrm>
          <a:prstGeom prst="rect">
            <a:avLst/>
          </a:prstGeom>
          <a:noFill/>
          <a:ln/>
        </p:spPr>
        <p:txBody>
          <a:bodyPr wrap="square" lIns="0" tIns="0" rIns="0" bIns="0" rtlCol="0" anchor="ctr"/>
          <a:lstStyle/>
          <a:p>
            <a:pPr marL="0" indent="0">
              <a:buNone/>
            </a:pPr>
            <a:r>
              <a:rPr lang="en-US" sz="1250" b="1" dirty="0">
                <a:solidFill>
                  <a:srgbClr val="0E7490"/>
                </a:solidFill>
                <a:latin typeface="Calibri" pitchFamily="34" charset="0"/>
                <a:ea typeface="Calibri" pitchFamily="34" charset="-122"/>
                <a:cs typeface="Calibri" pitchFamily="34" charset="-120"/>
              </a:rPr>
              <a:t>50,000× fewer</a:t>
            </a:r>
            <a:endParaRPr lang="en-US" sz="1250" dirty="0"/>
          </a:p>
        </p:txBody>
      </p:sp>
      <p:sp>
        <p:nvSpPr>
          <p:cNvPr id="36" name="Shape 34"/>
          <p:cNvSpPr/>
          <p:nvPr/>
        </p:nvSpPr>
        <p:spPr>
          <a:xfrm>
            <a:off x="548640" y="5532120"/>
            <a:ext cx="11064240" cy="749808"/>
          </a:xfrm>
          <a:prstGeom prst="roundRect">
            <a:avLst>
              <a:gd name="adj" fmla="val 12195"/>
            </a:avLst>
          </a:prstGeom>
          <a:solidFill>
            <a:srgbClr val="FDF3E7"/>
          </a:solidFill>
          <a:ln w="12700">
            <a:solidFill>
              <a:srgbClr val="F0C89A"/>
            </a:solidFill>
            <a:prstDash val="solid"/>
          </a:ln>
        </p:spPr>
      </p:sp>
      <p:sp>
        <p:nvSpPr>
          <p:cNvPr id="37" name="Text 35"/>
          <p:cNvSpPr txBox="1"/>
          <p:nvPr/>
        </p:nvSpPr>
        <p:spPr>
          <a:xfrm>
            <a:off x="731520" y="5532120"/>
            <a:ext cx="2011680" cy="749808"/>
          </a:xfrm>
          <a:prstGeom prst="rect">
            <a:avLst/>
          </a:prstGeom>
          <a:noFill/>
          <a:ln/>
        </p:spPr>
        <p:txBody>
          <a:bodyPr wrap="square" lIns="0" tIns="0" rIns="0" bIns="0" rtlCol="0" anchor="ctr"/>
          <a:lstStyle/>
          <a:p>
            <a:pPr marL="0" indent="0">
              <a:buNone/>
            </a:pPr>
            <a:r>
              <a:rPr lang="en-US" sz="1250" b="1" dirty="0">
                <a:solidFill>
                  <a:srgbClr val="10242E"/>
                </a:solidFill>
                <a:latin typeface="Calibri" pitchFamily="34" charset="0"/>
                <a:ea typeface="Calibri" pitchFamily="34" charset="-122"/>
                <a:cs typeface="Calibri" pitchFamily="34" charset="-120"/>
              </a:rPr>
              <a:t>n = 1,000,000,000</a:t>
            </a:r>
            <a:endParaRPr lang="en-US" sz="1250" dirty="0"/>
          </a:p>
        </p:txBody>
      </p:sp>
      <p:sp>
        <p:nvSpPr>
          <p:cNvPr id="38" name="Text 36"/>
          <p:cNvSpPr txBox="1"/>
          <p:nvPr/>
        </p:nvSpPr>
        <p:spPr>
          <a:xfrm>
            <a:off x="2743200" y="5532120"/>
            <a:ext cx="3383280" cy="749808"/>
          </a:xfrm>
          <a:prstGeom prst="rect">
            <a:avLst/>
          </a:prstGeom>
          <a:noFill/>
          <a:ln/>
        </p:spPr>
        <p:txBody>
          <a:bodyPr wrap="square" lIns="0" tIns="0" rIns="0" bIns="0" rtlCol="0" anchor="ctr"/>
          <a:lstStyle/>
          <a:p>
            <a:pPr marL="0" indent="0">
              <a:buNone/>
            </a:pPr>
            <a:r>
              <a:rPr lang="en-US" sz="1150" dirty="0">
                <a:solidFill>
                  <a:srgbClr val="1B2233"/>
                </a:solidFill>
                <a:latin typeface="Calibri" pitchFamily="34" charset="0"/>
                <a:ea typeface="Calibri" pitchFamily="34" charset="-122"/>
                <a:cs typeface="Calibri" pitchFamily="34" charset="-120"/>
              </a:rPr>
              <a:t>1,000,000,000 comparisons  ≈ 1 s</a:t>
            </a:r>
            <a:endParaRPr lang="en-US" sz="1150" dirty="0"/>
          </a:p>
        </p:txBody>
      </p:sp>
      <p:sp>
        <p:nvSpPr>
          <p:cNvPr id="39" name="Text 37"/>
          <p:cNvSpPr txBox="1"/>
          <p:nvPr/>
        </p:nvSpPr>
        <p:spPr>
          <a:xfrm>
            <a:off x="6217920" y="5532120"/>
            <a:ext cx="2377440" cy="749808"/>
          </a:xfrm>
          <a:prstGeom prst="rect">
            <a:avLst/>
          </a:prstGeom>
          <a:noFill/>
          <a:ln/>
        </p:spPr>
        <p:txBody>
          <a:bodyPr wrap="square" lIns="0" tIns="0" rIns="0" bIns="0" rtlCol="0" anchor="ctr"/>
          <a:lstStyle/>
          <a:p>
            <a:pPr marL="0" indent="0">
              <a:buNone/>
            </a:pPr>
            <a:r>
              <a:rPr lang="en-US" sz="1150" dirty="0">
                <a:solidFill>
                  <a:srgbClr val="1B2233"/>
                </a:solidFill>
                <a:latin typeface="Calibri" pitchFamily="34" charset="0"/>
                <a:ea typeface="Calibri" pitchFamily="34" charset="-122"/>
                <a:cs typeface="Calibri" pitchFamily="34" charset="-120"/>
              </a:rPr>
              <a:t>30 probes  ≈ 30 ns</a:t>
            </a:r>
            <a:endParaRPr lang="en-US" sz="1150" dirty="0"/>
          </a:p>
        </p:txBody>
      </p:sp>
      <p:sp>
        <p:nvSpPr>
          <p:cNvPr id="40" name="Text 38"/>
          <p:cNvSpPr txBox="1"/>
          <p:nvPr/>
        </p:nvSpPr>
        <p:spPr>
          <a:xfrm>
            <a:off x="8686800" y="5532120"/>
            <a:ext cx="2834640" cy="749808"/>
          </a:xfrm>
          <a:prstGeom prst="rect">
            <a:avLst/>
          </a:prstGeom>
          <a:noFill/>
          <a:ln/>
        </p:spPr>
        <p:txBody>
          <a:bodyPr wrap="square" lIns="0" tIns="0" rIns="0" bIns="0" rtlCol="0" anchor="ctr"/>
          <a:lstStyle/>
          <a:p>
            <a:pPr marL="0" indent="0">
              <a:buNone/>
            </a:pPr>
            <a:r>
              <a:rPr lang="en-US" sz="1250" b="1" dirty="0">
                <a:solidFill>
                  <a:srgbClr val="D97706"/>
                </a:solidFill>
                <a:latin typeface="Calibri" pitchFamily="34" charset="0"/>
                <a:ea typeface="Calibri" pitchFamily="34" charset="-122"/>
                <a:cs typeface="Calibri" pitchFamily="34" charset="-120"/>
              </a:rPr>
              <a:t>≈ 33 million× fewer</a:t>
            </a:r>
            <a:endParaRPr lang="en-US" sz="1250" dirty="0"/>
          </a:p>
        </p:txBody>
      </p:sp>
      <p:sp>
        <p:nvSpPr>
          <p:cNvPr id="41" name="Text 39"/>
          <p:cNvSpPr txBox="1"/>
          <p:nvPr/>
        </p:nvSpPr>
        <p:spPr>
          <a:xfrm>
            <a:off x="548640" y="6547104"/>
            <a:ext cx="6858000" cy="256032"/>
          </a:xfrm>
          <a:prstGeom prst="rect">
            <a:avLst/>
          </a:prstGeom>
          <a:noFill/>
          <a:ln/>
        </p:spPr>
        <p:txBody>
          <a:bodyPr wrap="square" lIns="0" tIns="0" rIns="0" bIns="0" rtlCol="0" anchor="ctr"/>
          <a:lstStyle/>
          <a:p>
            <a:pPr marL="0" indent="0">
              <a:buNone/>
            </a:pPr>
            <a:r>
              <a:rPr lang="en-US" sz="900" dirty="0">
                <a:solidFill>
                  <a:srgbClr val="5B6584"/>
                </a:solidFill>
                <a:latin typeface="Calibri" pitchFamily="34" charset="0"/>
                <a:ea typeface="Calibri" pitchFamily="34" charset="-122"/>
                <a:cs typeface="Calibri" pitchFamily="34" charset="-120"/>
              </a:rPr>
              <a:t>Linear &amp; Binary Search  |  Data Structures Using C</a:t>
            </a:r>
            <a:endParaRPr lang="en-US" sz="900" dirty="0"/>
          </a:p>
        </p:txBody>
      </p:sp>
      <p:sp>
        <p:nvSpPr>
          <p:cNvPr id="42" name="Text 40"/>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500000">
            <a:off x="10972800" y="-1005840"/>
            <a:ext cx="2377440" cy="2377440"/>
          </a:xfrm>
          <a:prstGeom prst="triangle">
            <a:avLst/>
          </a:prstGeom>
          <a:solidFill>
            <a:srgbClr val="0E7490">
              <a:alpha val="5000"/>
            </a:srgbClr>
          </a:solidFill>
          <a:ln/>
        </p:spPr>
      </p:sp>
      <p:sp>
        <p:nvSpPr>
          <p:cNvPr id="3" name="Shape 1"/>
          <p:cNvSpPr/>
          <p:nvPr/>
        </p:nvSpPr>
        <p:spPr>
          <a:xfrm rot="12300000">
            <a:off x="-1097280" y="5760720"/>
            <a:ext cx="2377440" cy="2377440"/>
          </a:xfrm>
          <a:prstGeom prst="triangle">
            <a:avLst/>
          </a:prstGeom>
          <a:solidFill>
            <a:srgbClr val="0E7490">
              <a:alpha val="5000"/>
            </a:srgbClr>
          </a:solidFill>
          <a:ln/>
        </p:spPr>
      </p:sp>
      <p:sp>
        <p:nvSpPr>
          <p:cNvPr id="4" name="Text 2"/>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22A6C4"/>
                </a:solidFill>
                <a:latin typeface="Calibri" pitchFamily="34" charset="0"/>
                <a:ea typeface="Calibri" pitchFamily="34" charset="-122"/>
                <a:cs typeface="Calibri" pitchFamily="34" charset="-120"/>
              </a:rPr>
              <a:t>COMPARATIVE ANALYSIS</a:t>
            </a:r>
            <a:endParaRPr lang="en-US" sz="1300" dirty="0"/>
          </a:p>
        </p:txBody>
      </p:sp>
      <p:sp>
        <p:nvSpPr>
          <p:cNvPr id="5" name="Text 3"/>
          <p:cNvSpPr txBox="1"/>
          <p:nvPr/>
        </p:nvSpPr>
        <p:spPr>
          <a:xfrm>
            <a:off x="548640" y="621792"/>
            <a:ext cx="11064240" cy="731520"/>
          </a:xfrm>
          <a:prstGeom prst="rect">
            <a:avLst/>
          </a:prstGeom>
          <a:noFill/>
          <a:ln/>
        </p:spPr>
        <p:txBody>
          <a:bodyPr wrap="square" lIns="0" tIns="0" rIns="0" bIns="0" rtlCol="0" anchor="ctr"/>
          <a:lstStyle/>
          <a:p>
            <a:pPr marL="0" indent="0">
              <a:buNone/>
            </a:pPr>
            <a:r>
              <a:rPr lang="en-US" sz="3000" b="1" dirty="0">
                <a:solidFill>
                  <a:srgbClr val="10242E"/>
                </a:solidFill>
                <a:latin typeface="Cambria" pitchFamily="34" charset="0"/>
                <a:ea typeface="Cambria" pitchFamily="34" charset="-122"/>
                <a:cs typeface="Cambria" pitchFamily="34" charset="-120"/>
              </a:rPr>
              <a:t>Linear Search vs Binary Search</a:t>
            </a:r>
            <a:endParaRPr lang="en-US" sz="3000" dirty="0"/>
          </a:p>
        </p:txBody>
      </p:sp>
      <p:sp>
        <p:nvSpPr>
          <p:cNvPr id="6" name="Shape 4"/>
          <p:cNvSpPr/>
          <p:nvPr/>
        </p:nvSpPr>
        <p:spPr>
          <a:xfrm>
            <a:off x="548640" y="1371600"/>
            <a:ext cx="11064240" cy="411480"/>
          </a:xfrm>
          <a:prstGeom prst="roundRect">
            <a:avLst>
              <a:gd name="adj" fmla="val 22222"/>
            </a:avLst>
          </a:prstGeom>
          <a:solidFill>
            <a:srgbClr val="0E7490"/>
          </a:solidFill>
          <a:ln w="12700">
            <a:solidFill>
              <a:srgbClr val="0E7490"/>
            </a:solidFill>
            <a:prstDash val="solid"/>
          </a:ln>
        </p:spPr>
      </p:sp>
      <p:sp>
        <p:nvSpPr>
          <p:cNvPr id="7" name="Text 5"/>
          <p:cNvSpPr txBox="1"/>
          <p:nvPr/>
        </p:nvSpPr>
        <p:spPr>
          <a:xfrm>
            <a:off x="548640" y="1371600"/>
            <a:ext cx="2651760" cy="41148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Property</a:t>
            </a:r>
            <a:endParaRPr lang="en-US" sz="1150" dirty="0"/>
          </a:p>
        </p:txBody>
      </p:sp>
      <p:sp>
        <p:nvSpPr>
          <p:cNvPr id="8" name="Text 6"/>
          <p:cNvSpPr txBox="1"/>
          <p:nvPr/>
        </p:nvSpPr>
        <p:spPr>
          <a:xfrm>
            <a:off x="3200400" y="1371600"/>
            <a:ext cx="4206240" cy="41148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Linear Search</a:t>
            </a:r>
            <a:endParaRPr lang="en-US" sz="1150" dirty="0"/>
          </a:p>
        </p:txBody>
      </p:sp>
      <p:sp>
        <p:nvSpPr>
          <p:cNvPr id="9" name="Text 7"/>
          <p:cNvSpPr txBox="1"/>
          <p:nvPr/>
        </p:nvSpPr>
        <p:spPr>
          <a:xfrm>
            <a:off x="7406640" y="1371600"/>
            <a:ext cx="4206240" cy="41148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Binary Search</a:t>
            </a:r>
            <a:endParaRPr lang="en-US" sz="1150" dirty="0"/>
          </a:p>
        </p:txBody>
      </p:sp>
      <p:sp>
        <p:nvSpPr>
          <p:cNvPr id="10" name="Shape 8"/>
          <p:cNvSpPr/>
          <p:nvPr/>
        </p:nvSpPr>
        <p:spPr>
          <a:xfrm>
            <a:off x="548640" y="1783080"/>
            <a:ext cx="11064240" cy="420624"/>
          </a:xfrm>
          <a:prstGeom prst="roundRect">
            <a:avLst>
              <a:gd name="adj" fmla="val 21739"/>
            </a:avLst>
          </a:prstGeom>
          <a:solidFill>
            <a:srgbClr val="E6F5F9"/>
          </a:solidFill>
          <a:ln w="12700">
            <a:solidFill>
              <a:srgbClr val="B8E0EA"/>
            </a:solidFill>
            <a:prstDash val="solid"/>
          </a:ln>
        </p:spPr>
      </p:sp>
      <p:sp>
        <p:nvSpPr>
          <p:cNvPr id="11" name="Text 9"/>
          <p:cNvSpPr txBox="1"/>
          <p:nvPr/>
        </p:nvSpPr>
        <p:spPr>
          <a:xfrm>
            <a:off x="548640" y="1783080"/>
            <a:ext cx="2651760" cy="420624"/>
          </a:xfrm>
          <a:prstGeom prst="rect">
            <a:avLst/>
          </a:prstGeom>
          <a:noFill/>
          <a:ln/>
        </p:spPr>
        <p:txBody>
          <a:bodyPr wrap="square" lIns="0" tIns="0" rIns="0" bIns="0" rtlCol="0" anchor="ctr"/>
          <a:lstStyle/>
          <a:p>
            <a:pPr marL="0" indent="0" algn="ctr">
              <a:buNone/>
            </a:pPr>
            <a:r>
              <a:rPr lang="en-US" sz="1150" b="1" dirty="0">
                <a:solidFill>
                  <a:srgbClr val="1B2233"/>
                </a:solidFill>
                <a:latin typeface="Calibri" pitchFamily="34" charset="0"/>
                <a:ea typeface="Calibri" pitchFamily="34" charset="-122"/>
                <a:cs typeface="Calibri" pitchFamily="34" charset="-120"/>
              </a:rPr>
              <a:t>Data must be sorted?</a:t>
            </a:r>
            <a:endParaRPr lang="en-US" sz="1150" dirty="0"/>
          </a:p>
        </p:txBody>
      </p:sp>
      <p:sp>
        <p:nvSpPr>
          <p:cNvPr id="12" name="Text 10"/>
          <p:cNvSpPr txBox="1"/>
          <p:nvPr/>
        </p:nvSpPr>
        <p:spPr>
          <a:xfrm>
            <a:off x="3200400" y="1783080"/>
            <a:ext cx="4206240" cy="420624"/>
          </a:xfrm>
          <a:prstGeom prst="rect">
            <a:avLst/>
          </a:prstGeom>
          <a:noFill/>
          <a:ln/>
        </p:spPr>
        <p:txBody>
          <a:bodyPr wrap="square" lIns="0" tIns="0" rIns="0" bIns="0" rtlCol="0" anchor="ctr"/>
          <a:lstStyle/>
          <a:p>
            <a:pPr marL="0" indent="0" algn="ctr">
              <a:buNone/>
            </a:pPr>
            <a:r>
              <a:rPr lang="en-US" sz="1150" dirty="0">
                <a:solidFill>
                  <a:srgbClr val="1B2233"/>
                </a:solidFill>
                <a:latin typeface="Calibri" pitchFamily="34" charset="0"/>
                <a:ea typeface="Calibri" pitchFamily="34" charset="-122"/>
                <a:cs typeface="Calibri" pitchFamily="34" charset="-120"/>
              </a:rPr>
              <a:t>No</a:t>
            </a:r>
            <a:endParaRPr lang="en-US" sz="1150" dirty="0"/>
          </a:p>
        </p:txBody>
      </p:sp>
      <p:sp>
        <p:nvSpPr>
          <p:cNvPr id="13" name="Text 11"/>
          <p:cNvSpPr txBox="1"/>
          <p:nvPr/>
        </p:nvSpPr>
        <p:spPr>
          <a:xfrm>
            <a:off x="7406640" y="1783080"/>
            <a:ext cx="4206240" cy="420624"/>
          </a:xfrm>
          <a:prstGeom prst="rect">
            <a:avLst/>
          </a:prstGeom>
          <a:noFill/>
          <a:ln/>
        </p:spPr>
        <p:txBody>
          <a:bodyPr wrap="square" lIns="0" tIns="0" rIns="0" bIns="0" rtlCol="0" anchor="ctr"/>
          <a:lstStyle/>
          <a:p>
            <a:pPr marL="0" indent="0" algn="ctr">
              <a:buNone/>
            </a:pPr>
            <a:r>
              <a:rPr lang="en-US" sz="1150" dirty="0">
                <a:solidFill>
                  <a:srgbClr val="1B2233"/>
                </a:solidFill>
                <a:latin typeface="Calibri" pitchFamily="34" charset="0"/>
                <a:ea typeface="Calibri" pitchFamily="34" charset="-122"/>
                <a:cs typeface="Calibri" pitchFamily="34" charset="-120"/>
              </a:rPr>
              <a:t>Yes</a:t>
            </a:r>
            <a:endParaRPr lang="en-US" sz="1150" dirty="0"/>
          </a:p>
        </p:txBody>
      </p:sp>
      <p:sp>
        <p:nvSpPr>
          <p:cNvPr id="14" name="Shape 12"/>
          <p:cNvSpPr/>
          <p:nvPr/>
        </p:nvSpPr>
        <p:spPr>
          <a:xfrm>
            <a:off x="548640" y="2203704"/>
            <a:ext cx="11064240" cy="420624"/>
          </a:xfrm>
          <a:prstGeom prst="roundRect">
            <a:avLst>
              <a:gd name="adj" fmla="val 21739"/>
            </a:avLst>
          </a:prstGeom>
          <a:solidFill>
            <a:srgbClr val="FFFFFF"/>
          </a:solidFill>
          <a:ln w="12700">
            <a:solidFill>
              <a:srgbClr val="B8E0EA"/>
            </a:solidFill>
            <a:prstDash val="solid"/>
          </a:ln>
        </p:spPr>
      </p:sp>
      <p:sp>
        <p:nvSpPr>
          <p:cNvPr id="15" name="Text 13"/>
          <p:cNvSpPr txBox="1"/>
          <p:nvPr/>
        </p:nvSpPr>
        <p:spPr>
          <a:xfrm>
            <a:off x="548640" y="2203704"/>
            <a:ext cx="2651760" cy="420624"/>
          </a:xfrm>
          <a:prstGeom prst="rect">
            <a:avLst/>
          </a:prstGeom>
          <a:noFill/>
          <a:ln/>
        </p:spPr>
        <p:txBody>
          <a:bodyPr wrap="square" lIns="0" tIns="0" rIns="0" bIns="0" rtlCol="0" anchor="ctr"/>
          <a:lstStyle/>
          <a:p>
            <a:pPr marL="0" indent="0" algn="ctr">
              <a:buNone/>
            </a:pPr>
            <a:r>
              <a:rPr lang="en-US" sz="1150" b="1" dirty="0">
                <a:solidFill>
                  <a:srgbClr val="1B2233"/>
                </a:solidFill>
                <a:latin typeface="Calibri" pitchFamily="34" charset="0"/>
                <a:ea typeface="Calibri" pitchFamily="34" charset="-122"/>
                <a:cs typeface="Calibri" pitchFamily="34" charset="-120"/>
              </a:rPr>
              <a:t>Access needed</a:t>
            </a:r>
            <a:endParaRPr lang="en-US" sz="1150" dirty="0"/>
          </a:p>
        </p:txBody>
      </p:sp>
      <p:sp>
        <p:nvSpPr>
          <p:cNvPr id="16" name="Text 14"/>
          <p:cNvSpPr txBox="1"/>
          <p:nvPr/>
        </p:nvSpPr>
        <p:spPr>
          <a:xfrm>
            <a:off x="3200400" y="2203704"/>
            <a:ext cx="4206240" cy="420624"/>
          </a:xfrm>
          <a:prstGeom prst="rect">
            <a:avLst/>
          </a:prstGeom>
          <a:noFill/>
          <a:ln/>
        </p:spPr>
        <p:txBody>
          <a:bodyPr wrap="square" lIns="0" tIns="0" rIns="0" bIns="0" rtlCol="0" anchor="ctr"/>
          <a:lstStyle/>
          <a:p>
            <a:pPr marL="0" indent="0" algn="ctr">
              <a:buNone/>
            </a:pPr>
            <a:r>
              <a:rPr lang="en-US" sz="1150" dirty="0">
                <a:solidFill>
                  <a:srgbClr val="1B2233"/>
                </a:solidFill>
                <a:latin typeface="Calibri" pitchFamily="34" charset="0"/>
                <a:ea typeface="Calibri" pitchFamily="34" charset="-122"/>
                <a:cs typeface="Calibri" pitchFamily="34" charset="-120"/>
              </a:rPr>
              <a:t>Sequential (array or linked list)</a:t>
            </a:r>
            <a:endParaRPr lang="en-US" sz="1150" dirty="0"/>
          </a:p>
        </p:txBody>
      </p:sp>
      <p:sp>
        <p:nvSpPr>
          <p:cNvPr id="17" name="Text 15"/>
          <p:cNvSpPr txBox="1"/>
          <p:nvPr/>
        </p:nvSpPr>
        <p:spPr>
          <a:xfrm>
            <a:off x="7406640" y="2203704"/>
            <a:ext cx="4206240" cy="420624"/>
          </a:xfrm>
          <a:prstGeom prst="rect">
            <a:avLst/>
          </a:prstGeom>
          <a:noFill/>
          <a:ln/>
        </p:spPr>
        <p:txBody>
          <a:bodyPr wrap="square" lIns="0" tIns="0" rIns="0" bIns="0" rtlCol="0" anchor="ctr"/>
          <a:lstStyle/>
          <a:p>
            <a:pPr marL="0" indent="0" algn="ctr">
              <a:buNone/>
            </a:pPr>
            <a:r>
              <a:rPr lang="en-US" sz="1150" dirty="0">
                <a:solidFill>
                  <a:srgbClr val="1B2233"/>
                </a:solidFill>
                <a:latin typeface="Calibri" pitchFamily="34" charset="0"/>
                <a:ea typeface="Calibri" pitchFamily="34" charset="-122"/>
                <a:cs typeface="Calibri" pitchFamily="34" charset="-120"/>
              </a:rPr>
              <a:t>Random access (array)</a:t>
            </a:r>
            <a:endParaRPr lang="en-US" sz="1150" dirty="0"/>
          </a:p>
        </p:txBody>
      </p:sp>
      <p:sp>
        <p:nvSpPr>
          <p:cNvPr id="18" name="Shape 16"/>
          <p:cNvSpPr/>
          <p:nvPr/>
        </p:nvSpPr>
        <p:spPr>
          <a:xfrm>
            <a:off x="548640" y="2624328"/>
            <a:ext cx="11064240" cy="420624"/>
          </a:xfrm>
          <a:prstGeom prst="roundRect">
            <a:avLst>
              <a:gd name="adj" fmla="val 21739"/>
            </a:avLst>
          </a:prstGeom>
          <a:solidFill>
            <a:srgbClr val="E6F5F9"/>
          </a:solidFill>
          <a:ln w="12700">
            <a:solidFill>
              <a:srgbClr val="B8E0EA"/>
            </a:solidFill>
            <a:prstDash val="solid"/>
          </a:ln>
        </p:spPr>
      </p:sp>
      <p:sp>
        <p:nvSpPr>
          <p:cNvPr id="19" name="Text 17"/>
          <p:cNvSpPr txBox="1"/>
          <p:nvPr/>
        </p:nvSpPr>
        <p:spPr>
          <a:xfrm>
            <a:off x="548640" y="2624328"/>
            <a:ext cx="2651760" cy="420624"/>
          </a:xfrm>
          <a:prstGeom prst="rect">
            <a:avLst/>
          </a:prstGeom>
          <a:noFill/>
          <a:ln/>
        </p:spPr>
        <p:txBody>
          <a:bodyPr wrap="square" lIns="0" tIns="0" rIns="0" bIns="0" rtlCol="0" anchor="ctr"/>
          <a:lstStyle/>
          <a:p>
            <a:pPr marL="0" indent="0" algn="ctr">
              <a:buNone/>
            </a:pPr>
            <a:r>
              <a:rPr lang="en-US" sz="1150" b="1" dirty="0">
                <a:solidFill>
                  <a:srgbClr val="1B2233"/>
                </a:solidFill>
                <a:latin typeface="Calibri" pitchFamily="34" charset="0"/>
                <a:ea typeface="Calibri" pitchFamily="34" charset="-122"/>
                <a:cs typeface="Calibri" pitchFamily="34" charset="-120"/>
              </a:rPr>
              <a:t>Worst-case comparisons</a:t>
            </a:r>
            <a:endParaRPr lang="en-US" sz="1150" dirty="0"/>
          </a:p>
        </p:txBody>
      </p:sp>
      <p:sp>
        <p:nvSpPr>
          <p:cNvPr id="20" name="Text 18"/>
          <p:cNvSpPr txBox="1"/>
          <p:nvPr/>
        </p:nvSpPr>
        <p:spPr>
          <a:xfrm>
            <a:off x="3200400" y="2624328"/>
            <a:ext cx="4206240" cy="420624"/>
          </a:xfrm>
          <a:prstGeom prst="rect">
            <a:avLst/>
          </a:prstGeom>
          <a:noFill/>
          <a:ln/>
        </p:spPr>
        <p:txBody>
          <a:bodyPr wrap="square" lIns="0" tIns="0" rIns="0" bIns="0" rtlCol="0" anchor="ctr"/>
          <a:lstStyle/>
          <a:p>
            <a:pPr marL="0" indent="0" algn="ctr">
              <a:buNone/>
            </a:pPr>
            <a:r>
              <a:rPr lang="en-US" sz="1150" dirty="0">
                <a:solidFill>
                  <a:srgbClr val="1B2233"/>
                </a:solidFill>
                <a:latin typeface="Calibri" pitchFamily="34" charset="0"/>
                <a:ea typeface="Calibri" pitchFamily="34" charset="-122"/>
                <a:cs typeface="Calibri" pitchFamily="34" charset="-120"/>
              </a:rPr>
              <a:t>n</a:t>
            </a:r>
            <a:endParaRPr lang="en-US" sz="1150" dirty="0"/>
          </a:p>
        </p:txBody>
      </p:sp>
      <p:sp>
        <p:nvSpPr>
          <p:cNvPr id="21" name="Text 19"/>
          <p:cNvSpPr txBox="1"/>
          <p:nvPr/>
        </p:nvSpPr>
        <p:spPr>
          <a:xfrm>
            <a:off x="7406640" y="2624328"/>
            <a:ext cx="4206240" cy="420624"/>
          </a:xfrm>
          <a:prstGeom prst="rect">
            <a:avLst/>
          </a:prstGeom>
          <a:noFill/>
          <a:ln/>
        </p:spPr>
        <p:txBody>
          <a:bodyPr wrap="square" lIns="0" tIns="0" rIns="0" bIns="0" rtlCol="0" anchor="ctr"/>
          <a:lstStyle/>
          <a:p>
            <a:pPr marL="0" indent="0" algn="ctr">
              <a:buNone/>
            </a:pPr>
            <a:r>
              <a:rPr lang="en-US" sz="1150" dirty="0">
                <a:solidFill>
                  <a:srgbClr val="1B2233"/>
                </a:solidFill>
                <a:latin typeface="Calibri" pitchFamily="34" charset="0"/>
                <a:ea typeface="Calibri" pitchFamily="34" charset="-122"/>
                <a:cs typeface="Calibri" pitchFamily="34" charset="-120"/>
              </a:rPr>
              <a:t>⌊log₂ n⌋ + 1</a:t>
            </a:r>
            <a:endParaRPr lang="en-US" sz="1150" dirty="0"/>
          </a:p>
        </p:txBody>
      </p:sp>
      <p:sp>
        <p:nvSpPr>
          <p:cNvPr id="22" name="Shape 20"/>
          <p:cNvSpPr/>
          <p:nvPr/>
        </p:nvSpPr>
        <p:spPr>
          <a:xfrm>
            <a:off x="548640" y="3044952"/>
            <a:ext cx="11064240" cy="420624"/>
          </a:xfrm>
          <a:prstGeom prst="roundRect">
            <a:avLst>
              <a:gd name="adj" fmla="val 21739"/>
            </a:avLst>
          </a:prstGeom>
          <a:solidFill>
            <a:srgbClr val="FFFFFF"/>
          </a:solidFill>
          <a:ln w="12700">
            <a:solidFill>
              <a:srgbClr val="B8E0EA"/>
            </a:solidFill>
            <a:prstDash val="solid"/>
          </a:ln>
        </p:spPr>
      </p:sp>
      <p:sp>
        <p:nvSpPr>
          <p:cNvPr id="23" name="Text 21"/>
          <p:cNvSpPr txBox="1"/>
          <p:nvPr/>
        </p:nvSpPr>
        <p:spPr>
          <a:xfrm>
            <a:off x="548640" y="3044952"/>
            <a:ext cx="2651760" cy="420624"/>
          </a:xfrm>
          <a:prstGeom prst="rect">
            <a:avLst/>
          </a:prstGeom>
          <a:noFill/>
          <a:ln/>
        </p:spPr>
        <p:txBody>
          <a:bodyPr wrap="square" lIns="0" tIns="0" rIns="0" bIns="0" rtlCol="0" anchor="ctr"/>
          <a:lstStyle/>
          <a:p>
            <a:pPr marL="0" indent="0" algn="ctr">
              <a:buNone/>
            </a:pPr>
            <a:r>
              <a:rPr lang="en-US" sz="1150" b="1" dirty="0">
                <a:solidFill>
                  <a:srgbClr val="1B2233"/>
                </a:solidFill>
                <a:latin typeface="Calibri" pitchFamily="34" charset="0"/>
                <a:ea typeface="Calibri" pitchFamily="34" charset="-122"/>
                <a:cs typeface="Calibri" pitchFamily="34" charset="-120"/>
              </a:rPr>
              <a:t>Average comparisons</a:t>
            </a:r>
            <a:endParaRPr lang="en-US" sz="1150" dirty="0"/>
          </a:p>
        </p:txBody>
      </p:sp>
      <p:sp>
        <p:nvSpPr>
          <p:cNvPr id="24" name="Text 22"/>
          <p:cNvSpPr txBox="1"/>
          <p:nvPr/>
        </p:nvSpPr>
        <p:spPr>
          <a:xfrm>
            <a:off x="3200400" y="3044952"/>
            <a:ext cx="4206240" cy="420624"/>
          </a:xfrm>
          <a:prstGeom prst="rect">
            <a:avLst/>
          </a:prstGeom>
          <a:noFill/>
          <a:ln/>
        </p:spPr>
        <p:txBody>
          <a:bodyPr wrap="square" lIns="0" tIns="0" rIns="0" bIns="0" rtlCol="0" anchor="ctr"/>
          <a:lstStyle/>
          <a:p>
            <a:pPr marL="0" indent="0" algn="ctr">
              <a:buNone/>
            </a:pPr>
            <a:r>
              <a:rPr lang="en-US" sz="1150" dirty="0">
                <a:solidFill>
                  <a:srgbClr val="1B2233"/>
                </a:solidFill>
                <a:latin typeface="Calibri" pitchFamily="34" charset="0"/>
                <a:ea typeface="Calibri" pitchFamily="34" charset="-122"/>
                <a:cs typeface="Calibri" pitchFamily="34" charset="-120"/>
              </a:rPr>
              <a:t>(n + 1) / 2</a:t>
            </a:r>
            <a:endParaRPr lang="en-US" sz="1150" dirty="0"/>
          </a:p>
        </p:txBody>
      </p:sp>
      <p:sp>
        <p:nvSpPr>
          <p:cNvPr id="25" name="Text 23"/>
          <p:cNvSpPr txBox="1"/>
          <p:nvPr/>
        </p:nvSpPr>
        <p:spPr>
          <a:xfrm>
            <a:off x="7406640" y="3044952"/>
            <a:ext cx="4206240" cy="420624"/>
          </a:xfrm>
          <a:prstGeom prst="rect">
            <a:avLst/>
          </a:prstGeom>
          <a:noFill/>
          <a:ln/>
        </p:spPr>
        <p:txBody>
          <a:bodyPr wrap="square" lIns="0" tIns="0" rIns="0" bIns="0" rtlCol="0" anchor="ctr"/>
          <a:lstStyle/>
          <a:p>
            <a:pPr marL="0" indent="0" algn="ctr">
              <a:buNone/>
            </a:pPr>
            <a:r>
              <a:rPr lang="en-US" sz="1150" dirty="0">
                <a:solidFill>
                  <a:srgbClr val="1B2233"/>
                </a:solidFill>
                <a:latin typeface="Calibri" pitchFamily="34" charset="0"/>
                <a:ea typeface="Calibri" pitchFamily="34" charset="-122"/>
                <a:cs typeface="Calibri" pitchFamily="34" charset="-120"/>
              </a:rPr>
              <a:t>≈ log₂ n − 1</a:t>
            </a:r>
            <a:endParaRPr lang="en-US" sz="1150" dirty="0"/>
          </a:p>
        </p:txBody>
      </p:sp>
      <p:sp>
        <p:nvSpPr>
          <p:cNvPr id="26" name="Shape 24"/>
          <p:cNvSpPr/>
          <p:nvPr/>
        </p:nvSpPr>
        <p:spPr>
          <a:xfrm>
            <a:off x="548640" y="3465576"/>
            <a:ext cx="11064240" cy="420624"/>
          </a:xfrm>
          <a:prstGeom prst="roundRect">
            <a:avLst>
              <a:gd name="adj" fmla="val 21739"/>
            </a:avLst>
          </a:prstGeom>
          <a:solidFill>
            <a:srgbClr val="E6F5F9"/>
          </a:solidFill>
          <a:ln w="12700">
            <a:solidFill>
              <a:srgbClr val="B8E0EA"/>
            </a:solidFill>
            <a:prstDash val="solid"/>
          </a:ln>
        </p:spPr>
      </p:sp>
      <p:sp>
        <p:nvSpPr>
          <p:cNvPr id="27" name="Text 25"/>
          <p:cNvSpPr txBox="1"/>
          <p:nvPr/>
        </p:nvSpPr>
        <p:spPr>
          <a:xfrm>
            <a:off x="548640" y="3465576"/>
            <a:ext cx="2651760" cy="420624"/>
          </a:xfrm>
          <a:prstGeom prst="rect">
            <a:avLst/>
          </a:prstGeom>
          <a:noFill/>
          <a:ln/>
        </p:spPr>
        <p:txBody>
          <a:bodyPr wrap="square" lIns="0" tIns="0" rIns="0" bIns="0" rtlCol="0" anchor="ctr"/>
          <a:lstStyle/>
          <a:p>
            <a:pPr marL="0" indent="0" algn="ctr">
              <a:buNone/>
            </a:pPr>
            <a:r>
              <a:rPr lang="en-US" sz="1150" b="1" dirty="0">
                <a:solidFill>
                  <a:srgbClr val="1B2233"/>
                </a:solidFill>
                <a:latin typeface="Calibri" pitchFamily="34" charset="0"/>
                <a:ea typeface="Calibri" pitchFamily="34" charset="-122"/>
                <a:cs typeface="Calibri" pitchFamily="34" charset="-120"/>
              </a:rPr>
              <a:t>One-time preprocessing</a:t>
            </a:r>
            <a:endParaRPr lang="en-US" sz="1150" dirty="0"/>
          </a:p>
        </p:txBody>
      </p:sp>
      <p:sp>
        <p:nvSpPr>
          <p:cNvPr id="28" name="Text 26"/>
          <p:cNvSpPr txBox="1"/>
          <p:nvPr/>
        </p:nvSpPr>
        <p:spPr>
          <a:xfrm>
            <a:off x="3200400" y="3465576"/>
            <a:ext cx="4206240" cy="420624"/>
          </a:xfrm>
          <a:prstGeom prst="rect">
            <a:avLst/>
          </a:prstGeom>
          <a:noFill/>
          <a:ln/>
        </p:spPr>
        <p:txBody>
          <a:bodyPr wrap="square" lIns="0" tIns="0" rIns="0" bIns="0" rtlCol="0" anchor="ctr"/>
          <a:lstStyle/>
          <a:p>
            <a:pPr marL="0" indent="0" algn="ctr">
              <a:buNone/>
            </a:pPr>
            <a:r>
              <a:rPr lang="en-US" sz="1150" dirty="0">
                <a:solidFill>
                  <a:srgbClr val="1B2233"/>
                </a:solidFill>
                <a:latin typeface="Calibri" pitchFamily="34" charset="0"/>
                <a:ea typeface="Calibri" pitchFamily="34" charset="-122"/>
                <a:cs typeface="Calibri" pitchFamily="34" charset="-120"/>
              </a:rPr>
              <a:t>none</a:t>
            </a:r>
            <a:endParaRPr lang="en-US" sz="1150" dirty="0"/>
          </a:p>
        </p:txBody>
      </p:sp>
      <p:sp>
        <p:nvSpPr>
          <p:cNvPr id="29" name="Text 27"/>
          <p:cNvSpPr txBox="1"/>
          <p:nvPr/>
        </p:nvSpPr>
        <p:spPr>
          <a:xfrm>
            <a:off x="7406640" y="3465576"/>
            <a:ext cx="4206240" cy="420624"/>
          </a:xfrm>
          <a:prstGeom prst="rect">
            <a:avLst/>
          </a:prstGeom>
          <a:noFill/>
          <a:ln/>
        </p:spPr>
        <p:txBody>
          <a:bodyPr wrap="square" lIns="0" tIns="0" rIns="0" bIns="0" rtlCol="0" anchor="ctr"/>
          <a:lstStyle/>
          <a:p>
            <a:pPr marL="0" indent="0" algn="ctr">
              <a:buNone/>
            </a:pPr>
            <a:r>
              <a:rPr lang="en-US" sz="1150" dirty="0">
                <a:solidFill>
                  <a:srgbClr val="1B2233"/>
                </a:solidFill>
                <a:latin typeface="Calibri" pitchFamily="34" charset="0"/>
                <a:ea typeface="Calibri" pitchFamily="34" charset="-122"/>
                <a:cs typeface="Calibri" pitchFamily="34" charset="-120"/>
              </a:rPr>
              <a:t>sort once: O(n log n)</a:t>
            </a:r>
            <a:endParaRPr lang="en-US" sz="1150" dirty="0"/>
          </a:p>
        </p:txBody>
      </p:sp>
      <p:sp>
        <p:nvSpPr>
          <p:cNvPr id="30" name="Shape 28"/>
          <p:cNvSpPr/>
          <p:nvPr/>
        </p:nvSpPr>
        <p:spPr>
          <a:xfrm>
            <a:off x="548640" y="3886200"/>
            <a:ext cx="11064240" cy="420624"/>
          </a:xfrm>
          <a:prstGeom prst="roundRect">
            <a:avLst>
              <a:gd name="adj" fmla="val 21739"/>
            </a:avLst>
          </a:prstGeom>
          <a:solidFill>
            <a:srgbClr val="FFFFFF"/>
          </a:solidFill>
          <a:ln w="12700">
            <a:solidFill>
              <a:srgbClr val="B8E0EA"/>
            </a:solidFill>
            <a:prstDash val="solid"/>
          </a:ln>
        </p:spPr>
      </p:sp>
      <p:sp>
        <p:nvSpPr>
          <p:cNvPr id="31" name="Text 29"/>
          <p:cNvSpPr txBox="1"/>
          <p:nvPr/>
        </p:nvSpPr>
        <p:spPr>
          <a:xfrm>
            <a:off x="548640" y="3886200"/>
            <a:ext cx="2651760" cy="420624"/>
          </a:xfrm>
          <a:prstGeom prst="rect">
            <a:avLst/>
          </a:prstGeom>
          <a:noFill/>
          <a:ln/>
        </p:spPr>
        <p:txBody>
          <a:bodyPr wrap="square" lIns="0" tIns="0" rIns="0" bIns="0" rtlCol="0" anchor="ctr"/>
          <a:lstStyle/>
          <a:p>
            <a:pPr marL="0" indent="0" algn="ctr">
              <a:buNone/>
            </a:pPr>
            <a:r>
              <a:rPr lang="en-US" sz="1150" b="1" dirty="0">
                <a:solidFill>
                  <a:srgbClr val="1B2233"/>
                </a:solidFill>
                <a:latin typeface="Calibri" pitchFamily="34" charset="0"/>
                <a:ea typeface="Calibri" pitchFamily="34" charset="-122"/>
                <a:cs typeface="Calibri" pitchFamily="34" charset="-120"/>
              </a:rPr>
              <a:t>Best suited for</a:t>
            </a:r>
            <a:endParaRPr lang="en-US" sz="1150" dirty="0"/>
          </a:p>
        </p:txBody>
      </p:sp>
      <p:sp>
        <p:nvSpPr>
          <p:cNvPr id="32" name="Text 30"/>
          <p:cNvSpPr txBox="1"/>
          <p:nvPr/>
        </p:nvSpPr>
        <p:spPr>
          <a:xfrm>
            <a:off x="3200400" y="3886200"/>
            <a:ext cx="4206240" cy="420624"/>
          </a:xfrm>
          <a:prstGeom prst="rect">
            <a:avLst/>
          </a:prstGeom>
          <a:noFill/>
          <a:ln/>
        </p:spPr>
        <p:txBody>
          <a:bodyPr wrap="square" lIns="0" tIns="0" rIns="0" bIns="0" rtlCol="0" anchor="ctr"/>
          <a:lstStyle/>
          <a:p>
            <a:pPr marL="0" indent="0" algn="ctr">
              <a:buNone/>
            </a:pPr>
            <a:r>
              <a:rPr lang="en-US" sz="1150" dirty="0">
                <a:solidFill>
                  <a:srgbClr val="1B2233"/>
                </a:solidFill>
                <a:latin typeface="Calibri" pitchFamily="34" charset="0"/>
                <a:ea typeface="Calibri" pitchFamily="34" charset="-122"/>
                <a:cs typeface="Calibri" pitchFamily="34" charset="-120"/>
              </a:rPr>
              <a:t>small or unsorted data, one-off lookups</a:t>
            </a:r>
            <a:endParaRPr lang="en-US" sz="1150" dirty="0"/>
          </a:p>
        </p:txBody>
      </p:sp>
      <p:sp>
        <p:nvSpPr>
          <p:cNvPr id="33" name="Text 31"/>
          <p:cNvSpPr txBox="1"/>
          <p:nvPr/>
        </p:nvSpPr>
        <p:spPr>
          <a:xfrm>
            <a:off x="7406640" y="3886200"/>
            <a:ext cx="4206240" cy="420624"/>
          </a:xfrm>
          <a:prstGeom prst="rect">
            <a:avLst/>
          </a:prstGeom>
          <a:noFill/>
          <a:ln/>
        </p:spPr>
        <p:txBody>
          <a:bodyPr wrap="square" lIns="0" tIns="0" rIns="0" bIns="0" rtlCol="0" anchor="ctr"/>
          <a:lstStyle/>
          <a:p>
            <a:pPr marL="0" indent="0" algn="ctr">
              <a:buNone/>
            </a:pPr>
            <a:r>
              <a:rPr lang="en-US" sz="1150" dirty="0">
                <a:solidFill>
                  <a:srgbClr val="1B2233"/>
                </a:solidFill>
                <a:latin typeface="Calibri" pitchFamily="34" charset="0"/>
                <a:ea typeface="Calibri" pitchFamily="34" charset="-122"/>
                <a:cs typeface="Calibri" pitchFamily="34" charset="-120"/>
              </a:rPr>
              <a:t>large sorted data, many lookups</a:t>
            </a:r>
            <a:endParaRPr lang="en-US" sz="1150" dirty="0"/>
          </a:p>
        </p:txBody>
      </p:sp>
      <p:sp>
        <p:nvSpPr>
          <p:cNvPr id="34" name="Shape 32"/>
          <p:cNvSpPr/>
          <p:nvPr/>
        </p:nvSpPr>
        <p:spPr>
          <a:xfrm>
            <a:off x="548640" y="4489704"/>
            <a:ext cx="11064240" cy="1874520"/>
          </a:xfrm>
          <a:prstGeom prst="roundRect">
            <a:avLst>
              <a:gd name="adj" fmla="val 4878"/>
            </a:avLst>
          </a:prstGeom>
          <a:solidFill>
            <a:schemeClr val="bg2">
              <a:lumMod val="75000"/>
            </a:schemeClr>
          </a:solidFill>
          <a:ln w="12700">
            <a:solidFill>
              <a:srgbClr val="10242E"/>
            </a:solidFill>
            <a:prstDash val="solid"/>
          </a:ln>
        </p:spPr>
      </p:sp>
      <p:sp>
        <p:nvSpPr>
          <p:cNvPr id="35" name="Text 33"/>
          <p:cNvSpPr txBox="1"/>
          <p:nvPr/>
        </p:nvSpPr>
        <p:spPr>
          <a:xfrm>
            <a:off x="777240" y="4599432"/>
            <a:ext cx="10515600" cy="274320"/>
          </a:xfrm>
          <a:prstGeom prst="rect">
            <a:avLst/>
          </a:prstGeom>
          <a:noFill/>
          <a:ln/>
        </p:spPr>
        <p:txBody>
          <a:bodyPr wrap="square" lIns="0" tIns="0" rIns="0" bIns="0" rtlCol="0" anchor="ctr"/>
          <a:lstStyle/>
          <a:p>
            <a:pPr marL="0" indent="0">
              <a:buNone/>
            </a:pPr>
            <a:r>
              <a:rPr lang="en-US" b="1" kern="0" spc="50" dirty="0">
                <a:latin typeface="Calibri" pitchFamily="34" charset="0"/>
                <a:ea typeface="Calibri" pitchFamily="34" charset="-122"/>
                <a:cs typeface="Calibri" pitchFamily="34" charset="-120"/>
              </a:rPr>
              <a:t>BREAK-EVEN: IS IT WORTH SORTING FIRST?   (n = 1,000,000, worst-case counts)</a:t>
            </a:r>
            <a:endParaRPr lang="en-US" dirty="0"/>
          </a:p>
        </p:txBody>
      </p:sp>
      <p:sp>
        <p:nvSpPr>
          <p:cNvPr id="36" name="Text 34"/>
          <p:cNvSpPr txBox="1"/>
          <p:nvPr/>
        </p:nvSpPr>
        <p:spPr>
          <a:xfrm>
            <a:off x="777240" y="4901184"/>
            <a:ext cx="10607040" cy="1371600"/>
          </a:xfrm>
          <a:prstGeom prst="rect">
            <a:avLst/>
          </a:prstGeom>
          <a:noFill/>
          <a:ln/>
        </p:spPr>
        <p:txBody>
          <a:bodyPr wrap="square" lIns="0" tIns="0" rIns="0" bIns="0" rtlCol="0" anchor="t"/>
          <a:lstStyle/>
          <a:p>
            <a:pPr marL="0" indent="0">
              <a:buNone/>
            </a:pPr>
            <a:r>
              <a:rPr lang="en-US" sz="1600" b="1" dirty="0">
                <a:latin typeface="Courier New" pitchFamily="34" charset="0"/>
                <a:ea typeface="Courier New" pitchFamily="34" charset="-122"/>
                <a:cs typeface="Courier New" pitchFamily="34" charset="-120"/>
              </a:rPr>
              <a:t>Linear, q queries:   q · 1,000,000
Sort once + binary, q queries:   n log₂ n + q · 20  ≈  20,000,000 + 20q
</a:t>
            </a:r>
            <a:r>
              <a:rPr lang="en-US" sz="1600" dirty="0">
                <a:latin typeface="Courier New" pitchFamily="34" charset="0"/>
                <a:ea typeface="Courier New" pitchFamily="34" charset="-122"/>
                <a:cs typeface="Courier New" pitchFamily="34" charset="-120"/>
              </a:rPr>
              <a:t>Equal when  q (1,000,000 − 20) = 20,000,000  ⇒  q ≈ 20.0.  From about 21 queries onward, sorting first and using binary search is cheaper — for a single query, plain linear search wins.</a:t>
            </a:r>
            <a:endParaRPr lang="en-US" sz="1600" dirty="0"/>
          </a:p>
        </p:txBody>
      </p:sp>
      <p:sp>
        <p:nvSpPr>
          <p:cNvPr id="37" name="Text 35"/>
          <p:cNvSpPr txBox="1"/>
          <p:nvPr/>
        </p:nvSpPr>
        <p:spPr>
          <a:xfrm>
            <a:off x="548640" y="6547104"/>
            <a:ext cx="6858000" cy="256032"/>
          </a:xfrm>
          <a:prstGeom prst="rect">
            <a:avLst/>
          </a:prstGeom>
          <a:noFill/>
          <a:ln/>
        </p:spPr>
        <p:txBody>
          <a:bodyPr wrap="square" lIns="0" tIns="0" rIns="0" bIns="0" rtlCol="0" anchor="ctr"/>
          <a:lstStyle/>
          <a:p>
            <a:pPr marL="0" indent="0">
              <a:buNone/>
            </a:pPr>
            <a:r>
              <a:rPr lang="en-US" sz="900" dirty="0">
                <a:solidFill>
                  <a:srgbClr val="5B6584"/>
                </a:solidFill>
                <a:latin typeface="Calibri" pitchFamily="34" charset="0"/>
                <a:ea typeface="Calibri" pitchFamily="34" charset="-122"/>
                <a:cs typeface="Calibri" pitchFamily="34" charset="-120"/>
              </a:rPr>
              <a:t>Linear &amp; Binary Search  |  Data Structures Using C</a:t>
            </a:r>
            <a:endParaRPr lang="en-US" sz="900" dirty="0"/>
          </a:p>
        </p:txBody>
      </p:sp>
      <p:sp>
        <p:nvSpPr>
          <p:cNvPr id="38" name="Text 36"/>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500000">
            <a:off x="10972800" y="-1005840"/>
            <a:ext cx="2377440" cy="2377440"/>
          </a:xfrm>
          <a:prstGeom prst="triangle">
            <a:avLst/>
          </a:prstGeom>
          <a:solidFill>
            <a:srgbClr val="0E7490">
              <a:alpha val="5000"/>
            </a:srgbClr>
          </a:solidFill>
          <a:ln/>
        </p:spPr>
      </p:sp>
      <p:sp>
        <p:nvSpPr>
          <p:cNvPr id="3" name="Shape 1"/>
          <p:cNvSpPr/>
          <p:nvPr/>
        </p:nvSpPr>
        <p:spPr>
          <a:xfrm rot="12300000">
            <a:off x="-1097280" y="5760720"/>
            <a:ext cx="2377440" cy="2377440"/>
          </a:xfrm>
          <a:prstGeom prst="triangle">
            <a:avLst/>
          </a:prstGeom>
          <a:solidFill>
            <a:srgbClr val="0E7490">
              <a:alpha val="5000"/>
            </a:srgbClr>
          </a:solidFill>
          <a:ln/>
        </p:spPr>
      </p:sp>
      <p:sp>
        <p:nvSpPr>
          <p:cNvPr id="4" name="Text 2"/>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22A6C4"/>
                </a:solidFill>
                <a:latin typeface="Calibri" pitchFamily="34" charset="0"/>
                <a:ea typeface="Calibri" pitchFamily="34" charset="-122"/>
                <a:cs typeface="Calibri" pitchFamily="34" charset="-120"/>
              </a:rPr>
              <a:t>BEYOND THE CLASSROOM</a:t>
            </a:r>
            <a:endParaRPr lang="en-US" sz="1300" dirty="0"/>
          </a:p>
        </p:txBody>
      </p:sp>
      <p:sp>
        <p:nvSpPr>
          <p:cNvPr id="5" name="Text 3"/>
          <p:cNvSpPr txBox="1"/>
          <p:nvPr/>
        </p:nvSpPr>
        <p:spPr>
          <a:xfrm>
            <a:off x="548640" y="621792"/>
            <a:ext cx="11064240" cy="731520"/>
          </a:xfrm>
          <a:prstGeom prst="rect">
            <a:avLst/>
          </a:prstGeom>
          <a:noFill/>
          <a:ln/>
        </p:spPr>
        <p:txBody>
          <a:bodyPr wrap="square" lIns="0" tIns="0" rIns="0" bIns="0" rtlCol="0" anchor="ctr"/>
          <a:lstStyle/>
          <a:p>
            <a:pPr marL="0" indent="0">
              <a:buNone/>
            </a:pPr>
            <a:r>
              <a:rPr lang="en-US" sz="3000" b="1" dirty="0">
                <a:solidFill>
                  <a:srgbClr val="10242E"/>
                </a:solidFill>
                <a:latin typeface="Cambria" pitchFamily="34" charset="0"/>
                <a:ea typeface="Cambria" pitchFamily="34" charset="-122"/>
                <a:cs typeface="Cambria" pitchFamily="34" charset="-120"/>
              </a:rPr>
              <a:t>Real-World Applications</a:t>
            </a:r>
            <a:endParaRPr lang="en-US" sz="3000" dirty="0"/>
          </a:p>
        </p:txBody>
      </p:sp>
      <p:sp>
        <p:nvSpPr>
          <p:cNvPr id="6" name="Shape 4"/>
          <p:cNvSpPr/>
          <p:nvPr/>
        </p:nvSpPr>
        <p:spPr>
          <a:xfrm>
            <a:off x="548640" y="1417320"/>
            <a:ext cx="3611880" cy="2240280"/>
          </a:xfrm>
          <a:prstGeom prst="roundRect">
            <a:avLst>
              <a:gd name="adj" fmla="val 4082"/>
            </a:avLst>
          </a:prstGeom>
          <a:solidFill>
            <a:srgbClr val="E6F5F9"/>
          </a:solidFill>
          <a:ln w="12700">
            <a:solidFill>
              <a:srgbClr val="B8E0EA"/>
            </a:solidFill>
            <a:prstDash val="solid"/>
          </a:ln>
        </p:spPr>
      </p:sp>
      <p:sp>
        <p:nvSpPr>
          <p:cNvPr id="7" name="Shape 5"/>
          <p:cNvSpPr/>
          <p:nvPr/>
        </p:nvSpPr>
        <p:spPr>
          <a:xfrm>
            <a:off x="731520" y="1600200"/>
            <a:ext cx="384048" cy="384048"/>
          </a:xfrm>
          <a:prstGeom prst="ellipse">
            <a:avLst/>
          </a:prstGeom>
          <a:solidFill>
            <a:srgbClr val="0E7490"/>
          </a:solidFill>
          <a:ln/>
        </p:spPr>
      </p:sp>
      <p:sp>
        <p:nvSpPr>
          <p:cNvPr id="8" name="Text 6"/>
          <p:cNvSpPr txBox="1"/>
          <p:nvPr/>
        </p:nvSpPr>
        <p:spPr>
          <a:xfrm>
            <a:off x="731520" y="160020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L</a:t>
            </a:r>
            <a:endParaRPr lang="en-US" sz="1400" dirty="0"/>
          </a:p>
        </p:txBody>
      </p:sp>
      <p:sp>
        <p:nvSpPr>
          <p:cNvPr id="9" name="Text 7"/>
          <p:cNvSpPr txBox="1"/>
          <p:nvPr/>
        </p:nvSpPr>
        <p:spPr>
          <a:xfrm>
            <a:off x="1234440" y="1581912"/>
            <a:ext cx="2743200" cy="457200"/>
          </a:xfrm>
          <a:prstGeom prst="rect">
            <a:avLst/>
          </a:prstGeom>
          <a:noFill/>
          <a:ln/>
        </p:spPr>
        <p:txBody>
          <a:bodyPr wrap="square" lIns="0" tIns="0" rIns="0" bIns="0" rtlCol="0" anchor="ctr"/>
          <a:lstStyle/>
          <a:p>
            <a:pPr marL="0" indent="0">
              <a:buNone/>
            </a:pPr>
            <a:r>
              <a:rPr lang="en-US" sz="1350" b="1" dirty="0">
                <a:solidFill>
                  <a:srgbClr val="10242E"/>
                </a:solidFill>
                <a:latin typeface="Cambria" pitchFamily="34" charset="0"/>
                <a:ea typeface="Cambria" pitchFamily="34" charset="-122"/>
                <a:cs typeface="Cambria" pitchFamily="34" charset="-120"/>
              </a:rPr>
              <a:t>Scanning Log Files</a:t>
            </a:r>
            <a:endParaRPr lang="en-US" sz="1350" dirty="0"/>
          </a:p>
        </p:txBody>
      </p:sp>
      <p:sp>
        <p:nvSpPr>
          <p:cNvPr id="10" name="Text 8"/>
          <p:cNvSpPr txBox="1"/>
          <p:nvPr/>
        </p:nvSpPr>
        <p:spPr>
          <a:xfrm>
            <a:off x="731520" y="2194560"/>
            <a:ext cx="3246120" cy="1371600"/>
          </a:xfrm>
          <a:prstGeom prst="rect">
            <a:avLst/>
          </a:prstGeom>
          <a:noFill/>
          <a:ln/>
        </p:spPr>
        <p:txBody>
          <a:bodyPr wrap="square" lIns="0" tIns="0" rIns="0" bIns="0" rtlCol="0" anchor="t"/>
          <a:lstStyle/>
          <a:p>
            <a:pPr marL="0" indent="0">
              <a:lnSpc>
                <a:spcPct val="130000"/>
              </a:lnSpc>
              <a:buNone/>
            </a:pPr>
            <a:r>
              <a:rPr lang="en-US" sz="1150" dirty="0">
                <a:solidFill>
                  <a:srgbClr val="5B6584"/>
                </a:solidFill>
                <a:latin typeface="Calibri" pitchFamily="34" charset="0"/>
                <a:ea typeface="Calibri" pitchFamily="34" charset="-122"/>
                <a:cs typeface="Calibri" pitchFamily="34" charset="-120"/>
              </a:rPr>
              <a:t>Find the first line containing ERROR in a growing, unsorted log — there is no order to exploit, so read line by line.</a:t>
            </a:r>
            <a:endParaRPr lang="en-US" sz="1150" dirty="0"/>
          </a:p>
        </p:txBody>
      </p:sp>
      <p:sp>
        <p:nvSpPr>
          <p:cNvPr id="11" name="Shape 9"/>
          <p:cNvSpPr/>
          <p:nvPr/>
        </p:nvSpPr>
        <p:spPr>
          <a:xfrm>
            <a:off x="4274820" y="1417320"/>
            <a:ext cx="3611880" cy="2240280"/>
          </a:xfrm>
          <a:prstGeom prst="roundRect">
            <a:avLst>
              <a:gd name="adj" fmla="val 4082"/>
            </a:avLst>
          </a:prstGeom>
          <a:solidFill>
            <a:srgbClr val="E6F5F9"/>
          </a:solidFill>
          <a:ln w="12700">
            <a:solidFill>
              <a:srgbClr val="B8E0EA"/>
            </a:solidFill>
            <a:prstDash val="solid"/>
          </a:ln>
        </p:spPr>
      </p:sp>
      <p:sp>
        <p:nvSpPr>
          <p:cNvPr id="12" name="Shape 10"/>
          <p:cNvSpPr/>
          <p:nvPr/>
        </p:nvSpPr>
        <p:spPr>
          <a:xfrm>
            <a:off x="4457700" y="1600200"/>
            <a:ext cx="384048" cy="384048"/>
          </a:xfrm>
          <a:prstGeom prst="ellipse">
            <a:avLst/>
          </a:prstGeom>
          <a:solidFill>
            <a:srgbClr val="0E7490"/>
          </a:solidFill>
          <a:ln/>
        </p:spPr>
      </p:sp>
      <p:sp>
        <p:nvSpPr>
          <p:cNvPr id="13" name="Text 11"/>
          <p:cNvSpPr txBox="1"/>
          <p:nvPr/>
        </p:nvSpPr>
        <p:spPr>
          <a:xfrm>
            <a:off x="4457700" y="160020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L</a:t>
            </a:r>
            <a:endParaRPr lang="en-US" sz="1400" dirty="0"/>
          </a:p>
        </p:txBody>
      </p:sp>
      <p:sp>
        <p:nvSpPr>
          <p:cNvPr id="14" name="Text 12"/>
          <p:cNvSpPr txBox="1"/>
          <p:nvPr/>
        </p:nvSpPr>
        <p:spPr>
          <a:xfrm>
            <a:off x="4960620" y="1581912"/>
            <a:ext cx="2743200" cy="457200"/>
          </a:xfrm>
          <a:prstGeom prst="rect">
            <a:avLst/>
          </a:prstGeom>
          <a:noFill/>
          <a:ln/>
        </p:spPr>
        <p:txBody>
          <a:bodyPr wrap="square" lIns="0" tIns="0" rIns="0" bIns="0" rtlCol="0" anchor="ctr"/>
          <a:lstStyle/>
          <a:p>
            <a:pPr marL="0" indent="0">
              <a:buNone/>
            </a:pPr>
            <a:r>
              <a:rPr lang="en-US" sz="1350" b="1" dirty="0">
                <a:solidFill>
                  <a:srgbClr val="10242E"/>
                </a:solidFill>
                <a:latin typeface="Cambria" pitchFamily="34" charset="0"/>
                <a:ea typeface="Cambria" pitchFamily="34" charset="-122"/>
                <a:cs typeface="Cambria" pitchFamily="34" charset="-120"/>
              </a:rPr>
              <a:t>Small or Unsorted Lists</a:t>
            </a:r>
            <a:endParaRPr lang="en-US" sz="1350" dirty="0"/>
          </a:p>
        </p:txBody>
      </p:sp>
      <p:sp>
        <p:nvSpPr>
          <p:cNvPr id="15" name="Text 13"/>
          <p:cNvSpPr txBox="1"/>
          <p:nvPr/>
        </p:nvSpPr>
        <p:spPr>
          <a:xfrm>
            <a:off x="4457700" y="2194560"/>
            <a:ext cx="3246120" cy="1371600"/>
          </a:xfrm>
          <a:prstGeom prst="rect">
            <a:avLst/>
          </a:prstGeom>
          <a:noFill/>
          <a:ln/>
        </p:spPr>
        <p:txBody>
          <a:bodyPr wrap="square" lIns="0" tIns="0" rIns="0" bIns="0" rtlCol="0" anchor="t"/>
          <a:lstStyle/>
          <a:p>
            <a:pPr marL="0" indent="0">
              <a:lnSpc>
                <a:spcPct val="130000"/>
              </a:lnSpc>
              <a:buNone/>
            </a:pPr>
            <a:r>
              <a:rPr lang="en-US" sz="1150" dirty="0">
                <a:solidFill>
                  <a:srgbClr val="5B6584"/>
                </a:solidFill>
                <a:latin typeface="Calibri" pitchFamily="34" charset="0"/>
                <a:ea typeface="Calibri" pitchFamily="34" charset="-122"/>
                <a:cs typeface="Calibri" pitchFamily="34" charset="-120"/>
              </a:rPr>
              <a:t>Looking up a name in a 10-item to-do list or a freshly imported contact list: sorting first would cost more than the search.</a:t>
            </a:r>
            <a:endParaRPr lang="en-US" sz="1150" dirty="0"/>
          </a:p>
        </p:txBody>
      </p:sp>
      <p:sp>
        <p:nvSpPr>
          <p:cNvPr id="16" name="Shape 14"/>
          <p:cNvSpPr/>
          <p:nvPr/>
        </p:nvSpPr>
        <p:spPr>
          <a:xfrm>
            <a:off x="8001000" y="1417320"/>
            <a:ext cx="3611880" cy="2240280"/>
          </a:xfrm>
          <a:prstGeom prst="roundRect">
            <a:avLst>
              <a:gd name="adj" fmla="val 4082"/>
            </a:avLst>
          </a:prstGeom>
          <a:solidFill>
            <a:srgbClr val="E6F5F9"/>
          </a:solidFill>
          <a:ln w="12700">
            <a:solidFill>
              <a:srgbClr val="B8E0EA"/>
            </a:solidFill>
            <a:prstDash val="solid"/>
          </a:ln>
        </p:spPr>
      </p:sp>
      <p:sp>
        <p:nvSpPr>
          <p:cNvPr id="17" name="Shape 15"/>
          <p:cNvSpPr/>
          <p:nvPr/>
        </p:nvSpPr>
        <p:spPr>
          <a:xfrm>
            <a:off x="8183880" y="1600200"/>
            <a:ext cx="384048" cy="384048"/>
          </a:xfrm>
          <a:prstGeom prst="ellipse">
            <a:avLst/>
          </a:prstGeom>
          <a:solidFill>
            <a:srgbClr val="0E7490"/>
          </a:solidFill>
          <a:ln/>
        </p:spPr>
      </p:sp>
      <p:sp>
        <p:nvSpPr>
          <p:cNvPr id="18" name="Text 16"/>
          <p:cNvSpPr txBox="1"/>
          <p:nvPr/>
        </p:nvSpPr>
        <p:spPr>
          <a:xfrm>
            <a:off x="8183880" y="160020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L</a:t>
            </a:r>
            <a:endParaRPr lang="en-US" sz="1400" dirty="0"/>
          </a:p>
        </p:txBody>
      </p:sp>
      <p:sp>
        <p:nvSpPr>
          <p:cNvPr id="19" name="Text 17"/>
          <p:cNvSpPr txBox="1"/>
          <p:nvPr/>
        </p:nvSpPr>
        <p:spPr>
          <a:xfrm>
            <a:off x="8686800" y="1581912"/>
            <a:ext cx="2743200" cy="457200"/>
          </a:xfrm>
          <a:prstGeom prst="rect">
            <a:avLst/>
          </a:prstGeom>
          <a:noFill/>
          <a:ln/>
        </p:spPr>
        <p:txBody>
          <a:bodyPr wrap="square" lIns="0" tIns="0" rIns="0" bIns="0" rtlCol="0" anchor="ctr"/>
          <a:lstStyle/>
          <a:p>
            <a:pPr marL="0" indent="0">
              <a:buNone/>
            </a:pPr>
            <a:r>
              <a:rPr lang="en-US" sz="1350" b="1" dirty="0">
                <a:solidFill>
                  <a:srgbClr val="10242E"/>
                </a:solidFill>
                <a:latin typeface="Cambria" pitchFamily="34" charset="0"/>
                <a:ea typeface="Cambria" pitchFamily="34" charset="-122"/>
                <a:cs typeface="Cambria" pitchFamily="34" charset="-120"/>
              </a:rPr>
              <a:t>Linked Lists</a:t>
            </a:r>
            <a:endParaRPr lang="en-US" sz="1350" dirty="0"/>
          </a:p>
        </p:txBody>
      </p:sp>
      <p:sp>
        <p:nvSpPr>
          <p:cNvPr id="20" name="Text 18"/>
          <p:cNvSpPr txBox="1"/>
          <p:nvPr/>
        </p:nvSpPr>
        <p:spPr>
          <a:xfrm>
            <a:off x="8183880" y="2194560"/>
            <a:ext cx="3246120" cy="1371600"/>
          </a:xfrm>
          <a:prstGeom prst="rect">
            <a:avLst/>
          </a:prstGeom>
          <a:noFill/>
          <a:ln/>
        </p:spPr>
        <p:txBody>
          <a:bodyPr wrap="square" lIns="0" tIns="0" rIns="0" bIns="0" rtlCol="0" anchor="t"/>
          <a:lstStyle/>
          <a:p>
            <a:pPr marL="0" indent="0">
              <a:lnSpc>
                <a:spcPct val="130000"/>
              </a:lnSpc>
              <a:buNone/>
            </a:pPr>
            <a:r>
              <a:rPr lang="en-US" sz="1150" dirty="0">
                <a:solidFill>
                  <a:srgbClr val="5B6584"/>
                </a:solidFill>
                <a:latin typeface="Calibri" pitchFamily="34" charset="0"/>
                <a:ea typeface="Calibri" pitchFamily="34" charset="-122"/>
                <a:cs typeface="Calibri" pitchFamily="34" charset="-120"/>
              </a:rPr>
              <a:t>Nodes offer no random access, so even a sorted linked list is searched sequentially — binary search cannot jump to the middle.</a:t>
            </a:r>
            <a:endParaRPr lang="en-US" sz="1150" dirty="0"/>
          </a:p>
        </p:txBody>
      </p:sp>
      <p:sp>
        <p:nvSpPr>
          <p:cNvPr id="21" name="Shape 19"/>
          <p:cNvSpPr/>
          <p:nvPr/>
        </p:nvSpPr>
        <p:spPr>
          <a:xfrm>
            <a:off x="548640" y="3840480"/>
            <a:ext cx="3611880" cy="2240280"/>
          </a:xfrm>
          <a:prstGeom prst="roundRect">
            <a:avLst>
              <a:gd name="adj" fmla="val 4082"/>
            </a:avLst>
          </a:prstGeom>
          <a:solidFill>
            <a:srgbClr val="FDF3E7"/>
          </a:solidFill>
          <a:ln w="12700">
            <a:solidFill>
              <a:srgbClr val="F0C89A"/>
            </a:solidFill>
            <a:prstDash val="solid"/>
          </a:ln>
        </p:spPr>
      </p:sp>
      <p:sp>
        <p:nvSpPr>
          <p:cNvPr id="22" name="Shape 20"/>
          <p:cNvSpPr/>
          <p:nvPr/>
        </p:nvSpPr>
        <p:spPr>
          <a:xfrm>
            <a:off x="731520" y="4023360"/>
            <a:ext cx="384048" cy="384048"/>
          </a:xfrm>
          <a:prstGeom prst="ellipse">
            <a:avLst/>
          </a:prstGeom>
          <a:solidFill>
            <a:srgbClr val="D97706"/>
          </a:solidFill>
          <a:ln/>
        </p:spPr>
      </p:sp>
      <p:sp>
        <p:nvSpPr>
          <p:cNvPr id="23" name="Text 21"/>
          <p:cNvSpPr txBox="1"/>
          <p:nvPr/>
        </p:nvSpPr>
        <p:spPr>
          <a:xfrm>
            <a:off x="731520" y="402336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B</a:t>
            </a:r>
            <a:endParaRPr lang="en-US" sz="1400" dirty="0"/>
          </a:p>
        </p:txBody>
      </p:sp>
      <p:sp>
        <p:nvSpPr>
          <p:cNvPr id="24" name="Text 22"/>
          <p:cNvSpPr txBox="1"/>
          <p:nvPr/>
        </p:nvSpPr>
        <p:spPr>
          <a:xfrm>
            <a:off x="1234440" y="4005072"/>
            <a:ext cx="2743200" cy="457200"/>
          </a:xfrm>
          <a:prstGeom prst="rect">
            <a:avLst/>
          </a:prstGeom>
          <a:noFill/>
          <a:ln/>
        </p:spPr>
        <p:txBody>
          <a:bodyPr wrap="square" lIns="0" tIns="0" rIns="0" bIns="0" rtlCol="0" anchor="ctr"/>
          <a:lstStyle/>
          <a:p>
            <a:pPr marL="0" indent="0">
              <a:buNone/>
            </a:pPr>
            <a:r>
              <a:rPr lang="en-US" sz="1350" b="1" dirty="0">
                <a:solidFill>
                  <a:srgbClr val="10242E"/>
                </a:solidFill>
                <a:latin typeface="Cambria" pitchFamily="34" charset="0"/>
                <a:ea typeface="Cambria" pitchFamily="34" charset="-122"/>
                <a:cs typeface="Cambria" pitchFamily="34" charset="-120"/>
              </a:rPr>
              <a:t>Dictionary &amp; Guessing Game</a:t>
            </a:r>
            <a:endParaRPr lang="en-US" sz="1350" dirty="0"/>
          </a:p>
        </p:txBody>
      </p:sp>
      <p:sp>
        <p:nvSpPr>
          <p:cNvPr id="25" name="Text 23"/>
          <p:cNvSpPr txBox="1"/>
          <p:nvPr/>
        </p:nvSpPr>
        <p:spPr>
          <a:xfrm>
            <a:off x="731520" y="4617720"/>
            <a:ext cx="3246120" cy="1371600"/>
          </a:xfrm>
          <a:prstGeom prst="rect">
            <a:avLst/>
          </a:prstGeom>
          <a:noFill/>
          <a:ln/>
        </p:spPr>
        <p:txBody>
          <a:bodyPr wrap="square" lIns="0" tIns="0" rIns="0" bIns="0" rtlCol="0" anchor="t"/>
          <a:lstStyle/>
          <a:p>
            <a:pPr marL="0" indent="0">
              <a:lnSpc>
                <a:spcPct val="130000"/>
              </a:lnSpc>
              <a:buNone/>
            </a:pPr>
            <a:r>
              <a:rPr lang="en-US" sz="1150" dirty="0">
                <a:solidFill>
                  <a:srgbClr val="5B6584"/>
                </a:solidFill>
                <a:latin typeface="Calibri" pitchFamily="34" charset="0"/>
                <a:ea typeface="Calibri" pitchFamily="34" charset="-122"/>
                <a:cs typeface="Calibri" pitchFamily="34" charset="-120"/>
              </a:rPr>
              <a:t>Open the middle page, go left or right. Guessing a number in 1–100 with higher/lower hints takes at most 7 guesses (⌊log₂ 100⌋ + 1).</a:t>
            </a:r>
            <a:endParaRPr lang="en-US" sz="1150" dirty="0"/>
          </a:p>
        </p:txBody>
      </p:sp>
      <p:sp>
        <p:nvSpPr>
          <p:cNvPr id="26" name="Shape 24"/>
          <p:cNvSpPr/>
          <p:nvPr/>
        </p:nvSpPr>
        <p:spPr>
          <a:xfrm>
            <a:off x="4274820" y="3840480"/>
            <a:ext cx="3611880" cy="2240280"/>
          </a:xfrm>
          <a:prstGeom prst="roundRect">
            <a:avLst>
              <a:gd name="adj" fmla="val 4082"/>
            </a:avLst>
          </a:prstGeom>
          <a:solidFill>
            <a:srgbClr val="FDF3E7"/>
          </a:solidFill>
          <a:ln w="12700">
            <a:solidFill>
              <a:srgbClr val="F0C89A"/>
            </a:solidFill>
            <a:prstDash val="solid"/>
          </a:ln>
        </p:spPr>
      </p:sp>
      <p:sp>
        <p:nvSpPr>
          <p:cNvPr id="27" name="Shape 25"/>
          <p:cNvSpPr/>
          <p:nvPr/>
        </p:nvSpPr>
        <p:spPr>
          <a:xfrm>
            <a:off x="4457700" y="4023360"/>
            <a:ext cx="384048" cy="384048"/>
          </a:xfrm>
          <a:prstGeom prst="ellipse">
            <a:avLst/>
          </a:prstGeom>
          <a:solidFill>
            <a:srgbClr val="D97706"/>
          </a:solidFill>
          <a:ln/>
        </p:spPr>
      </p:sp>
      <p:sp>
        <p:nvSpPr>
          <p:cNvPr id="28" name="Text 26"/>
          <p:cNvSpPr txBox="1"/>
          <p:nvPr/>
        </p:nvSpPr>
        <p:spPr>
          <a:xfrm>
            <a:off x="4457700" y="402336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B</a:t>
            </a:r>
            <a:endParaRPr lang="en-US" sz="1400" dirty="0"/>
          </a:p>
        </p:txBody>
      </p:sp>
      <p:sp>
        <p:nvSpPr>
          <p:cNvPr id="29" name="Text 27"/>
          <p:cNvSpPr txBox="1"/>
          <p:nvPr/>
        </p:nvSpPr>
        <p:spPr>
          <a:xfrm>
            <a:off x="4960620" y="4005072"/>
            <a:ext cx="2743200" cy="457200"/>
          </a:xfrm>
          <a:prstGeom prst="rect">
            <a:avLst/>
          </a:prstGeom>
          <a:noFill/>
          <a:ln/>
        </p:spPr>
        <p:txBody>
          <a:bodyPr wrap="square" lIns="0" tIns="0" rIns="0" bIns="0" rtlCol="0" anchor="ctr"/>
          <a:lstStyle/>
          <a:p>
            <a:pPr marL="0" indent="0">
              <a:buNone/>
            </a:pPr>
            <a:r>
              <a:rPr lang="en-US" sz="1350" b="1" dirty="0">
                <a:solidFill>
                  <a:srgbClr val="10242E"/>
                </a:solidFill>
                <a:latin typeface="Cambria" pitchFamily="34" charset="0"/>
                <a:ea typeface="Cambria" pitchFamily="34" charset="-122"/>
                <a:cs typeface="Cambria" pitchFamily="34" charset="-120"/>
              </a:rPr>
              <a:t>git bisect</a:t>
            </a:r>
            <a:endParaRPr lang="en-US" sz="1350" dirty="0"/>
          </a:p>
        </p:txBody>
      </p:sp>
      <p:sp>
        <p:nvSpPr>
          <p:cNvPr id="30" name="Text 28"/>
          <p:cNvSpPr txBox="1"/>
          <p:nvPr/>
        </p:nvSpPr>
        <p:spPr>
          <a:xfrm>
            <a:off x="4457700" y="4617720"/>
            <a:ext cx="3246120" cy="1371600"/>
          </a:xfrm>
          <a:prstGeom prst="rect">
            <a:avLst/>
          </a:prstGeom>
          <a:noFill/>
          <a:ln/>
        </p:spPr>
        <p:txBody>
          <a:bodyPr wrap="square" lIns="0" tIns="0" rIns="0" bIns="0" rtlCol="0" anchor="t"/>
          <a:lstStyle/>
          <a:p>
            <a:pPr marL="0" indent="0">
              <a:lnSpc>
                <a:spcPct val="130000"/>
              </a:lnSpc>
              <a:buNone/>
            </a:pPr>
            <a:r>
              <a:rPr lang="en-US" sz="1150" dirty="0">
                <a:solidFill>
                  <a:srgbClr val="5B6584"/>
                </a:solidFill>
                <a:latin typeface="Calibri" pitchFamily="34" charset="0"/>
                <a:ea typeface="Calibri" pitchFamily="34" charset="-122"/>
                <a:cs typeface="Calibri" pitchFamily="34" charset="-120"/>
              </a:rPr>
              <a:t>Finds the commit that introduced a bug among 1,000 commits in at most 10 test runs (⌊log₂ 1000⌋ + 1).</a:t>
            </a:r>
            <a:endParaRPr lang="en-US" sz="1150" dirty="0"/>
          </a:p>
        </p:txBody>
      </p:sp>
      <p:sp>
        <p:nvSpPr>
          <p:cNvPr id="31" name="Shape 29"/>
          <p:cNvSpPr/>
          <p:nvPr/>
        </p:nvSpPr>
        <p:spPr>
          <a:xfrm>
            <a:off x="8001000" y="3840480"/>
            <a:ext cx="3611880" cy="2240280"/>
          </a:xfrm>
          <a:prstGeom prst="roundRect">
            <a:avLst>
              <a:gd name="adj" fmla="val 4082"/>
            </a:avLst>
          </a:prstGeom>
          <a:solidFill>
            <a:srgbClr val="FDF3E7"/>
          </a:solidFill>
          <a:ln w="12700">
            <a:solidFill>
              <a:srgbClr val="F0C89A"/>
            </a:solidFill>
            <a:prstDash val="solid"/>
          </a:ln>
        </p:spPr>
      </p:sp>
      <p:sp>
        <p:nvSpPr>
          <p:cNvPr id="32" name="Shape 30"/>
          <p:cNvSpPr/>
          <p:nvPr/>
        </p:nvSpPr>
        <p:spPr>
          <a:xfrm>
            <a:off x="8183880" y="4023360"/>
            <a:ext cx="384048" cy="384048"/>
          </a:xfrm>
          <a:prstGeom prst="ellipse">
            <a:avLst/>
          </a:prstGeom>
          <a:solidFill>
            <a:srgbClr val="D97706"/>
          </a:solidFill>
          <a:ln/>
        </p:spPr>
      </p:sp>
      <p:sp>
        <p:nvSpPr>
          <p:cNvPr id="33" name="Text 31"/>
          <p:cNvSpPr txBox="1"/>
          <p:nvPr/>
        </p:nvSpPr>
        <p:spPr>
          <a:xfrm>
            <a:off x="8183880" y="402336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B</a:t>
            </a:r>
            <a:endParaRPr lang="en-US" sz="1400" dirty="0"/>
          </a:p>
        </p:txBody>
      </p:sp>
      <p:sp>
        <p:nvSpPr>
          <p:cNvPr id="34" name="Text 32"/>
          <p:cNvSpPr txBox="1"/>
          <p:nvPr/>
        </p:nvSpPr>
        <p:spPr>
          <a:xfrm>
            <a:off x="8686800" y="4005072"/>
            <a:ext cx="2743200" cy="457200"/>
          </a:xfrm>
          <a:prstGeom prst="rect">
            <a:avLst/>
          </a:prstGeom>
          <a:noFill/>
          <a:ln/>
        </p:spPr>
        <p:txBody>
          <a:bodyPr wrap="square" lIns="0" tIns="0" rIns="0" bIns="0" rtlCol="0" anchor="ctr"/>
          <a:lstStyle/>
          <a:p>
            <a:pPr marL="0" indent="0">
              <a:buNone/>
            </a:pPr>
            <a:r>
              <a:rPr lang="en-US" sz="1350" b="1" dirty="0">
                <a:solidFill>
                  <a:srgbClr val="10242E"/>
                </a:solidFill>
                <a:latin typeface="Cambria" pitchFamily="34" charset="0"/>
                <a:ea typeface="Cambria" pitchFamily="34" charset="-122"/>
                <a:cs typeface="Cambria" pitchFamily="34" charset="-120"/>
              </a:rPr>
              <a:t>Database &amp; Library Indexes</a:t>
            </a:r>
            <a:endParaRPr lang="en-US" sz="1350" dirty="0"/>
          </a:p>
        </p:txBody>
      </p:sp>
      <p:sp>
        <p:nvSpPr>
          <p:cNvPr id="35" name="Text 33"/>
          <p:cNvSpPr txBox="1"/>
          <p:nvPr/>
        </p:nvSpPr>
        <p:spPr>
          <a:xfrm>
            <a:off x="8183880" y="4617720"/>
            <a:ext cx="3246120" cy="1371600"/>
          </a:xfrm>
          <a:prstGeom prst="rect">
            <a:avLst/>
          </a:prstGeom>
          <a:noFill/>
          <a:ln/>
        </p:spPr>
        <p:txBody>
          <a:bodyPr wrap="square" lIns="0" tIns="0" rIns="0" bIns="0" rtlCol="0" anchor="t"/>
          <a:lstStyle/>
          <a:p>
            <a:pPr marL="0" indent="0">
              <a:lnSpc>
                <a:spcPct val="130000"/>
              </a:lnSpc>
              <a:buNone/>
            </a:pPr>
            <a:r>
              <a:rPr lang="en-US" sz="1150" dirty="0">
                <a:solidFill>
                  <a:srgbClr val="5B6584"/>
                </a:solidFill>
                <a:latin typeface="Calibri" pitchFamily="34" charset="0"/>
                <a:ea typeface="Calibri" pitchFamily="34" charset="-122"/>
                <a:cs typeface="Calibri" pitchFamily="34" charset="-120"/>
              </a:rPr>
              <a:t>Sorted indexes — and their B-tree generalization — locate one row among millions in a handful of probes.</a:t>
            </a:r>
            <a:endParaRPr lang="en-US" sz="1150" dirty="0"/>
          </a:p>
        </p:txBody>
      </p:sp>
      <p:sp>
        <p:nvSpPr>
          <p:cNvPr id="36" name="Text 34"/>
          <p:cNvSpPr txBox="1"/>
          <p:nvPr/>
        </p:nvSpPr>
        <p:spPr>
          <a:xfrm>
            <a:off x="548640" y="6263640"/>
            <a:ext cx="5486400" cy="228600"/>
          </a:xfrm>
          <a:prstGeom prst="rect">
            <a:avLst/>
          </a:prstGeom>
          <a:noFill/>
          <a:ln/>
        </p:spPr>
        <p:txBody>
          <a:bodyPr wrap="square" lIns="0" tIns="0" rIns="0" bIns="0" rtlCol="0" anchor="ctr"/>
          <a:lstStyle/>
          <a:p>
            <a:pPr marL="0" indent="0">
              <a:buNone/>
            </a:pPr>
            <a:r>
              <a:rPr lang="en-US" sz="950" i="1" dirty="0">
                <a:solidFill>
                  <a:srgbClr val="5B6584"/>
                </a:solidFill>
                <a:latin typeface="Calibri" pitchFamily="34" charset="0"/>
                <a:ea typeface="Calibri" pitchFamily="34" charset="-122"/>
                <a:cs typeface="Calibri" pitchFamily="34" charset="-120"/>
              </a:rPr>
              <a:t>L = linear search        B = binary search</a:t>
            </a:r>
            <a:endParaRPr lang="en-US" sz="950" dirty="0"/>
          </a:p>
        </p:txBody>
      </p:sp>
      <p:sp>
        <p:nvSpPr>
          <p:cNvPr id="37" name="Text 35"/>
          <p:cNvSpPr txBox="1"/>
          <p:nvPr/>
        </p:nvSpPr>
        <p:spPr>
          <a:xfrm>
            <a:off x="548640" y="6547104"/>
            <a:ext cx="6858000" cy="256032"/>
          </a:xfrm>
          <a:prstGeom prst="rect">
            <a:avLst/>
          </a:prstGeom>
          <a:noFill/>
          <a:ln/>
        </p:spPr>
        <p:txBody>
          <a:bodyPr wrap="square" lIns="0" tIns="0" rIns="0" bIns="0" rtlCol="0" anchor="ctr"/>
          <a:lstStyle/>
          <a:p>
            <a:pPr marL="0" indent="0">
              <a:buNone/>
            </a:pPr>
            <a:r>
              <a:rPr lang="en-US" sz="900" dirty="0">
                <a:solidFill>
                  <a:srgbClr val="5B6584"/>
                </a:solidFill>
                <a:latin typeface="Calibri" pitchFamily="34" charset="0"/>
                <a:ea typeface="Calibri" pitchFamily="34" charset="-122"/>
                <a:cs typeface="Calibri" pitchFamily="34" charset="-120"/>
              </a:rPr>
              <a:t>Linear &amp; Binary Search  |  Data Structures Using C</a:t>
            </a:r>
            <a:endParaRPr lang="en-US" sz="900" dirty="0"/>
          </a:p>
        </p:txBody>
      </p:sp>
      <p:sp>
        <p:nvSpPr>
          <p:cNvPr id="38" name="Text 36"/>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500000">
            <a:off x="10972800" y="-1005840"/>
            <a:ext cx="2377440" cy="2377440"/>
          </a:xfrm>
          <a:prstGeom prst="triangle">
            <a:avLst/>
          </a:prstGeom>
          <a:solidFill>
            <a:srgbClr val="0E7490">
              <a:alpha val="5000"/>
            </a:srgbClr>
          </a:solidFill>
          <a:ln/>
        </p:spPr>
      </p:sp>
      <p:sp>
        <p:nvSpPr>
          <p:cNvPr id="3" name="Shape 1"/>
          <p:cNvSpPr/>
          <p:nvPr/>
        </p:nvSpPr>
        <p:spPr>
          <a:xfrm rot="12300000">
            <a:off x="-1097280" y="5760720"/>
            <a:ext cx="2377440" cy="2377440"/>
          </a:xfrm>
          <a:prstGeom prst="triangle">
            <a:avLst/>
          </a:prstGeom>
          <a:solidFill>
            <a:srgbClr val="0E7490">
              <a:alpha val="5000"/>
            </a:srgbClr>
          </a:solidFill>
          <a:ln/>
        </p:spPr>
      </p:sp>
      <p:sp>
        <p:nvSpPr>
          <p:cNvPr id="4" name="Text 2"/>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22A6C4"/>
                </a:solidFill>
                <a:latin typeface="Calibri" pitchFamily="34" charset="0"/>
                <a:ea typeface="Calibri" pitchFamily="34" charset="-122"/>
                <a:cs typeface="Calibri" pitchFamily="34" charset="-120"/>
              </a:rPr>
              <a:t>TRADE-OFFS</a:t>
            </a:r>
            <a:endParaRPr lang="en-US" sz="1300" dirty="0"/>
          </a:p>
        </p:txBody>
      </p:sp>
      <p:sp>
        <p:nvSpPr>
          <p:cNvPr id="5" name="Text 3"/>
          <p:cNvSpPr txBox="1"/>
          <p:nvPr/>
        </p:nvSpPr>
        <p:spPr>
          <a:xfrm>
            <a:off x="548640" y="621792"/>
            <a:ext cx="11064240" cy="731520"/>
          </a:xfrm>
          <a:prstGeom prst="rect">
            <a:avLst/>
          </a:prstGeom>
          <a:noFill/>
          <a:ln/>
        </p:spPr>
        <p:txBody>
          <a:bodyPr wrap="square" lIns="0" tIns="0" rIns="0" bIns="0" rtlCol="0" anchor="ctr"/>
          <a:lstStyle/>
          <a:p>
            <a:pPr marL="0" indent="0">
              <a:buNone/>
            </a:pPr>
            <a:r>
              <a:rPr lang="en-US" sz="3000" b="1" dirty="0">
                <a:solidFill>
                  <a:srgbClr val="10242E"/>
                </a:solidFill>
                <a:latin typeface="Cambria" pitchFamily="34" charset="0"/>
                <a:ea typeface="Cambria" pitchFamily="34" charset="-122"/>
                <a:cs typeface="Cambria" pitchFamily="34" charset="-120"/>
              </a:rPr>
              <a:t>Advantages and Limitations</a:t>
            </a:r>
            <a:endParaRPr lang="en-US" sz="3000" dirty="0"/>
          </a:p>
        </p:txBody>
      </p:sp>
      <p:sp>
        <p:nvSpPr>
          <p:cNvPr id="6" name="Text 4"/>
          <p:cNvSpPr txBox="1"/>
          <p:nvPr/>
        </p:nvSpPr>
        <p:spPr>
          <a:xfrm>
            <a:off x="548640" y="1371600"/>
            <a:ext cx="3657600" cy="274320"/>
          </a:xfrm>
          <a:prstGeom prst="rect">
            <a:avLst/>
          </a:prstGeom>
          <a:noFill/>
          <a:ln/>
        </p:spPr>
        <p:txBody>
          <a:bodyPr wrap="square" lIns="0" tIns="0" rIns="0" bIns="0" rtlCol="0" anchor="ctr"/>
          <a:lstStyle/>
          <a:p>
            <a:pPr marL="0" indent="0">
              <a:buNone/>
            </a:pPr>
            <a:r>
              <a:rPr lang="en-US" sz="1400" b="1" dirty="0">
                <a:solidFill>
                  <a:srgbClr val="0E7490"/>
                </a:solidFill>
                <a:latin typeface="Cambria" pitchFamily="34" charset="0"/>
                <a:ea typeface="Cambria" pitchFamily="34" charset="-122"/>
                <a:cs typeface="Cambria" pitchFamily="34" charset="-120"/>
              </a:rPr>
              <a:t>LINEAR SEARCH</a:t>
            </a:r>
            <a:endParaRPr lang="en-US" sz="1400" dirty="0"/>
          </a:p>
        </p:txBody>
      </p:sp>
      <p:sp>
        <p:nvSpPr>
          <p:cNvPr id="7" name="Text 5"/>
          <p:cNvSpPr txBox="1"/>
          <p:nvPr/>
        </p:nvSpPr>
        <p:spPr>
          <a:xfrm>
            <a:off x="6172200" y="1371600"/>
            <a:ext cx="3657600" cy="274320"/>
          </a:xfrm>
          <a:prstGeom prst="rect">
            <a:avLst/>
          </a:prstGeom>
          <a:noFill/>
          <a:ln/>
        </p:spPr>
        <p:txBody>
          <a:bodyPr wrap="square" lIns="0" tIns="0" rIns="0" bIns="0" rtlCol="0" anchor="ctr"/>
          <a:lstStyle/>
          <a:p>
            <a:pPr marL="0" indent="0">
              <a:buNone/>
            </a:pPr>
            <a:r>
              <a:rPr lang="en-US" sz="1400" b="1" dirty="0">
                <a:solidFill>
                  <a:srgbClr val="D97706"/>
                </a:solidFill>
                <a:latin typeface="Cambria" pitchFamily="34" charset="0"/>
                <a:ea typeface="Cambria" pitchFamily="34" charset="-122"/>
                <a:cs typeface="Cambria" pitchFamily="34" charset="-120"/>
              </a:rPr>
              <a:t>BINARY SEARCH</a:t>
            </a:r>
            <a:endParaRPr lang="en-US" sz="1400" dirty="0"/>
          </a:p>
        </p:txBody>
      </p:sp>
      <p:sp>
        <p:nvSpPr>
          <p:cNvPr id="8" name="Shape 6"/>
          <p:cNvSpPr/>
          <p:nvPr/>
        </p:nvSpPr>
        <p:spPr>
          <a:xfrm>
            <a:off x="548640" y="1691640"/>
            <a:ext cx="5440680" cy="2103120"/>
          </a:xfrm>
          <a:prstGeom prst="roundRect">
            <a:avLst>
              <a:gd name="adj" fmla="val 4348"/>
            </a:avLst>
          </a:prstGeom>
          <a:solidFill>
            <a:srgbClr val="DCFCE9"/>
          </a:solidFill>
          <a:ln w="12700">
            <a:solidFill>
              <a:srgbClr val="6FCF9A"/>
            </a:solidFill>
            <a:prstDash val="solid"/>
          </a:ln>
        </p:spPr>
      </p:sp>
      <p:sp>
        <p:nvSpPr>
          <p:cNvPr id="9" name="Text 7"/>
          <p:cNvSpPr txBox="1"/>
          <p:nvPr/>
        </p:nvSpPr>
        <p:spPr>
          <a:xfrm>
            <a:off x="777240" y="1828800"/>
            <a:ext cx="4937760" cy="274320"/>
          </a:xfrm>
          <a:prstGeom prst="rect">
            <a:avLst/>
          </a:prstGeom>
          <a:noFill/>
          <a:ln/>
        </p:spPr>
        <p:txBody>
          <a:bodyPr wrap="square" lIns="0" tIns="0" rIns="0" bIns="0" rtlCol="0" anchor="ctr"/>
          <a:lstStyle/>
          <a:p>
            <a:pPr marL="0" indent="0">
              <a:buNone/>
            </a:pPr>
            <a:r>
              <a:rPr lang="en-US" sz="1200" b="1" kern="0" spc="120" dirty="0">
                <a:solidFill>
                  <a:srgbClr val="059669"/>
                </a:solidFill>
                <a:latin typeface="Calibri" pitchFamily="34" charset="0"/>
                <a:ea typeface="Calibri" pitchFamily="34" charset="-122"/>
                <a:cs typeface="Calibri" pitchFamily="34" charset="-120"/>
              </a:rPr>
              <a:t>ADVANTAGES</a:t>
            </a:r>
            <a:endParaRPr lang="en-US" sz="1200" dirty="0"/>
          </a:p>
        </p:txBody>
      </p:sp>
      <p:sp>
        <p:nvSpPr>
          <p:cNvPr id="10" name="Shape 8"/>
          <p:cNvSpPr/>
          <p:nvPr/>
        </p:nvSpPr>
        <p:spPr>
          <a:xfrm>
            <a:off x="777240" y="2313432"/>
            <a:ext cx="237744" cy="237744"/>
          </a:xfrm>
          <a:prstGeom prst="ellipse">
            <a:avLst/>
          </a:prstGeom>
          <a:solidFill>
            <a:srgbClr val="059669"/>
          </a:solidFill>
          <a:ln/>
        </p:spPr>
      </p:sp>
      <p:sp>
        <p:nvSpPr>
          <p:cNvPr id="11" name="Text 9"/>
          <p:cNvSpPr txBox="1"/>
          <p:nvPr/>
        </p:nvSpPr>
        <p:spPr>
          <a:xfrm>
            <a:off x="777240" y="2313432"/>
            <a:ext cx="237744" cy="23774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t>
            </a:r>
            <a:endParaRPr lang="en-US" sz="1050" dirty="0"/>
          </a:p>
        </p:txBody>
      </p:sp>
      <p:sp>
        <p:nvSpPr>
          <p:cNvPr id="12" name="Text 10"/>
          <p:cNvSpPr txBox="1"/>
          <p:nvPr/>
        </p:nvSpPr>
        <p:spPr>
          <a:xfrm>
            <a:off x="1143000" y="2221992"/>
            <a:ext cx="4663440" cy="502920"/>
          </a:xfrm>
          <a:prstGeom prst="rect">
            <a:avLst/>
          </a:prstGeom>
          <a:noFill/>
          <a:ln/>
        </p:spPr>
        <p:txBody>
          <a:bodyPr wrap="square" lIns="0" tIns="0" rIns="0" bIns="0" rtlCol="0" anchor="ctr"/>
          <a:lstStyle/>
          <a:p>
            <a:pPr marL="0" indent="0">
              <a:buNone/>
            </a:pPr>
            <a:r>
              <a:rPr lang="en-US" sz="1150" dirty="0">
                <a:solidFill>
                  <a:srgbClr val="1B2233"/>
                </a:solidFill>
                <a:latin typeface="Calibri" pitchFamily="34" charset="0"/>
                <a:ea typeface="Calibri" pitchFamily="34" charset="-122"/>
                <a:cs typeface="Calibri" pitchFamily="34" charset="-120"/>
              </a:rPr>
              <a:t>Works on unsorted data — no preprocessing</a:t>
            </a:r>
            <a:endParaRPr lang="en-US" sz="1150" dirty="0"/>
          </a:p>
        </p:txBody>
      </p:sp>
      <p:sp>
        <p:nvSpPr>
          <p:cNvPr id="13" name="Shape 11"/>
          <p:cNvSpPr/>
          <p:nvPr/>
        </p:nvSpPr>
        <p:spPr>
          <a:xfrm>
            <a:off x="777240" y="2816352"/>
            <a:ext cx="237744" cy="237744"/>
          </a:xfrm>
          <a:prstGeom prst="ellipse">
            <a:avLst/>
          </a:prstGeom>
          <a:solidFill>
            <a:srgbClr val="059669"/>
          </a:solidFill>
          <a:ln/>
        </p:spPr>
      </p:sp>
      <p:sp>
        <p:nvSpPr>
          <p:cNvPr id="14" name="Text 12"/>
          <p:cNvSpPr txBox="1"/>
          <p:nvPr/>
        </p:nvSpPr>
        <p:spPr>
          <a:xfrm>
            <a:off x="777240" y="2816352"/>
            <a:ext cx="237744" cy="23774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t>
            </a:r>
            <a:endParaRPr lang="en-US" sz="1050" dirty="0"/>
          </a:p>
        </p:txBody>
      </p:sp>
      <p:sp>
        <p:nvSpPr>
          <p:cNvPr id="15" name="Text 13"/>
          <p:cNvSpPr txBox="1"/>
          <p:nvPr/>
        </p:nvSpPr>
        <p:spPr>
          <a:xfrm>
            <a:off x="1143000" y="2724912"/>
            <a:ext cx="4663440" cy="502920"/>
          </a:xfrm>
          <a:prstGeom prst="rect">
            <a:avLst/>
          </a:prstGeom>
          <a:noFill/>
          <a:ln/>
        </p:spPr>
        <p:txBody>
          <a:bodyPr wrap="square" lIns="0" tIns="0" rIns="0" bIns="0" rtlCol="0" anchor="ctr"/>
          <a:lstStyle/>
          <a:p>
            <a:pPr marL="0" indent="0">
              <a:buNone/>
            </a:pPr>
            <a:r>
              <a:rPr lang="en-US" sz="1150" dirty="0">
                <a:solidFill>
                  <a:srgbClr val="1B2233"/>
                </a:solidFill>
                <a:latin typeface="Calibri" pitchFamily="34" charset="0"/>
                <a:ea typeface="Calibri" pitchFamily="34" charset="-122"/>
                <a:cs typeface="Calibri" pitchFamily="34" charset="-120"/>
              </a:rPr>
              <a:t>Works on arrays and linked lists</a:t>
            </a:r>
            <a:endParaRPr lang="en-US" sz="1150" dirty="0"/>
          </a:p>
        </p:txBody>
      </p:sp>
      <p:sp>
        <p:nvSpPr>
          <p:cNvPr id="16" name="Shape 14"/>
          <p:cNvSpPr/>
          <p:nvPr/>
        </p:nvSpPr>
        <p:spPr>
          <a:xfrm>
            <a:off x="777240" y="3319272"/>
            <a:ext cx="237744" cy="237744"/>
          </a:xfrm>
          <a:prstGeom prst="ellipse">
            <a:avLst/>
          </a:prstGeom>
          <a:solidFill>
            <a:srgbClr val="059669"/>
          </a:solidFill>
          <a:ln/>
        </p:spPr>
      </p:sp>
      <p:sp>
        <p:nvSpPr>
          <p:cNvPr id="17" name="Text 15"/>
          <p:cNvSpPr txBox="1"/>
          <p:nvPr/>
        </p:nvSpPr>
        <p:spPr>
          <a:xfrm>
            <a:off x="777240" y="3319272"/>
            <a:ext cx="237744" cy="23774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t>
            </a:r>
            <a:endParaRPr lang="en-US" sz="1050" dirty="0"/>
          </a:p>
        </p:txBody>
      </p:sp>
      <p:sp>
        <p:nvSpPr>
          <p:cNvPr id="18" name="Text 16"/>
          <p:cNvSpPr txBox="1"/>
          <p:nvPr/>
        </p:nvSpPr>
        <p:spPr>
          <a:xfrm>
            <a:off x="1143000" y="3227832"/>
            <a:ext cx="4663440" cy="502920"/>
          </a:xfrm>
          <a:prstGeom prst="rect">
            <a:avLst/>
          </a:prstGeom>
          <a:noFill/>
          <a:ln/>
        </p:spPr>
        <p:txBody>
          <a:bodyPr wrap="square" lIns="0" tIns="0" rIns="0" bIns="0" rtlCol="0" anchor="ctr"/>
          <a:lstStyle/>
          <a:p>
            <a:pPr marL="0" indent="0">
              <a:buNone/>
            </a:pPr>
            <a:r>
              <a:rPr lang="en-US" sz="1150" dirty="0">
                <a:solidFill>
                  <a:srgbClr val="1B2233"/>
                </a:solidFill>
                <a:latin typeface="Calibri" pitchFamily="34" charset="0"/>
                <a:ea typeface="Calibri" pitchFamily="34" charset="-122"/>
                <a:cs typeface="Calibri" pitchFamily="34" charset="-120"/>
              </a:rPr>
              <a:t>Trivial to write and hard to get wrong</a:t>
            </a:r>
            <a:endParaRPr lang="en-US" sz="1150" dirty="0"/>
          </a:p>
        </p:txBody>
      </p:sp>
      <p:sp>
        <p:nvSpPr>
          <p:cNvPr id="19" name="Shape 17"/>
          <p:cNvSpPr/>
          <p:nvPr/>
        </p:nvSpPr>
        <p:spPr>
          <a:xfrm>
            <a:off x="548640" y="3977640"/>
            <a:ext cx="5440680" cy="2103120"/>
          </a:xfrm>
          <a:prstGeom prst="roundRect">
            <a:avLst>
              <a:gd name="adj" fmla="val 4348"/>
            </a:avLst>
          </a:prstGeom>
          <a:solidFill>
            <a:srgbClr val="FEF2F2"/>
          </a:solidFill>
          <a:ln w="12700">
            <a:solidFill>
              <a:srgbClr val="F5C2C2"/>
            </a:solidFill>
            <a:prstDash val="solid"/>
          </a:ln>
        </p:spPr>
      </p:sp>
      <p:sp>
        <p:nvSpPr>
          <p:cNvPr id="20" name="Text 18"/>
          <p:cNvSpPr txBox="1"/>
          <p:nvPr/>
        </p:nvSpPr>
        <p:spPr>
          <a:xfrm>
            <a:off x="777240" y="4114800"/>
            <a:ext cx="4937760" cy="274320"/>
          </a:xfrm>
          <a:prstGeom prst="rect">
            <a:avLst/>
          </a:prstGeom>
          <a:noFill/>
          <a:ln/>
        </p:spPr>
        <p:txBody>
          <a:bodyPr wrap="square" lIns="0" tIns="0" rIns="0" bIns="0" rtlCol="0" anchor="ctr"/>
          <a:lstStyle/>
          <a:p>
            <a:pPr marL="0" indent="0">
              <a:buNone/>
            </a:pPr>
            <a:r>
              <a:rPr lang="en-US" sz="1200" b="1" kern="0" spc="120" dirty="0">
                <a:solidFill>
                  <a:srgbClr val="DC2626"/>
                </a:solidFill>
                <a:latin typeface="Calibri" pitchFamily="34" charset="0"/>
                <a:ea typeface="Calibri" pitchFamily="34" charset="-122"/>
                <a:cs typeface="Calibri" pitchFamily="34" charset="-120"/>
              </a:rPr>
              <a:t>LIMITATIONS</a:t>
            </a:r>
            <a:endParaRPr lang="en-US" sz="1200" dirty="0"/>
          </a:p>
        </p:txBody>
      </p:sp>
      <p:sp>
        <p:nvSpPr>
          <p:cNvPr id="21" name="Shape 19"/>
          <p:cNvSpPr/>
          <p:nvPr/>
        </p:nvSpPr>
        <p:spPr>
          <a:xfrm>
            <a:off x="777240" y="4599432"/>
            <a:ext cx="237744" cy="237744"/>
          </a:xfrm>
          <a:prstGeom prst="ellipse">
            <a:avLst/>
          </a:prstGeom>
          <a:solidFill>
            <a:srgbClr val="DC2626"/>
          </a:solidFill>
          <a:ln/>
        </p:spPr>
      </p:sp>
      <p:sp>
        <p:nvSpPr>
          <p:cNvPr id="22" name="Text 20"/>
          <p:cNvSpPr txBox="1"/>
          <p:nvPr/>
        </p:nvSpPr>
        <p:spPr>
          <a:xfrm>
            <a:off x="777240" y="4599432"/>
            <a:ext cx="237744" cy="23774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t>
            </a:r>
            <a:endParaRPr lang="en-US" sz="1050" dirty="0"/>
          </a:p>
        </p:txBody>
      </p:sp>
      <p:sp>
        <p:nvSpPr>
          <p:cNvPr id="23" name="Text 21"/>
          <p:cNvSpPr txBox="1"/>
          <p:nvPr/>
        </p:nvSpPr>
        <p:spPr>
          <a:xfrm>
            <a:off x="1143000" y="4507992"/>
            <a:ext cx="4663440" cy="502920"/>
          </a:xfrm>
          <a:prstGeom prst="rect">
            <a:avLst/>
          </a:prstGeom>
          <a:noFill/>
          <a:ln/>
        </p:spPr>
        <p:txBody>
          <a:bodyPr wrap="square" lIns="0" tIns="0" rIns="0" bIns="0" rtlCol="0" anchor="ctr"/>
          <a:lstStyle/>
          <a:p>
            <a:pPr marL="0" indent="0">
              <a:buNone/>
            </a:pPr>
            <a:r>
              <a:rPr lang="en-US" sz="1150" dirty="0">
                <a:solidFill>
                  <a:srgbClr val="1B2233"/>
                </a:solidFill>
                <a:latin typeface="Calibri" pitchFamily="34" charset="0"/>
                <a:ea typeface="Calibri" pitchFamily="34" charset="-122"/>
                <a:cs typeface="Calibri" pitchFamily="34" charset="-120"/>
              </a:rPr>
              <a:t>O(n) — slow for large collections</a:t>
            </a:r>
            <a:endParaRPr lang="en-US" sz="1150" dirty="0"/>
          </a:p>
        </p:txBody>
      </p:sp>
      <p:sp>
        <p:nvSpPr>
          <p:cNvPr id="24" name="Shape 22"/>
          <p:cNvSpPr/>
          <p:nvPr/>
        </p:nvSpPr>
        <p:spPr>
          <a:xfrm>
            <a:off x="777240" y="5102352"/>
            <a:ext cx="237744" cy="237744"/>
          </a:xfrm>
          <a:prstGeom prst="ellipse">
            <a:avLst/>
          </a:prstGeom>
          <a:solidFill>
            <a:srgbClr val="DC2626"/>
          </a:solidFill>
          <a:ln/>
        </p:spPr>
      </p:sp>
      <p:sp>
        <p:nvSpPr>
          <p:cNvPr id="25" name="Text 23"/>
          <p:cNvSpPr txBox="1"/>
          <p:nvPr/>
        </p:nvSpPr>
        <p:spPr>
          <a:xfrm>
            <a:off x="777240" y="5102352"/>
            <a:ext cx="237744" cy="23774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t>
            </a:r>
            <a:endParaRPr lang="en-US" sz="1050" dirty="0"/>
          </a:p>
        </p:txBody>
      </p:sp>
      <p:sp>
        <p:nvSpPr>
          <p:cNvPr id="26" name="Text 24"/>
          <p:cNvSpPr txBox="1"/>
          <p:nvPr/>
        </p:nvSpPr>
        <p:spPr>
          <a:xfrm>
            <a:off x="1143000" y="5010912"/>
            <a:ext cx="4663440" cy="502920"/>
          </a:xfrm>
          <a:prstGeom prst="rect">
            <a:avLst/>
          </a:prstGeom>
          <a:noFill/>
          <a:ln/>
        </p:spPr>
        <p:txBody>
          <a:bodyPr wrap="square" lIns="0" tIns="0" rIns="0" bIns="0" rtlCol="0" anchor="ctr"/>
          <a:lstStyle/>
          <a:p>
            <a:pPr marL="0" indent="0">
              <a:buNone/>
            </a:pPr>
            <a:r>
              <a:rPr lang="en-US" sz="1150" dirty="0">
                <a:solidFill>
                  <a:srgbClr val="1B2233"/>
                </a:solidFill>
                <a:latin typeface="Calibri" pitchFamily="34" charset="0"/>
                <a:ea typeface="Calibri" pitchFamily="34" charset="-122"/>
                <a:cs typeface="Calibri" pitchFamily="34" charset="-120"/>
              </a:rPr>
              <a:t>Repeated lookups re-pay the full scan each time</a:t>
            </a:r>
            <a:endParaRPr lang="en-US" sz="1150" dirty="0"/>
          </a:p>
        </p:txBody>
      </p:sp>
      <p:sp>
        <p:nvSpPr>
          <p:cNvPr id="27" name="Shape 25"/>
          <p:cNvSpPr/>
          <p:nvPr/>
        </p:nvSpPr>
        <p:spPr>
          <a:xfrm>
            <a:off x="6172200" y="1691640"/>
            <a:ext cx="5440680" cy="2103120"/>
          </a:xfrm>
          <a:prstGeom prst="roundRect">
            <a:avLst>
              <a:gd name="adj" fmla="val 4348"/>
            </a:avLst>
          </a:prstGeom>
          <a:solidFill>
            <a:srgbClr val="DCFCE9"/>
          </a:solidFill>
          <a:ln w="12700">
            <a:solidFill>
              <a:srgbClr val="6FCF9A"/>
            </a:solidFill>
            <a:prstDash val="solid"/>
          </a:ln>
        </p:spPr>
      </p:sp>
      <p:sp>
        <p:nvSpPr>
          <p:cNvPr id="28" name="Text 26"/>
          <p:cNvSpPr txBox="1"/>
          <p:nvPr/>
        </p:nvSpPr>
        <p:spPr>
          <a:xfrm>
            <a:off x="6400800" y="1828800"/>
            <a:ext cx="4937760" cy="274320"/>
          </a:xfrm>
          <a:prstGeom prst="rect">
            <a:avLst/>
          </a:prstGeom>
          <a:noFill/>
          <a:ln/>
        </p:spPr>
        <p:txBody>
          <a:bodyPr wrap="square" lIns="0" tIns="0" rIns="0" bIns="0" rtlCol="0" anchor="ctr"/>
          <a:lstStyle/>
          <a:p>
            <a:pPr marL="0" indent="0">
              <a:buNone/>
            </a:pPr>
            <a:r>
              <a:rPr lang="en-US" sz="1200" b="1" kern="0" spc="120" dirty="0">
                <a:solidFill>
                  <a:srgbClr val="059669"/>
                </a:solidFill>
                <a:latin typeface="Calibri" pitchFamily="34" charset="0"/>
                <a:ea typeface="Calibri" pitchFamily="34" charset="-122"/>
                <a:cs typeface="Calibri" pitchFamily="34" charset="-120"/>
              </a:rPr>
              <a:t>ADVANTAGES</a:t>
            </a:r>
            <a:endParaRPr lang="en-US" sz="1200" dirty="0"/>
          </a:p>
        </p:txBody>
      </p:sp>
      <p:sp>
        <p:nvSpPr>
          <p:cNvPr id="29" name="Shape 27"/>
          <p:cNvSpPr/>
          <p:nvPr/>
        </p:nvSpPr>
        <p:spPr>
          <a:xfrm>
            <a:off x="6400800" y="2313432"/>
            <a:ext cx="237744" cy="237744"/>
          </a:xfrm>
          <a:prstGeom prst="ellipse">
            <a:avLst/>
          </a:prstGeom>
          <a:solidFill>
            <a:srgbClr val="059669"/>
          </a:solidFill>
          <a:ln/>
        </p:spPr>
      </p:sp>
      <p:sp>
        <p:nvSpPr>
          <p:cNvPr id="30" name="Text 28"/>
          <p:cNvSpPr txBox="1"/>
          <p:nvPr/>
        </p:nvSpPr>
        <p:spPr>
          <a:xfrm>
            <a:off x="6400800" y="2313432"/>
            <a:ext cx="237744" cy="23774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t>
            </a:r>
            <a:endParaRPr lang="en-US" sz="1050" dirty="0"/>
          </a:p>
        </p:txBody>
      </p:sp>
      <p:sp>
        <p:nvSpPr>
          <p:cNvPr id="31" name="Text 29"/>
          <p:cNvSpPr txBox="1"/>
          <p:nvPr/>
        </p:nvSpPr>
        <p:spPr>
          <a:xfrm>
            <a:off x="6766560" y="2221992"/>
            <a:ext cx="4663440" cy="502920"/>
          </a:xfrm>
          <a:prstGeom prst="rect">
            <a:avLst/>
          </a:prstGeom>
          <a:noFill/>
          <a:ln/>
        </p:spPr>
        <p:txBody>
          <a:bodyPr wrap="square" lIns="0" tIns="0" rIns="0" bIns="0" rtlCol="0" anchor="ctr"/>
          <a:lstStyle/>
          <a:p>
            <a:pPr marL="0" indent="0">
              <a:buNone/>
            </a:pPr>
            <a:r>
              <a:rPr lang="en-US" sz="1150" dirty="0">
                <a:solidFill>
                  <a:srgbClr val="1B2233"/>
                </a:solidFill>
                <a:latin typeface="Calibri" pitchFamily="34" charset="0"/>
                <a:ea typeface="Calibri" pitchFamily="34" charset="-122"/>
                <a:cs typeface="Calibri" pitchFamily="34" charset="-120"/>
              </a:rPr>
              <a:t>O(log n): 30 probes for a billion elements</a:t>
            </a:r>
            <a:endParaRPr lang="en-US" sz="1150" dirty="0"/>
          </a:p>
        </p:txBody>
      </p:sp>
      <p:sp>
        <p:nvSpPr>
          <p:cNvPr id="32" name="Shape 30"/>
          <p:cNvSpPr/>
          <p:nvPr/>
        </p:nvSpPr>
        <p:spPr>
          <a:xfrm>
            <a:off x="6400800" y="2816352"/>
            <a:ext cx="237744" cy="237744"/>
          </a:xfrm>
          <a:prstGeom prst="ellipse">
            <a:avLst/>
          </a:prstGeom>
          <a:solidFill>
            <a:srgbClr val="059669"/>
          </a:solidFill>
          <a:ln/>
        </p:spPr>
      </p:sp>
      <p:sp>
        <p:nvSpPr>
          <p:cNvPr id="33" name="Text 31"/>
          <p:cNvSpPr txBox="1"/>
          <p:nvPr/>
        </p:nvSpPr>
        <p:spPr>
          <a:xfrm>
            <a:off x="6400800" y="2816352"/>
            <a:ext cx="237744" cy="23774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t>
            </a:r>
            <a:endParaRPr lang="en-US" sz="1050" dirty="0"/>
          </a:p>
        </p:txBody>
      </p:sp>
      <p:sp>
        <p:nvSpPr>
          <p:cNvPr id="34" name="Text 32"/>
          <p:cNvSpPr txBox="1"/>
          <p:nvPr/>
        </p:nvSpPr>
        <p:spPr>
          <a:xfrm>
            <a:off x="6766560" y="2724912"/>
            <a:ext cx="4663440" cy="502920"/>
          </a:xfrm>
          <a:prstGeom prst="rect">
            <a:avLst/>
          </a:prstGeom>
          <a:noFill/>
          <a:ln/>
        </p:spPr>
        <p:txBody>
          <a:bodyPr wrap="square" lIns="0" tIns="0" rIns="0" bIns="0" rtlCol="0" anchor="ctr"/>
          <a:lstStyle/>
          <a:p>
            <a:pPr marL="0" indent="0">
              <a:buNone/>
            </a:pPr>
            <a:r>
              <a:rPr lang="en-US" sz="1150" dirty="0">
                <a:solidFill>
                  <a:srgbClr val="1B2233"/>
                </a:solidFill>
                <a:latin typeface="Calibri" pitchFamily="34" charset="0"/>
                <a:ea typeface="Calibri" pitchFamily="34" charset="-122"/>
                <a:cs typeface="Calibri" pitchFamily="34" charset="-120"/>
              </a:rPr>
              <a:t>O(1) extra space (iterative version)</a:t>
            </a:r>
            <a:endParaRPr lang="en-US" sz="1150" dirty="0"/>
          </a:p>
        </p:txBody>
      </p:sp>
      <p:sp>
        <p:nvSpPr>
          <p:cNvPr id="35" name="Shape 33"/>
          <p:cNvSpPr/>
          <p:nvPr/>
        </p:nvSpPr>
        <p:spPr>
          <a:xfrm>
            <a:off x="6400800" y="3319272"/>
            <a:ext cx="237744" cy="237744"/>
          </a:xfrm>
          <a:prstGeom prst="ellipse">
            <a:avLst/>
          </a:prstGeom>
          <a:solidFill>
            <a:srgbClr val="059669"/>
          </a:solidFill>
          <a:ln/>
        </p:spPr>
      </p:sp>
      <p:sp>
        <p:nvSpPr>
          <p:cNvPr id="36" name="Text 34"/>
          <p:cNvSpPr txBox="1"/>
          <p:nvPr/>
        </p:nvSpPr>
        <p:spPr>
          <a:xfrm>
            <a:off x="6400800" y="3319272"/>
            <a:ext cx="237744" cy="23774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t>
            </a:r>
            <a:endParaRPr lang="en-US" sz="1050" dirty="0"/>
          </a:p>
        </p:txBody>
      </p:sp>
      <p:sp>
        <p:nvSpPr>
          <p:cNvPr id="37" name="Text 35"/>
          <p:cNvSpPr txBox="1"/>
          <p:nvPr/>
        </p:nvSpPr>
        <p:spPr>
          <a:xfrm>
            <a:off x="6766560" y="3227832"/>
            <a:ext cx="4663440" cy="502920"/>
          </a:xfrm>
          <a:prstGeom prst="rect">
            <a:avLst/>
          </a:prstGeom>
          <a:noFill/>
          <a:ln/>
        </p:spPr>
        <p:txBody>
          <a:bodyPr wrap="square" lIns="0" tIns="0" rIns="0" bIns="0" rtlCol="0" anchor="ctr"/>
          <a:lstStyle/>
          <a:p>
            <a:pPr marL="0" indent="0">
              <a:buNone/>
            </a:pPr>
            <a:r>
              <a:rPr lang="en-US" sz="1150" dirty="0">
                <a:solidFill>
                  <a:srgbClr val="1B2233"/>
                </a:solidFill>
                <a:latin typeface="Calibri" pitchFamily="34" charset="0"/>
                <a:ea typeface="Calibri" pitchFamily="34" charset="-122"/>
                <a:cs typeface="Calibri" pitchFamily="34" charset="-120"/>
              </a:rPr>
              <a:t>Absent keys are detected just as fast</a:t>
            </a:r>
            <a:endParaRPr lang="en-US" sz="1150" dirty="0"/>
          </a:p>
        </p:txBody>
      </p:sp>
      <p:sp>
        <p:nvSpPr>
          <p:cNvPr id="38" name="Shape 36"/>
          <p:cNvSpPr/>
          <p:nvPr/>
        </p:nvSpPr>
        <p:spPr>
          <a:xfrm>
            <a:off x="6172200" y="3977640"/>
            <a:ext cx="5440680" cy="2103120"/>
          </a:xfrm>
          <a:prstGeom prst="roundRect">
            <a:avLst>
              <a:gd name="adj" fmla="val 4348"/>
            </a:avLst>
          </a:prstGeom>
          <a:solidFill>
            <a:srgbClr val="FEF2F2"/>
          </a:solidFill>
          <a:ln w="12700">
            <a:solidFill>
              <a:srgbClr val="F5C2C2"/>
            </a:solidFill>
            <a:prstDash val="solid"/>
          </a:ln>
        </p:spPr>
      </p:sp>
      <p:sp>
        <p:nvSpPr>
          <p:cNvPr id="39" name="Text 37"/>
          <p:cNvSpPr txBox="1"/>
          <p:nvPr/>
        </p:nvSpPr>
        <p:spPr>
          <a:xfrm>
            <a:off x="6400800" y="4114800"/>
            <a:ext cx="4937760" cy="274320"/>
          </a:xfrm>
          <a:prstGeom prst="rect">
            <a:avLst/>
          </a:prstGeom>
          <a:noFill/>
          <a:ln/>
        </p:spPr>
        <p:txBody>
          <a:bodyPr wrap="square" lIns="0" tIns="0" rIns="0" bIns="0" rtlCol="0" anchor="ctr"/>
          <a:lstStyle/>
          <a:p>
            <a:pPr marL="0" indent="0">
              <a:buNone/>
            </a:pPr>
            <a:r>
              <a:rPr lang="en-US" sz="1200" b="1" kern="0" spc="120" dirty="0">
                <a:solidFill>
                  <a:srgbClr val="DC2626"/>
                </a:solidFill>
                <a:latin typeface="Calibri" pitchFamily="34" charset="0"/>
                <a:ea typeface="Calibri" pitchFamily="34" charset="-122"/>
                <a:cs typeface="Calibri" pitchFamily="34" charset="-120"/>
              </a:rPr>
              <a:t>LIMITATIONS</a:t>
            </a:r>
            <a:endParaRPr lang="en-US" sz="1200" dirty="0"/>
          </a:p>
        </p:txBody>
      </p:sp>
      <p:sp>
        <p:nvSpPr>
          <p:cNvPr id="40" name="Shape 38"/>
          <p:cNvSpPr/>
          <p:nvPr/>
        </p:nvSpPr>
        <p:spPr>
          <a:xfrm>
            <a:off x="6400800" y="4599432"/>
            <a:ext cx="237744" cy="237744"/>
          </a:xfrm>
          <a:prstGeom prst="ellipse">
            <a:avLst/>
          </a:prstGeom>
          <a:solidFill>
            <a:srgbClr val="DC2626"/>
          </a:solidFill>
          <a:ln/>
        </p:spPr>
      </p:sp>
      <p:sp>
        <p:nvSpPr>
          <p:cNvPr id="41" name="Text 39"/>
          <p:cNvSpPr txBox="1"/>
          <p:nvPr/>
        </p:nvSpPr>
        <p:spPr>
          <a:xfrm>
            <a:off x="6400800" y="4599432"/>
            <a:ext cx="237744" cy="23774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t>
            </a:r>
            <a:endParaRPr lang="en-US" sz="1050" dirty="0"/>
          </a:p>
        </p:txBody>
      </p:sp>
      <p:sp>
        <p:nvSpPr>
          <p:cNvPr id="42" name="Text 40"/>
          <p:cNvSpPr txBox="1"/>
          <p:nvPr/>
        </p:nvSpPr>
        <p:spPr>
          <a:xfrm>
            <a:off x="6766560" y="4507992"/>
            <a:ext cx="4663440" cy="502920"/>
          </a:xfrm>
          <a:prstGeom prst="rect">
            <a:avLst/>
          </a:prstGeom>
          <a:noFill/>
          <a:ln/>
        </p:spPr>
        <p:txBody>
          <a:bodyPr wrap="square" lIns="0" tIns="0" rIns="0" bIns="0" rtlCol="0" anchor="ctr"/>
          <a:lstStyle/>
          <a:p>
            <a:pPr marL="0" indent="0">
              <a:buNone/>
            </a:pPr>
            <a:r>
              <a:rPr lang="en-US" sz="1150" dirty="0">
                <a:solidFill>
                  <a:srgbClr val="1B2233"/>
                </a:solidFill>
                <a:latin typeface="Calibri" pitchFamily="34" charset="0"/>
                <a:ea typeface="Calibri" pitchFamily="34" charset="-122"/>
                <a:cs typeface="Calibri" pitchFamily="34" charset="-120"/>
              </a:rPr>
              <a:t>Requires sorted data (sorting costs O(n log n))</a:t>
            </a:r>
            <a:endParaRPr lang="en-US" sz="1150" dirty="0"/>
          </a:p>
        </p:txBody>
      </p:sp>
      <p:sp>
        <p:nvSpPr>
          <p:cNvPr id="43" name="Shape 41"/>
          <p:cNvSpPr/>
          <p:nvPr/>
        </p:nvSpPr>
        <p:spPr>
          <a:xfrm>
            <a:off x="6400800" y="5102352"/>
            <a:ext cx="237744" cy="237744"/>
          </a:xfrm>
          <a:prstGeom prst="ellipse">
            <a:avLst/>
          </a:prstGeom>
          <a:solidFill>
            <a:srgbClr val="DC2626"/>
          </a:solidFill>
          <a:ln/>
        </p:spPr>
      </p:sp>
      <p:sp>
        <p:nvSpPr>
          <p:cNvPr id="44" name="Text 42"/>
          <p:cNvSpPr txBox="1"/>
          <p:nvPr/>
        </p:nvSpPr>
        <p:spPr>
          <a:xfrm>
            <a:off x="6400800" y="5102352"/>
            <a:ext cx="237744" cy="23774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t>
            </a:r>
            <a:endParaRPr lang="en-US" sz="1050" dirty="0"/>
          </a:p>
        </p:txBody>
      </p:sp>
      <p:sp>
        <p:nvSpPr>
          <p:cNvPr id="45" name="Text 43"/>
          <p:cNvSpPr txBox="1"/>
          <p:nvPr/>
        </p:nvSpPr>
        <p:spPr>
          <a:xfrm>
            <a:off x="6766560" y="5010912"/>
            <a:ext cx="4663440" cy="502920"/>
          </a:xfrm>
          <a:prstGeom prst="rect">
            <a:avLst/>
          </a:prstGeom>
          <a:noFill/>
          <a:ln/>
        </p:spPr>
        <p:txBody>
          <a:bodyPr wrap="square" lIns="0" tIns="0" rIns="0" bIns="0" rtlCol="0" anchor="ctr"/>
          <a:lstStyle/>
          <a:p>
            <a:pPr marL="0" indent="0">
              <a:buNone/>
            </a:pPr>
            <a:r>
              <a:rPr lang="en-US" sz="1150" dirty="0">
                <a:solidFill>
                  <a:srgbClr val="1B2233"/>
                </a:solidFill>
                <a:latin typeface="Calibri" pitchFamily="34" charset="0"/>
                <a:ea typeface="Calibri" pitchFamily="34" charset="-122"/>
                <a:cs typeface="Calibri" pitchFamily="34" charset="-120"/>
              </a:rPr>
              <a:t>Needs random access — not for linked lists</a:t>
            </a:r>
            <a:endParaRPr lang="en-US" sz="1150" dirty="0"/>
          </a:p>
        </p:txBody>
      </p:sp>
      <p:sp>
        <p:nvSpPr>
          <p:cNvPr id="46" name="Shape 44"/>
          <p:cNvSpPr/>
          <p:nvPr/>
        </p:nvSpPr>
        <p:spPr>
          <a:xfrm>
            <a:off x="6400800" y="5605272"/>
            <a:ext cx="237744" cy="237744"/>
          </a:xfrm>
          <a:prstGeom prst="ellipse">
            <a:avLst/>
          </a:prstGeom>
          <a:solidFill>
            <a:srgbClr val="DC2626"/>
          </a:solidFill>
          <a:ln/>
        </p:spPr>
      </p:sp>
      <p:sp>
        <p:nvSpPr>
          <p:cNvPr id="47" name="Text 45"/>
          <p:cNvSpPr txBox="1"/>
          <p:nvPr/>
        </p:nvSpPr>
        <p:spPr>
          <a:xfrm>
            <a:off x="6400800" y="5605272"/>
            <a:ext cx="237744" cy="23774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t>
            </a:r>
            <a:endParaRPr lang="en-US" sz="1050" dirty="0"/>
          </a:p>
        </p:txBody>
      </p:sp>
      <p:sp>
        <p:nvSpPr>
          <p:cNvPr id="48" name="Text 46"/>
          <p:cNvSpPr txBox="1"/>
          <p:nvPr/>
        </p:nvSpPr>
        <p:spPr>
          <a:xfrm>
            <a:off x="6766560" y="5513832"/>
            <a:ext cx="4663440" cy="502920"/>
          </a:xfrm>
          <a:prstGeom prst="rect">
            <a:avLst/>
          </a:prstGeom>
          <a:noFill/>
          <a:ln/>
        </p:spPr>
        <p:txBody>
          <a:bodyPr wrap="square" lIns="0" tIns="0" rIns="0" bIns="0" rtlCol="0" anchor="ctr"/>
          <a:lstStyle/>
          <a:p>
            <a:pPr marL="0" indent="0">
              <a:buNone/>
            </a:pPr>
            <a:r>
              <a:rPr lang="en-US" sz="1150" dirty="0">
                <a:solidFill>
                  <a:srgbClr val="1B2233"/>
                </a:solidFill>
                <a:latin typeface="Calibri" pitchFamily="34" charset="0"/>
                <a:ea typeface="Calibri" pitchFamily="34" charset="-122"/>
                <a:cs typeface="Calibri" pitchFamily="34" charset="-120"/>
              </a:rPr>
              <a:t>Off-by-one and overflow bugs are easy to introduce</a:t>
            </a:r>
            <a:endParaRPr lang="en-US" sz="1150" dirty="0"/>
          </a:p>
        </p:txBody>
      </p:sp>
      <p:sp>
        <p:nvSpPr>
          <p:cNvPr id="49" name="Text 47"/>
          <p:cNvSpPr txBox="1"/>
          <p:nvPr/>
        </p:nvSpPr>
        <p:spPr>
          <a:xfrm>
            <a:off x="548640" y="6547104"/>
            <a:ext cx="6858000" cy="256032"/>
          </a:xfrm>
          <a:prstGeom prst="rect">
            <a:avLst/>
          </a:prstGeom>
          <a:noFill/>
          <a:ln/>
        </p:spPr>
        <p:txBody>
          <a:bodyPr wrap="square" lIns="0" tIns="0" rIns="0" bIns="0" rtlCol="0" anchor="ctr"/>
          <a:lstStyle/>
          <a:p>
            <a:pPr marL="0" indent="0">
              <a:buNone/>
            </a:pPr>
            <a:r>
              <a:rPr lang="en-US" sz="900" dirty="0">
                <a:solidFill>
                  <a:srgbClr val="5B6584"/>
                </a:solidFill>
                <a:latin typeface="Calibri" pitchFamily="34" charset="0"/>
                <a:ea typeface="Calibri" pitchFamily="34" charset="-122"/>
                <a:cs typeface="Calibri" pitchFamily="34" charset="-120"/>
              </a:rPr>
              <a:t>Linear &amp; Binary Search  |  Data Structures Using C</a:t>
            </a:r>
            <a:endParaRPr lang="en-US" sz="900" dirty="0"/>
          </a:p>
        </p:txBody>
      </p:sp>
      <p:sp>
        <p:nvSpPr>
          <p:cNvPr id="50" name="Text 48"/>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500000">
            <a:off x="10972800" y="-1005840"/>
            <a:ext cx="2377440" cy="2377440"/>
          </a:xfrm>
          <a:prstGeom prst="triangle">
            <a:avLst/>
          </a:prstGeom>
          <a:solidFill>
            <a:srgbClr val="0E7490">
              <a:alpha val="5000"/>
            </a:srgbClr>
          </a:solidFill>
          <a:ln/>
        </p:spPr>
      </p:sp>
      <p:sp>
        <p:nvSpPr>
          <p:cNvPr id="3" name="Shape 1"/>
          <p:cNvSpPr/>
          <p:nvPr/>
        </p:nvSpPr>
        <p:spPr>
          <a:xfrm rot="12300000">
            <a:off x="-1097280" y="5760720"/>
            <a:ext cx="2377440" cy="2377440"/>
          </a:xfrm>
          <a:prstGeom prst="triangle">
            <a:avLst/>
          </a:prstGeom>
          <a:solidFill>
            <a:srgbClr val="0E7490">
              <a:alpha val="5000"/>
            </a:srgbClr>
          </a:solidFill>
          <a:ln/>
        </p:spPr>
      </p:sp>
      <p:sp>
        <p:nvSpPr>
          <p:cNvPr id="4" name="Text 2"/>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22A6C4"/>
                </a:solidFill>
                <a:latin typeface="Calibri" pitchFamily="34" charset="0"/>
                <a:ea typeface="Calibri" pitchFamily="34" charset="-122"/>
                <a:cs typeface="Calibri" pitchFamily="34" charset="-120"/>
              </a:rPr>
              <a:t>WRAP-UP</a:t>
            </a:r>
            <a:endParaRPr lang="en-US" sz="1300" dirty="0"/>
          </a:p>
        </p:txBody>
      </p:sp>
      <p:sp>
        <p:nvSpPr>
          <p:cNvPr id="5" name="Text 3"/>
          <p:cNvSpPr txBox="1"/>
          <p:nvPr/>
        </p:nvSpPr>
        <p:spPr>
          <a:xfrm>
            <a:off x="548640" y="621792"/>
            <a:ext cx="11064240" cy="731520"/>
          </a:xfrm>
          <a:prstGeom prst="rect">
            <a:avLst/>
          </a:prstGeom>
          <a:noFill/>
          <a:ln/>
        </p:spPr>
        <p:txBody>
          <a:bodyPr wrap="square" lIns="0" tIns="0" rIns="0" bIns="0" rtlCol="0" anchor="ctr"/>
          <a:lstStyle/>
          <a:p>
            <a:pPr marL="0" indent="0">
              <a:buNone/>
            </a:pPr>
            <a:r>
              <a:rPr lang="en-US" sz="3000" b="1" dirty="0">
                <a:solidFill>
                  <a:srgbClr val="10242E"/>
                </a:solidFill>
                <a:latin typeface="Cambria" pitchFamily="34" charset="0"/>
                <a:ea typeface="Cambria" pitchFamily="34" charset="-122"/>
                <a:cs typeface="Cambria" pitchFamily="34" charset="-120"/>
              </a:rPr>
              <a:t>Conclusion</a:t>
            </a:r>
            <a:endParaRPr lang="en-US" sz="3000" dirty="0"/>
          </a:p>
        </p:txBody>
      </p:sp>
      <p:sp>
        <p:nvSpPr>
          <p:cNvPr id="6" name="Shape 4"/>
          <p:cNvSpPr/>
          <p:nvPr/>
        </p:nvSpPr>
        <p:spPr>
          <a:xfrm>
            <a:off x="548640" y="1417320"/>
            <a:ext cx="11064240" cy="749808"/>
          </a:xfrm>
          <a:prstGeom prst="roundRect">
            <a:avLst>
              <a:gd name="adj" fmla="val 12195"/>
            </a:avLst>
          </a:prstGeom>
          <a:solidFill>
            <a:srgbClr val="E6F5F9"/>
          </a:solidFill>
          <a:ln w="12700">
            <a:solidFill>
              <a:srgbClr val="B8E0EA"/>
            </a:solidFill>
            <a:prstDash val="solid"/>
          </a:ln>
        </p:spPr>
      </p:sp>
      <p:sp>
        <p:nvSpPr>
          <p:cNvPr id="7" name="Shape 5"/>
          <p:cNvSpPr/>
          <p:nvPr/>
        </p:nvSpPr>
        <p:spPr>
          <a:xfrm>
            <a:off x="777240" y="1600200"/>
            <a:ext cx="384048" cy="384048"/>
          </a:xfrm>
          <a:prstGeom prst="ellipse">
            <a:avLst/>
          </a:prstGeom>
          <a:solidFill>
            <a:srgbClr val="0E7490"/>
          </a:solidFill>
          <a:ln/>
        </p:spPr>
      </p:sp>
      <p:sp>
        <p:nvSpPr>
          <p:cNvPr id="8" name="Text 6"/>
          <p:cNvSpPr txBox="1"/>
          <p:nvPr/>
        </p:nvSpPr>
        <p:spPr>
          <a:xfrm>
            <a:off x="777240" y="160020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9" name="Text 7"/>
          <p:cNvSpPr txBox="1"/>
          <p:nvPr/>
        </p:nvSpPr>
        <p:spPr>
          <a:xfrm>
            <a:off x="1325880" y="1417320"/>
            <a:ext cx="9966960" cy="749808"/>
          </a:xfrm>
          <a:prstGeom prst="rect">
            <a:avLst/>
          </a:prstGeom>
          <a:noFill/>
          <a:ln/>
        </p:spPr>
        <p:txBody>
          <a:bodyPr wrap="square" lIns="0" tIns="0" rIns="0" bIns="0" rtlCol="0" anchor="ctr"/>
          <a:lstStyle/>
          <a:p>
            <a:pPr marL="0" indent="0">
              <a:lnSpc>
                <a:spcPct val="120000"/>
              </a:lnSpc>
              <a:buNone/>
            </a:pPr>
            <a:r>
              <a:rPr lang="en-US" sz="1200" b="1" dirty="0">
                <a:solidFill>
                  <a:srgbClr val="10242E"/>
                </a:solidFill>
                <a:latin typeface="Calibri" pitchFamily="34" charset="0"/>
                <a:ea typeface="Calibri" pitchFamily="34" charset="-122"/>
                <a:cs typeface="Calibri" pitchFamily="34" charset="-120"/>
              </a:rPr>
              <a:t>Linear search:  </a:t>
            </a:r>
            <a:r>
              <a:rPr lang="en-US" sz="1200" dirty="0">
                <a:solidFill>
                  <a:srgbClr val="1B2233"/>
                </a:solidFill>
                <a:latin typeface="Calibri" pitchFamily="34" charset="0"/>
                <a:ea typeface="Calibri" pitchFamily="34" charset="-122"/>
                <a:cs typeface="Calibri" pitchFamily="34" charset="-120"/>
              </a:rPr>
              <a:t>Checks elements one by one — works on any data, costs (n+1)/2 comparisons on average and n in the worst case: Θ(n).</a:t>
            </a:r>
            <a:endParaRPr lang="en-US" sz="1200" dirty="0"/>
          </a:p>
        </p:txBody>
      </p:sp>
      <p:sp>
        <p:nvSpPr>
          <p:cNvPr id="10" name="Shape 8"/>
          <p:cNvSpPr/>
          <p:nvPr/>
        </p:nvSpPr>
        <p:spPr>
          <a:xfrm>
            <a:off x="548640" y="2304288"/>
            <a:ext cx="11064240" cy="749808"/>
          </a:xfrm>
          <a:prstGeom prst="roundRect">
            <a:avLst>
              <a:gd name="adj" fmla="val 12195"/>
            </a:avLst>
          </a:prstGeom>
          <a:solidFill>
            <a:srgbClr val="E6F5F9"/>
          </a:solidFill>
          <a:ln w="12700">
            <a:solidFill>
              <a:srgbClr val="B8E0EA"/>
            </a:solidFill>
            <a:prstDash val="solid"/>
          </a:ln>
        </p:spPr>
      </p:sp>
      <p:sp>
        <p:nvSpPr>
          <p:cNvPr id="11" name="Shape 9"/>
          <p:cNvSpPr/>
          <p:nvPr/>
        </p:nvSpPr>
        <p:spPr>
          <a:xfrm>
            <a:off x="777240" y="2487168"/>
            <a:ext cx="384048" cy="384048"/>
          </a:xfrm>
          <a:prstGeom prst="ellipse">
            <a:avLst/>
          </a:prstGeom>
          <a:solidFill>
            <a:srgbClr val="0E7490"/>
          </a:solidFill>
          <a:ln/>
        </p:spPr>
      </p:sp>
      <p:sp>
        <p:nvSpPr>
          <p:cNvPr id="12" name="Text 10"/>
          <p:cNvSpPr txBox="1"/>
          <p:nvPr/>
        </p:nvSpPr>
        <p:spPr>
          <a:xfrm>
            <a:off x="777240" y="248716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3" name="Text 11"/>
          <p:cNvSpPr txBox="1"/>
          <p:nvPr/>
        </p:nvSpPr>
        <p:spPr>
          <a:xfrm>
            <a:off x="1325880" y="2304288"/>
            <a:ext cx="9966960" cy="749808"/>
          </a:xfrm>
          <a:prstGeom prst="rect">
            <a:avLst/>
          </a:prstGeom>
          <a:noFill/>
          <a:ln/>
        </p:spPr>
        <p:txBody>
          <a:bodyPr wrap="square" lIns="0" tIns="0" rIns="0" bIns="0" rtlCol="0" anchor="ctr"/>
          <a:lstStyle/>
          <a:p>
            <a:pPr marL="0" indent="0">
              <a:lnSpc>
                <a:spcPct val="120000"/>
              </a:lnSpc>
              <a:buNone/>
            </a:pPr>
            <a:r>
              <a:rPr lang="en-US" sz="1200" b="1" dirty="0">
                <a:solidFill>
                  <a:srgbClr val="10242E"/>
                </a:solidFill>
                <a:latin typeface="Calibri" pitchFamily="34" charset="0"/>
                <a:ea typeface="Calibri" pitchFamily="34" charset="-122"/>
                <a:cs typeface="Calibri" pitchFamily="34" charset="-120"/>
              </a:rPr>
              <a:t>Binary search:  </a:t>
            </a:r>
            <a:r>
              <a:rPr lang="en-US" sz="1200" dirty="0">
                <a:solidFill>
                  <a:srgbClr val="1B2233"/>
                </a:solidFill>
                <a:latin typeface="Calibri" pitchFamily="34" charset="0"/>
                <a:ea typeface="Calibri" pitchFamily="34" charset="-122"/>
                <a:cs typeface="Calibri" pitchFamily="34" charset="-120"/>
              </a:rPr>
              <a:t>On sorted data, probes the middle and discards half each time — T(n) = T(n/2) + Θ(1) ⇒ Θ(log n), at most ⌊log₂ n⌋ + 1 probes.</a:t>
            </a:r>
            <a:endParaRPr lang="en-US" sz="1200" dirty="0"/>
          </a:p>
        </p:txBody>
      </p:sp>
      <p:sp>
        <p:nvSpPr>
          <p:cNvPr id="14" name="Shape 12"/>
          <p:cNvSpPr/>
          <p:nvPr/>
        </p:nvSpPr>
        <p:spPr>
          <a:xfrm>
            <a:off x="548640" y="3191256"/>
            <a:ext cx="11064240" cy="749808"/>
          </a:xfrm>
          <a:prstGeom prst="roundRect">
            <a:avLst>
              <a:gd name="adj" fmla="val 12195"/>
            </a:avLst>
          </a:prstGeom>
          <a:solidFill>
            <a:srgbClr val="E6F5F9"/>
          </a:solidFill>
          <a:ln w="12700">
            <a:solidFill>
              <a:srgbClr val="B8E0EA"/>
            </a:solidFill>
            <a:prstDash val="solid"/>
          </a:ln>
        </p:spPr>
      </p:sp>
      <p:sp>
        <p:nvSpPr>
          <p:cNvPr id="15" name="Shape 13"/>
          <p:cNvSpPr/>
          <p:nvPr/>
        </p:nvSpPr>
        <p:spPr>
          <a:xfrm>
            <a:off x="777240" y="3374136"/>
            <a:ext cx="384048" cy="384048"/>
          </a:xfrm>
          <a:prstGeom prst="ellipse">
            <a:avLst/>
          </a:prstGeom>
          <a:solidFill>
            <a:srgbClr val="0E7490"/>
          </a:solidFill>
          <a:ln/>
        </p:spPr>
      </p:sp>
      <p:sp>
        <p:nvSpPr>
          <p:cNvPr id="16" name="Text 14"/>
          <p:cNvSpPr txBox="1"/>
          <p:nvPr/>
        </p:nvSpPr>
        <p:spPr>
          <a:xfrm>
            <a:off x="777240" y="337413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7" name="Text 15"/>
          <p:cNvSpPr txBox="1"/>
          <p:nvPr/>
        </p:nvSpPr>
        <p:spPr>
          <a:xfrm>
            <a:off x="1325880" y="3191256"/>
            <a:ext cx="9966960" cy="749808"/>
          </a:xfrm>
          <a:prstGeom prst="rect">
            <a:avLst/>
          </a:prstGeom>
          <a:noFill/>
          <a:ln/>
        </p:spPr>
        <p:txBody>
          <a:bodyPr wrap="square" lIns="0" tIns="0" rIns="0" bIns="0" rtlCol="0" anchor="ctr"/>
          <a:lstStyle/>
          <a:p>
            <a:pPr marL="0" indent="0">
              <a:lnSpc>
                <a:spcPct val="120000"/>
              </a:lnSpc>
              <a:buNone/>
            </a:pPr>
            <a:r>
              <a:rPr lang="en-US" sz="1200" b="1" dirty="0">
                <a:solidFill>
                  <a:srgbClr val="10242E"/>
                </a:solidFill>
                <a:latin typeface="Calibri" pitchFamily="34" charset="0"/>
                <a:ea typeface="Calibri" pitchFamily="34" charset="-122"/>
                <a:cs typeface="Calibri" pitchFamily="34" charset="-120"/>
              </a:rPr>
              <a:t>C implementation:  </a:t>
            </a:r>
            <a:r>
              <a:rPr lang="en-US" sz="1200" dirty="0">
                <a:solidFill>
                  <a:srgbClr val="1B2233"/>
                </a:solidFill>
                <a:latin typeface="Calibri" pitchFamily="34" charset="0"/>
                <a:ea typeface="Calibri" pitchFamily="34" charset="-122"/>
                <a:cs typeface="Calibri" pitchFamily="34" charset="-120"/>
              </a:rPr>
              <a:t>One loop for linear search; low/high/mid with mid = low + (high − low)/2 for binary search — both return the index or −1.</a:t>
            </a:r>
            <a:endParaRPr lang="en-US" sz="1200" dirty="0"/>
          </a:p>
        </p:txBody>
      </p:sp>
      <p:sp>
        <p:nvSpPr>
          <p:cNvPr id="18" name="Shape 16"/>
          <p:cNvSpPr/>
          <p:nvPr/>
        </p:nvSpPr>
        <p:spPr>
          <a:xfrm>
            <a:off x="548640" y="4078224"/>
            <a:ext cx="11064240" cy="749808"/>
          </a:xfrm>
          <a:prstGeom prst="roundRect">
            <a:avLst>
              <a:gd name="adj" fmla="val 12195"/>
            </a:avLst>
          </a:prstGeom>
          <a:solidFill>
            <a:srgbClr val="E6F5F9"/>
          </a:solidFill>
          <a:ln w="12700">
            <a:solidFill>
              <a:srgbClr val="B8E0EA"/>
            </a:solidFill>
            <a:prstDash val="solid"/>
          </a:ln>
        </p:spPr>
      </p:sp>
      <p:sp>
        <p:nvSpPr>
          <p:cNvPr id="19" name="Shape 17"/>
          <p:cNvSpPr/>
          <p:nvPr/>
        </p:nvSpPr>
        <p:spPr>
          <a:xfrm>
            <a:off x="777240" y="4261104"/>
            <a:ext cx="384048" cy="384048"/>
          </a:xfrm>
          <a:prstGeom prst="ellipse">
            <a:avLst/>
          </a:prstGeom>
          <a:solidFill>
            <a:srgbClr val="0E7490"/>
          </a:solidFill>
          <a:ln/>
        </p:spPr>
      </p:sp>
      <p:sp>
        <p:nvSpPr>
          <p:cNvPr id="20" name="Text 18"/>
          <p:cNvSpPr txBox="1"/>
          <p:nvPr/>
        </p:nvSpPr>
        <p:spPr>
          <a:xfrm>
            <a:off x="777240" y="426110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1" name="Text 19"/>
          <p:cNvSpPr txBox="1"/>
          <p:nvPr/>
        </p:nvSpPr>
        <p:spPr>
          <a:xfrm>
            <a:off x="1325880" y="4078224"/>
            <a:ext cx="9966960" cy="749808"/>
          </a:xfrm>
          <a:prstGeom prst="rect">
            <a:avLst/>
          </a:prstGeom>
          <a:noFill/>
          <a:ln/>
        </p:spPr>
        <p:txBody>
          <a:bodyPr wrap="square" lIns="0" tIns="0" rIns="0" bIns="0" rtlCol="0" anchor="ctr"/>
          <a:lstStyle/>
          <a:p>
            <a:pPr marL="0" indent="0">
              <a:lnSpc>
                <a:spcPct val="120000"/>
              </a:lnSpc>
              <a:buNone/>
            </a:pPr>
            <a:r>
              <a:rPr lang="en-US" sz="1200" b="1" dirty="0">
                <a:solidFill>
                  <a:srgbClr val="10242E"/>
                </a:solidFill>
                <a:latin typeface="Calibri" pitchFamily="34" charset="0"/>
                <a:ea typeface="Calibri" pitchFamily="34" charset="-122"/>
                <a:cs typeface="Calibri" pitchFamily="34" charset="-120"/>
              </a:rPr>
              <a:t>Choosing:  </a:t>
            </a:r>
            <a:r>
              <a:rPr lang="en-US" sz="1200" dirty="0">
                <a:solidFill>
                  <a:srgbClr val="1B2233"/>
                </a:solidFill>
                <a:latin typeface="Calibri" pitchFamily="34" charset="0"/>
                <a:ea typeface="Calibri" pitchFamily="34" charset="-122"/>
                <a:cs typeface="Calibri" pitchFamily="34" charset="-120"/>
              </a:rPr>
              <a:t>Unsorted, small, or one-off? Linear. Large, sorted, queried many times? Binary — it pays for sorting after about 20 queries at n = 10⁶.</a:t>
            </a:r>
            <a:endParaRPr lang="en-US" sz="1200" dirty="0"/>
          </a:p>
        </p:txBody>
      </p:sp>
      <p:sp>
        <p:nvSpPr>
          <p:cNvPr id="22" name="Shape 20"/>
          <p:cNvSpPr/>
          <p:nvPr/>
        </p:nvSpPr>
        <p:spPr>
          <a:xfrm>
            <a:off x="548640" y="5056632"/>
            <a:ext cx="11064240" cy="1051560"/>
          </a:xfrm>
          <a:prstGeom prst="roundRect">
            <a:avLst>
              <a:gd name="adj" fmla="val 8696"/>
            </a:avLst>
          </a:prstGeom>
          <a:solidFill>
            <a:srgbClr val="10242E"/>
          </a:solidFill>
          <a:ln w="12700">
            <a:solidFill>
              <a:srgbClr val="10242E"/>
            </a:solidFill>
            <a:prstDash val="solid"/>
          </a:ln>
        </p:spPr>
      </p:sp>
      <p:sp>
        <p:nvSpPr>
          <p:cNvPr id="23" name="Text 21"/>
          <p:cNvSpPr txBox="1"/>
          <p:nvPr/>
        </p:nvSpPr>
        <p:spPr>
          <a:xfrm>
            <a:off x="777240" y="5193792"/>
            <a:ext cx="3657600" cy="274320"/>
          </a:xfrm>
          <a:prstGeom prst="rect">
            <a:avLst/>
          </a:prstGeom>
          <a:noFill/>
          <a:ln/>
        </p:spPr>
        <p:txBody>
          <a:bodyPr wrap="square" lIns="0" tIns="0" rIns="0" bIns="0" rtlCol="0" anchor="ctr"/>
          <a:lstStyle/>
          <a:p>
            <a:pPr marL="0" indent="0">
              <a:buNone/>
            </a:pPr>
            <a:r>
              <a:rPr lang="en-US" sz="1100" b="1" kern="0" spc="150" dirty="0">
                <a:solidFill>
                  <a:srgbClr val="D97706"/>
                </a:solidFill>
                <a:latin typeface="Calibri" pitchFamily="34" charset="0"/>
                <a:ea typeface="Calibri" pitchFamily="34" charset="-122"/>
                <a:cs typeface="Calibri" pitchFamily="34" charset="-120"/>
              </a:rPr>
              <a:t>REFERENCES</a:t>
            </a:r>
            <a:endParaRPr lang="en-US" sz="1100" dirty="0"/>
          </a:p>
        </p:txBody>
      </p:sp>
      <p:sp>
        <p:nvSpPr>
          <p:cNvPr id="24" name="Text 22"/>
          <p:cNvSpPr txBox="1"/>
          <p:nvPr/>
        </p:nvSpPr>
        <p:spPr>
          <a:xfrm>
            <a:off x="777240" y="5468112"/>
            <a:ext cx="10607040" cy="548640"/>
          </a:xfrm>
          <a:prstGeom prst="rect">
            <a:avLst/>
          </a:prstGeom>
          <a:noFill/>
          <a:ln/>
        </p:spPr>
        <p:txBody>
          <a:bodyPr wrap="square" lIns="0" tIns="0" rIns="0" bIns="0" rtlCol="0" anchor="ctr"/>
          <a:lstStyle/>
          <a:p>
            <a:pPr marL="0" indent="0">
              <a:buNone/>
            </a:pPr>
            <a:r>
              <a:rPr lang="en-US" sz="1250" i="1" dirty="0">
                <a:solidFill>
                  <a:srgbClr val="CFEAF1"/>
                </a:solidFill>
                <a:latin typeface="Calibri" pitchFamily="34" charset="0"/>
                <a:ea typeface="Calibri" pitchFamily="34" charset="-122"/>
                <a:cs typeface="Calibri" pitchFamily="34" charset="-120"/>
              </a:rPr>
              <a:t>Tanenbaum, A. S., Langsam, Y., &amp; Augenstein, M. J. Data Structures Using C. Pearson / Prentice-Hall.</a:t>
            </a:r>
            <a:endParaRPr lang="en-US" sz="1250" dirty="0"/>
          </a:p>
        </p:txBody>
      </p:sp>
      <p:sp>
        <p:nvSpPr>
          <p:cNvPr id="25" name="Text 23"/>
          <p:cNvSpPr txBox="1"/>
          <p:nvPr/>
        </p:nvSpPr>
        <p:spPr>
          <a:xfrm>
            <a:off x="548640" y="6547104"/>
            <a:ext cx="6858000" cy="256032"/>
          </a:xfrm>
          <a:prstGeom prst="rect">
            <a:avLst/>
          </a:prstGeom>
          <a:noFill/>
          <a:ln/>
        </p:spPr>
        <p:txBody>
          <a:bodyPr wrap="square" lIns="0" tIns="0" rIns="0" bIns="0" rtlCol="0" anchor="ctr"/>
          <a:lstStyle/>
          <a:p>
            <a:pPr marL="0" indent="0">
              <a:buNone/>
            </a:pPr>
            <a:r>
              <a:rPr lang="en-US" sz="900" dirty="0">
                <a:solidFill>
                  <a:srgbClr val="5B6584"/>
                </a:solidFill>
                <a:latin typeface="Calibri" pitchFamily="34" charset="0"/>
                <a:ea typeface="Calibri" pitchFamily="34" charset="-122"/>
                <a:cs typeface="Calibri" pitchFamily="34" charset="-120"/>
              </a:rPr>
              <a:t>Linear &amp; Binary Search  |  Data Structures Using C</a:t>
            </a:r>
            <a:endParaRPr lang="en-US" sz="900" dirty="0"/>
          </a:p>
        </p:txBody>
      </p:sp>
      <p:sp>
        <p:nvSpPr>
          <p:cNvPr id="26" name="Text 24"/>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5379</Words>
  <Application>Microsoft Macintosh PowerPoint</Application>
  <PresentationFormat>Widescreen</PresentationFormat>
  <Paragraphs>741</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Anjali Tripathi</cp:lastModifiedBy>
  <cp:revision>3</cp:revision>
  <dcterms:created xsi:type="dcterms:W3CDTF">2026-10-06T16:14:10Z</dcterms:created>
  <dcterms:modified xsi:type="dcterms:W3CDTF">2026-10-07T04:58:35Z</dcterms:modified>
</cp:coreProperties>
</file>