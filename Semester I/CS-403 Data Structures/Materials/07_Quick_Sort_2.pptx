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E5DC"/>
    <a:srgbClr val="81D4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4610"/>
  </p:normalViewPr>
  <p:slideViewPr>
    <p:cSldViewPr snapToGrid="0" snapToObjects="1">
      <p:cViewPr varScale="1">
        <p:scale>
          <a:sx n="95" d="100"/>
          <a:sy n="95" d="100"/>
        </p:scale>
        <p:origin x="376" y="10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9011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Quick Sort as another divide-and-conquer algorithm, contrasting immediately with Merge Sort: Quick Sort does its hard work BEFORE the recursive calls (partitioning), not after (merging), and it sorts in-place. Preview the recurrence relation and note that, unlike Merge Sort, Quick Sort's complexity depends heavily on how balanced the partitions turn out to be.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if students have already seen the sorting-intro slide in a previous lecture. The key contrast to draw out: Quick Sort's partition step does the 'hard work' before recursing, so nothing needs to be merged afterward -- unlike Merge Sort, which does no work while dividing and all the work while combining.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phrase 'partitioning IS the sorting work' -- this is the single biggest conceptual difference from Merge Sort. Once a pivot is placed by partition(), it is in its final sorted position permanently; nothing after ever touches it again. Ask: 'In Merge Sort, when is an element's final position decided -- during divide or during merge?' (Answer: during merge, much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Lomuto partition scheme is the most commonly taught version (simpler than Hoare's original two-pointer scheme, though slightly less efficient in practice). Stress the invariant: it's the reason a single left-to-right scan suffices. Ask: 'What happens to i if NO elements are less than or equal to the pivot?' (Answer: i stays at low-1, and the pivot swaps into position 'low' -- itself, if it was already the smallest.)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asymmetry: the left branch is a long chain (4 nested calls), while the right branch terminates in a single step. This happens because [10,30,40,50] was ALREADY sorted ascending -- with last-element pivoting, an already-sorted subarray produces the most unbalanced possible split every time (pivot always ends up at the very end). This foreshadows the worst-case analysis two slides from now.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like the merge-sort two-pointer trace: i marks the boundary of the 'confirmed less-than-pivot' region, j is the scanner. Point out that comparisons = high - low = 6 always, regardless of how the data is arranged -- only the number of SWAPS depends on the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pedagogically important slide: pre-sorted data + last-element pivot = the WORST possible partitioning behavior, even though the data itself is 'easy'. Each call only shrinks the subarray by exactly one element (from size 4 to size 3 to size 2 to size 1) -- this is the signature of O(n^2) behavior, previewed concretely here before the formal complexity derivation.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this partition (1 comparison, done immediately) with the four-call left branch on the previous slide -- this is the 'lucky' side of the same array. Tie the two together: which side behaved like best-case Quick Sort, and which behaved like worst-case? (Right side: quick termination; left side: linear chain, the O(n^2) pattern.)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bridge to the formal complexity analysis. Point out the general formula: partitioning a subarray of size m always costs exactly m-1 comparisons, regardless of the data. What differs case to case is how large the resulting sub-problems are -- and that's what the recurrence relation on the complexity slide captures.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directly with the Merge Sort pseudocode students have already seen: MERGE needed temporary arrays L and R; PARTITION needs none. Ask: 'Which line of PARTITION would you point to as proof that it's in-place?' (Answer: every operation references A[...] directly, never a copy.)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swap inside the if-block executes only when A[j] &lt;= pivot -- so, unlike insertion sort's shifts, the number of swaps here truly does depend on the data, not just the subarray size. Mention that quickSort(A, low, high) is called initially with high = n-1, matching the PARTITION pseudocode's 'high' argument exactly.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feel identical in spirit to the Insertion Sort C-trace slide students have already seen -- same idea of connecting variable-by-variable execution to the abstract algorithm. Point out the 'self-swap' rows: real C code doesn't check whether i equals j before swapping, so these still execute a full swap statement even though nothing changes.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lecture's mathematics. Emphasize the contrast with Merge Sort: Merge Sort's recurrence is ALWAYS 2T(n/2)+O(n) regardless of data, because the split point is the array's midpoint, chosen by us. Quick Sort's split point is determined by the DATA (where the pivot happens to land), so the recurrence -- and therefore the complexity class -- can change based on input. Ask: 'Could we guarantee O(n log n) worst-case for Quick Sort? How?' (Answer: yes, with a guaranteed-good pivot selection method like median-of-medians, at the cost of extra overhead.)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 complexity is Quick Sort's headline advantage over Merge Sort. Make sure students distinguish 'no auxiliary ARRAY' (true) from 'no extra memory at all' (false -- the call stack is real memory, and in the worst case it's O(n), same order as Merge Sort's auxiliary array, just used differently).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Instability is a genuine practical concern: sorting a list of student records by grade with Quick Sort could scramble the alphabetical sub-order of same-grade students, while Merge Sort would preserve it. Ask: 'Can Quick Sort be made stable?' (Answer: yes, but only with extra memory for tracking original positions, which defeats its main space advantage.)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should look familiar if students have seen the Merge Sort version -- same five algorithms, same columns, but now Quick Sort's row is highlighted. Ask: 'Given this table, when would you deliberately choose Merge Sort over Quick Sort?' (Answer: when a guaranteed worst-case bound matters more than average speed or memory -- e.g., real-time systems -- or when stability is required.)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central trade-off: Quick Sort gives up Merge Sort's worst-case guarantee in exchange for in-place operation and typically lower constant factors. This is exactly why production sort() functions often use 'introsort' -- Quick Sort by default, falling back to Heap Sort if recursion depth suggests a worst-case pattern is happening.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four key points, then present the reference. If this follows the Merge Sort lecture, invite direct comparison: both are divide-and-conquer, both achieve O(n log n) typically, but they diverge sharply on where the work happens (before vs. after recursion), auxiliary space, and worst-case guarantees.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2">
            <a:lumMod val="90000"/>
          </a:schemeClr>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FFFFFF">
              <a:alpha val="8000"/>
            </a:srgbClr>
          </a:solidFill>
          <a:ln/>
        </p:spPr>
      </p:sp>
      <p:sp>
        <p:nvSpPr>
          <p:cNvPr id="3" name="Shape 1"/>
          <p:cNvSpPr/>
          <p:nvPr/>
        </p:nvSpPr>
        <p:spPr>
          <a:xfrm rot="12300000">
            <a:off x="-1097280" y="5760720"/>
            <a:ext cx="2377440" cy="2377440"/>
          </a:xfrm>
          <a:prstGeom prst="triangle">
            <a:avLst/>
          </a:prstGeom>
          <a:solidFill>
            <a:srgbClr val="FFFFFF">
              <a:alpha val="8000"/>
            </a:srgbClr>
          </a:solidFill>
          <a:ln/>
        </p:spPr>
      </p:sp>
      <p:sp>
        <p:nvSpPr>
          <p:cNvPr id="4" name="Text 2"/>
          <p:cNvSpPr txBox="1"/>
          <p:nvPr/>
        </p:nvSpPr>
        <p:spPr>
          <a:xfrm>
            <a:off x="822960" y="1417320"/>
            <a:ext cx="9144000" cy="365760"/>
          </a:xfrm>
          <a:prstGeom prst="rect">
            <a:avLst/>
          </a:prstGeom>
          <a:noFill/>
          <a:ln/>
        </p:spPr>
        <p:txBody>
          <a:bodyPr wrap="square" lIns="0" tIns="0" rIns="0" bIns="0" rtlCol="0" anchor="ctr"/>
          <a:lstStyle/>
          <a:p>
            <a:pPr marL="0" indent="0">
              <a:buNone/>
            </a:pPr>
            <a:r>
              <a:rPr lang="en-US" sz="1400" b="1" kern="0" spc="300" dirty="0">
                <a:solidFill>
                  <a:srgbClr val="C98A1E"/>
                </a:solidFill>
                <a:latin typeface="Calibri" pitchFamily="34" charset="0"/>
                <a:ea typeface="Calibri" pitchFamily="34" charset="-122"/>
                <a:cs typeface="Calibri" pitchFamily="34" charset="-120"/>
              </a:rPr>
              <a:t>DATA STRUCTURES USING C</a:t>
            </a:r>
            <a:endParaRPr lang="en-US" sz="1400" dirty="0"/>
          </a:p>
        </p:txBody>
      </p:sp>
      <p:sp>
        <p:nvSpPr>
          <p:cNvPr id="5" name="Text 3"/>
          <p:cNvSpPr txBox="1"/>
          <p:nvPr/>
        </p:nvSpPr>
        <p:spPr>
          <a:xfrm>
            <a:off x="777240" y="1783080"/>
            <a:ext cx="10058400" cy="1005840"/>
          </a:xfrm>
          <a:prstGeom prst="rect">
            <a:avLst/>
          </a:prstGeom>
          <a:noFill/>
          <a:ln/>
        </p:spPr>
        <p:txBody>
          <a:bodyPr wrap="square" lIns="0" tIns="0" rIns="0" bIns="0" rtlCol="0" anchor="ctr"/>
          <a:lstStyle/>
          <a:p>
            <a:pPr marL="0" indent="0">
              <a:buNone/>
            </a:pPr>
            <a:r>
              <a:rPr lang="en-US" sz="5800" b="1" dirty="0">
                <a:solidFill>
                  <a:srgbClr val="FFFFFF"/>
                </a:solidFill>
                <a:latin typeface="Cambria" pitchFamily="34" charset="0"/>
                <a:ea typeface="Cambria" pitchFamily="34" charset="-122"/>
                <a:cs typeface="Cambria" pitchFamily="34" charset="-120"/>
              </a:rPr>
              <a:t>Quick Sort</a:t>
            </a:r>
            <a:endParaRPr lang="en-US" sz="5800" dirty="0"/>
          </a:p>
        </p:txBody>
      </p:sp>
      <p:sp>
        <p:nvSpPr>
          <p:cNvPr id="6" name="Text 4"/>
          <p:cNvSpPr txBox="1"/>
          <p:nvPr/>
        </p:nvSpPr>
        <p:spPr>
          <a:xfrm>
            <a:off x="822960" y="2834640"/>
            <a:ext cx="9601200" cy="457200"/>
          </a:xfrm>
          <a:prstGeom prst="rect">
            <a:avLst/>
          </a:prstGeom>
          <a:noFill/>
          <a:ln/>
        </p:spPr>
        <p:txBody>
          <a:bodyPr wrap="square" lIns="0" tIns="0" rIns="0" bIns="0" rtlCol="0" anchor="ctr"/>
          <a:lstStyle/>
          <a:p>
            <a:pPr marL="0" indent="0">
              <a:buNone/>
            </a:pPr>
            <a:r>
              <a:rPr lang="en-US" sz="1700" i="1" dirty="0">
                <a:latin typeface="Calibri" pitchFamily="34" charset="0"/>
                <a:ea typeface="Calibri" pitchFamily="34" charset="-122"/>
                <a:cs typeface="Calibri" pitchFamily="34" charset="-120"/>
              </a:rPr>
              <a:t>A Divide-and-Conquer, In-Place Sorting Algorithm</a:t>
            </a:r>
            <a:endParaRPr lang="en-US" sz="1700" dirty="0"/>
          </a:p>
        </p:txBody>
      </p:sp>
      <p:sp>
        <p:nvSpPr>
          <p:cNvPr id="7" name="Text 5"/>
          <p:cNvSpPr txBox="1"/>
          <p:nvPr/>
        </p:nvSpPr>
        <p:spPr>
          <a:xfrm>
            <a:off x="822960" y="3429000"/>
            <a:ext cx="10058400" cy="457200"/>
          </a:xfrm>
          <a:prstGeom prst="rect">
            <a:avLst/>
          </a:prstGeom>
          <a:noFill/>
          <a:ln/>
        </p:spPr>
        <p:txBody>
          <a:bodyPr wrap="square" lIns="0" tIns="0" rIns="0" bIns="0" rtlCol="0" anchor="ctr"/>
          <a:lstStyle/>
          <a:p>
            <a:pPr marL="0" indent="0">
              <a:buNone/>
            </a:pPr>
            <a:r>
              <a:rPr lang="en-US" sz="1500" b="1" dirty="0">
                <a:latin typeface="Courier New" pitchFamily="34" charset="0"/>
                <a:ea typeface="Courier New" pitchFamily="34" charset="-122"/>
                <a:cs typeface="Courier New" pitchFamily="34" charset="-120"/>
              </a:rPr>
              <a:t>T(n) = T(k) + T(n−k−1) + Θ(n)     →     O(n log n) avg  /  O(n²) worst</a:t>
            </a:r>
            <a:endParaRPr lang="en-US" sz="1500" dirty="0"/>
          </a:p>
        </p:txBody>
      </p:sp>
      <p:sp>
        <p:nvSpPr>
          <p:cNvPr id="8" name="Shape 6"/>
          <p:cNvSpPr/>
          <p:nvPr/>
        </p:nvSpPr>
        <p:spPr>
          <a:xfrm>
            <a:off x="822960" y="4160520"/>
            <a:ext cx="548640" cy="548640"/>
          </a:xfrm>
          <a:prstGeom prst="roundRect">
            <a:avLst>
              <a:gd name="adj" fmla="val 13333"/>
            </a:avLst>
          </a:prstGeom>
          <a:solidFill>
            <a:srgbClr val="FFFFFF"/>
          </a:solidFill>
          <a:ln w="22225">
            <a:solidFill>
              <a:srgbClr val="14918C"/>
            </a:solidFill>
            <a:prstDash val="solid"/>
          </a:ln>
        </p:spPr>
      </p:sp>
      <p:sp>
        <p:nvSpPr>
          <p:cNvPr id="9" name="Text 7"/>
          <p:cNvSpPr txBox="1"/>
          <p:nvPr/>
        </p:nvSpPr>
        <p:spPr>
          <a:xfrm>
            <a:off x="822960" y="4160520"/>
            <a:ext cx="548640" cy="548640"/>
          </a:xfrm>
          <a:prstGeom prst="rect">
            <a:avLst/>
          </a:prstGeom>
          <a:noFill/>
          <a:ln/>
        </p:spPr>
        <p:txBody>
          <a:bodyPr wrap="square" lIns="0" tIns="0" rIns="0" bIns="0" rtlCol="0" anchor="ctr"/>
          <a:lstStyle/>
          <a:p>
            <a:pPr marL="0" indent="0" algn="ctr">
              <a:buNone/>
            </a:pPr>
            <a:r>
              <a:rPr lang="en-US" sz="1500" b="1" dirty="0">
                <a:solidFill>
                  <a:srgbClr val="1B2233"/>
                </a:solidFill>
                <a:latin typeface="Courier New" pitchFamily="34" charset="0"/>
                <a:ea typeface="Courier New" pitchFamily="34" charset="-122"/>
                <a:cs typeface="Courier New" pitchFamily="34" charset="-120"/>
              </a:rPr>
              <a:t>10</a:t>
            </a:r>
            <a:endParaRPr lang="en-US" sz="1500" dirty="0"/>
          </a:p>
        </p:txBody>
      </p:sp>
      <p:sp>
        <p:nvSpPr>
          <p:cNvPr id="10" name="Shape 8"/>
          <p:cNvSpPr/>
          <p:nvPr/>
        </p:nvSpPr>
        <p:spPr>
          <a:xfrm>
            <a:off x="1463040" y="4160520"/>
            <a:ext cx="548640" cy="548640"/>
          </a:xfrm>
          <a:prstGeom prst="roundRect">
            <a:avLst>
              <a:gd name="adj" fmla="val 13333"/>
            </a:avLst>
          </a:prstGeom>
          <a:solidFill>
            <a:srgbClr val="FFFFFF"/>
          </a:solidFill>
          <a:ln w="22225">
            <a:solidFill>
              <a:srgbClr val="14918C"/>
            </a:solidFill>
            <a:prstDash val="solid"/>
          </a:ln>
        </p:spPr>
      </p:sp>
      <p:sp>
        <p:nvSpPr>
          <p:cNvPr id="11" name="Text 9"/>
          <p:cNvSpPr txBox="1"/>
          <p:nvPr/>
        </p:nvSpPr>
        <p:spPr>
          <a:xfrm>
            <a:off x="1463040" y="4160520"/>
            <a:ext cx="548640" cy="548640"/>
          </a:xfrm>
          <a:prstGeom prst="rect">
            <a:avLst/>
          </a:prstGeom>
          <a:noFill/>
          <a:ln/>
        </p:spPr>
        <p:txBody>
          <a:bodyPr wrap="square" lIns="0" tIns="0" rIns="0" bIns="0" rtlCol="0" anchor="ctr"/>
          <a:lstStyle/>
          <a:p>
            <a:pPr marL="0" indent="0" algn="ctr">
              <a:buNone/>
            </a:pPr>
            <a:r>
              <a:rPr lang="en-US" sz="1500" b="1" dirty="0">
                <a:solidFill>
                  <a:srgbClr val="1B2233"/>
                </a:solidFill>
                <a:latin typeface="Courier New" pitchFamily="34" charset="0"/>
                <a:ea typeface="Courier New" pitchFamily="34" charset="-122"/>
                <a:cs typeface="Courier New" pitchFamily="34" charset="-120"/>
              </a:rPr>
              <a:t>80</a:t>
            </a:r>
            <a:endParaRPr lang="en-US" sz="1500" dirty="0"/>
          </a:p>
        </p:txBody>
      </p:sp>
      <p:sp>
        <p:nvSpPr>
          <p:cNvPr id="12" name="Shape 10"/>
          <p:cNvSpPr/>
          <p:nvPr/>
        </p:nvSpPr>
        <p:spPr>
          <a:xfrm>
            <a:off x="2103120" y="4160520"/>
            <a:ext cx="548640" cy="548640"/>
          </a:xfrm>
          <a:prstGeom prst="roundRect">
            <a:avLst>
              <a:gd name="adj" fmla="val 13333"/>
            </a:avLst>
          </a:prstGeom>
          <a:solidFill>
            <a:srgbClr val="FFFFFF"/>
          </a:solidFill>
          <a:ln w="22225">
            <a:solidFill>
              <a:srgbClr val="14918C"/>
            </a:solidFill>
            <a:prstDash val="solid"/>
          </a:ln>
        </p:spPr>
      </p:sp>
      <p:sp>
        <p:nvSpPr>
          <p:cNvPr id="13" name="Text 11"/>
          <p:cNvSpPr txBox="1"/>
          <p:nvPr/>
        </p:nvSpPr>
        <p:spPr>
          <a:xfrm>
            <a:off x="2103120" y="4160520"/>
            <a:ext cx="548640" cy="548640"/>
          </a:xfrm>
          <a:prstGeom prst="rect">
            <a:avLst/>
          </a:prstGeom>
          <a:noFill/>
          <a:ln/>
        </p:spPr>
        <p:txBody>
          <a:bodyPr wrap="square" lIns="0" tIns="0" rIns="0" bIns="0" rtlCol="0" anchor="ctr"/>
          <a:lstStyle/>
          <a:p>
            <a:pPr marL="0" indent="0" algn="ctr">
              <a:buNone/>
            </a:pPr>
            <a:r>
              <a:rPr lang="en-US" sz="1500" b="1" dirty="0">
                <a:solidFill>
                  <a:srgbClr val="1B2233"/>
                </a:solidFill>
                <a:latin typeface="Courier New" pitchFamily="34" charset="0"/>
                <a:ea typeface="Courier New" pitchFamily="34" charset="-122"/>
                <a:cs typeface="Courier New" pitchFamily="34" charset="-120"/>
              </a:rPr>
              <a:t>30</a:t>
            </a:r>
            <a:endParaRPr lang="en-US" sz="1500" dirty="0"/>
          </a:p>
        </p:txBody>
      </p:sp>
      <p:sp>
        <p:nvSpPr>
          <p:cNvPr id="14" name="Shape 12"/>
          <p:cNvSpPr/>
          <p:nvPr/>
        </p:nvSpPr>
        <p:spPr>
          <a:xfrm>
            <a:off x="2743200" y="4160520"/>
            <a:ext cx="548640" cy="548640"/>
          </a:xfrm>
          <a:prstGeom prst="roundRect">
            <a:avLst>
              <a:gd name="adj" fmla="val 13333"/>
            </a:avLst>
          </a:prstGeom>
          <a:solidFill>
            <a:srgbClr val="FFFFFF"/>
          </a:solidFill>
          <a:ln w="22225">
            <a:solidFill>
              <a:srgbClr val="14918C"/>
            </a:solidFill>
            <a:prstDash val="solid"/>
          </a:ln>
        </p:spPr>
      </p:sp>
      <p:sp>
        <p:nvSpPr>
          <p:cNvPr id="15" name="Text 13"/>
          <p:cNvSpPr txBox="1"/>
          <p:nvPr/>
        </p:nvSpPr>
        <p:spPr>
          <a:xfrm>
            <a:off x="2743200" y="4160520"/>
            <a:ext cx="548640" cy="548640"/>
          </a:xfrm>
          <a:prstGeom prst="rect">
            <a:avLst/>
          </a:prstGeom>
          <a:noFill/>
          <a:ln/>
        </p:spPr>
        <p:txBody>
          <a:bodyPr wrap="square" lIns="0" tIns="0" rIns="0" bIns="0" rtlCol="0" anchor="ctr"/>
          <a:lstStyle/>
          <a:p>
            <a:pPr marL="0" indent="0" algn="ctr">
              <a:buNone/>
            </a:pPr>
            <a:r>
              <a:rPr lang="en-US" sz="1500" b="1" dirty="0">
                <a:solidFill>
                  <a:srgbClr val="1B2233"/>
                </a:solidFill>
                <a:latin typeface="Courier New" pitchFamily="34" charset="0"/>
                <a:ea typeface="Courier New" pitchFamily="34" charset="-122"/>
                <a:cs typeface="Courier New" pitchFamily="34" charset="-120"/>
              </a:rPr>
              <a:t>90</a:t>
            </a:r>
            <a:endParaRPr lang="en-US" sz="1500" dirty="0"/>
          </a:p>
        </p:txBody>
      </p:sp>
      <p:sp>
        <p:nvSpPr>
          <p:cNvPr id="16" name="Shape 14"/>
          <p:cNvSpPr/>
          <p:nvPr/>
        </p:nvSpPr>
        <p:spPr>
          <a:xfrm>
            <a:off x="3383280" y="4160520"/>
            <a:ext cx="548640" cy="548640"/>
          </a:xfrm>
          <a:prstGeom prst="roundRect">
            <a:avLst>
              <a:gd name="adj" fmla="val 13333"/>
            </a:avLst>
          </a:prstGeom>
          <a:solidFill>
            <a:srgbClr val="FFFFFF"/>
          </a:solidFill>
          <a:ln w="22225">
            <a:solidFill>
              <a:srgbClr val="14918C"/>
            </a:solidFill>
            <a:prstDash val="solid"/>
          </a:ln>
        </p:spPr>
      </p:sp>
      <p:sp>
        <p:nvSpPr>
          <p:cNvPr id="17" name="Text 15"/>
          <p:cNvSpPr txBox="1"/>
          <p:nvPr/>
        </p:nvSpPr>
        <p:spPr>
          <a:xfrm>
            <a:off x="3383280" y="4160520"/>
            <a:ext cx="548640" cy="548640"/>
          </a:xfrm>
          <a:prstGeom prst="rect">
            <a:avLst/>
          </a:prstGeom>
          <a:noFill/>
          <a:ln/>
        </p:spPr>
        <p:txBody>
          <a:bodyPr wrap="square" lIns="0" tIns="0" rIns="0" bIns="0" rtlCol="0" anchor="ctr"/>
          <a:lstStyle/>
          <a:p>
            <a:pPr marL="0" indent="0" algn="ctr">
              <a:buNone/>
            </a:pPr>
            <a:r>
              <a:rPr lang="en-US" sz="1500" b="1" dirty="0">
                <a:solidFill>
                  <a:srgbClr val="1B2233"/>
                </a:solidFill>
                <a:latin typeface="Courier New" pitchFamily="34" charset="0"/>
                <a:ea typeface="Courier New" pitchFamily="34" charset="-122"/>
                <a:cs typeface="Courier New" pitchFamily="34" charset="-120"/>
              </a:rPr>
              <a:t>40</a:t>
            </a:r>
            <a:endParaRPr lang="en-US" sz="1500" dirty="0"/>
          </a:p>
        </p:txBody>
      </p:sp>
      <p:sp>
        <p:nvSpPr>
          <p:cNvPr id="18" name="Shape 16"/>
          <p:cNvSpPr/>
          <p:nvPr/>
        </p:nvSpPr>
        <p:spPr>
          <a:xfrm>
            <a:off x="4023360" y="4160520"/>
            <a:ext cx="548640" cy="548640"/>
          </a:xfrm>
          <a:prstGeom prst="roundRect">
            <a:avLst>
              <a:gd name="adj" fmla="val 13333"/>
            </a:avLst>
          </a:prstGeom>
          <a:solidFill>
            <a:srgbClr val="FFFFFF"/>
          </a:solidFill>
          <a:ln w="22225">
            <a:solidFill>
              <a:srgbClr val="14918C"/>
            </a:solidFill>
            <a:prstDash val="solid"/>
          </a:ln>
        </p:spPr>
      </p:sp>
      <p:sp>
        <p:nvSpPr>
          <p:cNvPr id="19" name="Text 17"/>
          <p:cNvSpPr txBox="1"/>
          <p:nvPr/>
        </p:nvSpPr>
        <p:spPr>
          <a:xfrm>
            <a:off x="4023360" y="4160520"/>
            <a:ext cx="548640" cy="548640"/>
          </a:xfrm>
          <a:prstGeom prst="rect">
            <a:avLst/>
          </a:prstGeom>
          <a:noFill/>
          <a:ln/>
        </p:spPr>
        <p:txBody>
          <a:bodyPr wrap="square" lIns="0" tIns="0" rIns="0" bIns="0" rtlCol="0" anchor="ctr"/>
          <a:lstStyle/>
          <a:p>
            <a:pPr marL="0" indent="0" algn="ctr">
              <a:buNone/>
            </a:pPr>
            <a:r>
              <a:rPr lang="en-US" sz="1500" b="1" dirty="0">
                <a:solidFill>
                  <a:srgbClr val="1B2233"/>
                </a:solidFill>
                <a:latin typeface="Courier New" pitchFamily="34" charset="0"/>
                <a:ea typeface="Courier New" pitchFamily="34" charset="-122"/>
                <a:cs typeface="Courier New" pitchFamily="34" charset="-120"/>
              </a:rPr>
              <a:t>50</a:t>
            </a:r>
            <a:endParaRPr lang="en-US" sz="1500" dirty="0"/>
          </a:p>
        </p:txBody>
      </p:sp>
      <p:sp>
        <p:nvSpPr>
          <p:cNvPr id="20" name="Shape 18"/>
          <p:cNvSpPr/>
          <p:nvPr/>
        </p:nvSpPr>
        <p:spPr>
          <a:xfrm>
            <a:off x="4663440" y="4160520"/>
            <a:ext cx="548640" cy="548640"/>
          </a:xfrm>
          <a:prstGeom prst="roundRect">
            <a:avLst>
              <a:gd name="adj" fmla="val 13333"/>
            </a:avLst>
          </a:prstGeom>
          <a:solidFill>
            <a:srgbClr val="D9480F"/>
          </a:solidFill>
          <a:ln w="22225">
            <a:solidFill>
              <a:srgbClr val="14918C"/>
            </a:solidFill>
            <a:prstDash val="solid"/>
          </a:ln>
        </p:spPr>
      </p:sp>
      <p:sp>
        <p:nvSpPr>
          <p:cNvPr id="21" name="Text 19"/>
          <p:cNvSpPr txBox="1"/>
          <p:nvPr/>
        </p:nvSpPr>
        <p:spPr>
          <a:xfrm>
            <a:off x="4663440" y="416052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70</a:t>
            </a:r>
            <a:endParaRPr lang="en-US" sz="1500" dirty="0"/>
          </a:p>
        </p:txBody>
      </p:sp>
      <p:sp>
        <p:nvSpPr>
          <p:cNvPr id="22" name="Text 20"/>
          <p:cNvSpPr txBox="1"/>
          <p:nvPr/>
        </p:nvSpPr>
        <p:spPr>
          <a:xfrm>
            <a:off x="4663440" y="4754880"/>
            <a:ext cx="548640" cy="228600"/>
          </a:xfrm>
          <a:prstGeom prst="rect">
            <a:avLst/>
          </a:prstGeom>
          <a:noFill/>
          <a:ln/>
        </p:spPr>
        <p:txBody>
          <a:bodyPr wrap="square" lIns="0" tIns="0" rIns="0" bIns="0" rtlCol="0" anchor="ctr"/>
          <a:lstStyle/>
          <a:p>
            <a:pPr marL="0" indent="0" algn="ctr">
              <a:buNone/>
            </a:pPr>
            <a:r>
              <a:rPr lang="en-US" sz="950" i="1" dirty="0">
                <a:solidFill>
                  <a:srgbClr val="D9480F"/>
                </a:solidFill>
                <a:latin typeface="Calibri" pitchFamily="34" charset="0"/>
                <a:ea typeface="Calibri" pitchFamily="34" charset="-122"/>
                <a:cs typeface="Calibri" pitchFamily="34" charset="-120"/>
              </a:rPr>
              <a:t>pivot</a:t>
            </a:r>
            <a:endParaRPr lang="en-US" sz="950" dirty="0"/>
          </a:p>
        </p:txBody>
      </p:sp>
      <p:sp>
        <p:nvSpPr>
          <p:cNvPr id="23" name="Shape 21"/>
          <p:cNvSpPr/>
          <p:nvPr/>
        </p:nvSpPr>
        <p:spPr>
          <a:xfrm>
            <a:off x="822960" y="5166360"/>
            <a:ext cx="548640" cy="548640"/>
          </a:xfrm>
          <a:prstGeom prst="roundRect">
            <a:avLst>
              <a:gd name="adj" fmla="val 13333"/>
            </a:avLst>
          </a:prstGeom>
          <a:solidFill>
            <a:srgbClr val="2E9E6D"/>
          </a:solidFill>
          <a:ln w="22225">
            <a:solidFill>
              <a:srgbClr val="2E9E6D"/>
            </a:solidFill>
            <a:prstDash val="solid"/>
          </a:ln>
        </p:spPr>
      </p:sp>
      <p:sp>
        <p:nvSpPr>
          <p:cNvPr id="24" name="Text 22"/>
          <p:cNvSpPr txBox="1"/>
          <p:nvPr/>
        </p:nvSpPr>
        <p:spPr>
          <a:xfrm>
            <a:off x="822960" y="516636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10</a:t>
            </a:r>
            <a:endParaRPr lang="en-US" sz="1500" dirty="0"/>
          </a:p>
        </p:txBody>
      </p:sp>
      <p:sp>
        <p:nvSpPr>
          <p:cNvPr id="25" name="Shape 23"/>
          <p:cNvSpPr/>
          <p:nvPr/>
        </p:nvSpPr>
        <p:spPr>
          <a:xfrm>
            <a:off x="1463040" y="5166360"/>
            <a:ext cx="548640" cy="548640"/>
          </a:xfrm>
          <a:prstGeom prst="roundRect">
            <a:avLst>
              <a:gd name="adj" fmla="val 13333"/>
            </a:avLst>
          </a:prstGeom>
          <a:solidFill>
            <a:srgbClr val="2E9E6D"/>
          </a:solidFill>
          <a:ln w="22225">
            <a:solidFill>
              <a:srgbClr val="2E9E6D"/>
            </a:solidFill>
            <a:prstDash val="solid"/>
          </a:ln>
        </p:spPr>
      </p:sp>
      <p:sp>
        <p:nvSpPr>
          <p:cNvPr id="26" name="Text 24"/>
          <p:cNvSpPr txBox="1"/>
          <p:nvPr/>
        </p:nvSpPr>
        <p:spPr>
          <a:xfrm>
            <a:off x="1463040" y="516636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30</a:t>
            </a:r>
            <a:endParaRPr lang="en-US" sz="1500" dirty="0"/>
          </a:p>
        </p:txBody>
      </p:sp>
      <p:sp>
        <p:nvSpPr>
          <p:cNvPr id="27" name="Shape 25"/>
          <p:cNvSpPr/>
          <p:nvPr/>
        </p:nvSpPr>
        <p:spPr>
          <a:xfrm>
            <a:off x="2103120" y="5166360"/>
            <a:ext cx="548640" cy="548640"/>
          </a:xfrm>
          <a:prstGeom prst="roundRect">
            <a:avLst>
              <a:gd name="adj" fmla="val 13333"/>
            </a:avLst>
          </a:prstGeom>
          <a:solidFill>
            <a:srgbClr val="2E9E6D"/>
          </a:solidFill>
          <a:ln w="22225">
            <a:solidFill>
              <a:srgbClr val="2E9E6D"/>
            </a:solidFill>
            <a:prstDash val="solid"/>
          </a:ln>
        </p:spPr>
      </p:sp>
      <p:sp>
        <p:nvSpPr>
          <p:cNvPr id="28" name="Text 26"/>
          <p:cNvSpPr txBox="1"/>
          <p:nvPr/>
        </p:nvSpPr>
        <p:spPr>
          <a:xfrm>
            <a:off x="2103120" y="516636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40</a:t>
            </a:r>
            <a:endParaRPr lang="en-US" sz="1500" dirty="0"/>
          </a:p>
        </p:txBody>
      </p:sp>
      <p:sp>
        <p:nvSpPr>
          <p:cNvPr id="29" name="Shape 27"/>
          <p:cNvSpPr/>
          <p:nvPr/>
        </p:nvSpPr>
        <p:spPr>
          <a:xfrm>
            <a:off x="2743200" y="5166360"/>
            <a:ext cx="548640" cy="548640"/>
          </a:xfrm>
          <a:prstGeom prst="roundRect">
            <a:avLst>
              <a:gd name="adj" fmla="val 13333"/>
            </a:avLst>
          </a:prstGeom>
          <a:solidFill>
            <a:srgbClr val="2E9E6D"/>
          </a:solidFill>
          <a:ln w="22225">
            <a:solidFill>
              <a:srgbClr val="2E9E6D"/>
            </a:solidFill>
            <a:prstDash val="solid"/>
          </a:ln>
        </p:spPr>
      </p:sp>
      <p:sp>
        <p:nvSpPr>
          <p:cNvPr id="30" name="Text 28"/>
          <p:cNvSpPr txBox="1"/>
          <p:nvPr/>
        </p:nvSpPr>
        <p:spPr>
          <a:xfrm>
            <a:off x="2743200" y="516636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50</a:t>
            </a:r>
            <a:endParaRPr lang="en-US" sz="1500" dirty="0"/>
          </a:p>
        </p:txBody>
      </p:sp>
      <p:sp>
        <p:nvSpPr>
          <p:cNvPr id="31" name="Shape 29"/>
          <p:cNvSpPr/>
          <p:nvPr/>
        </p:nvSpPr>
        <p:spPr>
          <a:xfrm>
            <a:off x="3383280" y="5166360"/>
            <a:ext cx="548640" cy="548640"/>
          </a:xfrm>
          <a:prstGeom prst="roundRect">
            <a:avLst>
              <a:gd name="adj" fmla="val 13333"/>
            </a:avLst>
          </a:prstGeom>
          <a:solidFill>
            <a:srgbClr val="2E9E6D"/>
          </a:solidFill>
          <a:ln w="22225">
            <a:solidFill>
              <a:srgbClr val="2E9E6D"/>
            </a:solidFill>
            <a:prstDash val="solid"/>
          </a:ln>
        </p:spPr>
      </p:sp>
      <p:sp>
        <p:nvSpPr>
          <p:cNvPr id="32" name="Text 30"/>
          <p:cNvSpPr txBox="1"/>
          <p:nvPr/>
        </p:nvSpPr>
        <p:spPr>
          <a:xfrm>
            <a:off x="3383280" y="516636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70</a:t>
            </a:r>
            <a:endParaRPr lang="en-US" sz="1500" dirty="0"/>
          </a:p>
        </p:txBody>
      </p:sp>
      <p:sp>
        <p:nvSpPr>
          <p:cNvPr id="33" name="Shape 31"/>
          <p:cNvSpPr/>
          <p:nvPr/>
        </p:nvSpPr>
        <p:spPr>
          <a:xfrm>
            <a:off x="4023360" y="5166360"/>
            <a:ext cx="548640" cy="548640"/>
          </a:xfrm>
          <a:prstGeom prst="roundRect">
            <a:avLst>
              <a:gd name="adj" fmla="val 13333"/>
            </a:avLst>
          </a:prstGeom>
          <a:solidFill>
            <a:srgbClr val="2E9E6D"/>
          </a:solidFill>
          <a:ln w="22225">
            <a:solidFill>
              <a:srgbClr val="2E9E6D"/>
            </a:solidFill>
            <a:prstDash val="solid"/>
          </a:ln>
        </p:spPr>
      </p:sp>
      <p:sp>
        <p:nvSpPr>
          <p:cNvPr id="34" name="Text 32"/>
          <p:cNvSpPr txBox="1"/>
          <p:nvPr/>
        </p:nvSpPr>
        <p:spPr>
          <a:xfrm>
            <a:off x="4023360" y="516636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80</a:t>
            </a:r>
            <a:endParaRPr lang="en-US" sz="1500" dirty="0"/>
          </a:p>
        </p:txBody>
      </p:sp>
      <p:sp>
        <p:nvSpPr>
          <p:cNvPr id="35" name="Shape 33"/>
          <p:cNvSpPr/>
          <p:nvPr/>
        </p:nvSpPr>
        <p:spPr>
          <a:xfrm>
            <a:off x="4663440" y="5166360"/>
            <a:ext cx="548640" cy="548640"/>
          </a:xfrm>
          <a:prstGeom prst="roundRect">
            <a:avLst>
              <a:gd name="adj" fmla="val 13333"/>
            </a:avLst>
          </a:prstGeom>
          <a:solidFill>
            <a:srgbClr val="2E9E6D"/>
          </a:solidFill>
          <a:ln w="22225">
            <a:solidFill>
              <a:srgbClr val="2E9E6D"/>
            </a:solidFill>
            <a:prstDash val="solid"/>
          </a:ln>
        </p:spPr>
      </p:sp>
      <p:sp>
        <p:nvSpPr>
          <p:cNvPr id="36" name="Text 34"/>
          <p:cNvSpPr txBox="1"/>
          <p:nvPr/>
        </p:nvSpPr>
        <p:spPr>
          <a:xfrm>
            <a:off x="4663440" y="516636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90</a:t>
            </a:r>
            <a:endParaRPr lang="en-US" sz="1500" dirty="0"/>
          </a:p>
        </p:txBody>
      </p:sp>
      <p:sp>
        <p:nvSpPr>
          <p:cNvPr id="39" name="Text 37"/>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9FD8D0"/>
                </a:solidFill>
                <a:latin typeface="Calibri" pitchFamily="34" charset="0"/>
                <a:ea typeface="Calibri" pitchFamily="34" charset="-122"/>
                <a:cs typeface="Calibri" pitchFamily="34" charset="-120"/>
              </a:rPr>
              <a:t>Quick Sort  |  Data Structures Using C</a:t>
            </a:r>
            <a:endParaRPr lang="en-US" sz="900" dirty="0"/>
          </a:p>
        </p:txBody>
      </p:sp>
      <p:sp>
        <p:nvSpPr>
          <p:cNvPr id="40" name="Text 38"/>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9FD8D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5" name="Text 3"/>
          <p:cNvSpPr txBox="1"/>
          <p:nvPr/>
        </p:nvSpPr>
        <p:spPr>
          <a:xfrm>
            <a:off x="563880" y="300657"/>
            <a:ext cx="11064240" cy="731520"/>
          </a:xfrm>
          <a:prstGeom prst="rect">
            <a:avLst/>
          </a:prstGeom>
          <a:noFill/>
          <a:ln/>
        </p:spPr>
        <p:txBody>
          <a:bodyPr wrap="square" lIns="0" tIns="0" rIns="0" bIns="0" rtlCol="0" anchor="ctr"/>
          <a:lstStyle/>
          <a:p>
            <a:pPr marL="0" indent="0">
              <a:buNone/>
            </a:pPr>
            <a:r>
              <a:rPr lang="en-US" sz="3600" b="1" dirty="0">
                <a:solidFill>
                  <a:srgbClr val="0B3D3A"/>
                </a:solidFill>
                <a:latin typeface="Cambria" pitchFamily="34" charset="0"/>
                <a:ea typeface="Cambria" pitchFamily="34" charset="-122"/>
                <a:cs typeface="Cambria" pitchFamily="34" charset="-120"/>
              </a:rPr>
              <a:t>Introduction to Sorting</a:t>
            </a:r>
            <a:endParaRPr lang="en-US" sz="3600" dirty="0"/>
          </a:p>
        </p:txBody>
      </p:sp>
      <p:sp>
        <p:nvSpPr>
          <p:cNvPr id="6" name="Text 4"/>
          <p:cNvSpPr txBox="1"/>
          <p:nvPr/>
        </p:nvSpPr>
        <p:spPr>
          <a:xfrm>
            <a:off x="518160" y="1087041"/>
            <a:ext cx="5577840" cy="1005840"/>
          </a:xfrm>
          <a:prstGeom prst="rect">
            <a:avLst/>
          </a:prstGeom>
          <a:noFill/>
          <a:ln/>
        </p:spPr>
        <p:txBody>
          <a:bodyPr wrap="square" lIns="0" tIns="0" rIns="0" bIns="0" rtlCol="0" anchor="ctr"/>
          <a:lstStyle/>
          <a:p>
            <a:pPr marL="0" indent="0">
              <a:lnSpc>
                <a:spcPct val="130000"/>
              </a:lnSpc>
              <a:buNone/>
            </a:pPr>
            <a:r>
              <a:rPr lang="en-US" b="1" dirty="0">
                <a:solidFill>
                  <a:srgbClr val="0B3D3A"/>
                </a:solidFill>
                <a:latin typeface="Calibri" pitchFamily="34" charset="0"/>
                <a:ea typeface="Calibri" pitchFamily="34" charset="-122"/>
                <a:cs typeface="Calibri" pitchFamily="34" charset="-120"/>
              </a:rPr>
              <a:t>Sorting </a:t>
            </a:r>
            <a:r>
              <a:rPr lang="en-US" dirty="0">
                <a:solidFill>
                  <a:srgbClr val="1B2233"/>
                </a:solidFill>
                <a:latin typeface="Calibri" pitchFamily="34" charset="0"/>
                <a:ea typeface="Calibri" pitchFamily="34" charset="-122"/>
                <a:cs typeface="Calibri" pitchFamily="34" charset="-120"/>
              </a:rPr>
              <a:t>arranges the elements of a data structure into a defined order. It underlies efficient searching, and is a benchmark for comparing algorithm design strategies.</a:t>
            </a:r>
            <a:endParaRPr lang="en-US" dirty="0"/>
          </a:p>
        </p:txBody>
      </p:sp>
      <p:sp>
        <p:nvSpPr>
          <p:cNvPr id="7" name="Text 5"/>
          <p:cNvSpPr txBox="1"/>
          <p:nvPr/>
        </p:nvSpPr>
        <p:spPr>
          <a:xfrm>
            <a:off x="548640" y="2349460"/>
            <a:ext cx="5486400" cy="320040"/>
          </a:xfrm>
          <a:prstGeom prst="rect">
            <a:avLst/>
          </a:prstGeom>
          <a:noFill/>
          <a:ln/>
        </p:spPr>
        <p:txBody>
          <a:bodyPr wrap="square" lIns="0" tIns="0" rIns="0" bIns="0" rtlCol="0" anchor="ctr"/>
          <a:lstStyle/>
          <a:p>
            <a:pPr marL="0" indent="0">
              <a:buNone/>
            </a:pPr>
            <a:r>
              <a:rPr lang="en-US" b="1" dirty="0">
                <a:solidFill>
                  <a:srgbClr val="0B3D3A"/>
                </a:solidFill>
                <a:latin typeface="Cambria" pitchFamily="34" charset="0"/>
                <a:ea typeface="Cambria" pitchFamily="34" charset="-122"/>
                <a:cs typeface="Cambria" pitchFamily="34" charset="-120"/>
              </a:rPr>
              <a:t>Where Quick Sort fits:</a:t>
            </a:r>
            <a:endParaRPr lang="en-US" dirty="0"/>
          </a:p>
        </p:txBody>
      </p:sp>
      <p:sp>
        <p:nvSpPr>
          <p:cNvPr id="8" name="Shape 6"/>
          <p:cNvSpPr/>
          <p:nvPr/>
        </p:nvSpPr>
        <p:spPr>
          <a:xfrm>
            <a:off x="548640" y="3017520"/>
            <a:ext cx="146304" cy="146304"/>
          </a:xfrm>
          <a:prstGeom prst="ellipse">
            <a:avLst/>
          </a:prstGeom>
          <a:solidFill>
            <a:srgbClr val="0F6B64"/>
          </a:solidFill>
          <a:ln/>
        </p:spPr>
      </p:sp>
      <p:sp>
        <p:nvSpPr>
          <p:cNvPr id="9" name="Text 7"/>
          <p:cNvSpPr txBox="1"/>
          <p:nvPr/>
        </p:nvSpPr>
        <p:spPr>
          <a:xfrm>
            <a:off x="822960" y="2907792"/>
            <a:ext cx="5394960" cy="50292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Like Merge Sort, it's a divide-and-conquer algorithm.</a:t>
            </a:r>
            <a:endParaRPr lang="en-US" dirty="0"/>
          </a:p>
        </p:txBody>
      </p:sp>
      <p:sp>
        <p:nvSpPr>
          <p:cNvPr id="10" name="Shape 8"/>
          <p:cNvSpPr/>
          <p:nvPr/>
        </p:nvSpPr>
        <p:spPr>
          <a:xfrm>
            <a:off x="548640" y="3566160"/>
            <a:ext cx="146304" cy="146304"/>
          </a:xfrm>
          <a:prstGeom prst="ellipse">
            <a:avLst/>
          </a:prstGeom>
          <a:solidFill>
            <a:srgbClr val="0F6B64"/>
          </a:solidFill>
          <a:ln/>
        </p:spPr>
      </p:sp>
      <p:sp>
        <p:nvSpPr>
          <p:cNvPr id="11" name="Text 9"/>
          <p:cNvSpPr txBox="1"/>
          <p:nvPr/>
        </p:nvSpPr>
        <p:spPr>
          <a:xfrm>
            <a:off x="822960" y="3456432"/>
            <a:ext cx="5394960" cy="50292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Unlike Merge Sort, it sorts in-place — no auxiliary array.</a:t>
            </a:r>
            <a:endParaRPr lang="en-US" dirty="0"/>
          </a:p>
        </p:txBody>
      </p:sp>
      <p:sp>
        <p:nvSpPr>
          <p:cNvPr id="12" name="Shape 10"/>
          <p:cNvSpPr/>
          <p:nvPr/>
        </p:nvSpPr>
        <p:spPr>
          <a:xfrm>
            <a:off x="548640" y="4114800"/>
            <a:ext cx="146304" cy="146304"/>
          </a:xfrm>
          <a:prstGeom prst="ellipse">
            <a:avLst/>
          </a:prstGeom>
          <a:solidFill>
            <a:srgbClr val="0F6B64"/>
          </a:solidFill>
          <a:ln/>
        </p:spPr>
      </p:sp>
      <p:sp>
        <p:nvSpPr>
          <p:cNvPr id="13" name="Text 11"/>
          <p:cNvSpPr txBox="1"/>
          <p:nvPr/>
        </p:nvSpPr>
        <p:spPr>
          <a:xfrm>
            <a:off x="822960" y="4005072"/>
            <a:ext cx="5394960" cy="50292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It is the algorithm most general-purpose sort() library functions are historically built around.</a:t>
            </a:r>
            <a:endParaRPr lang="en-US" dirty="0"/>
          </a:p>
        </p:txBody>
      </p:sp>
      <p:sp>
        <p:nvSpPr>
          <p:cNvPr id="14" name="Text 12"/>
          <p:cNvSpPr txBox="1"/>
          <p:nvPr/>
        </p:nvSpPr>
        <p:spPr>
          <a:xfrm>
            <a:off x="6446520" y="1198363"/>
            <a:ext cx="4754880" cy="274320"/>
          </a:xfrm>
          <a:prstGeom prst="rect">
            <a:avLst/>
          </a:prstGeom>
          <a:noFill/>
          <a:ln/>
        </p:spPr>
        <p:txBody>
          <a:bodyPr wrap="square" lIns="0" tIns="0" rIns="0" bIns="0" rtlCol="0" anchor="ctr"/>
          <a:lstStyle/>
          <a:p>
            <a:pPr marL="0" indent="0" algn="ctr">
              <a:buNone/>
            </a:pPr>
            <a:r>
              <a:rPr lang="en-US" sz="1600" b="1" kern="0" spc="150" dirty="0">
                <a:solidFill>
                  <a:srgbClr val="14918C"/>
                </a:solidFill>
                <a:latin typeface="Calibri" pitchFamily="34" charset="0"/>
                <a:ea typeface="Calibri" pitchFamily="34" charset="-122"/>
                <a:cs typeface="Calibri" pitchFamily="34" charset="-120"/>
              </a:rPr>
              <a:t>COMMON SORTING TECHNIQUES</a:t>
            </a:r>
            <a:endParaRPr lang="en-US" sz="1600" dirty="0"/>
          </a:p>
        </p:txBody>
      </p:sp>
      <p:sp>
        <p:nvSpPr>
          <p:cNvPr id="15" name="Shape 13"/>
          <p:cNvSpPr/>
          <p:nvPr/>
        </p:nvSpPr>
        <p:spPr>
          <a:xfrm>
            <a:off x="6492240" y="1828800"/>
            <a:ext cx="4480560" cy="365760"/>
          </a:xfrm>
          <a:prstGeom prst="roundRect">
            <a:avLst>
              <a:gd name="adj" fmla="val 50000"/>
            </a:avLst>
          </a:prstGeom>
          <a:solidFill>
            <a:srgbClr val="E8F5F3"/>
          </a:solidFill>
          <a:ln/>
        </p:spPr>
      </p:sp>
      <p:sp>
        <p:nvSpPr>
          <p:cNvPr id="16" name="Text 14"/>
          <p:cNvSpPr txBox="1"/>
          <p:nvPr/>
        </p:nvSpPr>
        <p:spPr>
          <a:xfrm>
            <a:off x="6492240" y="1828800"/>
            <a:ext cx="4480560" cy="365760"/>
          </a:xfrm>
          <a:prstGeom prst="rect">
            <a:avLst/>
          </a:prstGeom>
          <a:noFill/>
          <a:ln/>
        </p:spPr>
        <p:txBody>
          <a:bodyPr wrap="square" lIns="0" tIns="0" rIns="0" bIns="0" rtlCol="0" anchor="ctr"/>
          <a:lstStyle/>
          <a:p>
            <a:pPr marL="0" indent="0" algn="ctr">
              <a:buNone/>
            </a:pPr>
            <a:r>
              <a:rPr lang="en-US" sz="1300" b="1" dirty="0">
                <a:solidFill>
                  <a:srgbClr val="0B3D3A"/>
                </a:solidFill>
                <a:latin typeface="Calibri" pitchFamily="34" charset="0"/>
                <a:ea typeface="Calibri" pitchFamily="34" charset="-122"/>
                <a:cs typeface="Calibri" pitchFamily="34" charset="-120"/>
              </a:rPr>
              <a:t>Bubble Sort</a:t>
            </a:r>
            <a:endParaRPr lang="en-US" sz="1300" dirty="0"/>
          </a:p>
        </p:txBody>
      </p:sp>
      <p:sp>
        <p:nvSpPr>
          <p:cNvPr id="17" name="Shape 15"/>
          <p:cNvSpPr/>
          <p:nvPr/>
        </p:nvSpPr>
        <p:spPr>
          <a:xfrm>
            <a:off x="6492240" y="2359152"/>
            <a:ext cx="4480560" cy="365760"/>
          </a:xfrm>
          <a:prstGeom prst="roundRect">
            <a:avLst>
              <a:gd name="adj" fmla="val 50000"/>
            </a:avLst>
          </a:prstGeom>
          <a:solidFill>
            <a:srgbClr val="E8F5F3"/>
          </a:solidFill>
          <a:ln/>
        </p:spPr>
      </p:sp>
      <p:sp>
        <p:nvSpPr>
          <p:cNvPr id="18" name="Text 16"/>
          <p:cNvSpPr txBox="1"/>
          <p:nvPr/>
        </p:nvSpPr>
        <p:spPr>
          <a:xfrm>
            <a:off x="6492240" y="2359152"/>
            <a:ext cx="4480560" cy="365760"/>
          </a:xfrm>
          <a:prstGeom prst="rect">
            <a:avLst/>
          </a:prstGeom>
          <a:noFill/>
          <a:ln/>
        </p:spPr>
        <p:txBody>
          <a:bodyPr wrap="square" lIns="0" tIns="0" rIns="0" bIns="0" rtlCol="0" anchor="ctr"/>
          <a:lstStyle/>
          <a:p>
            <a:pPr marL="0" indent="0" algn="ctr">
              <a:buNone/>
            </a:pPr>
            <a:r>
              <a:rPr lang="en-US" sz="1300" b="1" dirty="0">
                <a:solidFill>
                  <a:srgbClr val="0B3D3A"/>
                </a:solidFill>
                <a:latin typeface="Calibri" pitchFamily="34" charset="0"/>
                <a:ea typeface="Calibri" pitchFamily="34" charset="-122"/>
                <a:cs typeface="Calibri" pitchFamily="34" charset="-120"/>
              </a:rPr>
              <a:t>Selection Sort</a:t>
            </a:r>
            <a:endParaRPr lang="en-US" sz="1300" dirty="0"/>
          </a:p>
        </p:txBody>
      </p:sp>
      <p:sp>
        <p:nvSpPr>
          <p:cNvPr id="19" name="Shape 17"/>
          <p:cNvSpPr/>
          <p:nvPr/>
        </p:nvSpPr>
        <p:spPr>
          <a:xfrm>
            <a:off x="6492240" y="2889504"/>
            <a:ext cx="4480560" cy="365760"/>
          </a:xfrm>
          <a:prstGeom prst="roundRect">
            <a:avLst>
              <a:gd name="adj" fmla="val 50000"/>
            </a:avLst>
          </a:prstGeom>
          <a:solidFill>
            <a:srgbClr val="E8F5F3"/>
          </a:solidFill>
          <a:ln/>
        </p:spPr>
      </p:sp>
      <p:sp>
        <p:nvSpPr>
          <p:cNvPr id="20" name="Text 18"/>
          <p:cNvSpPr txBox="1"/>
          <p:nvPr/>
        </p:nvSpPr>
        <p:spPr>
          <a:xfrm>
            <a:off x="6492240" y="2889504"/>
            <a:ext cx="4480560" cy="365760"/>
          </a:xfrm>
          <a:prstGeom prst="rect">
            <a:avLst/>
          </a:prstGeom>
          <a:noFill/>
          <a:ln/>
        </p:spPr>
        <p:txBody>
          <a:bodyPr wrap="square" lIns="0" tIns="0" rIns="0" bIns="0" rtlCol="0" anchor="ctr"/>
          <a:lstStyle/>
          <a:p>
            <a:pPr marL="0" indent="0" algn="ctr">
              <a:buNone/>
            </a:pPr>
            <a:r>
              <a:rPr lang="en-US" sz="1300" b="1" dirty="0">
                <a:solidFill>
                  <a:srgbClr val="0B3D3A"/>
                </a:solidFill>
                <a:latin typeface="Calibri" pitchFamily="34" charset="0"/>
                <a:ea typeface="Calibri" pitchFamily="34" charset="-122"/>
                <a:cs typeface="Calibri" pitchFamily="34" charset="-120"/>
              </a:rPr>
              <a:t>Insertion Sort</a:t>
            </a:r>
            <a:endParaRPr lang="en-US" sz="1300" dirty="0"/>
          </a:p>
        </p:txBody>
      </p:sp>
      <p:sp>
        <p:nvSpPr>
          <p:cNvPr id="21" name="Shape 19"/>
          <p:cNvSpPr/>
          <p:nvPr/>
        </p:nvSpPr>
        <p:spPr>
          <a:xfrm>
            <a:off x="6492240" y="3419856"/>
            <a:ext cx="4480560" cy="365760"/>
          </a:xfrm>
          <a:prstGeom prst="roundRect">
            <a:avLst>
              <a:gd name="adj" fmla="val 50000"/>
            </a:avLst>
          </a:prstGeom>
          <a:solidFill>
            <a:srgbClr val="E8F5F3"/>
          </a:solidFill>
          <a:ln/>
        </p:spPr>
      </p:sp>
      <p:sp>
        <p:nvSpPr>
          <p:cNvPr id="22" name="Text 20"/>
          <p:cNvSpPr txBox="1"/>
          <p:nvPr/>
        </p:nvSpPr>
        <p:spPr>
          <a:xfrm>
            <a:off x="6492240" y="3419856"/>
            <a:ext cx="4480560" cy="365760"/>
          </a:xfrm>
          <a:prstGeom prst="rect">
            <a:avLst/>
          </a:prstGeom>
          <a:noFill/>
          <a:ln/>
        </p:spPr>
        <p:txBody>
          <a:bodyPr wrap="square" lIns="0" tIns="0" rIns="0" bIns="0" rtlCol="0" anchor="ctr"/>
          <a:lstStyle/>
          <a:p>
            <a:pPr marL="0" indent="0" algn="ctr">
              <a:buNone/>
            </a:pPr>
            <a:r>
              <a:rPr lang="en-US" sz="1300" b="1" dirty="0">
                <a:solidFill>
                  <a:srgbClr val="0B3D3A"/>
                </a:solidFill>
                <a:latin typeface="Calibri" pitchFamily="34" charset="0"/>
                <a:ea typeface="Calibri" pitchFamily="34" charset="-122"/>
                <a:cs typeface="Calibri" pitchFamily="34" charset="-120"/>
              </a:rPr>
              <a:t>Merge Sort</a:t>
            </a:r>
            <a:endParaRPr lang="en-US" sz="1300" dirty="0"/>
          </a:p>
        </p:txBody>
      </p:sp>
      <p:sp>
        <p:nvSpPr>
          <p:cNvPr id="23" name="Shape 21"/>
          <p:cNvSpPr/>
          <p:nvPr/>
        </p:nvSpPr>
        <p:spPr>
          <a:xfrm>
            <a:off x="6492240" y="3950208"/>
            <a:ext cx="4480560" cy="365760"/>
          </a:xfrm>
          <a:prstGeom prst="roundRect">
            <a:avLst>
              <a:gd name="adj" fmla="val 50000"/>
            </a:avLst>
          </a:prstGeom>
          <a:solidFill>
            <a:srgbClr val="D9480F"/>
          </a:solidFill>
          <a:ln/>
        </p:spPr>
      </p:sp>
      <p:sp>
        <p:nvSpPr>
          <p:cNvPr id="24" name="Text 22"/>
          <p:cNvSpPr txBox="1"/>
          <p:nvPr/>
        </p:nvSpPr>
        <p:spPr>
          <a:xfrm>
            <a:off x="6492240" y="3950208"/>
            <a:ext cx="44805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Quick Sort</a:t>
            </a:r>
            <a:endParaRPr lang="en-US" sz="1300" dirty="0"/>
          </a:p>
        </p:txBody>
      </p:sp>
      <p:sp>
        <p:nvSpPr>
          <p:cNvPr id="25" name="Shape 23"/>
          <p:cNvSpPr/>
          <p:nvPr/>
        </p:nvSpPr>
        <p:spPr>
          <a:xfrm>
            <a:off x="548640" y="5084064"/>
            <a:ext cx="10881360" cy="1408176"/>
          </a:xfrm>
          <a:prstGeom prst="roundRect">
            <a:avLst>
              <a:gd name="adj" fmla="val 5263"/>
            </a:avLst>
          </a:prstGeom>
          <a:solidFill>
            <a:schemeClr val="bg2">
              <a:lumMod val="90000"/>
            </a:schemeClr>
          </a:solidFill>
          <a:ln w="12700">
            <a:solidFill>
              <a:srgbClr val="0B3D3A"/>
            </a:solidFill>
            <a:prstDash val="solid"/>
          </a:ln>
        </p:spPr>
      </p:sp>
      <p:sp>
        <p:nvSpPr>
          <p:cNvPr id="26" name="Text 24"/>
          <p:cNvSpPr txBox="1"/>
          <p:nvPr/>
        </p:nvSpPr>
        <p:spPr>
          <a:xfrm>
            <a:off x="845820" y="5306997"/>
            <a:ext cx="4480560" cy="274320"/>
          </a:xfrm>
          <a:prstGeom prst="rect">
            <a:avLst/>
          </a:prstGeom>
          <a:noFill/>
          <a:ln/>
        </p:spPr>
        <p:txBody>
          <a:bodyPr wrap="square" lIns="0" tIns="0" rIns="0" bIns="0" rtlCol="0" anchor="ctr"/>
          <a:lstStyle/>
          <a:p>
            <a:pPr marL="0" indent="0">
              <a:buNone/>
            </a:pPr>
            <a:r>
              <a:rPr lang="en-US" b="1" kern="0" spc="100" dirty="0">
                <a:latin typeface="Calibri" pitchFamily="34" charset="0"/>
                <a:ea typeface="Calibri" pitchFamily="34" charset="-122"/>
                <a:cs typeface="Calibri" pitchFamily="34" charset="-120"/>
              </a:rPr>
              <a:t>QUICK SORT — A QUICK PREVIEW</a:t>
            </a:r>
            <a:endParaRPr lang="en-US" dirty="0"/>
          </a:p>
        </p:txBody>
      </p:sp>
      <p:sp>
        <p:nvSpPr>
          <p:cNvPr id="27" name="Text 25"/>
          <p:cNvSpPr txBox="1"/>
          <p:nvPr/>
        </p:nvSpPr>
        <p:spPr>
          <a:xfrm>
            <a:off x="845820" y="5415439"/>
            <a:ext cx="10378440" cy="1188720"/>
          </a:xfrm>
          <a:prstGeom prst="rect">
            <a:avLst/>
          </a:prstGeom>
          <a:noFill/>
          <a:ln/>
        </p:spPr>
        <p:txBody>
          <a:bodyPr wrap="square" lIns="0" tIns="0" rIns="0" bIns="0" rtlCol="0" anchor="ctr"/>
          <a:lstStyle/>
          <a:p>
            <a:pPr marL="0" indent="0">
              <a:lnSpc>
                <a:spcPct val="130000"/>
              </a:lnSpc>
              <a:buNone/>
            </a:pPr>
            <a:r>
              <a:rPr lang="en-US" dirty="0">
                <a:latin typeface="Calibri" pitchFamily="34" charset="0"/>
                <a:ea typeface="Calibri" pitchFamily="34" charset="-122"/>
                <a:cs typeface="Calibri" pitchFamily="34" charset="-120"/>
              </a:rPr>
              <a:t>Picks a pivot element, rearranges the array so smaller elements come before it and larger ones after, then recursively sorts each side.</a:t>
            </a:r>
            <a:endParaRPr lang="en-US" dirty="0"/>
          </a:p>
        </p:txBody>
      </p:sp>
      <p:sp>
        <p:nvSpPr>
          <p:cNvPr id="28" name="Text 26"/>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29" name="Text 27"/>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5" name="Text 3"/>
          <p:cNvSpPr txBox="1"/>
          <p:nvPr/>
        </p:nvSpPr>
        <p:spPr>
          <a:xfrm>
            <a:off x="563880" y="297180"/>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What Is Quick Sort?</a:t>
            </a:r>
            <a:endParaRPr lang="en-US" sz="3000" dirty="0"/>
          </a:p>
        </p:txBody>
      </p:sp>
      <p:sp>
        <p:nvSpPr>
          <p:cNvPr id="6" name="Shape 4"/>
          <p:cNvSpPr/>
          <p:nvPr/>
        </p:nvSpPr>
        <p:spPr>
          <a:xfrm>
            <a:off x="529057" y="1012295"/>
            <a:ext cx="5486400" cy="1554480"/>
          </a:xfrm>
          <a:prstGeom prst="roundRect">
            <a:avLst>
              <a:gd name="adj" fmla="val 5882"/>
            </a:avLst>
          </a:prstGeom>
          <a:solidFill>
            <a:srgbClr val="E8F5F3"/>
          </a:solidFill>
          <a:ln w="12700">
            <a:solidFill>
              <a:srgbClr val="BFE3DE"/>
            </a:solidFill>
            <a:prstDash val="solid"/>
          </a:ln>
        </p:spPr>
      </p:sp>
      <p:sp>
        <p:nvSpPr>
          <p:cNvPr id="8" name="Text 6"/>
          <p:cNvSpPr txBox="1"/>
          <p:nvPr/>
        </p:nvSpPr>
        <p:spPr>
          <a:xfrm>
            <a:off x="757657" y="1273666"/>
            <a:ext cx="5029200" cy="1051560"/>
          </a:xfrm>
          <a:prstGeom prst="rect">
            <a:avLst/>
          </a:prstGeom>
          <a:noFill/>
          <a:ln/>
        </p:spPr>
        <p:txBody>
          <a:bodyPr wrap="square" lIns="0" tIns="0" rIns="0" bIns="0" rtlCol="0" anchor="ctr"/>
          <a:lstStyle/>
          <a:p>
            <a:pPr marL="0" indent="0">
              <a:lnSpc>
                <a:spcPct val="125000"/>
              </a:lnSpc>
              <a:buNone/>
            </a:pPr>
            <a:r>
              <a:rPr lang="en-US" dirty="0">
                <a:latin typeface="Calibri" pitchFamily="34" charset="0"/>
                <a:ea typeface="Calibri" pitchFamily="34" charset="-122"/>
                <a:cs typeface="Calibri" pitchFamily="34" charset="-120"/>
              </a:rPr>
              <a:t>Quick Sort selects a pivot element and partitions the array so every element smaller than the pivot ends up to its left, and every larger element to its right — then recursively sorts each side.</a:t>
            </a:r>
            <a:endParaRPr lang="en-US" dirty="0"/>
          </a:p>
        </p:txBody>
      </p:sp>
      <p:sp>
        <p:nvSpPr>
          <p:cNvPr id="9" name="Text 7"/>
          <p:cNvSpPr txBox="1"/>
          <p:nvPr/>
        </p:nvSpPr>
        <p:spPr>
          <a:xfrm>
            <a:off x="609600" y="2770632"/>
            <a:ext cx="5486400" cy="320040"/>
          </a:xfrm>
          <a:prstGeom prst="rect">
            <a:avLst/>
          </a:prstGeom>
          <a:noFill/>
          <a:ln/>
        </p:spPr>
        <p:txBody>
          <a:bodyPr wrap="square" lIns="0" tIns="0" rIns="0" bIns="0" rtlCol="0" anchor="ctr"/>
          <a:lstStyle/>
          <a:p>
            <a:pPr marL="0" indent="0">
              <a:buNone/>
            </a:pPr>
            <a:r>
              <a:rPr lang="en-US" b="1" dirty="0">
                <a:solidFill>
                  <a:srgbClr val="0B3D3A"/>
                </a:solidFill>
                <a:latin typeface="Cambria" pitchFamily="34" charset="0"/>
                <a:ea typeface="Cambria" pitchFamily="34" charset="-122"/>
                <a:cs typeface="Cambria" pitchFamily="34" charset="-120"/>
              </a:rPr>
              <a:t>The key insight</a:t>
            </a:r>
            <a:endParaRPr lang="en-US" dirty="0"/>
          </a:p>
        </p:txBody>
      </p:sp>
      <p:sp>
        <p:nvSpPr>
          <p:cNvPr id="10" name="Text 8"/>
          <p:cNvSpPr txBox="1"/>
          <p:nvPr/>
        </p:nvSpPr>
        <p:spPr>
          <a:xfrm>
            <a:off x="529057" y="3216536"/>
            <a:ext cx="5486400" cy="1245736"/>
          </a:xfrm>
          <a:prstGeom prst="rect">
            <a:avLst/>
          </a:prstGeom>
          <a:solidFill>
            <a:srgbClr val="E8F5F3"/>
          </a:solidFill>
          <a:ln/>
        </p:spPr>
        <p:txBody>
          <a:bodyPr wrap="square" lIns="0" tIns="0" rIns="0" bIns="0" rtlCol="0" anchor="ctr"/>
          <a:lstStyle/>
          <a:p>
            <a:pPr marL="0" indent="0">
              <a:lnSpc>
                <a:spcPct val="130000"/>
              </a:lnSpc>
              <a:buNone/>
            </a:pPr>
            <a:r>
              <a:rPr lang="en-US" dirty="0">
                <a:latin typeface="Calibri" pitchFamily="34" charset="0"/>
                <a:ea typeface="Calibri" pitchFamily="34" charset="-122"/>
                <a:cs typeface="Calibri" pitchFamily="34" charset="-120"/>
              </a:rPr>
              <a:t>Once partitioning place the pivot correctly, that element.                         never needs to move again. There is no separate “combine” step — partitioning IS the sorting work.</a:t>
            </a:r>
            <a:endParaRPr lang="en-US" dirty="0"/>
          </a:p>
        </p:txBody>
      </p:sp>
      <p:sp>
        <p:nvSpPr>
          <p:cNvPr id="11" name="Text 9"/>
          <p:cNvSpPr txBox="1"/>
          <p:nvPr/>
        </p:nvSpPr>
        <p:spPr>
          <a:xfrm>
            <a:off x="548640" y="4617720"/>
            <a:ext cx="7315200" cy="274320"/>
          </a:xfrm>
          <a:prstGeom prst="rect">
            <a:avLst/>
          </a:prstGeom>
          <a:noFill/>
          <a:ln/>
        </p:spPr>
        <p:txBody>
          <a:bodyPr wrap="square" lIns="0" tIns="0" rIns="0" bIns="0" rtlCol="0" anchor="ctr"/>
          <a:lstStyle/>
          <a:p>
            <a:pPr marL="0" indent="0">
              <a:buNone/>
            </a:pPr>
            <a:r>
              <a:rPr lang="en-US" sz="1600" b="1" kern="0" spc="100" dirty="0">
                <a:solidFill>
                  <a:srgbClr val="C00000"/>
                </a:solidFill>
                <a:latin typeface="Calibri" pitchFamily="34" charset="0"/>
                <a:ea typeface="Calibri" pitchFamily="34" charset="-122"/>
                <a:cs typeface="Calibri" pitchFamily="34" charset="-120"/>
              </a:rPr>
              <a:t>BEFORE / AFTER ONE PARTITION STEP</a:t>
            </a:r>
            <a:endParaRPr lang="en-US" sz="1600" dirty="0">
              <a:solidFill>
                <a:srgbClr val="C00000"/>
              </a:solidFill>
            </a:endParaRPr>
          </a:p>
        </p:txBody>
      </p:sp>
      <p:sp>
        <p:nvSpPr>
          <p:cNvPr id="12" name="Shape 10"/>
          <p:cNvSpPr/>
          <p:nvPr/>
        </p:nvSpPr>
        <p:spPr>
          <a:xfrm>
            <a:off x="548640" y="4983480"/>
            <a:ext cx="457200" cy="457200"/>
          </a:xfrm>
          <a:prstGeom prst="roundRect">
            <a:avLst>
              <a:gd name="adj" fmla="val 16000"/>
            </a:avLst>
          </a:prstGeom>
          <a:solidFill>
            <a:srgbClr val="FFFFFF"/>
          </a:solidFill>
          <a:ln w="22225">
            <a:solidFill>
              <a:srgbClr val="0F6B64"/>
            </a:solidFill>
            <a:prstDash val="solid"/>
          </a:ln>
        </p:spPr>
      </p:sp>
      <p:sp>
        <p:nvSpPr>
          <p:cNvPr id="13" name="Text 11"/>
          <p:cNvSpPr txBox="1"/>
          <p:nvPr/>
        </p:nvSpPr>
        <p:spPr>
          <a:xfrm>
            <a:off x="548640" y="49834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10</a:t>
            </a:r>
            <a:endParaRPr lang="en-US" sz="1300" dirty="0"/>
          </a:p>
        </p:txBody>
      </p:sp>
      <p:sp>
        <p:nvSpPr>
          <p:cNvPr id="14" name="Shape 12"/>
          <p:cNvSpPr/>
          <p:nvPr/>
        </p:nvSpPr>
        <p:spPr>
          <a:xfrm>
            <a:off x="1078992" y="4983480"/>
            <a:ext cx="457200" cy="457200"/>
          </a:xfrm>
          <a:prstGeom prst="roundRect">
            <a:avLst>
              <a:gd name="adj" fmla="val 16000"/>
            </a:avLst>
          </a:prstGeom>
          <a:solidFill>
            <a:srgbClr val="FFFFFF"/>
          </a:solidFill>
          <a:ln w="22225">
            <a:solidFill>
              <a:srgbClr val="0F6B64"/>
            </a:solidFill>
            <a:prstDash val="solid"/>
          </a:ln>
        </p:spPr>
      </p:sp>
      <p:sp>
        <p:nvSpPr>
          <p:cNvPr id="15" name="Text 13"/>
          <p:cNvSpPr txBox="1"/>
          <p:nvPr/>
        </p:nvSpPr>
        <p:spPr>
          <a:xfrm>
            <a:off x="1078992" y="49834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80</a:t>
            </a:r>
            <a:endParaRPr lang="en-US" sz="1300" dirty="0"/>
          </a:p>
        </p:txBody>
      </p:sp>
      <p:sp>
        <p:nvSpPr>
          <p:cNvPr id="16" name="Shape 14"/>
          <p:cNvSpPr/>
          <p:nvPr/>
        </p:nvSpPr>
        <p:spPr>
          <a:xfrm>
            <a:off x="1609344" y="4983480"/>
            <a:ext cx="457200" cy="457200"/>
          </a:xfrm>
          <a:prstGeom prst="roundRect">
            <a:avLst>
              <a:gd name="adj" fmla="val 16000"/>
            </a:avLst>
          </a:prstGeom>
          <a:solidFill>
            <a:srgbClr val="FFFFFF"/>
          </a:solidFill>
          <a:ln w="22225">
            <a:solidFill>
              <a:srgbClr val="0F6B64"/>
            </a:solidFill>
            <a:prstDash val="solid"/>
          </a:ln>
        </p:spPr>
      </p:sp>
      <p:sp>
        <p:nvSpPr>
          <p:cNvPr id="17" name="Text 15"/>
          <p:cNvSpPr txBox="1"/>
          <p:nvPr/>
        </p:nvSpPr>
        <p:spPr>
          <a:xfrm>
            <a:off x="1609344" y="49834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30</a:t>
            </a:r>
            <a:endParaRPr lang="en-US" sz="1300" dirty="0"/>
          </a:p>
        </p:txBody>
      </p:sp>
      <p:sp>
        <p:nvSpPr>
          <p:cNvPr id="18" name="Shape 16"/>
          <p:cNvSpPr/>
          <p:nvPr/>
        </p:nvSpPr>
        <p:spPr>
          <a:xfrm>
            <a:off x="2139696" y="4983480"/>
            <a:ext cx="457200" cy="457200"/>
          </a:xfrm>
          <a:prstGeom prst="roundRect">
            <a:avLst>
              <a:gd name="adj" fmla="val 16000"/>
            </a:avLst>
          </a:prstGeom>
          <a:solidFill>
            <a:srgbClr val="FFFFFF"/>
          </a:solidFill>
          <a:ln w="22225">
            <a:solidFill>
              <a:srgbClr val="0F6B64"/>
            </a:solidFill>
            <a:prstDash val="solid"/>
          </a:ln>
        </p:spPr>
      </p:sp>
      <p:sp>
        <p:nvSpPr>
          <p:cNvPr id="19" name="Text 17"/>
          <p:cNvSpPr txBox="1"/>
          <p:nvPr/>
        </p:nvSpPr>
        <p:spPr>
          <a:xfrm>
            <a:off x="2139696" y="49834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90</a:t>
            </a:r>
            <a:endParaRPr lang="en-US" sz="1300" dirty="0"/>
          </a:p>
        </p:txBody>
      </p:sp>
      <p:sp>
        <p:nvSpPr>
          <p:cNvPr id="20" name="Shape 18"/>
          <p:cNvSpPr/>
          <p:nvPr/>
        </p:nvSpPr>
        <p:spPr>
          <a:xfrm>
            <a:off x="2670048" y="4983480"/>
            <a:ext cx="457200" cy="457200"/>
          </a:xfrm>
          <a:prstGeom prst="roundRect">
            <a:avLst>
              <a:gd name="adj" fmla="val 16000"/>
            </a:avLst>
          </a:prstGeom>
          <a:solidFill>
            <a:srgbClr val="FFFFFF"/>
          </a:solidFill>
          <a:ln w="22225">
            <a:solidFill>
              <a:srgbClr val="0F6B64"/>
            </a:solidFill>
            <a:prstDash val="solid"/>
          </a:ln>
        </p:spPr>
      </p:sp>
      <p:sp>
        <p:nvSpPr>
          <p:cNvPr id="21" name="Text 19"/>
          <p:cNvSpPr txBox="1"/>
          <p:nvPr/>
        </p:nvSpPr>
        <p:spPr>
          <a:xfrm>
            <a:off x="2670048" y="49834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40</a:t>
            </a:r>
            <a:endParaRPr lang="en-US" sz="1300" dirty="0"/>
          </a:p>
        </p:txBody>
      </p:sp>
      <p:sp>
        <p:nvSpPr>
          <p:cNvPr id="22" name="Shape 20"/>
          <p:cNvSpPr/>
          <p:nvPr/>
        </p:nvSpPr>
        <p:spPr>
          <a:xfrm>
            <a:off x="3200400" y="4983480"/>
            <a:ext cx="457200" cy="457200"/>
          </a:xfrm>
          <a:prstGeom prst="roundRect">
            <a:avLst>
              <a:gd name="adj" fmla="val 16000"/>
            </a:avLst>
          </a:prstGeom>
          <a:solidFill>
            <a:srgbClr val="FFFFFF"/>
          </a:solidFill>
          <a:ln w="22225">
            <a:solidFill>
              <a:srgbClr val="0F6B64"/>
            </a:solidFill>
            <a:prstDash val="solid"/>
          </a:ln>
        </p:spPr>
      </p:sp>
      <p:sp>
        <p:nvSpPr>
          <p:cNvPr id="23" name="Text 21"/>
          <p:cNvSpPr txBox="1"/>
          <p:nvPr/>
        </p:nvSpPr>
        <p:spPr>
          <a:xfrm>
            <a:off x="3200400" y="49834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50</a:t>
            </a:r>
            <a:endParaRPr lang="en-US" sz="1300" dirty="0"/>
          </a:p>
        </p:txBody>
      </p:sp>
      <p:sp>
        <p:nvSpPr>
          <p:cNvPr id="24" name="Shape 22"/>
          <p:cNvSpPr/>
          <p:nvPr/>
        </p:nvSpPr>
        <p:spPr>
          <a:xfrm>
            <a:off x="3730752" y="4983480"/>
            <a:ext cx="457200" cy="457200"/>
          </a:xfrm>
          <a:prstGeom prst="roundRect">
            <a:avLst>
              <a:gd name="adj" fmla="val 16000"/>
            </a:avLst>
          </a:prstGeom>
          <a:solidFill>
            <a:srgbClr val="D9480F"/>
          </a:solidFill>
          <a:ln w="22225">
            <a:solidFill>
              <a:srgbClr val="0F6B64"/>
            </a:solidFill>
            <a:prstDash val="solid"/>
          </a:ln>
        </p:spPr>
      </p:sp>
      <p:sp>
        <p:nvSpPr>
          <p:cNvPr id="25" name="Text 23"/>
          <p:cNvSpPr txBox="1"/>
          <p:nvPr/>
        </p:nvSpPr>
        <p:spPr>
          <a:xfrm>
            <a:off x="3730752" y="498348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70</a:t>
            </a:r>
            <a:endParaRPr lang="en-US" sz="1300" dirty="0"/>
          </a:p>
        </p:txBody>
      </p:sp>
      <p:sp>
        <p:nvSpPr>
          <p:cNvPr id="26" name="Text 24"/>
          <p:cNvSpPr txBox="1"/>
          <p:nvPr/>
        </p:nvSpPr>
        <p:spPr>
          <a:xfrm>
            <a:off x="548640" y="5477256"/>
            <a:ext cx="5486400" cy="219456"/>
          </a:xfrm>
          <a:prstGeom prst="rect">
            <a:avLst/>
          </a:prstGeom>
          <a:noFill/>
          <a:ln/>
        </p:spPr>
        <p:txBody>
          <a:bodyPr wrap="square" lIns="0" tIns="0" rIns="0" bIns="0" rtlCol="0" anchor="ctr"/>
          <a:lstStyle/>
          <a:p>
            <a:pPr marL="0" indent="0">
              <a:buNone/>
            </a:pPr>
            <a:r>
              <a:rPr lang="en-US" sz="1600" i="1" dirty="0">
                <a:solidFill>
                  <a:srgbClr val="C00000"/>
                </a:solidFill>
                <a:latin typeface="Calibri" pitchFamily="34" charset="0"/>
                <a:ea typeface="Calibri" pitchFamily="34" charset="-122"/>
                <a:cs typeface="Calibri" pitchFamily="34" charset="-120"/>
              </a:rPr>
              <a:t>unpartitioned  —  pivot = last element (70)</a:t>
            </a:r>
            <a:endParaRPr lang="en-US" sz="1600" dirty="0">
              <a:solidFill>
                <a:srgbClr val="C00000"/>
              </a:solidFill>
            </a:endParaRPr>
          </a:p>
        </p:txBody>
      </p:sp>
      <p:sp>
        <p:nvSpPr>
          <p:cNvPr id="27" name="Shape 25"/>
          <p:cNvSpPr/>
          <p:nvPr/>
        </p:nvSpPr>
        <p:spPr>
          <a:xfrm>
            <a:off x="548640" y="5742432"/>
            <a:ext cx="457200" cy="457200"/>
          </a:xfrm>
          <a:prstGeom prst="roundRect">
            <a:avLst>
              <a:gd name="adj" fmla="val 16000"/>
            </a:avLst>
          </a:prstGeom>
          <a:solidFill>
            <a:srgbClr val="FFFFFF"/>
          </a:solidFill>
          <a:ln w="22225">
            <a:solidFill>
              <a:srgbClr val="0F6B64"/>
            </a:solidFill>
            <a:prstDash val="solid"/>
          </a:ln>
        </p:spPr>
      </p:sp>
      <p:sp>
        <p:nvSpPr>
          <p:cNvPr id="28" name="Text 26"/>
          <p:cNvSpPr txBox="1"/>
          <p:nvPr/>
        </p:nvSpPr>
        <p:spPr>
          <a:xfrm>
            <a:off x="548640" y="5742432"/>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10</a:t>
            </a:r>
            <a:endParaRPr lang="en-US" sz="1300" dirty="0"/>
          </a:p>
        </p:txBody>
      </p:sp>
      <p:sp>
        <p:nvSpPr>
          <p:cNvPr id="29" name="Shape 27"/>
          <p:cNvSpPr/>
          <p:nvPr/>
        </p:nvSpPr>
        <p:spPr>
          <a:xfrm>
            <a:off x="1078992" y="5742432"/>
            <a:ext cx="457200" cy="457200"/>
          </a:xfrm>
          <a:prstGeom prst="roundRect">
            <a:avLst>
              <a:gd name="adj" fmla="val 16000"/>
            </a:avLst>
          </a:prstGeom>
          <a:solidFill>
            <a:srgbClr val="FFFFFF"/>
          </a:solidFill>
          <a:ln w="22225">
            <a:solidFill>
              <a:srgbClr val="0F6B64"/>
            </a:solidFill>
            <a:prstDash val="solid"/>
          </a:ln>
        </p:spPr>
      </p:sp>
      <p:sp>
        <p:nvSpPr>
          <p:cNvPr id="30" name="Text 28"/>
          <p:cNvSpPr txBox="1"/>
          <p:nvPr/>
        </p:nvSpPr>
        <p:spPr>
          <a:xfrm>
            <a:off x="1078992" y="5742432"/>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30</a:t>
            </a:r>
            <a:endParaRPr lang="en-US" sz="1300" dirty="0"/>
          </a:p>
        </p:txBody>
      </p:sp>
      <p:sp>
        <p:nvSpPr>
          <p:cNvPr id="31" name="Shape 29"/>
          <p:cNvSpPr/>
          <p:nvPr/>
        </p:nvSpPr>
        <p:spPr>
          <a:xfrm>
            <a:off x="1609344" y="5742432"/>
            <a:ext cx="457200" cy="457200"/>
          </a:xfrm>
          <a:prstGeom prst="roundRect">
            <a:avLst>
              <a:gd name="adj" fmla="val 16000"/>
            </a:avLst>
          </a:prstGeom>
          <a:solidFill>
            <a:srgbClr val="FFFFFF"/>
          </a:solidFill>
          <a:ln w="22225">
            <a:solidFill>
              <a:srgbClr val="0F6B64"/>
            </a:solidFill>
            <a:prstDash val="solid"/>
          </a:ln>
        </p:spPr>
      </p:sp>
      <p:sp>
        <p:nvSpPr>
          <p:cNvPr id="32" name="Text 30"/>
          <p:cNvSpPr txBox="1"/>
          <p:nvPr/>
        </p:nvSpPr>
        <p:spPr>
          <a:xfrm>
            <a:off x="1609344" y="5742432"/>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40</a:t>
            </a:r>
            <a:endParaRPr lang="en-US" sz="1300" dirty="0"/>
          </a:p>
        </p:txBody>
      </p:sp>
      <p:sp>
        <p:nvSpPr>
          <p:cNvPr id="33" name="Shape 31"/>
          <p:cNvSpPr/>
          <p:nvPr/>
        </p:nvSpPr>
        <p:spPr>
          <a:xfrm>
            <a:off x="2139696" y="5742432"/>
            <a:ext cx="457200" cy="457200"/>
          </a:xfrm>
          <a:prstGeom prst="roundRect">
            <a:avLst>
              <a:gd name="adj" fmla="val 16000"/>
            </a:avLst>
          </a:prstGeom>
          <a:solidFill>
            <a:srgbClr val="FFFFFF"/>
          </a:solidFill>
          <a:ln w="22225">
            <a:solidFill>
              <a:srgbClr val="0F6B64"/>
            </a:solidFill>
            <a:prstDash val="solid"/>
          </a:ln>
        </p:spPr>
      </p:sp>
      <p:sp>
        <p:nvSpPr>
          <p:cNvPr id="34" name="Text 32"/>
          <p:cNvSpPr txBox="1"/>
          <p:nvPr/>
        </p:nvSpPr>
        <p:spPr>
          <a:xfrm>
            <a:off x="2139696" y="5742432"/>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50</a:t>
            </a:r>
            <a:endParaRPr lang="en-US" sz="1300" dirty="0"/>
          </a:p>
        </p:txBody>
      </p:sp>
      <p:sp>
        <p:nvSpPr>
          <p:cNvPr id="35" name="Shape 33"/>
          <p:cNvSpPr/>
          <p:nvPr/>
        </p:nvSpPr>
        <p:spPr>
          <a:xfrm>
            <a:off x="2670048" y="5742432"/>
            <a:ext cx="457200" cy="457200"/>
          </a:xfrm>
          <a:prstGeom prst="roundRect">
            <a:avLst>
              <a:gd name="adj" fmla="val 16000"/>
            </a:avLst>
          </a:prstGeom>
          <a:solidFill>
            <a:srgbClr val="D9480F"/>
          </a:solidFill>
          <a:ln w="22225">
            <a:solidFill>
              <a:srgbClr val="0F6B64"/>
            </a:solidFill>
            <a:prstDash val="solid"/>
          </a:ln>
        </p:spPr>
      </p:sp>
      <p:sp>
        <p:nvSpPr>
          <p:cNvPr id="36" name="Text 34"/>
          <p:cNvSpPr txBox="1"/>
          <p:nvPr/>
        </p:nvSpPr>
        <p:spPr>
          <a:xfrm>
            <a:off x="2670048" y="5742432"/>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70</a:t>
            </a:r>
            <a:endParaRPr lang="en-US" sz="1300" dirty="0"/>
          </a:p>
        </p:txBody>
      </p:sp>
      <p:sp>
        <p:nvSpPr>
          <p:cNvPr id="37" name="Shape 35"/>
          <p:cNvSpPr/>
          <p:nvPr/>
        </p:nvSpPr>
        <p:spPr>
          <a:xfrm>
            <a:off x="3200400" y="5742432"/>
            <a:ext cx="457200" cy="457200"/>
          </a:xfrm>
          <a:prstGeom prst="roundRect">
            <a:avLst>
              <a:gd name="adj" fmla="val 16000"/>
            </a:avLst>
          </a:prstGeom>
          <a:solidFill>
            <a:srgbClr val="FFFFFF"/>
          </a:solidFill>
          <a:ln w="22225">
            <a:solidFill>
              <a:srgbClr val="0F6B64"/>
            </a:solidFill>
            <a:prstDash val="solid"/>
          </a:ln>
        </p:spPr>
      </p:sp>
      <p:sp>
        <p:nvSpPr>
          <p:cNvPr id="38" name="Text 36"/>
          <p:cNvSpPr txBox="1"/>
          <p:nvPr/>
        </p:nvSpPr>
        <p:spPr>
          <a:xfrm>
            <a:off x="3200400" y="5742432"/>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90</a:t>
            </a:r>
            <a:endParaRPr lang="en-US" sz="1300" dirty="0"/>
          </a:p>
        </p:txBody>
      </p:sp>
      <p:sp>
        <p:nvSpPr>
          <p:cNvPr id="39" name="Shape 37"/>
          <p:cNvSpPr/>
          <p:nvPr/>
        </p:nvSpPr>
        <p:spPr>
          <a:xfrm>
            <a:off x="3730752" y="5742432"/>
            <a:ext cx="457200" cy="457200"/>
          </a:xfrm>
          <a:prstGeom prst="roundRect">
            <a:avLst>
              <a:gd name="adj" fmla="val 16000"/>
            </a:avLst>
          </a:prstGeom>
          <a:solidFill>
            <a:srgbClr val="FFFFFF"/>
          </a:solidFill>
          <a:ln w="22225">
            <a:solidFill>
              <a:srgbClr val="0F6B64"/>
            </a:solidFill>
            <a:prstDash val="solid"/>
          </a:ln>
        </p:spPr>
      </p:sp>
      <p:sp>
        <p:nvSpPr>
          <p:cNvPr id="40" name="Text 38"/>
          <p:cNvSpPr txBox="1"/>
          <p:nvPr/>
        </p:nvSpPr>
        <p:spPr>
          <a:xfrm>
            <a:off x="3730752" y="5742432"/>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80</a:t>
            </a:r>
            <a:endParaRPr lang="en-US" sz="1300" dirty="0"/>
          </a:p>
        </p:txBody>
      </p:sp>
      <p:sp>
        <p:nvSpPr>
          <p:cNvPr id="41" name="Text 39"/>
          <p:cNvSpPr txBox="1"/>
          <p:nvPr/>
        </p:nvSpPr>
        <p:spPr>
          <a:xfrm>
            <a:off x="548640" y="6236208"/>
            <a:ext cx="1828800" cy="201168"/>
          </a:xfrm>
          <a:prstGeom prst="rect">
            <a:avLst/>
          </a:prstGeom>
          <a:noFill/>
          <a:ln/>
        </p:spPr>
        <p:txBody>
          <a:bodyPr wrap="square" lIns="0" tIns="0" rIns="0" bIns="0" rtlCol="0" anchor="ctr"/>
          <a:lstStyle/>
          <a:p>
            <a:pPr marL="0" indent="0" algn="ctr">
              <a:buNone/>
            </a:pPr>
            <a:r>
              <a:rPr lang="en-US" sz="1600" i="1" dirty="0">
                <a:solidFill>
                  <a:srgbClr val="2F6FE0"/>
                </a:solidFill>
                <a:latin typeface="Calibri" pitchFamily="34" charset="0"/>
                <a:ea typeface="Calibri" pitchFamily="34" charset="-122"/>
                <a:cs typeface="Calibri" pitchFamily="34" charset="-120"/>
              </a:rPr>
              <a:t>&lt; pivot</a:t>
            </a:r>
            <a:endParaRPr lang="en-US" sz="1600" dirty="0"/>
          </a:p>
        </p:txBody>
      </p:sp>
      <p:sp>
        <p:nvSpPr>
          <p:cNvPr id="42" name="Text 40"/>
          <p:cNvSpPr txBox="1"/>
          <p:nvPr/>
        </p:nvSpPr>
        <p:spPr>
          <a:xfrm>
            <a:off x="2606040" y="6236208"/>
            <a:ext cx="1051560" cy="201168"/>
          </a:xfrm>
          <a:prstGeom prst="rect">
            <a:avLst/>
          </a:prstGeom>
          <a:noFill/>
          <a:ln/>
        </p:spPr>
        <p:txBody>
          <a:bodyPr wrap="square" lIns="0" tIns="0" rIns="0" bIns="0" rtlCol="0" anchor="ctr"/>
          <a:lstStyle/>
          <a:p>
            <a:pPr marL="0" indent="0" algn="ctr">
              <a:buNone/>
            </a:pPr>
            <a:r>
              <a:rPr lang="en-US" sz="1600" i="1" dirty="0">
                <a:solidFill>
                  <a:srgbClr val="D9480F"/>
                </a:solidFill>
                <a:latin typeface="Calibri" pitchFamily="34" charset="0"/>
                <a:ea typeface="Calibri" pitchFamily="34" charset="-122"/>
                <a:cs typeface="Calibri" pitchFamily="34" charset="-120"/>
              </a:rPr>
              <a:t>pivot fixed</a:t>
            </a:r>
            <a:endParaRPr lang="en-US" sz="1600" dirty="0"/>
          </a:p>
        </p:txBody>
      </p:sp>
      <p:sp>
        <p:nvSpPr>
          <p:cNvPr id="43" name="Text 41"/>
          <p:cNvSpPr txBox="1"/>
          <p:nvPr/>
        </p:nvSpPr>
        <p:spPr>
          <a:xfrm>
            <a:off x="3749040" y="6236208"/>
            <a:ext cx="1280160" cy="201168"/>
          </a:xfrm>
          <a:prstGeom prst="rect">
            <a:avLst/>
          </a:prstGeom>
          <a:noFill/>
          <a:ln/>
        </p:spPr>
        <p:txBody>
          <a:bodyPr wrap="square" lIns="0" tIns="0" rIns="0" bIns="0" rtlCol="0" anchor="ctr"/>
          <a:lstStyle/>
          <a:p>
            <a:pPr marL="0" indent="0" algn="ctr">
              <a:buNone/>
            </a:pPr>
            <a:r>
              <a:rPr lang="en-US" sz="1600" i="1" dirty="0">
                <a:solidFill>
                  <a:srgbClr val="C98A1E"/>
                </a:solidFill>
                <a:latin typeface="Calibri" pitchFamily="34" charset="0"/>
                <a:ea typeface="Calibri" pitchFamily="34" charset="-122"/>
                <a:cs typeface="Calibri" pitchFamily="34" charset="-120"/>
              </a:rPr>
              <a:t>&gt; pivot</a:t>
            </a:r>
            <a:endParaRPr lang="en-US" sz="1600" dirty="0"/>
          </a:p>
        </p:txBody>
      </p:sp>
      <p:sp>
        <p:nvSpPr>
          <p:cNvPr id="44" name="Shape 42"/>
          <p:cNvSpPr/>
          <p:nvPr/>
        </p:nvSpPr>
        <p:spPr>
          <a:xfrm>
            <a:off x="6201385" y="1012295"/>
            <a:ext cx="5457215" cy="5408676"/>
          </a:xfrm>
          <a:prstGeom prst="roundRect">
            <a:avLst>
              <a:gd name="adj" fmla="val 2000"/>
            </a:avLst>
          </a:prstGeom>
          <a:solidFill>
            <a:schemeClr val="accent3">
              <a:lumMod val="20000"/>
              <a:lumOff val="80000"/>
            </a:schemeClr>
          </a:solidFill>
          <a:ln w="12700">
            <a:solidFill>
              <a:srgbClr val="0B3D3A"/>
            </a:solidFill>
            <a:prstDash val="solid"/>
          </a:ln>
        </p:spPr>
      </p:sp>
      <p:sp>
        <p:nvSpPr>
          <p:cNvPr id="45" name="Text 43"/>
          <p:cNvSpPr txBox="1"/>
          <p:nvPr/>
        </p:nvSpPr>
        <p:spPr>
          <a:xfrm>
            <a:off x="6583680" y="1376172"/>
            <a:ext cx="4754880" cy="274320"/>
          </a:xfrm>
          <a:prstGeom prst="rect">
            <a:avLst/>
          </a:prstGeom>
          <a:noFill/>
          <a:ln/>
        </p:spPr>
        <p:txBody>
          <a:bodyPr wrap="square" lIns="0" tIns="0" rIns="0" bIns="0" rtlCol="0" anchor="ctr"/>
          <a:lstStyle/>
          <a:p>
            <a:pPr marL="0" indent="0">
              <a:buNone/>
            </a:pPr>
            <a:r>
              <a:rPr lang="en-US" b="1" kern="0" spc="150" dirty="0">
                <a:latin typeface="Calibri" pitchFamily="34" charset="0"/>
                <a:ea typeface="Calibri" pitchFamily="34" charset="-122"/>
                <a:cs typeface="Calibri" pitchFamily="34" charset="-120"/>
              </a:rPr>
              <a:t>KEY CHARACTERISTICS</a:t>
            </a:r>
            <a:endParaRPr lang="en-US" dirty="0"/>
          </a:p>
        </p:txBody>
      </p:sp>
      <p:sp>
        <p:nvSpPr>
          <p:cNvPr id="46" name="Shape 44"/>
          <p:cNvSpPr/>
          <p:nvPr/>
        </p:nvSpPr>
        <p:spPr>
          <a:xfrm>
            <a:off x="6583680" y="2048256"/>
            <a:ext cx="146304" cy="146304"/>
          </a:xfrm>
          <a:prstGeom prst="ellipse">
            <a:avLst/>
          </a:prstGeom>
          <a:solidFill>
            <a:srgbClr val="14918C"/>
          </a:solidFill>
          <a:ln/>
        </p:spPr>
      </p:sp>
      <p:sp>
        <p:nvSpPr>
          <p:cNvPr id="47" name="Text 45"/>
          <p:cNvSpPr txBox="1"/>
          <p:nvPr/>
        </p:nvSpPr>
        <p:spPr>
          <a:xfrm>
            <a:off x="6858000" y="1920240"/>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In-Place:  </a:t>
            </a:r>
            <a:r>
              <a:rPr lang="en-US" dirty="0">
                <a:latin typeface="Calibri" pitchFamily="34" charset="0"/>
                <a:ea typeface="Calibri" pitchFamily="34" charset="-122"/>
                <a:cs typeface="Calibri" pitchFamily="34" charset="-120"/>
              </a:rPr>
              <a:t>Sorts within the original array — O(1) to O(log n) extra space, no merge buffer.</a:t>
            </a:r>
            <a:endParaRPr lang="en-US" dirty="0"/>
          </a:p>
        </p:txBody>
      </p:sp>
      <p:sp>
        <p:nvSpPr>
          <p:cNvPr id="48" name="Shape 46"/>
          <p:cNvSpPr/>
          <p:nvPr/>
        </p:nvSpPr>
        <p:spPr>
          <a:xfrm>
            <a:off x="6583680" y="2798064"/>
            <a:ext cx="146304" cy="146304"/>
          </a:xfrm>
          <a:prstGeom prst="ellipse">
            <a:avLst/>
          </a:prstGeom>
          <a:solidFill>
            <a:srgbClr val="14918C"/>
          </a:solidFill>
          <a:ln/>
        </p:spPr>
      </p:sp>
      <p:sp>
        <p:nvSpPr>
          <p:cNvPr id="49" name="Text 47"/>
          <p:cNvSpPr txBox="1"/>
          <p:nvPr/>
        </p:nvSpPr>
        <p:spPr>
          <a:xfrm>
            <a:off x="6858000" y="2670048"/>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Not Stable:  </a:t>
            </a:r>
            <a:r>
              <a:rPr lang="en-US" dirty="0">
                <a:latin typeface="Calibri" pitchFamily="34" charset="0"/>
                <a:ea typeface="Calibri" pitchFamily="34" charset="-122"/>
                <a:cs typeface="Calibri" pitchFamily="34" charset="-120"/>
              </a:rPr>
              <a:t>Equal elements can be reordered by the partition swaps.</a:t>
            </a:r>
            <a:endParaRPr lang="en-US" dirty="0"/>
          </a:p>
        </p:txBody>
      </p:sp>
      <p:sp>
        <p:nvSpPr>
          <p:cNvPr id="50" name="Shape 48"/>
          <p:cNvSpPr/>
          <p:nvPr/>
        </p:nvSpPr>
        <p:spPr>
          <a:xfrm>
            <a:off x="6583680" y="3547872"/>
            <a:ext cx="146304" cy="146304"/>
          </a:xfrm>
          <a:prstGeom prst="ellipse">
            <a:avLst/>
          </a:prstGeom>
          <a:solidFill>
            <a:srgbClr val="14918C"/>
          </a:solidFill>
          <a:ln/>
        </p:spPr>
      </p:sp>
      <p:sp>
        <p:nvSpPr>
          <p:cNvPr id="51" name="Text 49"/>
          <p:cNvSpPr txBox="1"/>
          <p:nvPr/>
        </p:nvSpPr>
        <p:spPr>
          <a:xfrm>
            <a:off x="6858000" y="3419856"/>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Comparison-Based:  </a:t>
            </a:r>
            <a:r>
              <a:rPr lang="en-US" dirty="0">
                <a:latin typeface="Calibri" pitchFamily="34" charset="0"/>
                <a:ea typeface="Calibri" pitchFamily="34" charset="-122"/>
                <a:cs typeface="Calibri" pitchFamily="34" charset="-120"/>
              </a:rPr>
              <a:t>Sorts purely by comparing elements to the pivot.</a:t>
            </a:r>
            <a:endParaRPr lang="en-US" dirty="0"/>
          </a:p>
        </p:txBody>
      </p:sp>
      <p:sp>
        <p:nvSpPr>
          <p:cNvPr id="52" name="Shape 50"/>
          <p:cNvSpPr/>
          <p:nvPr/>
        </p:nvSpPr>
        <p:spPr>
          <a:xfrm>
            <a:off x="6583680" y="4297680"/>
            <a:ext cx="146304" cy="146304"/>
          </a:xfrm>
          <a:prstGeom prst="ellipse">
            <a:avLst/>
          </a:prstGeom>
          <a:solidFill>
            <a:srgbClr val="14918C"/>
          </a:solidFill>
          <a:ln/>
        </p:spPr>
      </p:sp>
      <p:sp>
        <p:nvSpPr>
          <p:cNvPr id="53" name="Text 51"/>
          <p:cNvSpPr txBox="1"/>
          <p:nvPr/>
        </p:nvSpPr>
        <p:spPr>
          <a:xfrm>
            <a:off x="6858000" y="4169664"/>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Pivot-Dependent:  </a:t>
            </a:r>
            <a:r>
              <a:rPr lang="en-US" dirty="0">
                <a:latin typeface="Calibri" pitchFamily="34" charset="0"/>
                <a:ea typeface="Calibri" pitchFamily="34" charset="-122"/>
                <a:cs typeface="Calibri" pitchFamily="34" charset="-120"/>
              </a:rPr>
              <a:t>Performance hinges on how balanced each partition turns out to be.</a:t>
            </a:r>
            <a:endParaRPr lang="en-US" dirty="0"/>
          </a:p>
        </p:txBody>
      </p:sp>
      <p:sp>
        <p:nvSpPr>
          <p:cNvPr id="54" name="Shape 52"/>
          <p:cNvSpPr/>
          <p:nvPr/>
        </p:nvSpPr>
        <p:spPr>
          <a:xfrm>
            <a:off x="6583680" y="5047488"/>
            <a:ext cx="146304" cy="146304"/>
          </a:xfrm>
          <a:prstGeom prst="ellipse">
            <a:avLst/>
          </a:prstGeom>
          <a:solidFill>
            <a:srgbClr val="14918C"/>
          </a:solidFill>
          <a:ln/>
        </p:spPr>
      </p:sp>
      <p:sp>
        <p:nvSpPr>
          <p:cNvPr id="55" name="Text 53"/>
          <p:cNvSpPr txBox="1"/>
          <p:nvPr/>
        </p:nvSpPr>
        <p:spPr>
          <a:xfrm>
            <a:off x="6858000" y="4919472"/>
            <a:ext cx="4617720" cy="68580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Widely Used:  </a:t>
            </a:r>
            <a:r>
              <a:rPr lang="en-US" dirty="0">
                <a:latin typeface="Calibri" pitchFamily="34" charset="0"/>
                <a:ea typeface="Calibri" pitchFamily="34" charset="-122"/>
                <a:cs typeface="Calibri" pitchFamily="34" charset="-120"/>
              </a:rPr>
              <a:t>The default sort in many language runtimes (often as “introsort”).</a:t>
            </a:r>
            <a:endParaRPr lang="en-US" dirty="0"/>
          </a:p>
        </p:txBody>
      </p:sp>
      <p:sp>
        <p:nvSpPr>
          <p:cNvPr id="56" name="Text 54"/>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57" name="Text 55"/>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THE LOGIC</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Partitioning — The Lomuto Scheme</a:t>
            </a:r>
            <a:endParaRPr lang="en-US" sz="3000" dirty="0"/>
          </a:p>
        </p:txBody>
      </p:sp>
      <p:sp>
        <p:nvSpPr>
          <p:cNvPr id="6" name="Shape 4"/>
          <p:cNvSpPr/>
          <p:nvPr/>
        </p:nvSpPr>
        <p:spPr>
          <a:xfrm>
            <a:off x="548640" y="1463040"/>
            <a:ext cx="365760" cy="365760"/>
          </a:xfrm>
          <a:prstGeom prst="ellipse">
            <a:avLst/>
          </a:prstGeom>
          <a:solidFill>
            <a:srgbClr val="0F6B64"/>
          </a:solidFill>
          <a:ln/>
        </p:spPr>
      </p:sp>
      <p:sp>
        <p:nvSpPr>
          <p:cNvPr id="7" name="Text 5"/>
          <p:cNvSpPr txBox="1"/>
          <p:nvPr/>
        </p:nvSpPr>
        <p:spPr>
          <a:xfrm>
            <a:off x="548640" y="14630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51560" y="1417320"/>
            <a:ext cx="10515600" cy="502920"/>
          </a:xfrm>
          <a:prstGeom prst="rect">
            <a:avLst/>
          </a:prstGeom>
          <a:noFill/>
          <a:ln/>
        </p:spPr>
        <p:txBody>
          <a:bodyPr wrap="square" lIns="0" tIns="0" rIns="0" bIns="0" rtlCol="0" anchor="ctr"/>
          <a:lstStyle/>
          <a:p>
            <a:pPr marL="0" indent="0">
              <a:buNone/>
            </a:pPr>
            <a:r>
              <a:rPr lang="en-US" dirty="0">
                <a:latin typeface="Calibri" pitchFamily="34" charset="0"/>
                <a:ea typeface="Calibri" pitchFamily="34" charset="-122"/>
                <a:cs typeface="Calibri" pitchFamily="34" charset="-120"/>
              </a:rPr>
              <a:t>Choose a pivot — here, the last element of the subarray, A[high].</a:t>
            </a:r>
            <a:endParaRPr lang="en-US" dirty="0"/>
          </a:p>
        </p:txBody>
      </p:sp>
      <p:sp>
        <p:nvSpPr>
          <p:cNvPr id="9" name="Shape 7"/>
          <p:cNvSpPr/>
          <p:nvPr/>
        </p:nvSpPr>
        <p:spPr>
          <a:xfrm>
            <a:off x="548640" y="2084832"/>
            <a:ext cx="365760" cy="365760"/>
          </a:xfrm>
          <a:prstGeom prst="ellipse">
            <a:avLst/>
          </a:prstGeom>
          <a:solidFill>
            <a:srgbClr val="0F6B64"/>
          </a:solidFill>
          <a:ln/>
        </p:spPr>
      </p:sp>
      <p:sp>
        <p:nvSpPr>
          <p:cNvPr id="10" name="Text 8"/>
          <p:cNvSpPr txBox="1"/>
          <p:nvPr/>
        </p:nvSpPr>
        <p:spPr>
          <a:xfrm>
            <a:off x="548640" y="20848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051560" y="2039112"/>
            <a:ext cx="10515600" cy="50292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Initialize i = low − 1  (boundary of the “less-than-pivot” region).</a:t>
            </a:r>
            <a:endParaRPr lang="en-US" dirty="0"/>
          </a:p>
        </p:txBody>
      </p:sp>
      <p:sp>
        <p:nvSpPr>
          <p:cNvPr id="12" name="Shape 10"/>
          <p:cNvSpPr/>
          <p:nvPr/>
        </p:nvSpPr>
        <p:spPr>
          <a:xfrm>
            <a:off x="548640" y="2706624"/>
            <a:ext cx="365760" cy="365760"/>
          </a:xfrm>
          <a:prstGeom prst="ellipse">
            <a:avLst/>
          </a:prstGeom>
          <a:solidFill>
            <a:srgbClr val="0F6B64"/>
          </a:solidFill>
          <a:ln/>
        </p:spPr>
      </p:sp>
      <p:sp>
        <p:nvSpPr>
          <p:cNvPr id="13" name="Text 11"/>
          <p:cNvSpPr txBox="1"/>
          <p:nvPr/>
        </p:nvSpPr>
        <p:spPr>
          <a:xfrm>
            <a:off x="548640" y="270662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51560" y="2660904"/>
            <a:ext cx="10515600" cy="50292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Scan j from low to high−1: if A[j] ≤ pivot, increment i and swap A[i] with A[j].</a:t>
            </a:r>
            <a:endParaRPr lang="en-US" dirty="0"/>
          </a:p>
        </p:txBody>
      </p:sp>
      <p:sp>
        <p:nvSpPr>
          <p:cNvPr id="15" name="Shape 13"/>
          <p:cNvSpPr/>
          <p:nvPr/>
        </p:nvSpPr>
        <p:spPr>
          <a:xfrm>
            <a:off x="548640" y="3328416"/>
            <a:ext cx="365760" cy="365760"/>
          </a:xfrm>
          <a:prstGeom prst="ellipse">
            <a:avLst/>
          </a:prstGeom>
          <a:solidFill>
            <a:srgbClr val="0F6B64"/>
          </a:solidFill>
          <a:ln/>
        </p:spPr>
      </p:sp>
      <p:sp>
        <p:nvSpPr>
          <p:cNvPr id="16" name="Text 14"/>
          <p:cNvSpPr txBox="1"/>
          <p:nvPr/>
        </p:nvSpPr>
        <p:spPr>
          <a:xfrm>
            <a:off x="548640" y="33284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051560" y="3282696"/>
            <a:ext cx="10515600" cy="50292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After the scan, swap A[i+1] with A[high]  —  this places the pivot in its final position.</a:t>
            </a:r>
            <a:endParaRPr lang="en-US" dirty="0"/>
          </a:p>
        </p:txBody>
      </p:sp>
      <p:sp>
        <p:nvSpPr>
          <p:cNvPr id="18" name="Shape 16"/>
          <p:cNvSpPr/>
          <p:nvPr/>
        </p:nvSpPr>
        <p:spPr>
          <a:xfrm>
            <a:off x="548640" y="3950208"/>
            <a:ext cx="365760" cy="365760"/>
          </a:xfrm>
          <a:prstGeom prst="ellipse">
            <a:avLst/>
          </a:prstGeom>
          <a:solidFill>
            <a:srgbClr val="0F6B64"/>
          </a:solidFill>
          <a:ln/>
        </p:spPr>
      </p:sp>
      <p:sp>
        <p:nvSpPr>
          <p:cNvPr id="19" name="Text 17"/>
          <p:cNvSpPr txBox="1"/>
          <p:nvPr/>
        </p:nvSpPr>
        <p:spPr>
          <a:xfrm>
            <a:off x="548640" y="39502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051560" y="3904488"/>
            <a:ext cx="10515600" cy="502920"/>
          </a:xfrm>
          <a:prstGeom prst="rect">
            <a:avLst/>
          </a:prstGeom>
          <a:noFill/>
          <a:ln/>
        </p:spPr>
        <p:txBody>
          <a:bodyPr wrap="square" lIns="0" tIns="0" rIns="0" bIns="0" rtlCol="0" anchor="ctr"/>
          <a:lstStyle/>
          <a:p>
            <a:pPr marL="0" indent="0">
              <a:buNone/>
            </a:pPr>
            <a:r>
              <a:rPr lang="en-US" dirty="0">
                <a:latin typeface="Calibri" pitchFamily="34" charset="0"/>
                <a:ea typeface="Calibri" pitchFamily="34" charset="-122"/>
                <a:cs typeface="Calibri" pitchFamily="34" charset="-120"/>
              </a:rPr>
              <a:t>Return i+1  —  the pivot's final, correct index.</a:t>
            </a:r>
            <a:endParaRPr lang="en-US" dirty="0"/>
          </a:p>
        </p:txBody>
      </p:sp>
      <p:sp>
        <p:nvSpPr>
          <p:cNvPr id="21" name="Shape 19"/>
          <p:cNvSpPr/>
          <p:nvPr/>
        </p:nvSpPr>
        <p:spPr>
          <a:xfrm>
            <a:off x="548640" y="4572000"/>
            <a:ext cx="365760" cy="365760"/>
          </a:xfrm>
          <a:prstGeom prst="ellipse">
            <a:avLst/>
          </a:prstGeom>
          <a:solidFill>
            <a:srgbClr val="0F6B64"/>
          </a:solidFill>
          <a:ln/>
        </p:spPr>
      </p:sp>
      <p:sp>
        <p:nvSpPr>
          <p:cNvPr id="22" name="Text 20"/>
          <p:cNvSpPr txBox="1"/>
          <p:nvPr/>
        </p:nvSpPr>
        <p:spPr>
          <a:xfrm>
            <a:off x="548640" y="45720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051560" y="4526280"/>
            <a:ext cx="10515600" cy="502920"/>
          </a:xfrm>
          <a:prstGeom prst="rect">
            <a:avLst/>
          </a:prstGeom>
          <a:noFill/>
          <a:ln/>
        </p:spPr>
        <p:txBody>
          <a:bodyPr wrap="square" lIns="0" tIns="0" rIns="0" bIns="0" rtlCol="0" anchor="ctr"/>
          <a:lstStyle/>
          <a:p>
            <a:pPr marL="0" indent="0">
              <a:buNone/>
            </a:pPr>
            <a:r>
              <a:rPr lang="en-US" dirty="0">
                <a:solidFill>
                  <a:srgbClr val="1B2233"/>
                </a:solidFill>
                <a:latin typeface="Calibri" pitchFamily="34" charset="0"/>
                <a:ea typeface="Calibri" pitchFamily="34" charset="-122"/>
                <a:cs typeface="Calibri" pitchFamily="34" charset="-120"/>
              </a:rPr>
              <a:t>Recursively apply Quick Sort to the subarrays on each side of that index.</a:t>
            </a:r>
            <a:endParaRPr lang="en-US" dirty="0"/>
          </a:p>
        </p:txBody>
      </p:sp>
      <p:sp>
        <p:nvSpPr>
          <p:cNvPr id="24" name="Shape 22"/>
          <p:cNvSpPr/>
          <p:nvPr/>
        </p:nvSpPr>
        <p:spPr>
          <a:xfrm>
            <a:off x="548640" y="5239512"/>
            <a:ext cx="11064240" cy="996696"/>
          </a:xfrm>
          <a:prstGeom prst="roundRect">
            <a:avLst>
              <a:gd name="adj" fmla="val 11765"/>
            </a:avLst>
          </a:prstGeom>
          <a:solidFill>
            <a:srgbClr val="CAE5DC"/>
          </a:solidFill>
          <a:ln w="12700">
            <a:solidFill>
              <a:srgbClr val="0B3D3A"/>
            </a:solidFill>
            <a:prstDash val="solid"/>
          </a:ln>
        </p:spPr>
      </p:sp>
      <p:sp>
        <p:nvSpPr>
          <p:cNvPr id="25" name="Text 23"/>
          <p:cNvSpPr txBox="1"/>
          <p:nvPr/>
        </p:nvSpPr>
        <p:spPr>
          <a:xfrm>
            <a:off x="777240" y="5330952"/>
            <a:ext cx="10607040" cy="777240"/>
          </a:xfrm>
          <a:prstGeom prst="rect">
            <a:avLst/>
          </a:prstGeom>
          <a:noFill/>
          <a:ln/>
        </p:spPr>
        <p:txBody>
          <a:bodyPr wrap="square" lIns="0" tIns="0" rIns="0" bIns="0" rtlCol="0" anchor="ctr"/>
          <a:lstStyle/>
          <a:p>
            <a:pPr marL="0" indent="0">
              <a:lnSpc>
                <a:spcPct val="130000"/>
              </a:lnSpc>
              <a:buNone/>
            </a:pPr>
            <a:r>
              <a:rPr lang="en-US" b="1" dirty="0">
                <a:latin typeface="Calibri" pitchFamily="34" charset="0"/>
                <a:ea typeface="Calibri" pitchFamily="34" charset="-122"/>
                <a:cs typeface="Calibri" pitchFamily="34" charset="-120"/>
              </a:rPr>
              <a:t>The invariant:  </a:t>
            </a:r>
            <a:r>
              <a:rPr lang="en-US" dirty="0">
                <a:latin typeface="Calibri" pitchFamily="34" charset="0"/>
                <a:ea typeface="Calibri" pitchFamily="34" charset="-122"/>
                <a:cs typeface="Calibri" pitchFamily="34" charset="-120"/>
              </a:rPr>
              <a:t>at every point during the scan, A[low..i] ≤ pivot &lt; A[i+1..j−1], and A[j..high−1] is not yet examined. This invariant is what guarantees a correct partition in a single linear pass.</a:t>
            </a:r>
            <a:endParaRPr lang="en-US" dirty="0"/>
          </a:p>
        </p:txBody>
      </p:sp>
      <p:sp>
        <p:nvSpPr>
          <p:cNvPr id="26" name="Text 24"/>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27" name="Text 25"/>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WORKED EXAMPLE</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Full Trace: [10, 80, 30, 90, 40, 50, 70]</a:t>
            </a:r>
            <a:endParaRPr lang="en-US" sz="3000" dirty="0"/>
          </a:p>
        </p:txBody>
      </p:sp>
      <p:sp>
        <p:nvSpPr>
          <p:cNvPr id="6" name="Shape 4"/>
          <p:cNvSpPr/>
          <p:nvPr/>
        </p:nvSpPr>
        <p:spPr>
          <a:xfrm>
            <a:off x="548640" y="1325880"/>
            <a:ext cx="457200" cy="457200"/>
          </a:xfrm>
          <a:prstGeom prst="roundRect">
            <a:avLst>
              <a:gd name="adj" fmla="val 16000"/>
            </a:avLst>
          </a:prstGeom>
          <a:solidFill>
            <a:srgbClr val="FFFFFF"/>
          </a:solidFill>
          <a:ln w="22225">
            <a:solidFill>
              <a:srgbClr val="0F6B64"/>
            </a:solidFill>
            <a:prstDash val="solid"/>
          </a:ln>
        </p:spPr>
      </p:sp>
      <p:sp>
        <p:nvSpPr>
          <p:cNvPr id="7" name="Text 5"/>
          <p:cNvSpPr txBox="1"/>
          <p:nvPr/>
        </p:nvSpPr>
        <p:spPr>
          <a:xfrm>
            <a:off x="548640" y="13258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10</a:t>
            </a:r>
            <a:endParaRPr lang="en-US" sz="1300" dirty="0"/>
          </a:p>
        </p:txBody>
      </p:sp>
      <p:sp>
        <p:nvSpPr>
          <p:cNvPr id="8" name="Text 6"/>
          <p:cNvSpPr txBox="1"/>
          <p:nvPr/>
        </p:nvSpPr>
        <p:spPr>
          <a:xfrm>
            <a:off x="548640" y="180136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0</a:t>
            </a:r>
            <a:endParaRPr lang="en-US" sz="850" dirty="0"/>
          </a:p>
        </p:txBody>
      </p:sp>
      <p:sp>
        <p:nvSpPr>
          <p:cNvPr id="9" name="Shape 7"/>
          <p:cNvSpPr/>
          <p:nvPr/>
        </p:nvSpPr>
        <p:spPr>
          <a:xfrm>
            <a:off x="1088136" y="1325880"/>
            <a:ext cx="457200" cy="457200"/>
          </a:xfrm>
          <a:prstGeom prst="roundRect">
            <a:avLst>
              <a:gd name="adj" fmla="val 16000"/>
            </a:avLst>
          </a:prstGeom>
          <a:solidFill>
            <a:srgbClr val="FFFFFF"/>
          </a:solidFill>
          <a:ln w="22225">
            <a:solidFill>
              <a:srgbClr val="0F6B64"/>
            </a:solidFill>
            <a:prstDash val="solid"/>
          </a:ln>
        </p:spPr>
      </p:sp>
      <p:sp>
        <p:nvSpPr>
          <p:cNvPr id="10" name="Text 8"/>
          <p:cNvSpPr txBox="1"/>
          <p:nvPr/>
        </p:nvSpPr>
        <p:spPr>
          <a:xfrm>
            <a:off x="1088136" y="13258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80</a:t>
            </a:r>
            <a:endParaRPr lang="en-US" sz="1300" dirty="0"/>
          </a:p>
        </p:txBody>
      </p:sp>
      <p:sp>
        <p:nvSpPr>
          <p:cNvPr id="11" name="Text 9"/>
          <p:cNvSpPr txBox="1"/>
          <p:nvPr/>
        </p:nvSpPr>
        <p:spPr>
          <a:xfrm>
            <a:off x="1088136" y="180136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1</a:t>
            </a:r>
            <a:endParaRPr lang="en-US" sz="850" dirty="0"/>
          </a:p>
        </p:txBody>
      </p:sp>
      <p:sp>
        <p:nvSpPr>
          <p:cNvPr id="12" name="Shape 10"/>
          <p:cNvSpPr/>
          <p:nvPr/>
        </p:nvSpPr>
        <p:spPr>
          <a:xfrm>
            <a:off x="1627632" y="1325880"/>
            <a:ext cx="457200" cy="457200"/>
          </a:xfrm>
          <a:prstGeom prst="roundRect">
            <a:avLst>
              <a:gd name="adj" fmla="val 16000"/>
            </a:avLst>
          </a:prstGeom>
          <a:solidFill>
            <a:srgbClr val="FFFFFF"/>
          </a:solidFill>
          <a:ln w="22225">
            <a:solidFill>
              <a:srgbClr val="0F6B64"/>
            </a:solidFill>
            <a:prstDash val="solid"/>
          </a:ln>
        </p:spPr>
      </p:sp>
      <p:sp>
        <p:nvSpPr>
          <p:cNvPr id="13" name="Text 11"/>
          <p:cNvSpPr txBox="1"/>
          <p:nvPr/>
        </p:nvSpPr>
        <p:spPr>
          <a:xfrm>
            <a:off x="1627632" y="13258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30</a:t>
            </a:r>
            <a:endParaRPr lang="en-US" sz="1300" dirty="0"/>
          </a:p>
        </p:txBody>
      </p:sp>
      <p:sp>
        <p:nvSpPr>
          <p:cNvPr id="14" name="Text 12"/>
          <p:cNvSpPr txBox="1"/>
          <p:nvPr/>
        </p:nvSpPr>
        <p:spPr>
          <a:xfrm>
            <a:off x="1627632" y="180136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2</a:t>
            </a:r>
            <a:endParaRPr lang="en-US" sz="850" dirty="0"/>
          </a:p>
        </p:txBody>
      </p:sp>
      <p:sp>
        <p:nvSpPr>
          <p:cNvPr id="15" name="Shape 13"/>
          <p:cNvSpPr/>
          <p:nvPr/>
        </p:nvSpPr>
        <p:spPr>
          <a:xfrm>
            <a:off x="2167128" y="1325880"/>
            <a:ext cx="457200" cy="457200"/>
          </a:xfrm>
          <a:prstGeom prst="roundRect">
            <a:avLst>
              <a:gd name="adj" fmla="val 16000"/>
            </a:avLst>
          </a:prstGeom>
          <a:solidFill>
            <a:srgbClr val="FFFFFF"/>
          </a:solidFill>
          <a:ln w="22225">
            <a:solidFill>
              <a:srgbClr val="0F6B64"/>
            </a:solidFill>
            <a:prstDash val="solid"/>
          </a:ln>
        </p:spPr>
      </p:sp>
      <p:sp>
        <p:nvSpPr>
          <p:cNvPr id="16" name="Text 14"/>
          <p:cNvSpPr txBox="1"/>
          <p:nvPr/>
        </p:nvSpPr>
        <p:spPr>
          <a:xfrm>
            <a:off x="2167128" y="13258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90</a:t>
            </a:r>
            <a:endParaRPr lang="en-US" sz="1300" dirty="0"/>
          </a:p>
        </p:txBody>
      </p:sp>
      <p:sp>
        <p:nvSpPr>
          <p:cNvPr id="17" name="Text 15"/>
          <p:cNvSpPr txBox="1"/>
          <p:nvPr/>
        </p:nvSpPr>
        <p:spPr>
          <a:xfrm>
            <a:off x="2167128" y="180136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3</a:t>
            </a:r>
            <a:endParaRPr lang="en-US" sz="850" dirty="0"/>
          </a:p>
        </p:txBody>
      </p:sp>
      <p:sp>
        <p:nvSpPr>
          <p:cNvPr id="18" name="Shape 16"/>
          <p:cNvSpPr/>
          <p:nvPr/>
        </p:nvSpPr>
        <p:spPr>
          <a:xfrm>
            <a:off x="2706624" y="1325880"/>
            <a:ext cx="457200" cy="457200"/>
          </a:xfrm>
          <a:prstGeom prst="roundRect">
            <a:avLst>
              <a:gd name="adj" fmla="val 16000"/>
            </a:avLst>
          </a:prstGeom>
          <a:solidFill>
            <a:srgbClr val="FFFFFF"/>
          </a:solidFill>
          <a:ln w="22225">
            <a:solidFill>
              <a:srgbClr val="0F6B64"/>
            </a:solidFill>
            <a:prstDash val="solid"/>
          </a:ln>
        </p:spPr>
      </p:sp>
      <p:sp>
        <p:nvSpPr>
          <p:cNvPr id="19" name="Text 17"/>
          <p:cNvSpPr txBox="1"/>
          <p:nvPr/>
        </p:nvSpPr>
        <p:spPr>
          <a:xfrm>
            <a:off x="2706624" y="13258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40</a:t>
            </a:r>
            <a:endParaRPr lang="en-US" sz="1300" dirty="0"/>
          </a:p>
        </p:txBody>
      </p:sp>
      <p:sp>
        <p:nvSpPr>
          <p:cNvPr id="20" name="Text 18"/>
          <p:cNvSpPr txBox="1"/>
          <p:nvPr/>
        </p:nvSpPr>
        <p:spPr>
          <a:xfrm>
            <a:off x="2706624" y="180136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4</a:t>
            </a:r>
            <a:endParaRPr lang="en-US" sz="850" dirty="0"/>
          </a:p>
        </p:txBody>
      </p:sp>
      <p:sp>
        <p:nvSpPr>
          <p:cNvPr id="21" name="Shape 19"/>
          <p:cNvSpPr/>
          <p:nvPr/>
        </p:nvSpPr>
        <p:spPr>
          <a:xfrm>
            <a:off x="3246120" y="1325880"/>
            <a:ext cx="457200" cy="457200"/>
          </a:xfrm>
          <a:prstGeom prst="roundRect">
            <a:avLst>
              <a:gd name="adj" fmla="val 16000"/>
            </a:avLst>
          </a:prstGeom>
          <a:solidFill>
            <a:srgbClr val="FFFFFF"/>
          </a:solidFill>
          <a:ln w="22225">
            <a:solidFill>
              <a:srgbClr val="0F6B64"/>
            </a:solidFill>
            <a:prstDash val="solid"/>
          </a:ln>
        </p:spPr>
      </p:sp>
      <p:sp>
        <p:nvSpPr>
          <p:cNvPr id="22" name="Text 20"/>
          <p:cNvSpPr txBox="1"/>
          <p:nvPr/>
        </p:nvSpPr>
        <p:spPr>
          <a:xfrm>
            <a:off x="3246120" y="13258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50</a:t>
            </a:r>
            <a:endParaRPr lang="en-US" sz="1300" dirty="0"/>
          </a:p>
        </p:txBody>
      </p:sp>
      <p:sp>
        <p:nvSpPr>
          <p:cNvPr id="23" name="Text 21"/>
          <p:cNvSpPr txBox="1"/>
          <p:nvPr/>
        </p:nvSpPr>
        <p:spPr>
          <a:xfrm>
            <a:off x="3246120" y="180136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5</a:t>
            </a:r>
            <a:endParaRPr lang="en-US" sz="850" dirty="0"/>
          </a:p>
        </p:txBody>
      </p:sp>
      <p:sp>
        <p:nvSpPr>
          <p:cNvPr id="24" name="Shape 22"/>
          <p:cNvSpPr/>
          <p:nvPr/>
        </p:nvSpPr>
        <p:spPr>
          <a:xfrm>
            <a:off x="3785616" y="1325880"/>
            <a:ext cx="457200" cy="457200"/>
          </a:xfrm>
          <a:prstGeom prst="roundRect">
            <a:avLst>
              <a:gd name="adj" fmla="val 16000"/>
            </a:avLst>
          </a:prstGeom>
          <a:solidFill>
            <a:srgbClr val="FFFFFF"/>
          </a:solidFill>
          <a:ln w="22225">
            <a:solidFill>
              <a:srgbClr val="0F6B64"/>
            </a:solidFill>
            <a:prstDash val="solid"/>
          </a:ln>
        </p:spPr>
      </p:sp>
      <p:sp>
        <p:nvSpPr>
          <p:cNvPr id="25" name="Text 23"/>
          <p:cNvSpPr txBox="1"/>
          <p:nvPr/>
        </p:nvSpPr>
        <p:spPr>
          <a:xfrm>
            <a:off x="3785616" y="1325880"/>
            <a:ext cx="457200" cy="457200"/>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70</a:t>
            </a:r>
            <a:endParaRPr lang="en-US" sz="1300" dirty="0"/>
          </a:p>
        </p:txBody>
      </p:sp>
      <p:sp>
        <p:nvSpPr>
          <p:cNvPr id="26" name="Text 24"/>
          <p:cNvSpPr txBox="1"/>
          <p:nvPr/>
        </p:nvSpPr>
        <p:spPr>
          <a:xfrm>
            <a:off x="3785616" y="1801368"/>
            <a:ext cx="457200" cy="182880"/>
          </a:xfrm>
          <a:prstGeom prst="rect">
            <a:avLst/>
          </a:prstGeom>
          <a:noFill/>
          <a:ln/>
        </p:spPr>
        <p:txBody>
          <a:bodyPr wrap="square" lIns="0" tIns="0" rIns="0" bIns="0" rtlCol="0" anchor="ctr"/>
          <a:lstStyle/>
          <a:p>
            <a:pPr marL="0" indent="0" algn="ctr">
              <a:buNone/>
            </a:pPr>
            <a:r>
              <a:rPr lang="en-US" sz="850" dirty="0">
                <a:solidFill>
                  <a:srgbClr val="5B6584"/>
                </a:solidFill>
                <a:latin typeface="Calibri" pitchFamily="34" charset="0"/>
                <a:ea typeface="Calibri" pitchFamily="34" charset="-122"/>
                <a:cs typeface="Calibri" pitchFamily="34" charset="-120"/>
              </a:rPr>
              <a:t>6</a:t>
            </a:r>
            <a:endParaRPr lang="en-US" sz="850" dirty="0"/>
          </a:p>
        </p:txBody>
      </p:sp>
      <p:sp>
        <p:nvSpPr>
          <p:cNvPr id="27" name="Text 25"/>
          <p:cNvSpPr txBox="1"/>
          <p:nvPr/>
        </p:nvSpPr>
        <p:spPr>
          <a:xfrm>
            <a:off x="548640" y="1965960"/>
            <a:ext cx="10972800" cy="256032"/>
          </a:xfrm>
          <a:prstGeom prst="rect">
            <a:avLst/>
          </a:prstGeom>
          <a:noFill/>
          <a:ln/>
        </p:spPr>
        <p:txBody>
          <a:bodyPr wrap="square" lIns="0" tIns="0" rIns="0" bIns="0" rtlCol="0" anchor="ctr"/>
          <a:lstStyle/>
          <a:p>
            <a:pPr marL="0" indent="0">
              <a:buNone/>
            </a:pPr>
            <a:r>
              <a:rPr lang="en-US" sz="1600" b="1" i="1" dirty="0">
                <a:latin typeface="Calibri" pitchFamily="34" charset="0"/>
                <a:ea typeface="Calibri" pitchFamily="34" charset="-122"/>
                <a:cs typeface="Calibri" pitchFamily="34" charset="-120"/>
              </a:rPr>
              <a:t>n = 7   —   pivot each time = last element of the current subarray (Lomuto scheme)</a:t>
            </a:r>
            <a:endParaRPr lang="en-US" sz="1600" b="1" dirty="0"/>
          </a:p>
        </p:txBody>
      </p:sp>
      <p:sp>
        <p:nvSpPr>
          <p:cNvPr id="28" name="Text 26"/>
          <p:cNvSpPr txBox="1"/>
          <p:nvPr/>
        </p:nvSpPr>
        <p:spPr>
          <a:xfrm>
            <a:off x="548640" y="2286000"/>
            <a:ext cx="7315200" cy="256032"/>
          </a:xfrm>
          <a:prstGeom prst="rect">
            <a:avLst/>
          </a:prstGeom>
          <a:noFill/>
          <a:ln/>
        </p:spPr>
        <p:txBody>
          <a:bodyPr wrap="square" lIns="0" tIns="0" rIns="0" bIns="0" rtlCol="0" anchor="ctr"/>
          <a:lstStyle/>
          <a:p>
            <a:pPr marL="0" indent="0">
              <a:buNone/>
            </a:pPr>
            <a:r>
              <a:rPr lang="en-US" sz="1600" b="1" kern="0" spc="100" dirty="0">
                <a:solidFill>
                  <a:srgbClr val="14918C"/>
                </a:solidFill>
                <a:latin typeface="Calibri" pitchFamily="34" charset="0"/>
                <a:ea typeface="Calibri" pitchFamily="34" charset="-122"/>
                <a:cs typeface="Calibri" pitchFamily="34" charset="-120"/>
              </a:rPr>
              <a:t>CALL TREE  —  every box is one partition() call</a:t>
            </a:r>
            <a:endParaRPr lang="en-US" sz="1600" dirty="0"/>
          </a:p>
        </p:txBody>
      </p:sp>
      <p:sp>
        <p:nvSpPr>
          <p:cNvPr id="29" name="Shape 27"/>
          <p:cNvSpPr/>
          <p:nvPr/>
        </p:nvSpPr>
        <p:spPr>
          <a:xfrm>
            <a:off x="4480560" y="2633472"/>
            <a:ext cx="3200400" cy="502920"/>
          </a:xfrm>
          <a:prstGeom prst="roundRect">
            <a:avLst>
              <a:gd name="adj" fmla="val 18182"/>
            </a:avLst>
          </a:prstGeom>
          <a:solidFill>
            <a:schemeClr val="accent3">
              <a:lumMod val="20000"/>
              <a:lumOff val="80000"/>
            </a:schemeClr>
          </a:solidFill>
          <a:ln w="12700">
            <a:solidFill>
              <a:srgbClr val="BFE3DE"/>
            </a:solidFill>
            <a:prstDash val="solid"/>
          </a:ln>
        </p:spPr>
      </p:sp>
      <p:sp>
        <p:nvSpPr>
          <p:cNvPr id="30" name="Text 28"/>
          <p:cNvSpPr txBox="1"/>
          <p:nvPr/>
        </p:nvSpPr>
        <p:spPr>
          <a:xfrm>
            <a:off x="4572000" y="2670048"/>
            <a:ext cx="3017520" cy="237744"/>
          </a:xfrm>
          <a:prstGeom prst="rect">
            <a:avLst/>
          </a:prstGeom>
          <a:noFill/>
          <a:ln/>
        </p:spPr>
        <p:txBody>
          <a:bodyPr wrap="square" lIns="0" tIns="0" rIns="0" bIns="0" rtlCol="0" anchor="ctr"/>
          <a:lstStyle/>
          <a:p>
            <a:pPr marL="0" indent="0">
              <a:buNone/>
            </a:pPr>
            <a:r>
              <a:rPr lang="en-US" sz="1600" b="1" dirty="0">
                <a:solidFill>
                  <a:srgbClr val="0B3D3A"/>
                </a:solidFill>
                <a:latin typeface="Courier New" pitchFamily="34" charset="0"/>
                <a:ea typeface="Courier New" pitchFamily="34" charset="-122"/>
                <a:cs typeface="Courier New" pitchFamily="34" charset="-120"/>
              </a:rPr>
              <a:t>[10,80,30,90,40,50,70]</a:t>
            </a:r>
            <a:endParaRPr lang="en-US" sz="1600" dirty="0"/>
          </a:p>
        </p:txBody>
      </p:sp>
      <p:sp>
        <p:nvSpPr>
          <p:cNvPr id="31" name="Text 29"/>
          <p:cNvSpPr txBox="1"/>
          <p:nvPr/>
        </p:nvSpPr>
        <p:spPr>
          <a:xfrm>
            <a:off x="4572000" y="2898648"/>
            <a:ext cx="3017520" cy="201168"/>
          </a:xfrm>
          <a:prstGeom prst="rect">
            <a:avLst/>
          </a:prstGeom>
          <a:noFill/>
          <a:ln/>
        </p:spPr>
        <p:txBody>
          <a:bodyPr wrap="square" lIns="0" tIns="0" rIns="0" bIns="0" rtlCol="0" anchor="ctr"/>
          <a:lstStyle/>
          <a:p>
            <a:pPr marL="0" indent="0">
              <a:buNone/>
            </a:pPr>
            <a:r>
              <a:rPr lang="en-US" sz="1600" b="1" dirty="0">
                <a:solidFill>
                  <a:srgbClr val="D9480F"/>
                </a:solidFill>
                <a:latin typeface="Courier New" pitchFamily="34" charset="0"/>
                <a:ea typeface="Courier New" pitchFamily="34" charset="-122"/>
                <a:cs typeface="Courier New" pitchFamily="34" charset="-120"/>
              </a:rPr>
              <a:t>pivot=70</a:t>
            </a:r>
            <a:endParaRPr lang="en-US" sz="1600" b="1" dirty="0"/>
          </a:p>
        </p:txBody>
      </p:sp>
      <p:sp>
        <p:nvSpPr>
          <p:cNvPr id="32" name="Shape 30"/>
          <p:cNvSpPr/>
          <p:nvPr/>
        </p:nvSpPr>
        <p:spPr>
          <a:xfrm>
            <a:off x="6080760" y="3136392"/>
            <a:ext cx="0" cy="114300"/>
          </a:xfrm>
          <a:prstGeom prst="line">
            <a:avLst/>
          </a:prstGeom>
          <a:noFill/>
          <a:ln w="12700">
            <a:solidFill>
              <a:srgbClr val="5B6584"/>
            </a:solidFill>
            <a:prstDash val="solid"/>
          </a:ln>
        </p:spPr>
      </p:sp>
      <p:sp>
        <p:nvSpPr>
          <p:cNvPr id="33" name="Shape 31"/>
          <p:cNvSpPr/>
          <p:nvPr/>
        </p:nvSpPr>
        <p:spPr>
          <a:xfrm>
            <a:off x="2514600" y="3250692"/>
            <a:ext cx="3566160" cy="0"/>
          </a:xfrm>
          <a:prstGeom prst="line">
            <a:avLst/>
          </a:prstGeom>
          <a:noFill/>
          <a:ln w="12700">
            <a:solidFill>
              <a:srgbClr val="5B6584"/>
            </a:solidFill>
            <a:prstDash val="solid"/>
          </a:ln>
        </p:spPr>
      </p:sp>
      <p:sp>
        <p:nvSpPr>
          <p:cNvPr id="34" name="Shape 32"/>
          <p:cNvSpPr/>
          <p:nvPr/>
        </p:nvSpPr>
        <p:spPr>
          <a:xfrm>
            <a:off x="2514600" y="3250692"/>
            <a:ext cx="0" cy="114300"/>
          </a:xfrm>
          <a:prstGeom prst="line">
            <a:avLst/>
          </a:prstGeom>
          <a:noFill/>
          <a:ln w="12700">
            <a:solidFill>
              <a:srgbClr val="5B6584"/>
            </a:solidFill>
            <a:prstDash val="solid"/>
          </a:ln>
        </p:spPr>
      </p:sp>
      <p:sp>
        <p:nvSpPr>
          <p:cNvPr id="35" name="Shape 33"/>
          <p:cNvSpPr/>
          <p:nvPr/>
        </p:nvSpPr>
        <p:spPr>
          <a:xfrm>
            <a:off x="914400" y="3364992"/>
            <a:ext cx="3200400" cy="502920"/>
          </a:xfrm>
          <a:prstGeom prst="roundRect">
            <a:avLst>
              <a:gd name="adj" fmla="val 18182"/>
            </a:avLst>
          </a:prstGeom>
          <a:solidFill>
            <a:schemeClr val="accent3">
              <a:lumMod val="20000"/>
              <a:lumOff val="80000"/>
            </a:schemeClr>
          </a:solidFill>
          <a:ln w="12700">
            <a:solidFill>
              <a:srgbClr val="BFE3DE"/>
            </a:solidFill>
            <a:prstDash val="solid"/>
          </a:ln>
        </p:spPr>
      </p:sp>
      <p:sp>
        <p:nvSpPr>
          <p:cNvPr id="36" name="Text 34"/>
          <p:cNvSpPr txBox="1"/>
          <p:nvPr/>
        </p:nvSpPr>
        <p:spPr>
          <a:xfrm>
            <a:off x="1005840" y="3401568"/>
            <a:ext cx="3017520" cy="237744"/>
          </a:xfrm>
          <a:prstGeom prst="rect">
            <a:avLst/>
          </a:prstGeom>
          <a:noFill/>
          <a:ln/>
        </p:spPr>
        <p:txBody>
          <a:bodyPr wrap="square" lIns="0" tIns="0" rIns="0" bIns="0" rtlCol="0" anchor="ctr"/>
          <a:lstStyle/>
          <a:p>
            <a:pPr marL="0" indent="0">
              <a:buNone/>
            </a:pPr>
            <a:r>
              <a:rPr lang="en-US" sz="1600" b="1" dirty="0">
                <a:solidFill>
                  <a:srgbClr val="0B3D3A"/>
                </a:solidFill>
                <a:latin typeface="Courier New" pitchFamily="34" charset="0"/>
                <a:ea typeface="Courier New" pitchFamily="34" charset="-122"/>
                <a:cs typeface="Courier New" pitchFamily="34" charset="-120"/>
              </a:rPr>
              <a:t>[10,30,40,50]  (left)</a:t>
            </a:r>
            <a:endParaRPr lang="en-US" sz="1600" dirty="0"/>
          </a:p>
        </p:txBody>
      </p:sp>
      <p:sp>
        <p:nvSpPr>
          <p:cNvPr id="37" name="Text 35"/>
          <p:cNvSpPr txBox="1"/>
          <p:nvPr/>
        </p:nvSpPr>
        <p:spPr>
          <a:xfrm>
            <a:off x="1005840" y="3630168"/>
            <a:ext cx="3017520" cy="201168"/>
          </a:xfrm>
          <a:prstGeom prst="rect">
            <a:avLst/>
          </a:prstGeom>
          <a:noFill/>
          <a:ln/>
        </p:spPr>
        <p:txBody>
          <a:bodyPr wrap="square" lIns="0" tIns="0" rIns="0" bIns="0" rtlCol="0" anchor="ctr"/>
          <a:lstStyle/>
          <a:p>
            <a:pPr marL="0" indent="0">
              <a:buNone/>
            </a:pPr>
            <a:r>
              <a:rPr lang="en-US" sz="1600" b="1" dirty="0">
                <a:solidFill>
                  <a:srgbClr val="D9480F"/>
                </a:solidFill>
                <a:latin typeface="Courier New" pitchFamily="34" charset="0"/>
                <a:ea typeface="Courier New" pitchFamily="34" charset="-122"/>
                <a:cs typeface="Courier New" pitchFamily="34" charset="-120"/>
              </a:rPr>
              <a:t>pivot=50</a:t>
            </a:r>
            <a:endParaRPr lang="en-US" sz="1600" b="1" dirty="0"/>
          </a:p>
        </p:txBody>
      </p:sp>
      <p:sp>
        <p:nvSpPr>
          <p:cNvPr id="38" name="Shape 36"/>
          <p:cNvSpPr/>
          <p:nvPr/>
        </p:nvSpPr>
        <p:spPr>
          <a:xfrm>
            <a:off x="6080760" y="3136392"/>
            <a:ext cx="0" cy="114300"/>
          </a:xfrm>
          <a:prstGeom prst="line">
            <a:avLst/>
          </a:prstGeom>
          <a:noFill/>
          <a:ln w="12700">
            <a:solidFill>
              <a:srgbClr val="5B6584"/>
            </a:solidFill>
            <a:prstDash val="solid"/>
          </a:ln>
        </p:spPr>
      </p:sp>
      <p:sp>
        <p:nvSpPr>
          <p:cNvPr id="39" name="Shape 37"/>
          <p:cNvSpPr/>
          <p:nvPr/>
        </p:nvSpPr>
        <p:spPr>
          <a:xfrm>
            <a:off x="6080760" y="3250692"/>
            <a:ext cx="3108960" cy="0"/>
          </a:xfrm>
          <a:prstGeom prst="line">
            <a:avLst/>
          </a:prstGeom>
          <a:noFill/>
          <a:ln w="12700">
            <a:solidFill>
              <a:srgbClr val="5B6584"/>
            </a:solidFill>
            <a:prstDash val="solid"/>
          </a:ln>
        </p:spPr>
      </p:sp>
      <p:sp>
        <p:nvSpPr>
          <p:cNvPr id="40" name="Shape 38"/>
          <p:cNvSpPr/>
          <p:nvPr/>
        </p:nvSpPr>
        <p:spPr>
          <a:xfrm>
            <a:off x="9189720" y="3250692"/>
            <a:ext cx="0" cy="114300"/>
          </a:xfrm>
          <a:prstGeom prst="line">
            <a:avLst/>
          </a:prstGeom>
          <a:noFill/>
          <a:ln w="12700">
            <a:solidFill>
              <a:srgbClr val="5B6584"/>
            </a:solidFill>
            <a:prstDash val="solid"/>
          </a:ln>
        </p:spPr>
      </p:sp>
      <p:sp>
        <p:nvSpPr>
          <p:cNvPr id="41" name="Shape 39"/>
          <p:cNvSpPr/>
          <p:nvPr/>
        </p:nvSpPr>
        <p:spPr>
          <a:xfrm>
            <a:off x="7589520" y="3364992"/>
            <a:ext cx="3200400" cy="502920"/>
          </a:xfrm>
          <a:prstGeom prst="roundRect">
            <a:avLst>
              <a:gd name="adj" fmla="val 18182"/>
            </a:avLst>
          </a:prstGeom>
          <a:solidFill>
            <a:schemeClr val="accent3">
              <a:lumMod val="20000"/>
              <a:lumOff val="80000"/>
            </a:schemeClr>
          </a:solidFill>
          <a:ln w="12700">
            <a:solidFill>
              <a:srgbClr val="BFE3DE"/>
            </a:solidFill>
            <a:prstDash val="solid"/>
          </a:ln>
        </p:spPr>
      </p:sp>
      <p:sp>
        <p:nvSpPr>
          <p:cNvPr id="42" name="Text 40"/>
          <p:cNvSpPr txBox="1"/>
          <p:nvPr/>
        </p:nvSpPr>
        <p:spPr>
          <a:xfrm>
            <a:off x="7680960" y="3401568"/>
            <a:ext cx="3017520" cy="237744"/>
          </a:xfrm>
          <a:prstGeom prst="rect">
            <a:avLst/>
          </a:prstGeom>
          <a:noFill/>
          <a:ln/>
        </p:spPr>
        <p:txBody>
          <a:bodyPr wrap="square" lIns="0" tIns="0" rIns="0" bIns="0" rtlCol="0" anchor="ctr"/>
          <a:lstStyle/>
          <a:p>
            <a:pPr marL="0" indent="0">
              <a:buNone/>
            </a:pPr>
            <a:r>
              <a:rPr lang="en-US" sz="1600" b="1" dirty="0">
                <a:solidFill>
                  <a:srgbClr val="0B3D3A"/>
                </a:solidFill>
                <a:latin typeface="Courier New" pitchFamily="34" charset="0"/>
                <a:ea typeface="Courier New" pitchFamily="34" charset="-122"/>
                <a:cs typeface="Courier New" pitchFamily="34" charset="-120"/>
              </a:rPr>
              <a:t>[90,80]  (right)</a:t>
            </a:r>
            <a:endParaRPr lang="en-US" sz="1600" dirty="0"/>
          </a:p>
        </p:txBody>
      </p:sp>
      <p:sp>
        <p:nvSpPr>
          <p:cNvPr id="43" name="Text 41"/>
          <p:cNvSpPr txBox="1"/>
          <p:nvPr/>
        </p:nvSpPr>
        <p:spPr>
          <a:xfrm>
            <a:off x="7680960" y="3630168"/>
            <a:ext cx="3017520" cy="201168"/>
          </a:xfrm>
          <a:prstGeom prst="rect">
            <a:avLst/>
          </a:prstGeom>
          <a:noFill/>
          <a:ln/>
        </p:spPr>
        <p:txBody>
          <a:bodyPr wrap="square" lIns="0" tIns="0" rIns="0" bIns="0" rtlCol="0" anchor="ctr"/>
          <a:lstStyle/>
          <a:p>
            <a:pPr marL="0" indent="0">
              <a:buNone/>
            </a:pPr>
            <a:r>
              <a:rPr lang="en-US" sz="1600" b="1" dirty="0">
                <a:solidFill>
                  <a:srgbClr val="D9480F"/>
                </a:solidFill>
                <a:latin typeface="Courier New" pitchFamily="34" charset="0"/>
                <a:ea typeface="Courier New" pitchFamily="34" charset="-122"/>
                <a:cs typeface="Courier New" pitchFamily="34" charset="-120"/>
              </a:rPr>
              <a:t>pivot=80</a:t>
            </a:r>
            <a:endParaRPr lang="en-US" sz="1600" b="1" dirty="0"/>
          </a:p>
        </p:txBody>
      </p:sp>
      <p:sp>
        <p:nvSpPr>
          <p:cNvPr id="44" name="Shape 42"/>
          <p:cNvSpPr/>
          <p:nvPr/>
        </p:nvSpPr>
        <p:spPr>
          <a:xfrm>
            <a:off x="2514600" y="3867912"/>
            <a:ext cx="0" cy="114300"/>
          </a:xfrm>
          <a:prstGeom prst="line">
            <a:avLst/>
          </a:prstGeom>
          <a:noFill/>
          <a:ln w="12700">
            <a:solidFill>
              <a:srgbClr val="5B6584"/>
            </a:solidFill>
            <a:prstDash val="solid"/>
          </a:ln>
        </p:spPr>
      </p:sp>
      <p:sp>
        <p:nvSpPr>
          <p:cNvPr id="45" name="Shape 43"/>
          <p:cNvSpPr/>
          <p:nvPr/>
        </p:nvSpPr>
        <p:spPr>
          <a:xfrm>
            <a:off x="2514600" y="3982212"/>
            <a:ext cx="0" cy="0"/>
          </a:xfrm>
          <a:prstGeom prst="line">
            <a:avLst/>
          </a:prstGeom>
          <a:noFill/>
          <a:ln w="12700">
            <a:solidFill>
              <a:srgbClr val="5B6584"/>
            </a:solidFill>
            <a:prstDash val="solid"/>
          </a:ln>
        </p:spPr>
      </p:sp>
      <p:sp>
        <p:nvSpPr>
          <p:cNvPr id="46" name="Shape 44"/>
          <p:cNvSpPr/>
          <p:nvPr/>
        </p:nvSpPr>
        <p:spPr>
          <a:xfrm>
            <a:off x="2514600" y="3982212"/>
            <a:ext cx="0" cy="114300"/>
          </a:xfrm>
          <a:prstGeom prst="line">
            <a:avLst/>
          </a:prstGeom>
          <a:noFill/>
          <a:ln w="12700">
            <a:solidFill>
              <a:srgbClr val="5B6584"/>
            </a:solidFill>
            <a:prstDash val="solid"/>
          </a:ln>
        </p:spPr>
      </p:sp>
      <p:sp>
        <p:nvSpPr>
          <p:cNvPr id="47" name="Shape 45"/>
          <p:cNvSpPr/>
          <p:nvPr/>
        </p:nvSpPr>
        <p:spPr>
          <a:xfrm>
            <a:off x="914400" y="4096512"/>
            <a:ext cx="3200400" cy="502920"/>
          </a:xfrm>
          <a:prstGeom prst="roundRect">
            <a:avLst>
              <a:gd name="adj" fmla="val 18182"/>
            </a:avLst>
          </a:prstGeom>
          <a:solidFill>
            <a:schemeClr val="accent3">
              <a:lumMod val="20000"/>
              <a:lumOff val="80000"/>
            </a:schemeClr>
          </a:solidFill>
          <a:ln w="12700">
            <a:solidFill>
              <a:srgbClr val="BFE3DE"/>
            </a:solidFill>
            <a:prstDash val="solid"/>
          </a:ln>
        </p:spPr>
      </p:sp>
      <p:sp>
        <p:nvSpPr>
          <p:cNvPr id="48" name="Text 46"/>
          <p:cNvSpPr txBox="1"/>
          <p:nvPr/>
        </p:nvSpPr>
        <p:spPr>
          <a:xfrm>
            <a:off x="1005840" y="4133088"/>
            <a:ext cx="3017520" cy="237744"/>
          </a:xfrm>
          <a:prstGeom prst="rect">
            <a:avLst/>
          </a:prstGeom>
          <a:noFill/>
          <a:ln/>
        </p:spPr>
        <p:txBody>
          <a:bodyPr wrap="square" lIns="0" tIns="0" rIns="0" bIns="0" rtlCol="0" anchor="ctr"/>
          <a:lstStyle/>
          <a:p>
            <a:pPr marL="0" indent="0">
              <a:buNone/>
            </a:pPr>
            <a:r>
              <a:rPr lang="en-US" sz="1600" b="1" dirty="0">
                <a:solidFill>
                  <a:srgbClr val="0B3D3A"/>
                </a:solidFill>
                <a:latin typeface="Courier New" pitchFamily="34" charset="0"/>
                <a:ea typeface="Courier New" pitchFamily="34" charset="-122"/>
                <a:cs typeface="Courier New" pitchFamily="34" charset="-120"/>
              </a:rPr>
              <a:t>[10,30,40]</a:t>
            </a:r>
            <a:endParaRPr lang="en-US" sz="1600" dirty="0"/>
          </a:p>
        </p:txBody>
      </p:sp>
      <p:sp>
        <p:nvSpPr>
          <p:cNvPr id="49" name="Text 47"/>
          <p:cNvSpPr txBox="1"/>
          <p:nvPr/>
        </p:nvSpPr>
        <p:spPr>
          <a:xfrm>
            <a:off x="1005840" y="4361688"/>
            <a:ext cx="3017520" cy="201168"/>
          </a:xfrm>
          <a:prstGeom prst="rect">
            <a:avLst/>
          </a:prstGeom>
          <a:noFill/>
          <a:ln/>
        </p:spPr>
        <p:txBody>
          <a:bodyPr wrap="square" lIns="0" tIns="0" rIns="0" bIns="0" rtlCol="0" anchor="ctr"/>
          <a:lstStyle/>
          <a:p>
            <a:pPr marL="0" indent="0">
              <a:buNone/>
            </a:pPr>
            <a:r>
              <a:rPr lang="en-US" sz="1600" b="1" dirty="0">
                <a:solidFill>
                  <a:srgbClr val="D9480F"/>
                </a:solidFill>
                <a:latin typeface="Courier New" pitchFamily="34" charset="0"/>
                <a:ea typeface="Courier New" pitchFamily="34" charset="-122"/>
                <a:cs typeface="Courier New" pitchFamily="34" charset="-120"/>
              </a:rPr>
              <a:t>pivot=40</a:t>
            </a:r>
            <a:endParaRPr lang="en-US" sz="1600" b="1" dirty="0"/>
          </a:p>
        </p:txBody>
      </p:sp>
      <p:sp>
        <p:nvSpPr>
          <p:cNvPr id="50" name="Shape 48"/>
          <p:cNvSpPr/>
          <p:nvPr/>
        </p:nvSpPr>
        <p:spPr>
          <a:xfrm>
            <a:off x="2514600" y="4599432"/>
            <a:ext cx="0" cy="114300"/>
          </a:xfrm>
          <a:prstGeom prst="line">
            <a:avLst/>
          </a:prstGeom>
          <a:noFill/>
          <a:ln w="12700">
            <a:solidFill>
              <a:srgbClr val="5B6584"/>
            </a:solidFill>
            <a:prstDash val="solid"/>
          </a:ln>
        </p:spPr>
      </p:sp>
      <p:sp>
        <p:nvSpPr>
          <p:cNvPr id="51" name="Shape 49"/>
          <p:cNvSpPr/>
          <p:nvPr/>
        </p:nvSpPr>
        <p:spPr>
          <a:xfrm>
            <a:off x="2514600" y="4713732"/>
            <a:ext cx="0" cy="0"/>
          </a:xfrm>
          <a:prstGeom prst="line">
            <a:avLst/>
          </a:prstGeom>
          <a:noFill/>
          <a:ln w="12700">
            <a:solidFill>
              <a:srgbClr val="5B6584"/>
            </a:solidFill>
            <a:prstDash val="solid"/>
          </a:ln>
        </p:spPr>
      </p:sp>
      <p:sp>
        <p:nvSpPr>
          <p:cNvPr id="52" name="Shape 50"/>
          <p:cNvSpPr/>
          <p:nvPr/>
        </p:nvSpPr>
        <p:spPr>
          <a:xfrm>
            <a:off x="2514600" y="4713732"/>
            <a:ext cx="0" cy="114300"/>
          </a:xfrm>
          <a:prstGeom prst="line">
            <a:avLst/>
          </a:prstGeom>
          <a:noFill/>
          <a:ln w="12700">
            <a:solidFill>
              <a:srgbClr val="5B6584"/>
            </a:solidFill>
            <a:prstDash val="solid"/>
          </a:ln>
        </p:spPr>
      </p:sp>
      <p:sp>
        <p:nvSpPr>
          <p:cNvPr id="53" name="Shape 51"/>
          <p:cNvSpPr/>
          <p:nvPr/>
        </p:nvSpPr>
        <p:spPr>
          <a:xfrm>
            <a:off x="914400" y="4828032"/>
            <a:ext cx="3200400" cy="502920"/>
          </a:xfrm>
          <a:prstGeom prst="roundRect">
            <a:avLst>
              <a:gd name="adj" fmla="val 18182"/>
            </a:avLst>
          </a:prstGeom>
          <a:solidFill>
            <a:schemeClr val="accent3">
              <a:lumMod val="20000"/>
              <a:lumOff val="80000"/>
            </a:schemeClr>
          </a:solidFill>
          <a:ln w="12700">
            <a:solidFill>
              <a:srgbClr val="BFE3DE"/>
            </a:solidFill>
            <a:prstDash val="solid"/>
          </a:ln>
        </p:spPr>
      </p:sp>
      <p:sp>
        <p:nvSpPr>
          <p:cNvPr id="54" name="Text 52"/>
          <p:cNvSpPr txBox="1"/>
          <p:nvPr/>
        </p:nvSpPr>
        <p:spPr>
          <a:xfrm>
            <a:off x="1005840" y="4864608"/>
            <a:ext cx="3017520" cy="237744"/>
          </a:xfrm>
          <a:prstGeom prst="rect">
            <a:avLst/>
          </a:prstGeom>
          <a:noFill/>
          <a:ln/>
        </p:spPr>
        <p:txBody>
          <a:bodyPr wrap="square" lIns="0" tIns="0" rIns="0" bIns="0" rtlCol="0" anchor="ctr"/>
          <a:lstStyle/>
          <a:p>
            <a:pPr marL="0" indent="0">
              <a:buNone/>
            </a:pPr>
            <a:r>
              <a:rPr lang="en-US" sz="1600" b="1" dirty="0">
                <a:solidFill>
                  <a:srgbClr val="0B3D3A"/>
                </a:solidFill>
                <a:latin typeface="Courier New" pitchFamily="34" charset="0"/>
                <a:ea typeface="Courier New" pitchFamily="34" charset="-122"/>
                <a:cs typeface="Courier New" pitchFamily="34" charset="-120"/>
              </a:rPr>
              <a:t>[10,30]</a:t>
            </a:r>
            <a:endParaRPr lang="en-US" sz="1600" dirty="0"/>
          </a:p>
        </p:txBody>
      </p:sp>
      <p:sp>
        <p:nvSpPr>
          <p:cNvPr id="55" name="Text 53"/>
          <p:cNvSpPr txBox="1"/>
          <p:nvPr/>
        </p:nvSpPr>
        <p:spPr>
          <a:xfrm>
            <a:off x="1005840" y="5093208"/>
            <a:ext cx="3017520" cy="201168"/>
          </a:xfrm>
          <a:prstGeom prst="rect">
            <a:avLst/>
          </a:prstGeom>
          <a:solidFill>
            <a:schemeClr val="accent3">
              <a:lumMod val="20000"/>
              <a:lumOff val="80000"/>
            </a:schemeClr>
          </a:solidFill>
          <a:ln/>
        </p:spPr>
        <p:txBody>
          <a:bodyPr wrap="square" lIns="0" tIns="0" rIns="0" bIns="0" rtlCol="0" anchor="ctr"/>
          <a:lstStyle/>
          <a:p>
            <a:pPr marL="0" indent="0">
              <a:buNone/>
            </a:pPr>
            <a:r>
              <a:rPr lang="en-US" sz="1600" b="1" dirty="0">
                <a:solidFill>
                  <a:srgbClr val="D9480F"/>
                </a:solidFill>
                <a:latin typeface="Courier New" pitchFamily="34" charset="0"/>
                <a:ea typeface="Courier New" pitchFamily="34" charset="-122"/>
                <a:cs typeface="Courier New" pitchFamily="34" charset="-120"/>
              </a:rPr>
              <a:t>pivot=30</a:t>
            </a:r>
            <a:endParaRPr lang="en-US" sz="1600" b="1" dirty="0"/>
          </a:p>
        </p:txBody>
      </p:sp>
      <p:sp>
        <p:nvSpPr>
          <p:cNvPr id="56" name="Shape 54"/>
          <p:cNvSpPr/>
          <p:nvPr/>
        </p:nvSpPr>
        <p:spPr>
          <a:xfrm>
            <a:off x="2514600" y="5330952"/>
            <a:ext cx="0" cy="100584"/>
          </a:xfrm>
          <a:prstGeom prst="line">
            <a:avLst/>
          </a:prstGeom>
          <a:noFill/>
          <a:ln w="12700">
            <a:solidFill>
              <a:srgbClr val="5B6584"/>
            </a:solidFill>
            <a:prstDash val="solid"/>
          </a:ln>
        </p:spPr>
      </p:sp>
      <p:sp>
        <p:nvSpPr>
          <p:cNvPr id="57" name="Shape 55"/>
          <p:cNvSpPr/>
          <p:nvPr/>
        </p:nvSpPr>
        <p:spPr>
          <a:xfrm>
            <a:off x="2514600" y="5431536"/>
            <a:ext cx="0" cy="0"/>
          </a:xfrm>
          <a:prstGeom prst="line">
            <a:avLst/>
          </a:prstGeom>
          <a:noFill/>
          <a:ln w="12700">
            <a:solidFill>
              <a:srgbClr val="5B6584"/>
            </a:solidFill>
            <a:prstDash val="solid"/>
          </a:ln>
        </p:spPr>
      </p:sp>
      <p:sp>
        <p:nvSpPr>
          <p:cNvPr id="58" name="Shape 56"/>
          <p:cNvSpPr/>
          <p:nvPr/>
        </p:nvSpPr>
        <p:spPr>
          <a:xfrm>
            <a:off x="2514600" y="5431536"/>
            <a:ext cx="0" cy="100584"/>
          </a:xfrm>
          <a:prstGeom prst="line">
            <a:avLst/>
          </a:prstGeom>
          <a:noFill/>
          <a:ln w="12700">
            <a:solidFill>
              <a:srgbClr val="5B6584"/>
            </a:solidFill>
            <a:prstDash val="solid"/>
          </a:ln>
        </p:spPr>
      </p:sp>
      <p:sp>
        <p:nvSpPr>
          <p:cNvPr id="59" name="Shape 57"/>
          <p:cNvSpPr/>
          <p:nvPr/>
        </p:nvSpPr>
        <p:spPr>
          <a:xfrm>
            <a:off x="914400" y="5532120"/>
            <a:ext cx="1554480" cy="365760"/>
          </a:xfrm>
          <a:prstGeom prst="roundRect">
            <a:avLst>
              <a:gd name="adj" fmla="val 25000"/>
            </a:avLst>
          </a:prstGeom>
          <a:solidFill>
            <a:srgbClr val="DCF3E8"/>
          </a:solidFill>
          <a:ln w="12700">
            <a:solidFill>
              <a:srgbClr val="7FC9A6"/>
            </a:solidFill>
            <a:prstDash val="solid"/>
          </a:ln>
        </p:spPr>
      </p:sp>
      <p:sp>
        <p:nvSpPr>
          <p:cNvPr id="60" name="Text 58"/>
          <p:cNvSpPr txBox="1"/>
          <p:nvPr/>
        </p:nvSpPr>
        <p:spPr>
          <a:xfrm>
            <a:off x="893926" y="5402680"/>
            <a:ext cx="1554469" cy="597975"/>
          </a:xfrm>
          <a:prstGeom prst="rect">
            <a:avLst/>
          </a:prstGeom>
          <a:solidFill>
            <a:schemeClr val="accent3">
              <a:lumMod val="20000"/>
              <a:lumOff val="80000"/>
            </a:schemeClr>
          </a:solidFill>
          <a:ln/>
        </p:spPr>
        <p:txBody>
          <a:bodyPr wrap="square" lIns="0" tIns="0" rIns="0" bIns="0" rtlCol="0" anchor="ctr"/>
          <a:lstStyle/>
          <a:p>
            <a:pPr marL="0" indent="0" algn="ctr">
              <a:buNone/>
            </a:pPr>
            <a:r>
              <a:rPr lang="en-US" sz="1400" b="1" dirty="0">
                <a:latin typeface="Courier New" pitchFamily="34" charset="0"/>
                <a:ea typeface="Courier New" pitchFamily="34" charset="-122"/>
                <a:cs typeface="Courier New" pitchFamily="34" charset="-120"/>
              </a:rPr>
              <a:t>[10] base case</a:t>
            </a:r>
            <a:endParaRPr lang="en-US" sz="1400" dirty="0"/>
          </a:p>
        </p:txBody>
      </p:sp>
      <p:sp>
        <p:nvSpPr>
          <p:cNvPr id="61" name="Shape 59"/>
          <p:cNvSpPr/>
          <p:nvPr/>
        </p:nvSpPr>
        <p:spPr>
          <a:xfrm>
            <a:off x="9189720" y="3867912"/>
            <a:ext cx="0" cy="114300"/>
          </a:xfrm>
          <a:prstGeom prst="line">
            <a:avLst/>
          </a:prstGeom>
          <a:noFill/>
          <a:ln w="12700">
            <a:solidFill>
              <a:srgbClr val="5B6584"/>
            </a:solidFill>
            <a:prstDash val="solid"/>
          </a:ln>
        </p:spPr>
      </p:sp>
      <p:sp>
        <p:nvSpPr>
          <p:cNvPr id="62" name="Shape 60"/>
          <p:cNvSpPr/>
          <p:nvPr/>
        </p:nvSpPr>
        <p:spPr>
          <a:xfrm>
            <a:off x="9189720" y="3982212"/>
            <a:ext cx="0" cy="0"/>
          </a:xfrm>
          <a:prstGeom prst="line">
            <a:avLst/>
          </a:prstGeom>
          <a:noFill/>
          <a:ln w="12700">
            <a:solidFill>
              <a:srgbClr val="5B6584"/>
            </a:solidFill>
            <a:prstDash val="solid"/>
          </a:ln>
        </p:spPr>
      </p:sp>
      <p:sp>
        <p:nvSpPr>
          <p:cNvPr id="63" name="Shape 61"/>
          <p:cNvSpPr/>
          <p:nvPr/>
        </p:nvSpPr>
        <p:spPr>
          <a:xfrm>
            <a:off x="9189720" y="3982212"/>
            <a:ext cx="0" cy="114300"/>
          </a:xfrm>
          <a:prstGeom prst="line">
            <a:avLst/>
          </a:prstGeom>
          <a:noFill/>
          <a:ln w="12700">
            <a:solidFill>
              <a:srgbClr val="5B6584"/>
            </a:solidFill>
            <a:prstDash val="solid"/>
          </a:ln>
        </p:spPr>
      </p:sp>
      <p:sp>
        <p:nvSpPr>
          <p:cNvPr id="64" name="Shape 62"/>
          <p:cNvSpPr/>
          <p:nvPr/>
        </p:nvSpPr>
        <p:spPr>
          <a:xfrm>
            <a:off x="8412480" y="4096512"/>
            <a:ext cx="1554480" cy="365760"/>
          </a:xfrm>
          <a:prstGeom prst="roundRect">
            <a:avLst>
              <a:gd name="adj" fmla="val 25000"/>
            </a:avLst>
          </a:prstGeom>
          <a:solidFill>
            <a:srgbClr val="DCF3E8"/>
          </a:solidFill>
          <a:ln w="12700">
            <a:solidFill>
              <a:srgbClr val="7FC9A6"/>
            </a:solidFill>
            <a:prstDash val="solid"/>
          </a:ln>
        </p:spPr>
      </p:sp>
      <p:sp>
        <p:nvSpPr>
          <p:cNvPr id="65" name="Text 63"/>
          <p:cNvSpPr txBox="1"/>
          <p:nvPr/>
        </p:nvSpPr>
        <p:spPr>
          <a:xfrm>
            <a:off x="8412480" y="4096512"/>
            <a:ext cx="1554480" cy="365760"/>
          </a:xfrm>
          <a:prstGeom prst="rect">
            <a:avLst/>
          </a:prstGeom>
          <a:solidFill>
            <a:schemeClr val="accent3">
              <a:lumMod val="20000"/>
              <a:lumOff val="80000"/>
            </a:schemeClr>
          </a:solidFill>
          <a:ln/>
        </p:spPr>
        <p:txBody>
          <a:bodyPr wrap="square" lIns="0" tIns="0" rIns="0" bIns="0" rtlCol="0" anchor="ctr"/>
          <a:lstStyle/>
          <a:p>
            <a:pPr marL="0" indent="0" algn="ctr">
              <a:buNone/>
            </a:pPr>
            <a:r>
              <a:rPr lang="en-US" sz="1200" b="1" dirty="0">
                <a:latin typeface="Courier New" pitchFamily="34" charset="0"/>
                <a:ea typeface="Courier New" pitchFamily="34" charset="-122"/>
                <a:cs typeface="Courier New" pitchFamily="34" charset="-120"/>
              </a:rPr>
              <a:t>[90]  base case</a:t>
            </a:r>
            <a:endParaRPr lang="en-US" sz="1200" dirty="0"/>
          </a:p>
        </p:txBody>
      </p:sp>
      <p:sp>
        <p:nvSpPr>
          <p:cNvPr id="66" name="Text 64"/>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67" name="Text 65"/>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TRACE — PARTITION CALL 1 (ROOT)</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PARTITION(A, 0, 6),  pivot = 70</a:t>
            </a:r>
            <a:endParaRPr lang="en-US" sz="3000" dirty="0"/>
          </a:p>
        </p:txBody>
      </p:sp>
      <p:sp>
        <p:nvSpPr>
          <p:cNvPr id="6" name="Text 4"/>
          <p:cNvSpPr txBox="1"/>
          <p:nvPr/>
        </p:nvSpPr>
        <p:spPr>
          <a:xfrm>
            <a:off x="548640" y="1325880"/>
            <a:ext cx="4572000" cy="274320"/>
          </a:xfrm>
          <a:prstGeom prst="rect">
            <a:avLst/>
          </a:prstGeom>
          <a:noFill/>
          <a:ln/>
        </p:spPr>
        <p:txBody>
          <a:bodyPr wrap="square" lIns="0" tIns="0" rIns="0" bIns="0" rtlCol="0" anchor="ctr"/>
          <a:lstStyle/>
          <a:p>
            <a:pPr marL="0" indent="0">
              <a:buNone/>
            </a:pPr>
            <a:r>
              <a:rPr lang="en-US" b="1" dirty="0">
                <a:solidFill>
                  <a:srgbClr val="5B6584"/>
                </a:solidFill>
                <a:latin typeface="Courier New" pitchFamily="34" charset="0"/>
                <a:ea typeface="Courier New" pitchFamily="34" charset="-122"/>
                <a:cs typeface="Courier New" pitchFamily="34" charset="-120"/>
              </a:rPr>
              <a:t>i = −1  (low−1)</a:t>
            </a:r>
            <a:endParaRPr lang="en-US" b="1" dirty="0"/>
          </a:p>
        </p:txBody>
      </p:sp>
      <p:sp>
        <p:nvSpPr>
          <p:cNvPr id="7" name="Shape 5"/>
          <p:cNvSpPr/>
          <p:nvPr/>
        </p:nvSpPr>
        <p:spPr>
          <a:xfrm>
            <a:off x="548640" y="1645920"/>
            <a:ext cx="594360" cy="365760"/>
          </a:xfrm>
          <a:prstGeom prst="roundRect">
            <a:avLst>
              <a:gd name="adj" fmla="val 50000"/>
            </a:avLst>
          </a:prstGeom>
          <a:solidFill>
            <a:srgbClr val="E8F5F3"/>
          </a:solidFill>
          <a:ln/>
        </p:spPr>
      </p:sp>
      <p:sp>
        <p:nvSpPr>
          <p:cNvPr id="8" name="Text 6"/>
          <p:cNvSpPr txBox="1"/>
          <p:nvPr/>
        </p:nvSpPr>
        <p:spPr>
          <a:xfrm>
            <a:off x="548640" y="1645920"/>
            <a:ext cx="594360" cy="365760"/>
          </a:xfrm>
          <a:prstGeom prst="rect">
            <a:avLst/>
          </a:prstGeom>
          <a:noFill/>
          <a:ln/>
        </p:spPr>
        <p:txBody>
          <a:bodyPr wrap="square" lIns="0" tIns="0" rIns="0" bIns="0" rtlCol="0" anchor="ctr"/>
          <a:lstStyle/>
          <a:p>
            <a:pPr marL="0" indent="0" algn="ctr">
              <a:buNone/>
            </a:pPr>
            <a:r>
              <a:rPr lang="en-US" sz="1600" b="1" dirty="0">
                <a:solidFill>
                  <a:srgbClr val="0B3D3A"/>
                </a:solidFill>
                <a:latin typeface="Calibri" pitchFamily="34" charset="0"/>
                <a:ea typeface="Calibri" pitchFamily="34" charset="-122"/>
                <a:cs typeface="Calibri" pitchFamily="34" charset="-120"/>
              </a:rPr>
              <a:t>j=0</a:t>
            </a:r>
            <a:endParaRPr lang="en-US" sz="1600" dirty="0"/>
          </a:p>
        </p:txBody>
      </p:sp>
      <p:sp>
        <p:nvSpPr>
          <p:cNvPr id="9" name="Shape 7"/>
          <p:cNvSpPr/>
          <p:nvPr/>
        </p:nvSpPr>
        <p:spPr>
          <a:xfrm>
            <a:off x="1234440" y="1645920"/>
            <a:ext cx="2331720" cy="365760"/>
          </a:xfrm>
          <a:prstGeom prst="roundRect">
            <a:avLst>
              <a:gd name="adj" fmla="val 50000"/>
            </a:avLst>
          </a:prstGeom>
          <a:solidFill>
            <a:srgbClr val="E8F5F3"/>
          </a:solidFill>
          <a:ln/>
        </p:spPr>
      </p:sp>
      <p:sp>
        <p:nvSpPr>
          <p:cNvPr id="10" name="Text 8"/>
          <p:cNvSpPr txBox="1"/>
          <p:nvPr/>
        </p:nvSpPr>
        <p:spPr>
          <a:xfrm>
            <a:off x="1234440" y="1645920"/>
            <a:ext cx="2331720" cy="365760"/>
          </a:xfrm>
          <a:prstGeom prst="rect">
            <a:avLst/>
          </a:prstGeom>
          <a:noFill/>
          <a:ln/>
        </p:spPr>
        <p:txBody>
          <a:bodyPr wrap="square" lIns="88900" tIns="88900" rIns="88900" bIns="88900" rtlCol="0" anchor="ctr"/>
          <a:lstStyle/>
          <a:p>
            <a:pPr marL="0" indent="0" algn="l">
              <a:buNone/>
            </a:pPr>
            <a:r>
              <a:rPr lang="en-US" sz="1600" b="1" dirty="0">
                <a:solidFill>
                  <a:srgbClr val="0B3D3A"/>
                </a:solidFill>
                <a:latin typeface="Calibri" pitchFamily="34" charset="0"/>
                <a:ea typeface="Calibri" pitchFamily="34" charset="-122"/>
                <a:cs typeface="Calibri" pitchFamily="34" charset="-120"/>
              </a:rPr>
              <a:t>A[0]=10 ≤ 70</a:t>
            </a:r>
            <a:endParaRPr lang="en-US" sz="1600" dirty="0"/>
          </a:p>
        </p:txBody>
      </p:sp>
      <p:sp>
        <p:nvSpPr>
          <p:cNvPr id="11" name="Shape 9"/>
          <p:cNvSpPr/>
          <p:nvPr/>
        </p:nvSpPr>
        <p:spPr>
          <a:xfrm>
            <a:off x="3749040" y="1627632"/>
            <a:ext cx="384048" cy="384048"/>
          </a:xfrm>
          <a:prstGeom prst="roundRect">
            <a:avLst>
              <a:gd name="adj" fmla="val 19048"/>
            </a:avLst>
          </a:prstGeom>
          <a:solidFill>
            <a:srgbClr val="C98A1E"/>
          </a:solidFill>
          <a:ln w="22225">
            <a:solidFill>
              <a:srgbClr val="0F6B64"/>
            </a:solidFill>
            <a:prstDash val="solid"/>
          </a:ln>
        </p:spPr>
      </p:sp>
      <p:sp>
        <p:nvSpPr>
          <p:cNvPr id="12" name="Text 10"/>
          <p:cNvSpPr txBox="1"/>
          <p:nvPr/>
        </p:nvSpPr>
        <p:spPr>
          <a:xfrm>
            <a:off x="3749040" y="1627632"/>
            <a:ext cx="38404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10</a:t>
            </a:r>
            <a:endParaRPr lang="en-US" sz="1050" dirty="0"/>
          </a:p>
        </p:txBody>
      </p:sp>
      <p:sp>
        <p:nvSpPr>
          <p:cNvPr id="13" name="Shape 11"/>
          <p:cNvSpPr/>
          <p:nvPr/>
        </p:nvSpPr>
        <p:spPr>
          <a:xfrm>
            <a:off x="4183380" y="1627632"/>
            <a:ext cx="384048" cy="384048"/>
          </a:xfrm>
          <a:prstGeom prst="roundRect">
            <a:avLst>
              <a:gd name="adj" fmla="val 19048"/>
            </a:avLst>
          </a:prstGeom>
          <a:solidFill>
            <a:srgbClr val="FFFFFF"/>
          </a:solidFill>
          <a:ln w="22225">
            <a:solidFill>
              <a:srgbClr val="0F6B64"/>
            </a:solidFill>
            <a:prstDash val="solid"/>
          </a:ln>
        </p:spPr>
      </p:sp>
      <p:sp>
        <p:nvSpPr>
          <p:cNvPr id="14" name="Text 12"/>
          <p:cNvSpPr txBox="1"/>
          <p:nvPr/>
        </p:nvSpPr>
        <p:spPr>
          <a:xfrm>
            <a:off x="4183380" y="16276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80</a:t>
            </a:r>
            <a:endParaRPr lang="en-US" sz="1050" dirty="0"/>
          </a:p>
        </p:txBody>
      </p:sp>
      <p:sp>
        <p:nvSpPr>
          <p:cNvPr id="15" name="Shape 13"/>
          <p:cNvSpPr/>
          <p:nvPr/>
        </p:nvSpPr>
        <p:spPr>
          <a:xfrm>
            <a:off x="4617720" y="1627632"/>
            <a:ext cx="384048" cy="384048"/>
          </a:xfrm>
          <a:prstGeom prst="roundRect">
            <a:avLst>
              <a:gd name="adj" fmla="val 19048"/>
            </a:avLst>
          </a:prstGeom>
          <a:solidFill>
            <a:srgbClr val="FFFFFF"/>
          </a:solidFill>
          <a:ln w="22225">
            <a:solidFill>
              <a:srgbClr val="0F6B64"/>
            </a:solidFill>
            <a:prstDash val="solid"/>
          </a:ln>
        </p:spPr>
      </p:sp>
      <p:sp>
        <p:nvSpPr>
          <p:cNvPr id="16" name="Text 14"/>
          <p:cNvSpPr txBox="1"/>
          <p:nvPr/>
        </p:nvSpPr>
        <p:spPr>
          <a:xfrm>
            <a:off x="4617720" y="16276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30</a:t>
            </a:r>
            <a:endParaRPr lang="en-US" sz="1050" dirty="0"/>
          </a:p>
        </p:txBody>
      </p:sp>
      <p:sp>
        <p:nvSpPr>
          <p:cNvPr id="17" name="Shape 15"/>
          <p:cNvSpPr/>
          <p:nvPr/>
        </p:nvSpPr>
        <p:spPr>
          <a:xfrm>
            <a:off x="5052060" y="1627632"/>
            <a:ext cx="384048" cy="384048"/>
          </a:xfrm>
          <a:prstGeom prst="roundRect">
            <a:avLst>
              <a:gd name="adj" fmla="val 19048"/>
            </a:avLst>
          </a:prstGeom>
          <a:solidFill>
            <a:srgbClr val="FFFFFF"/>
          </a:solidFill>
          <a:ln w="22225">
            <a:solidFill>
              <a:srgbClr val="0F6B64"/>
            </a:solidFill>
            <a:prstDash val="solid"/>
          </a:ln>
        </p:spPr>
      </p:sp>
      <p:sp>
        <p:nvSpPr>
          <p:cNvPr id="18" name="Text 16"/>
          <p:cNvSpPr txBox="1"/>
          <p:nvPr/>
        </p:nvSpPr>
        <p:spPr>
          <a:xfrm>
            <a:off x="5052060" y="16276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90</a:t>
            </a:r>
            <a:endParaRPr lang="en-US" sz="1050" dirty="0"/>
          </a:p>
        </p:txBody>
      </p:sp>
      <p:sp>
        <p:nvSpPr>
          <p:cNvPr id="19" name="Shape 17"/>
          <p:cNvSpPr/>
          <p:nvPr/>
        </p:nvSpPr>
        <p:spPr>
          <a:xfrm>
            <a:off x="5486400" y="1627632"/>
            <a:ext cx="384048" cy="384048"/>
          </a:xfrm>
          <a:prstGeom prst="roundRect">
            <a:avLst>
              <a:gd name="adj" fmla="val 19048"/>
            </a:avLst>
          </a:prstGeom>
          <a:solidFill>
            <a:srgbClr val="FFFFFF"/>
          </a:solidFill>
          <a:ln w="22225">
            <a:solidFill>
              <a:srgbClr val="0F6B64"/>
            </a:solidFill>
            <a:prstDash val="solid"/>
          </a:ln>
        </p:spPr>
      </p:sp>
      <p:sp>
        <p:nvSpPr>
          <p:cNvPr id="20" name="Text 18"/>
          <p:cNvSpPr txBox="1"/>
          <p:nvPr/>
        </p:nvSpPr>
        <p:spPr>
          <a:xfrm>
            <a:off x="5486400" y="16276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40</a:t>
            </a:r>
            <a:endParaRPr lang="en-US" sz="1050" dirty="0"/>
          </a:p>
        </p:txBody>
      </p:sp>
      <p:sp>
        <p:nvSpPr>
          <p:cNvPr id="21" name="Shape 19"/>
          <p:cNvSpPr/>
          <p:nvPr/>
        </p:nvSpPr>
        <p:spPr>
          <a:xfrm>
            <a:off x="5920740" y="1627632"/>
            <a:ext cx="384048" cy="384048"/>
          </a:xfrm>
          <a:prstGeom prst="roundRect">
            <a:avLst>
              <a:gd name="adj" fmla="val 19048"/>
            </a:avLst>
          </a:prstGeom>
          <a:solidFill>
            <a:srgbClr val="FFFFFF"/>
          </a:solidFill>
          <a:ln w="22225">
            <a:solidFill>
              <a:srgbClr val="0F6B64"/>
            </a:solidFill>
            <a:prstDash val="solid"/>
          </a:ln>
        </p:spPr>
      </p:sp>
      <p:sp>
        <p:nvSpPr>
          <p:cNvPr id="22" name="Text 20"/>
          <p:cNvSpPr txBox="1"/>
          <p:nvPr/>
        </p:nvSpPr>
        <p:spPr>
          <a:xfrm>
            <a:off x="5920740" y="16276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50</a:t>
            </a:r>
            <a:endParaRPr lang="en-US" sz="1050" dirty="0"/>
          </a:p>
        </p:txBody>
      </p:sp>
      <p:sp>
        <p:nvSpPr>
          <p:cNvPr id="23" name="Shape 21"/>
          <p:cNvSpPr/>
          <p:nvPr/>
        </p:nvSpPr>
        <p:spPr>
          <a:xfrm>
            <a:off x="6355080" y="1627632"/>
            <a:ext cx="384048" cy="384048"/>
          </a:xfrm>
          <a:prstGeom prst="roundRect">
            <a:avLst>
              <a:gd name="adj" fmla="val 19048"/>
            </a:avLst>
          </a:prstGeom>
          <a:solidFill>
            <a:srgbClr val="FFFFFF"/>
          </a:solidFill>
          <a:ln w="22225">
            <a:solidFill>
              <a:srgbClr val="0F6B64"/>
            </a:solidFill>
            <a:prstDash val="solid"/>
          </a:ln>
        </p:spPr>
      </p:sp>
      <p:sp>
        <p:nvSpPr>
          <p:cNvPr id="24" name="Text 22"/>
          <p:cNvSpPr txBox="1"/>
          <p:nvPr/>
        </p:nvSpPr>
        <p:spPr>
          <a:xfrm>
            <a:off x="6355080" y="16276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70</a:t>
            </a:r>
            <a:endParaRPr lang="en-US" sz="1050" dirty="0"/>
          </a:p>
        </p:txBody>
      </p:sp>
      <p:sp>
        <p:nvSpPr>
          <p:cNvPr id="25" name="Shape 23"/>
          <p:cNvSpPr/>
          <p:nvPr/>
        </p:nvSpPr>
        <p:spPr>
          <a:xfrm>
            <a:off x="8549640" y="1645920"/>
            <a:ext cx="3063240" cy="365760"/>
          </a:xfrm>
          <a:prstGeom prst="roundRect">
            <a:avLst>
              <a:gd name="adj" fmla="val 50000"/>
            </a:avLst>
          </a:prstGeom>
          <a:solidFill>
            <a:srgbClr val="C98A1E"/>
          </a:solidFill>
          <a:ln/>
        </p:spPr>
      </p:sp>
      <p:sp>
        <p:nvSpPr>
          <p:cNvPr id="26" name="Text 24"/>
          <p:cNvSpPr txBox="1"/>
          <p:nvPr/>
        </p:nvSpPr>
        <p:spPr>
          <a:xfrm>
            <a:off x="8549640" y="1645920"/>
            <a:ext cx="3063240" cy="365760"/>
          </a:xfrm>
          <a:prstGeom prst="rect">
            <a:avLst/>
          </a:prstGeom>
          <a:noFill/>
          <a:ln/>
        </p:spPr>
        <p:txBody>
          <a:bodyPr wrap="square" lIns="88900" tIns="88900" rIns="88900" bIns="8890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i=0, swap(A[0],A[0])</a:t>
            </a:r>
            <a:endParaRPr lang="en-US" sz="1600" dirty="0"/>
          </a:p>
        </p:txBody>
      </p:sp>
      <p:sp>
        <p:nvSpPr>
          <p:cNvPr id="27" name="Shape 25"/>
          <p:cNvSpPr/>
          <p:nvPr/>
        </p:nvSpPr>
        <p:spPr>
          <a:xfrm>
            <a:off x="548640" y="2103120"/>
            <a:ext cx="594360" cy="365760"/>
          </a:xfrm>
          <a:prstGeom prst="roundRect">
            <a:avLst>
              <a:gd name="adj" fmla="val 50000"/>
            </a:avLst>
          </a:prstGeom>
          <a:solidFill>
            <a:srgbClr val="E8F5F3"/>
          </a:solidFill>
          <a:ln/>
        </p:spPr>
      </p:sp>
      <p:sp>
        <p:nvSpPr>
          <p:cNvPr id="28" name="Text 26"/>
          <p:cNvSpPr txBox="1"/>
          <p:nvPr/>
        </p:nvSpPr>
        <p:spPr>
          <a:xfrm>
            <a:off x="548640" y="2103120"/>
            <a:ext cx="594360" cy="365760"/>
          </a:xfrm>
          <a:prstGeom prst="rect">
            <a:avLst/>
          </a:prstGeom>
          <a:noFill/>
          <a:ln/>
        </p:spPr>
        <p:txBody>
          <a:bodyPr wrap="square" lIns="0" tIns="0" rIns="0" bIns="0" rtlCol="0" anchor="ctr"/>
          <a:lstStyle/>
          <a:p>
            <a:pPr marL="0" indent="0" algn="ctr">
              <a:buNone/>
            </a:pPr>
            <a:r>
              <a:rPr lang="en-US" sz="1600" b="1" dirty="0">
                <a:solidFill>
                  <a:srgbClr val="0B3D3A"/>
                </a:solidFill>
                <a:latin typeface="Calibri" pitchFamily="34" charset="0"/>
                <a:ea typeface="Calibri" pitchFamily="34" charset="-122"/>
                <a:cs typeface="Calibri" pitchFamily="34" charset="-120"/>
              </a:rPr>
              <a:t>j=1</a:t>
            </a:r>
            <a:endParaRPr lang="en-US" sz="1600" dirty="0"/>
          </a:p>
        </p:txBody>
      </p:sp>
      <p:sp>
        <p:nvSpPr>
          <p:cNvPr id="29" name="Shape 27"/>
          <p:cNvSpPr/>
          <p:nvPr/>
        </p:nvSpPr>
        <p:spPr>
          <a:xfrm>
            <a:off x="1234440" y="2103120"/>
            <a:ext cx="2331720" cy="365760"/>
          </a:xfrm>
          <a:prstGeom prst="roundRect">
            <a:avLst>
              <a:gd name="adj" fmla="val 50000"/>
            </a:avLst>
          </a:prstGeom>
          <a:solidFill>
            <a:srgbClr val="EDEFF3"/>
          </a:solidFill>
          <a:ln/>
        </p:spPr>
      </p:sp>
      <p:sp>
        <p:nvSpPr>
          <p:cNvPr id="30" name="Text 28"/>
          <p:cNvSpPr txBox="1"/>
          <p:nvPr/>
        </p:nvSpPr>
        <p:spPr>
          <a:xfrm>
            <a:off x="1234440" y="2103120"/>
            <a:ext cx="2331720" cy="365760"/>
          </a:xfrm>
          <a:prstGeom prst="rect">
            <a:avLst/>
          </a:prstGeom>
          <a:noFill/>
          <a:ln/>
        </p:spPr>
        <p:txBody>
          <a:bodyPr wrap="square" lIns="88900" tIns="88900" rIns="88900" bIns="88900" rtlCol="0" anchor="ctr"/>
          <a:lstStyle/>
          <a:p>
            <a:pPr marL="0" indent="0" algn="l">
              <a:buNone/>
            </a:pPr>
            <a:r>
              <a:rPr lang="en-US" sz="1600" b="1" dirty="0">
                <a:solidFill>
                  <a:srgbClr val="5B6584"/>
                </a:solidFill>
                <a:latin typeface="Calibri" pitchFamily="34" charset="0"/>
                <a:ea typeface="Calibri" pitchFamily="34" charset="-122"/>
                <a:cs typeface="Calibri" pitchFamily="34" charset="-120"/>
              </a:rPr>
              <a:t>A[1]=80 ≤ 70?  No</a:t>
            </a:r>
            <a:endParaRPr lang="en-US" sz="1600" dirty="0"/>
          </a:p>
        </p:txBody>
      </p:sp>
      <p:sp>
        <p:nvSpPr>
          <p:cNvPr id="31" name="Shape 29"/>
          <p:cNvSpPr/>
          <p:nvPr/>
        </p:nvSpPr>
        <p:spPr>
          <a:xfrm>
            <a:off x="3749040" y="2084832"/>
            <a:ext cx="384048" cy="384048"/>
          </a:xfrm>
          <a:prstGeom prst="roundRect">
            <a:avLst>
              <a:gd name="adj" fmla="val 19048"/>
            </a:avLst>
          </a:prstGeom>
          <a:solidFill>
            <a:srgbClr val="FFFFFF"/>
          </a:solidFill>
          <a:ln w="22225">
            <a:solidFill>
              <a:srgbClr val="0F6B64"/>
            </a:solidFill>
            <a:prstDash val="solid"/>
          </a:ln>
        </p:spPr>
      </p:sp>
      <p:sp>
        <p:nvSpPr>
          <p:cNvPr id="32" name="Text 30"/>
          <p:cNvSpPr txBox="1"/>
          <p:nvPr/>
        </p:nvSpPr>
        <p:spPr>
          <a:xfrm>
            <a:off x="3749040" y="20848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10</a:t>
            </a:r>
            <a:endParaRPr lang="en-US" sz="1050" dirty="0"/>
          </a:p>
        </p:txBody>
      </p:sp>
      <p:sp>
        <p:nvSpPr>
          <p:cNvPr id="33" name="Shape 31"/>
          <p:cNvSpPr/>
          <p:nvPr/>
        </p:nvSpPr>
        <p:spPr>
          <a:xfrm>
            <a:off x="4183380" y="2084832"/>
            <a:ext cx="384048" cy="384048"/>
          </a:xfrm>
          <a:prstGeom prst="roundRect">
            <a:avLst>
              <a:gd name="adj" fmla="val 19048"/>
            </a:avLst>
          </a:prstGeom>
          <a:solidFill>
            <a:srgbClr val="FFFFFF"/>
          </a:solidFill>
          <a:ln w="22225">
            <a:solidFill>
              <a:srgbClr val="0F6B64"/>
            </a:solidFill>
            <a:prstDash val="solid"/>
          </a:ln>
        </p:spPr>
      </p:sp>
      <p:sp>
        <p:nvSpPr>
          <p:cNvPr id="34" name="Text 32"/>
          <p:cNvSpPr txBox="1"/>
          <p:nvPr/>
        </p:nvSpPr>
        <p:spPr>
          <a:xfrm>
            <a:off x="4183380" y="20848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80</a:t>
            </a:r>
            <a:endParaRPr lang="en-US" sz="1050" dirty="0"/>
          </a:p>
        </p:txBody>
      </p:sp>
      <p:sp>
        <p:nvSpPr>
          <p:cNvPr id="35" name="Shape 33"/>
          <p:cNvSpPr/>
          <p:nvPr/>
        </p:nvSpPr>
        <p:spPr>
          <a:xfrm>
            <a:off x="4617720" y="2084832"/>
            <a:ext cx="384048" cy="384048"/>
          </a:xfrm>
          <a:prstGeom prst="roundRect">
            <a:avLst>
              <a:gd name="adj" fmla="val 19048"/>
            </a:avLst>
          </a:prstGeom>
          <a:solidFill>
            <a:srgbClr val="FFFFFF"/>
          </a:solidFill>
          <a:ln w="22225">
            <a:solidFill>
              <a:srgbClr val="0F6B64"/>
            </a:solidFill>
            <a:prstDash val="solid"/>
          </a:ln>
        </p:spPr>
      </p:sp>
      <p:sp>
        <p:nvSpPr>
          <p:cNvPr id="36" name="Text 34"/>
          <p:cNvSpPr txBox="1"/>
          <p:nvPr/>
        </p:nvSpPr>
        <p:spPr>
          <a:xfrm>
            <a:off x="4617720" y="20848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30</a:t>
            </a:r>
            <a:endParaRPr lang="en-US" sz="1050" dirty="0"/>
          </a:p>
        </p:txBody>
      </p:sp>
      <p:sp>
        <p:nvSpPr>
          <p:cNvPr id="37" name="Shape 35"/>
          <p:cNvSpPr/>
          <p:nvPr/>
        </p:nvSpPr>
        <p:spPr>
          <a:xfrm>
            <a:off x="5052060" y="2084832"/>
            <a:ext cx="384048" cy="384048"/>
          </a:xfrm>
          <a:prstGeom prst="roundRect">
            <a:avLst>
              <a:gd name="adj" fmla="val 19048"/>
            </a:avLst>
          </a:prstGeom>
          <a:solidFill>
            <a:srgbClr val="FFFFFF"/>
          </a:solidFill>
          <a:ln w="22225">
            <a:solidFill>
              <a:srgbClr val="0F6B64"/>
            </a:solidFill>
            <a:prstDash val="solid"/>
          </a:ln>
        </p:spPr>
      </p:sp>
      <p:sp>
        <p:nvSpPr>
          <p:cNvPr id="38" name="Text 36"/>
          <p:cNvSpPr txBox="1"/>
          <p:nvPr/>
        </p:nvSpPr>
        <p:spPr>
          <a:xfrm>
            <a:off x="5052060" y="20848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90</a:t>
            </a:r>
            <a:endParaRPr lang="en-US" sz="1050" dirty="0"/>
          </a:p>
        </p:txBody>
      </p:sp>
      <p:sp>
        <p:nvSpPr>
          <p:cNvPr id="39" name="Shape 37"/>
          <p:cNvSpPr/>
          <p:nvPr/>
        </p:nvSpPr>
        <p:spPr>
          <a:xfrm>
            <a:off x="5486400" y="2084832"/>
            <a:ext cx="384048" cy="384048"/>
          </a:xfrm>
          <a:prstGeom prst="roundRect">
            <a:avLst>
              <a:gd name="adj" fmla="val 19048"/>
            </a:avLst>
          </a:prstGeom>
          <a:solidFill>
            <a:srgbClr val="FFFFFF"/>
          </a:solidFill>
          <a:ln w="22225">
            <a:solidFill>
              <a:srgbClr val="0F6B64"/>
            </a:solidFill>
            <a:prstDash val="solid"/>
          </a:ln>
        </p:spPr>
      </p:sp>
      <p:sp>
        <p:nvSpPr>
          <p:cNvPr id="40" name="Text 38"/>
          <p:cNvSpPr txBox="1"/>
          <p:nvPr/>
        </p:nvSpPr>
        <p:spPr>
          <a:xfrm>
            <a:off x="5486400" y="20848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40</a:t>
            </a:r>
            <a:endParaRPr lang="en-US" sz="1050" dirty="0"/>
          </a:p>
        </p:txBody>
      </p:sp>
      <p:sp>
        <p:nvSpPr>
          <p:cNvPr id="41" name="Shape 39"/>
          <p:cNvSpPr/>
          <p:nvPr/>
        </p:nvSpPr>
        <p:spPr>
          <a:xfrm>
            <a:off x="5920740" y="2084832"/>
            <a:ext cx="384048" cy="384048"/>
          </a:xfrm>
          <a:prstGeom prst="roundRect">
            <a:avLst>
              <a:gd name="adj" fmla="val 19048"/>
            </a:avLst>
          </a:prstGeom>
          <a:solidFill>
            <a:srgbClr val="FFFFFF"/>
          </a:solidFill>
          <a:ln w="22225">
            <a:solidFill>
              <a:srgbClr val="0F6B64"/>
            </a:solidFill>
            <a:prstDash val="solid"/>
          </a:ln>
        </p:spPr>
      </p:sp>
      <p:sp>
        <p:nvSpPr>
          <p:cNvPr id="42" name="Text 40"/>
          <p:cNvSpPr txBox="1"/>
          <p:nvPr/>
        </p:nvSpPr>
        <p:spPr>
          <a:xfrm>
            <a:off x="5920740" y="20848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50</a:t>
            </a:r>
            <a:endParaRPr lang="en-US" sz="1050" dirty="0"/>
          </a:p>
        </p:txBody>
      </p:sp>
      <p:sp>
        <p:nvSpPr>
          <p:cNvPr id="43" name="Shape 41"/>
          <p:cNvSpPr/>
          <p:nvPr/>
        </p:nvSpPr>
        <p:spPr>
          <a:xfrm>
            <a:off x="6355080" y="2084832"/>
            <a:ext cx="384048" cy="384048"/>
          </a:xfrm>
          <a:prstGeom prst="roundRect">
            <a:avLst>
              <a:gd name="adj" fmla="val 19048"/>
            </a:avLst>
          </a:prstGeom>
          <a:solidFill>
            <a:srgbClr val="FFFFFF"/>
          </a:solidFill>
          <a:ln w="22225">
            <a:solidFill>
              <a:srgbClr val="0F6B64"/>
            </a:solidFill>
            <a:prstDash val="solid"/>
          </a:ln>
        </p:spPr>
      </p:sp>
      <p:sp>
        <p:nvSpPr>
          <p:cNvPr id="44" name="Text 42"/>
          <p:cNvSpPr txBox="1"/>
          <p:nvPr/>
        </p:nvSpPr>
        <p:spPr>
          <a:xfrm>
            <a:off x="6355080" y="20848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70</a:t>
            </a:r>
            <a:endParaRPr lang="en-US" sz="1050" dirty="0"/>
          </a:p>
        </p:txBody>
      </p:sp>
      <p:sp>
        <p:nvSpPr>
          <p:cNvPr id="45" name="Shape 43"/>
          <p:cNvSpPr/>
          <p:nvPr/>
        </p:nvSpPr>
        <p:spPr>
          <a:xfrm>
            <a:off x="8549640" y="2103120"/>
            <a:ext cx="3063240" cy="365760"/>
          </a:xfrm>
          <a:prstGeom prst="roundRect">
            <a:avLst>
              <a:gd name="adj" fmla="val 50000"/>
            </a:avLst>
          </a:prstGeom>
          <a:solidFill>
            <a:srgbClr val="EDEFF3"/>
          </a:solidFill>
          <a:ln/>
        </p:spPr>
      </p:sp>
      <p:sp>
        <p:nvSpPr>
          <p:cNvPr id="46" name="Text 44"/>
          <p:cNvSpPr txBox="1"/>
          <p:nvPr/>
        </p:nvSpPr>
        <p:spPr>
          <a:xfrm>
            <a:off x="8549640" y="2103120"/>
            <a:ext cx="3063240" cy="365760"/>
          </a:xfrm>
          <a:prstGeom prst="rect">
            <a:avLst/>
          </a:prstGeom>
          <a:noFill/>
          <a:ln/>
        </p:spPr>
        <p:txBody>
          <a:bodyPr wrap="square" lIns="88900" tIns="88900" rIns="88900" bIns="88900" rtlCol="0" anchor="ctr"/>
          <a:lstStyle/>
          <a:p>
            <a:pPr marL="0" indent="0" algn="l">
              <a:buNone/>
            </a:pPr>
            <a:r>
              <a:rPr lang="en-US" sz="1600" b="1" dirty="0">
                <a:solidFill>
                  <a:srgbClr val="5B6584"/>
                </a:solidFill>
                <a:latin typeface="Calibri" pitchFamily="34" charset="0"/>
                <a:ea typeface="Calibri" pitchFamily="34" charset="-122"/>
                <a:cs typeface="Calibri" pitchFamily="34" charset="-120"/>
              </a:rPr>
              <a:t>no change</a:t>
            </a:r>
            <a:endParaRPr lang="en-US" sz="1600" dirty="0"/>
          </a:p>
        </p:txBody>
      </p:sp>
      <p:sp>
        <p:nvSpPr>
          <p:cNvPr id="47" name="Shape 45"/>
          <p:cNvSpPr/>
          <p:nvPr/>
        </p:nvSpPr>
        <p:spPr>
          <a:xfrm>
            <a:off x="548640" y="2560320"/>
            <a:ext cx="594360" cy="365760"/>
          </a:xfrm>
          <a:prstGeom prst="roundRect">
            <a:avLst>
              <a:gd name="adj" fmla="val 50000"/>
            </a:avLst>
          </a:prstGeom>
          <a:solidFill>
            <a:srgbClr val="E8F5F3"/>
          </a:solidFill>
          <a:ln/>
        </p:spPr>
      </p:sp>
      <p:sp>
        <p:nvSpPr>
          <p:cNvPr id="48" name="Text 46"/>
          <p:cNvSpPr txBox="1"/>
          <p:nvPr/>
        </p:nvSpPr>
        <p:spPr>
          <a:xfrm>
            <a:off x="548640" y="2560320"/>
            <a:ext cx="594360" cy="365760"/>
          </a:xfrm>
          <a:prstGeom prst="rect">
            <a:avLst/>
          </a:prstGeom>
          <a:noFill/>
          <a:ln/>
        </p:spPr>
        <p:txBody>
          <a:bodyPr wrap="square" lIns="0" tIns="0" rIns="0" bIns="0" rtlCol="0" anchor="ctr"/>
          <a:lstStyle/>
          <a:p>
            <a:pPr marL="0" indent="0" algn="ctr">
              <a:buNone/>
            </a:pPr>
            <a:r>
              <a:rPr lang="en-US" sz="1600" b="1" dirty="0">
                <a:solidFill>
                  <a:srgbClr val="0B3D3A"/>
                </a:solidFill>
                <a:latin typeface="Calibri" pitchFamily="34" charset="0"/>
                <a:ea typeface="Calibri" pitchFamily="34" charset="-122"/>
                <a:cs typeface="Calibri" pitchFamily="34" charset="-120"/>
              </a:rPr>
              <a:t>j=2</a:t>
            </a:r>
            <a:endParaRPr lang="en-US" sz="1600" dirty="0"/>
          </a:p>
        </p:txBody>
      </p:sp>
      <p:sp>
        <p:nvSpPr>
          <p:cNvPr id="49" name="Shape 47"/>
          <p:cNvSpPr/>
          <p:nvPr/>
        </p:nvSpPr>
        <p:spPr>
          <a:xfrm>
            <a:off x="1234440" y="2560320"/>
            <a:ext cx="2331720" cy="365760"/>
          </a:xfrm>
          <a:prstGeom prst="roundRect">
            <a:avLst>
              <a:gd name="adj" fmla="val 50000"/>
            </a:avLst>
          </a:prstGeom>
          <a:solidFill>
            <a:srgbClr val="E8F5F3"/>
          </a:solidFill>
          <a:ln/>
        </p:spPr>
      </p:sp>
      <p:sp>
        <p:nvSpPr>
          <p:cNvPr id="50" name="Text 48"/>
          <p:cNvSpPr txBox="1"/>
          <p:nvPr/>
        </p:nvSpPr>
        <p:spPr>
          <a:xfrm>
            <a:off x="1234440" y="2560320"/>
            <a:ext cx="2331720" cy="365760"/>
          </a:xfrm>
          <a:prstGeom prst="rect">
            <a:avLst/>
          </a:prstGeom>
          <a:noFill/>
          <a:ln/>
        </p:spPr>
        <p:txBody>
          <a:bodyPr wrap="square" lIns="88900" tIns="88900" rIns="88900" bIns="88900" rtlCol="0" anchor="ctr"/>
          <a:lstStyle/>
          <a:p>
            <a:pPr marL="0" indent="0" algn="l">
              <a:buNone/>
            </a:pPr>
            <a:r>
              <a:rPr lang="en-US" sz="1600" b="1" dirty="0">
                <a:solidFill>
                  <a:srgbClr val="0B3D3A"/>
                </a:solidFill>
                <a:latin typeface="Calibri" pitchFamily="34" charset="0"/>
                <a:ea typeface="Calibri" pitchFamily="34" charset="-122"/>
                <a:cs typeface="Calibri" pitchFamily="34" charset="-120"/>
              </a:rPr>
              <a:t>A[2]=30 ≤ 70</a:t>
            </a:r>
            <a:endParaRPr lang="en-US" sz="1600" dirty="0"/>
          </a:p>
        </p:txBody>
      </p:sp>
      <p:sp>
        <p:nvSpPr>
          <p:cNvPr id="51" name="Shape 49"/>
          <p:cNvSpPr/>
          <p:nvPr/>
        </p:nvSpPr>
        <p:spPr>
          <a:xfrm>
            <a:off x="3749040" y="2542032"/>
            <a:ext cx="384048" cy="384048"/>
          </a:xfrm>
          <a:prstGeom prst="roundRect">
            <a:avLst>
              <a:gd name="adj" fmla="val 19048"/>
            </a:avLst>
          </a:prstGeom>
          <a:solidFill>
            <a:srgbClr val="FFFFFF"/>
          </a:solidFill>
          <a:ln w="22225">
            <a:solidFill>
              <a:srgbClr val="0F6B64"/>
            </a:solidFill>
            <a:prstDash val="solid"/>
          </a:ln>
        </p:spPr>
      </p:sp>
      <p:sp>
        <p:nvSpPr>
          <p:cNvPr id="52" name="Text 50"/>
          <p:cNvSpPr txBox="1"/>
          <p:nvPr/>
        </p:nvSpPr>
        <p:spPr>
          <a:xfrm>
            <a:off x="3749040" y="25420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10</a:t>
            </a:r>
            <a:endParaRPr lang="en-US" sz="1050" dirty="0"/>
          </a:p>
        </p:txBody>
      </p:sp>
      <p:sp>
        <p:nvSpPr>
          <p:cNvPr id="53" name="Shape 51"/>
          <p:cNvSpPr/>
          <p:nvPr/>
        </p:nvSpPr>
        <p:spPr>
          <a:xfrm>
            <a:off x="4183380" y="2542032"/>
            <a:ext cx="384048" cy="384048"/>
          </a:xfrm>
          <a:prstGeom prst="roundRect">
            <a:avLst>
              <a:gd name="adj" fmla="val 19048"/>
            </a:avLst>
          </a:prstGeom>
          <a:solidFill>
            <a:srgbClr val="C98A1E"/>
          </a:solidFill>
          <a:ln w="22225">
            <a:solidFill>
              <a:srgbClr val="0F6B64"/>
            </a:solidFill>
            <a:prstDash val="solid"/>
          </a:ln>
        </p:spPr>
      </p:sp>
      <p:sp>
        <p:nvSpPr>
          <p:cNvPr id="54" name="Text 52"/>
          <p:cNvSpPr txBox="1"/>
          <p:nvPr/>
        </p:nvSpPr>
        <p:spPr>
          <a:xfrm>
            <a:off x="4183380" y="2542032"/>
            <a:ext cx="38404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30</a:t>
            </a:r>
            <a:endParaRPr lang="en-US" sz="1050" dirty="0"/>
          </a:p>
        </p:txBody>
      </p:sp>
      <p:sp>
        <p:nvSpPr>
          <p:cNvPr id="55" name="Shape 53"/>
          <p:cNvSpPr/>
          <p:nvPr/>
        </p:nvSpPr>
        <p:spPr>
          <a:xfrm>
            <a:off x="4617720" y="2542032"/>
            <a:ext cx="384048" cy="384048"/>
          </a:xfrm>
          <a:prstGeom prst="roundRect">
            <a:avLst>
              <a:gd name="adj" fmla="val 19048"/>
            </a:avLst>
          </a:prstGeom>
          <a:solidFill>
            <a:srgbClr val="FFFFFF"/>
          </a:solidFill>
          <a:ln w="22225">
            <a:solidFill>
              <a:srgbClr val="0F6B64"/>
            </a:solidFill>
            <a:prstDash val="solid"/>
          </a:ln>
        </p:spPr>
      </p:sp>
      <p:sp>
        <p:nvSpPr>
          <p:cNvPr id="56" name="Text 54"/>
          <p:cNvSpPr txBox="1"/>
          <p:nvPr/>
        </p:nvSpPr>
        <p:spPr>
          <a:xfrm>
            <a:off x="4617720" y="25420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80</a:t>
            </a:r>
            <a:endParaRPr lang="en-US" sz="1050" dirty="0"/>
          </a:p>
        </p:txBody>
      </p:sp>
      <p:sp>
        <p:nvSpPr>
          <p:cNvPr id="57" name="Shape 55"/>
          <p:cNvSpPr/>
          <p:nvPr/>
        </p:nvSpPr>
        <p:spPr>
          <a:xfrm>
            <a:off x="5052060" y="2542032"/>
            <a:ext cx="384048" cy="384048"/>
          </a:xfrm>
          <a:prstGeom prst="roundRect">
            <a:avLst>
              <a:gd name="adj" fmla="val 19048"/>
            </a:avLst>
          </a:prstGeom>
          <a:solidFill>
            <a:srgbClr val="FFFFFF"/>
          </a:solidFill>
          <a:ln w="22225">
            <a:solidFill>
              <a:srgbClr val="0F6B64"/>
            </a:solidFill>
            <a:prstDash val="solid"/>
          </a:ln>
        </p:spPr>
      </p:sp>
      <p:sp>
        <p:nvSpPr>
          <p:cNvPr id="58" name="Text 56"/>
          <p:cNvSpPr txBox="1"/>
          <p:nvPr/>
        </p:nvSpPr>
        <p:spPr>
          <a:xfrm>
            <a:off x="5052060" y="25420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90</a:t>
            </a:r>
            <a:endParaRPr lang="en-US" sz="1050" dirty="0"/>
          </a:p>
        </p:txBody>
      </p:sp>
      <p:sp>
        <p:nvSpPr>
          <p:cNvPr id="59" name="Shape 57"/>
          <p:cNvSpPr/>
          <p:nvPr/>
        </p:nvSpPr>
        <p:spPr>
          <a:xfrm>
            <a:off x="5486400" y="2542032"/>
            <a:ext cx="384048" cy="384048"/>
          </a:xfrm>
          <a:prstGeom prst="roundRect">
            <a:avLst>
              <a:gd name="adj" fmla="val 19048"/>
            </a:avLst>
          </a:prstGeom>
          <a:solidFill>
            <a:srgbClr val="FFFFFF"/>
          </a:solidFill>
          <a:ln w="22225">
            <a:solidFill>
              <a:srgbClr val="0F6B64"/>
            </a:solidFill>
            <a:prstDash val="solid"/>
          </a:ln>
        </p:spPr>
      </p:sp>
      <p:sp>
        <p:nvSpPr>
          <p:cNvPr id="60" name="Text 58"/>
          <p:cNvSpPr txBox="1"/>
          <p:nvPr/>
        </p:nvSpPr>
        <p:spPr>
          <a:xfrm>
            <a:off x="5486400" y="25420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40</a:t>
            </a:r>
            <a:endParaRPr lang="en-US" sz="1050" dirty="0"/>
          </a:p>
        </p:txBody>
      </p:sp>
      <p:sp>
        <p:nvSpPr>
          <p:cNvPr id="61" name="Shape 59"/>
          <p:cNvSpPr/>
          <p:nvPr/>
        </p:nvSpPr>
        <p:spPr>
          <a:xfrm>
            <a:off x="5920740" y="2542032"/>
            <a:ext cx="384048" cy="384048"/>
          </a:xfrm>
          <a:prstGeom prst="roundRect">
            <a:avLst>
              <a:gd name="adj" fmla="val 19048"/>
            </a:avLst>
          </a:prstGeom>
          <a:solidFill>
            <a:srgbClr val="FFFFFF"/>
          </a:solidFill>
          <a:ln w="22225">
            <a:solidFill>
              <a:srgbClr val="0F6B64"/>
            </a:solidFill>
            <a:prstDash val="solid"/>
          </a:ln>
        </p:spPr>
      </p:sp>
      <p:sp>
        <p:nvSpPr>
          <p:cNvPr id="62" name="Text 60"/>
          <p:cNvSpPr txBox="1"/>
          <p:nvPr/>
        </p:nvSpPr>
        <p:spPr>
          <a:xfrm>
            <a:off x="5920740" y="25420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50</a:t>
            </a:r>
            <a:endParaRPr lang="en-US" sz="1050" dirty="0"/>
          </a:p>
        </p:txBody>
      </p:sp>
      <p:sp>
        <p:nvSpPr>
          <p:cNvPr id="63" name="Shape 61"/>
          <p:cNvSpPr/>
          <p:nvPr/>
        </p:nvSpPr>
        <p:spPr>
          <a:xfrm>
            <a:off x="6355080" y="2542032"/>
            <a:ext cx="384048" cy="384048"/>
          </a:xfrm>
          <a:prstGeom prst="roundRect">
            <a:avLst>
              <a:gd name="adj" fmla="val 19048"/>
            </a:avLst>
          </a:prstGeom>
          <a:solidFill>
            <a:srgbClr val="FFFFFF"/>
          </a:solidFill>
          <a:ln w="22225">
            <a:solidFill>
              <a:srgbClr val="0F6B64"/>
            </a:solidFill>
            <a:prstDash val="solid"/>
          </a:ln>
        </p:spPr>
      </p:sp>
      <p:sp>
        <p:nvSpPr>
          <p:cNvPr id="64" name="Text 62"/>
          <p:cNvSpPr txBox="1"/>
          <p:nvPr/>
        </p:nvSpPr>
        <p:spPr>
          <a:xfrm>
            <a:off x="6355080" y="25420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70</a:t>
            </a:r>
            <a:endParaRPr lang="en-US" sz="1050" dirty="0"/>
          </a:p>
        </p:txBody>
      </p:sp>
      <p:sp>
        <p:nvSpPr>
          <p:cNvPr id="65" name="Shape 63"/>
          <p:cNvSpPr/>
          <p:nvPr/>
        </p:nvSpPr>
        <p:spPr>
          <a:xfrm>
            <a:off x="8549640" y="2560320"/>
            <a:ext cx="3063240" cy="365760"/>
          </a:xfrm>
          <a:prstGeom prst="roundRect">
            <a:avLst>
              <a:gd name="adj" fmla="val 50000"/>
            </a:avLst>
          </a:prstGeom>
          <a:solidFill>
            <a:srgbClr val="C98A1E"/>
          </a:solidFill>
          <a:ln/>
        </p:spPr>
      </p:sp>
      <p:sp>
        <p:nvSpPr>
          <p:cNvPr id="66" name="Text 64"/>
          <p:cNvSpPr txBox="1"/>
          <p:nvPr/>
        </p:nvSpPr>
        <p:spPr>
          <a:xfrm>
            <a:off x="8549640" y="2560320"/>
            <a:ext cx="3063240" cy="365760"/>
          </a:xfrm>
          <a:prstGeom prst="rect">
            <a:avLst/>
          </a:prstGeom>
          <a:noFill/>
          <a:ln/>
        </p:spPr>
        <p:txBody>
          <a:bodyPr wrap="square" lIns="88900" tIns="88900" rIns="88900" bIns="8890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i=1, swap(A[1],A[2])</a:t>
            </a:r>
            <a:endParaRPr lang="en-US" sz="1600" dirty="0"/>
          </a:p>
        </p:txBody>
      </p:sp>
      <p:sp>
        <p:nvSpPr>
          <p:cNvPr id="67" name="Shape 65"/>
          <p:cNvSpPr/>
          <p:nvPr/>
        </p:nvSpPr>
        <p:spPr>
          <a:xfrm>
            <a:off x="548640" y="3017520"/>
            <a:ext cx="594360" cy="365760"/>
          </a:xfrm>
          <a:prstGeom prst="roundRect">
            <a:avLst>
              <a:gd name="adj" fmla="val 50000"/>
            </a:avLst>
          </a:prstGeom>
          <a:solidFill>
            <a:srgbClr val="E8F5F3"/>
          </a:solidFill>
          <a:ln/>
        </p:spPr>
      </p:sp>
      <p:sp>
        <p:nvSpPr>
          <p:cNvPr id="68" name="Text 66"/>
          <p:cNvSpPr txBox="1"/>
          <p:nvPr/>
        </p:nvSpPr>
        <p:spPr>
          <a:xfrm>
            <a:off x="548640" y="3017520"/>
            <a:ext cx="594360" cy="365760"/>
          </a:xfrm>
          <a:prstGeom prst="rect">
            <a:avLst/>
          </a:prstGeom>
          <a:noFill/>
          <a:ln/>
        </p:spPr>
        <p:txBody>
          <a:bodyPr wrap="square" lIns="0" tIns="0" rIns="0" bIns="0" rtlCol="0" anchor="ctr"/>
          <a:lstStyle/>
          <a:p>
            <a:pPr marL="0" indent="0" algn="ctr">
              <a:buNone/>
            </a:pPr>
            <a:r>
              <a:rPr lang="en-US" sz="1600" b="1" dirty="0">
                <a:solidFill>
                  <a:srgbClr val="0B3D3A"/>
                </a:solidFill>
                <a:latin typeface="Calibri" pitchFamily="34" charset="0"/>
                <a:ea typeface="Calibri" pitchFamily="34" charset="-122"/>
                <a:cs typeface="Calibri" pitchFamily="34" charset="-120"/>
              </a:rPr>
              <a:t>j=3</a:t>
            </a:r>
            <a:endParaRPr lang="en-US" sz="1600" dirty="0"/>
          </a:p>
        </p:txBody>
      </p:sp>
      <p:sp>
        <p:nvSpPr>
          <p:cNvPr id="69" name="Shape 67"/>
          <p:cNvSpPr/>
          <p:nvPr/>
        </p:nvSpPr>
        <p:spPr>
          <a:xfrm>
            <a:off x="1234440" y="3017520"/>
            <a:ext cx="2331720" cy="365760"/>
          </a:xfrm>
          <a:prstGeom prst="roundRect">
            <a:avLst>
              <a:gd name="adj" fmla="val 50000"/>
            </a:avLst>
          </a:prstGeom>
          <a:solidFill>
            <a:srgbClr val="EDEFF3"/>
          </a:solidFill>
          <a:ln/>
        </p:spPr>
      </p:sp>
      <p:sp>
        <p:nvSpPr>
          <p:cNvPr id="70" name="Text 68"/>
          <p:cNvSpPr txBox="1"/>
          <p:nvPr/>
        </p:nvSpPr>
        <p:spPr>
          <a:xfrm>
            <a:off x="1234440" y="3017520"/>
            <a:ext cx="2331720" cy="365760"/>
          </a:xfrm>
          <a:prstGeom prst="rect">
            <a:avLst/>
          </a:prstGeom>
          <a:noFill/>
          <a:ln/>
        </p:spPr>
        <p:txBody>
          <a:bodyPr wrap="square" lIns="88900" tIns="88900" rIns="88900" bIns="88900" rtlCol="0" anchor="ctr"/>
          <a:lstStyle/>
          <a:p>
            <a:pPr marL="0" indent="0" algn="l">
              <a:buNone/>
            </a:pPr>
            <a:r>
              <a:rPr lang="en-US" sz="1600" b="1" dirty="0">
                <a:solidFill>
                  <a:srgbClr val="5B6584"/>
                </a:solidFill>
                <a:latin typeface="Calibri" pitchFamily="34" charset="0"/>
                <a:ea typeface="Calibri" pitchFamily="34" charset="-122"/>
                <a:cs typeface="Calibri" pitchFamily="34" charset="-120"/>
              </a:rPr>
              <a:t>A[3]=90 ≤ 70?  No</a:t>
            </a:r>
            <a:endParaRPr lang="en-US" sz="1600" dirty="0"/>
          </a:p>
        </p:txBody>
      </p:sp>
      <p:sp>
        <p:nvSpPr>
          <p:cNvPr id="71" name="Shape 69"/>
          <p:cNvSpPr/>
          <p:nvPr/>
        </p:nvSpPr>
        <p:spPr>
          <a:xfrm>
            <a:off x="3749040" y="2999232"/>
            <a:ext cx="384048" cy="384048"/>
          </a:xfrm>
          <a:prstGeom prst="roundRect">
            <a:avLst>
              <a:gd name="adj" fmla="val 19048"/>
            </a:avLst>
          </a:prstGeom>
          <a:solidFill>
            <a:srgbClr val="FFFFFF"/>
          </a:solidFill>
          <a:ln w="22225">
            <a:solidFill>
              <a:srgbClr val="0F6B64"/>
            </a:solidFill>
            <a:prstDash val="solid"/>
          </a:ln>
        </p:spPr>
      </p:sp>
      <p:sp>
        <p:nvSpPr>
          <p:cNvPr id="72" name="Text 70"/>
          <p:cNvSpPr txBox="1"/>
          <p:nvPr/>
        </p:nvSpPr>
        <p:spPr>
          <a:xfrm>
            <a:off x="3749040" y="29992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10</a:t>
            </a:r>
            <a:endParaRPr lang="en-US" sz="1050" dirty="0"/>
          </a:p>
        </p:txBody>
      </p:sp>
      <p:sp>
        <p:nvSpPr>
          <p:cNvPr id="73" name="Shape 71"/>
          <p:cNvSpPr/>
          <p:nvPr/>
        </p:nvSpPr>
        <p:spPr>
          <a:xfrm>
            <a:off x="4183380" y="2999232"/>
            <a:ext cx="384048" cy="384048"/>
          </a:xfrm>
          <a:prstGeom prst="roundRect">
            <a:avLst>
              <a:gd name="adj" fmla="val 19048"/>
            </a:avLst>
          </a:prstGeom>
          <a:solidFill>
            <a:srgbClr val="FFFFFF"/>
          </a:solidFill>
          <a:ln w="22225">
            <a:solidFill>
              <a:srgbClr val="0F6B64"/>
            </a:solidFill>
            <a:prstDash val="solid"/>
          </a:ln>
        </p:spPr>
      </p:sp>
      <p:sp>
        <p:nvSpPr>
          <p:cNvPr id="74" name="Text 72"/>
          <p:cNvSpPr txBox="1"/>
          <p:nvPr/>
        </p:nvSpPr>
        <p:spPr>
          <a:xfrm>
            <a:off x="4183380" y="29992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30</a:t>
            </a:r>
            <a:endParaRPr lang="en-US" sz="1050" dirty="0"/>
          </a:p>
        </p:txBody>
      </p:sp>
      <p:sp>
        <p:nvSpPr>
          <p:cNvPr id="75" name="Shape 73"/>
          <p:cNvSpPr/>
          <p:nvPr/>
        </p:nvSpPr>
        <p:spPr>
          <a:xfrm>
            <a:off x="4617720" y="2999232"/>
            <a:ext cx="384048" cy="384048"/>
          </a:xfrm>
          <a:prstGeom prst="roundRect">
            <a:avLst>
              <a:gd name="adj" fmla="val 19048"/>
            </a:avLst>
          </a:prstGeom>
          <a:solidFill>
            <a:srgbClr val="FFFFFF"/>
          </a:solidFill>
          <a:ln w="22225">
            <a:solidFill>
              <a:srgbClr val="0F6B64"/>
            </a:solidFill>
            <a:prstDash val="solid"/>
          </a:ln>
        </p:spPr>
      </p:sp>
      <p:sp>
        <p:nvSpPr>
          <p:cNvPr id="76" name="Text 74"/>
          <p:cNvSpPr txBox="1"/>
          <p:nvPr/>
        </p:nvSpPr>
        <p:spPr>
          <a:xfrm>
            <a:off x="4617720" y="29992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80</a:t>
            </a:r>
            <a:endParaRPr lang="en-US" sz="1050" dirty="0"/>
          </a:p>
        </p:txBody>
      </p:sp>
      <p:sp>
        <p:nvSpPr>
          <p:cNvPr id="77" name="Shape 75"/>
          <p:cNvSpPr/>
          <p:nvPr/>
        </p:nvSpPr>
        <p:spPr>
          <a:xfrm>
            <a:off x="5052060" y="2999232"/>
            <a:ext cx="384048" cy="384048"/>
          </a:xfrm>
          <a:prstGeom prst="roundRect">
            <a:avLst>
              <a:gd name="adj" fmla="val 19048"/>
            </a:avLst>
          </a:prstGeom>
          <a:solidFill>
            <a:srgbClr val="FFFFFF"/>
          </a:solidFill>
          <a:ln w="22225">
            <a:solidFill>
              <a:srgbClr val="0F6B64"/>
            </a:solidFill>
            <a:prstDash val="solid"/>
          </a:ln>
        </p:spPr>
      </p:sp>
      <p:sp>
        <p:nvSpPr>
          <p:cNvPr id="78" name="Text 76"/>
          <p:cNvSpPr txBox="1"/>
          <p:nvPr/>
        </p:nvSpPr>
        <p:spPr>
          <a:xfrm>
            <a:off x="5052060" y="29992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90</a:t>
            </a:r>
            <a:endParaRPr lang="en-US" sz="1050" dirty="0"/>
          </a:p>
        </p:txBody>
      </p:sp>
      <p:sp>
        <p:nvSpPr>
          <p:cNvPr id="79" name="Shape 77"/>
          <p:cNvSpPr/>
          <p:nvPr/>
        </p:nvSpPr>
        <p:spPr>
          <a:xfrm>
            <a:off x="5486400" y="2999232"/>
            <a:ext cx="384048" cy="384048"/>
          </a:xfrm>
          <a:prstGeom prst="roundRect">
            <a:avLst>
              <a:gd name="adj" fmla="val 19048"/>
            </a:avLst>
          </a:prstGeom>
          <a:solidFill>
            <a:srgbClr val="FFFFFF"/>
          </a:solidFill>
          <a:ln w="22225">
            <a:solidFill>
              <a:srgbClr val="0F6B64"/>
            </a:solidFill>
            <a:prstDash val="solid"/>
          </a:ln>
        </p:spPr>
      </p:sp>
      <p:sp>
        <p:nvSpPr>
          <p:cNvPr id="80" name="Text 78"/>
          <p:cNvSpPr txBox="1"/>
          <p:nvPr/>
        </p:nvSpPr>
        <p:spPr>
          <a:xfrm>
            <a:off x="5486400" y="29992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40</a:t>
            </a:r>
            <a:endParaRPr lang="en-US" sz="1050" dirty="0"/>
          </a:p>
        </p:txBody>
      </p:sp>
      <p:sp>
        <p:nvSpPr>
          <p:cNvPr id="81" name="Shape 79"/>
          <p:cNvSpPr/>
          <p:nvPr/>
        </p:nvSpPr>
        <p:spPr>
          <a:xfrm>
            <a:off x="5920740" y="2999232"/>
            <a:ext cx="384048" cy="384048"/>
          </a:xfrm>
          <a:prstGeom prst="roundRect">
            <a:avLst>
              <a:gd name="adj" fmla="val 19048"/>
            </a:avLst>
          </a:prstGeom>
          <a:solidFill>
            <a:srgbClr val="FFFFFF"/>
          </a:solidFill>
          <a:ln w="22225">
            <a:solidFill>
              <a:srgbClr val="0F6B64"/>
            </a:solidFill>
            <a:prstDash val="solid"/>
          </a:ln>
        </p:spPr>
      </p:sp>
      <p:sp>
        <p:nvSpPr>
          <p:cNvPr id="82" name="Text 80"/>
          <p:cNvSpPr txBox="1"/>
          <p:nvPr/>
        </p:nvSpPr>
        <p:spPr>
          <a:xfrm>
            <a:off x="5920740" y="29992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50</a:t>
            </a:r>
            <a:endParaRPr lang="en-US" sz="1050" dirty="0"/>
          </a:p>
        </p:txBody>
      </p:sp>
      <p:sp>
        <p:nvSpPr>
          <p:cNvPr id="83" name="Shape 81"/>
          <p:cNvSpPr/>
          <p:nvPr/>
        </p:nvSpPr>
        <p:spPr>
          <a:xfrm>
            <a:off x="6355080" y="2999232"/>
            <a:ext cx="384048" cy="384048"/>
          </a:xfrm>
          <a:prstGeom prst="roundRect">
            <a:avLst>
              <a:gd name="adj" fmla="val 19048"/>
            </a:avLst>
          </a:prstGeom>
          <a:solidFill>
            <a:srgbClr val="FFFFFF"/>
          </a:solidFill>
          <a:ln w="22225">
            <a:solidFill>
              <a:srgbClr val="0F6B64"/>
            </a:solidFill>
            <a:prstDash val="solid"/>
          </a:ln>
        </p:spPr>
      </p:sp>
      <p:sp>
        <p:nvSpPr>
          <p:cNvPr id="84" name="Text 82"/>
          <p:cNvSpPr txBox="1"/>
          <p:nvPr/>
        </p:nvSpPr>
        <p:spPr>
          <a:xfrm>
            <a:off x="6355080" y="29992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70</a:t>
            </a:r>
            <a:endParaRPr lang="en-US" sz="1050" dirty="0"/>
          </a:p>
        </p:txBody>
      </p:sp>
      <p:sp>
        <p:nvSpPr>
          <p:cNvPr id="85" name="Shape 83"/>
          <p:cNvSpPr/>
          <p:nvPr/>
        </p:nvSpPr>
        <p:spPr>
          <a:xfrm>
            <a:off x="8549640" y="3017520"/>
            <a:ext cx="3063240" cy="365760"/>
          </a:xfrm>
          <a:prstGeom prst="roundRect">
            <a:avLst>
              <a:gd name="adj" fmla="val 50000"/>
            </a:avLst>
          </a:prstGeom>
          <a:solidFill>
            <a:srgbClr val="EDEFF3"/>
          </a:solidFill>
          <a:ln/>
        </p:spPr>
      </p:sp>
      <p:sp>
        <p:nvSpPr>
          <p:cNvPr id="86" name="Text 84"/>
          <p:cNvSpPr txBox="1"/>
          <p:nvPr/>
        </p:nvSpPr>
        <p:spPr>
          <a:xfrm>
            <a:off x="8549640" y="3017520"/>
            <a:ext cx="3063240" cy="365760"/>
          </a:xfrm>
          <a:prstGeom prst="rect">
            <a:avLst/>
          </a:prstGeom>
          <a:noFill/>
          <a:ln/>
        </p:spPr>
        <p:txBody>
          <a:bodyPr wrap="square" lIns="88900" tIns="88900" rIns="88900" bIns="88900" rtlCol="0" anchor="ctr"/>
          <a:lstStyle/>
          <a:p>
            <a:pPr marL="0" indent="0" algn="l">
              <a:buNone/>
            </a:pPr>
            <a:r>
              <a:rPr lang="en-US" sz="1600" b="1" dirty="0">
                <a:solidFill>
                  <a:srgbClr val="5B6584"/>
                </a:solidFill>
                <a:latin typeface="Calibri" pitchFamily="34" charset="0"/>
                <a:ea typeface="Calibri" pitchFamily="34" charset="-122"/>
                <a:cs typeface="Calibri" pitchFamily="34" charset="-120"/>
              </a:rPr>
              <a:t>no change</a:t>
            </a:r>
            <a:endParaRPr lang="en-US" sz="1600" dirty="0"/>
          </a:p>
        </p:txBody>
      </p:sp>
      <p:sp>
        <p:nvSpPr>
          <p:cNvPr id="87" name="Shape 85"/>
          <p:cNvSpPr/>
          <p:nvPr/>
        </p:nvSpPr>
        <p:spPr>
          <a:xfrm>
            <a:off x="548640" y="3474720"/>
            <a:ext cx="594360" cy="365760"/>
          </a:xfrm>
          <a:prstGeom prst="roundRect">
            <a:avLst>
              <a:gd name="adj" fmla="val 50000"/>
            </a:avLst>
          </a:prstGeom>
          <a:solidFill>
            <a:srgbClr val="E8F5F3"/>
          </a:solidFill>
          <a:ln/>
        </p:spPr>
      </p:sp>
      <p:sp>
        <p:nvSpPr>
          <p:cNvPr id="88" name="Text 86"/>
          <p:cNvSpPr txBox="1"/>
          <p:nvPr/>
        </p:nvSpPr>
        <p:spPr>
          <a:xfrm>
            <a:off x="548640" y="3474720"/>
            <a:ext cx="594360" cy="365760"/>
          </a:xfrm>
          <a:prstGeom prst="rect">
            <a:avLst/>
          </a:prstGeom>
          <a:noFill/>
          <a:ln/>
        </p:spPr>
        <p:txBody>
          <a:bodyPr wrap="square" lIns="0" tIns="0" rIns="0" bIns="0" rtlCol="0" anchor="ctr"/>
          <a:lstStyle/>
          <a:p>
            <a:pPr marL="0" indent="0" algn="ctr">
              <a:buNone/>
            </a:pPr>
            <a:r>
              <a:rPr lang="en-US" sz="1600" b="1" dirty="0">
                <a:solidFill>
                  <a:srgbClr val="0B3D3A"/>
                </a:solidFill>
                <a:latin typeface="Calibri" pitchFamily="34" charset="0"/>
                <a:ea typeface="Calibri" pitchFamily="34" charset="-122"/>
                <a:cs typeface="Calibri" pitchFamily="34" charset="-120"/>
              </a:rPr>
              <a:t>j=4</a:t>
            </a:r>
            <a:endParaRPr lang="en-US" sz="1600" dirty="0"/>
          </a:p>
        </p:txBody>
      </p:sp>
      <p:sp>
        <p:nvSpPr>
          <p:cNvPr id="89" name="Shape 87"/>
          <p:cNvSpPr/>
          <p:nvPr/>
        </p:nvSpPr>
        <p:spPr>
          <a:xfrm>
            <a:off x="1234440" y="3474720"/>
            <a:ext cx="2331720" cy="365760"/>
          </a:xfrm>
          <a:prstGeom prst="roundRect">
            <a:avLst>
              <a:gd name="adj" fmla="val 50000"/>
            </a:avLst>
          </a:prstGeom>
          <a:solidFill>
            <a:srgbClr val="E8F5F3"/>
          </a:solidFill>
          <a:ln/>
        </p:spPr>
      </p:sp>
      <p:sp>
        <p:nvSpPr>
          <p:cNvPr id="90" name="Text 88"/>
          <p:cNvSpPr txBox="1"/>
          <p:nvPr/>
        </p:nvSpPr>
        <p:spPr>
          <a:xfrm>
            <a:off x="1234440" y="3474720"/>
            <a:ext cx="2331720" cy="365760"/>
          </a:xfrm>
          <a:prstGeom prst="rect">
            <a:avLst/>
          </a:prstGeom>
          <a:noFill/>
          <a:ln/>
        </p:spPr>
        <p:txBody>
          <a:bodyPr wrap="square" lIns="88900" tIns="88900" rIns="88900" bIns="88900" rtlCol="0" anchor="ctr"/>
          <a:lstStyle/>
          <a:p>
            <a:pPr marL="0" indent="0" algn="l">
              <a:buNone/>
            </a:pPr>
            <a:r>
              <a:rPr lang="en-US" sz="1600" b="1" dirty="0">
                <a:solidFill>
                  <a:srgbClr val="0B3D3A"/>
                </a:solidFill>
                <a:latin typeface="Calibri" pitchFamily="34" charset="0"/>
                <a:ea typeface="Calibri" pitchFamily="34" charset="-122"/>
                <a:cs typeface="Calibri" pitchFamily="34" charset="-120"/>
              </a:rPr>
              <a:t>A[4]=40 ≤ 70</a:t>
            </a:r>
            <a:endParaRPr lang="en-US" sz="1600" dirty="0"/>
          </a:p>
        </p:txBody>
      </p:sp>
      <p:sp>
        <p:nvSpPr>
          <p:cNvPr id="91" name="Shape 89"/>
          <p:cNvSpPr/>
          <p:nvPr/>
        </p:nvSpPr>
        <p:spPr>
          <a:xfrm>
            <a:off x="3749040" y="3456432"/>
            <a:ext cx="384048" cy="384048"/>
          </a:xfrm>
          <a:prstGeom prst="roundRect">
            <a:avLst>
              <a:gd name="adj" fmla="val 19048"/>
            </a:avLst>
          </a:prstGeom>
          <a:solidFill>
            <a:srgbClr val="FFFFFF"/>
          </a:solidFill>
          <a:ln w="22225">
            <a:solidFill>
              <a:srgbClr val="0F6B64"/>
            </a:solidFill>
            <a:prstDash val="solid"/>
          </a:ln>
        </p:spPr>
      </p:sp>
      <p:sp>
        <p:nvSpPr>
          <p:cNvPr id="92" name="Text 90"/>
          <p:cNvSpPr txBox="1"/>
          <p:nvPr/>
        </p:nvSpPr>
        <p:spPr>
          <a:xfrm>
            <a:off x="3749040" y="34564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10</a:t>
            </a:r>
            <a:endParaRPr lang="en-US" sz="1050" dirty="0"/>
          </a:p>
        </p:txBody>
      </p:sp>
      <p:sp>
        <p:nvSpPr>
          <p:cNvPr id="93" name="Shape 91"/>
          <p:cNvSpPr/>
          <p:nvPr/>
        </p:nvSpPr>
        <p:spPr>
          <a:xfrm>
            <a:off x="4183380" y="3456432"/>
            <a:ext cx="384048" cy="384048"/>
          </a:xfrm>
          <a:prstGeom prst="roundRect">
            <a:avLst>
              <a:gd name="adj" fmla="val 19048"/>
            </a:avLst>
          </a:prstGeom>
          <a:solidFill>
            <a:srgbClr val="FFFFFF"/>
          </a:solidFill>
          <a:ln w="22225">
            <a:solidFill>
              <a:srgbClr val="0F6B64"/>
            </a:solidFill>
            <a:prstDash val="solid"/>
          </a:ln>
        </p:spPr>
      </p:sp>
      <p:sp>
        <p:nvSpPr>
          <p:cNvPr id="94" name="Text 92"/>
          <p:cNvSpPr txBox="1"/>
          <p:nvPr/>
        </p:nvSpPr>
        <p:spPr>
          <a:xfrm>
            <a:off x="4183380" y="34564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30</a:t>
            </a:r>
            <a:endParaRPr lang="en-US" sz="1050" dirty="0"/>
          </a:p>
        </p:txBody>
      </p:sp>
      <p:sp>
        <p:nvSpPr>
          <p:cNvPr id="95" name="Shape 93"/>
          <p:cNvSpPr/>
          <p:nvPr/>
        </p:nvSpPr>
        <p:spPr>
          <a:xfrm>
            <a:off x="4617720" y="3456432"/>
            <a:ext cx="384048" cy="384048"/>
          </a:xfrm>
          <a:prstGeom prst="roundRect">
            <a:avLst>
              <a:gd name="adj" fmla="val 19048"/>
            </a:avLst>
          </a:prstGeom>
          <a:solidFill>
            <a:srgbClr val="C98A1E"/>
          </a:solidFill>
          <a:ln w="22225">
            <a:solidFill>
              <a:srgbClr val="0F6B64"/>
            </a:solidFill>
            <a:prstDash val="solid"/>
          </a:ln>
        </p:spPr>
      </p:sp>
      <p:sp>
        <p:nvSpPr>
          <p:cNvPr id="96" name="Text 94"/>
          <p:cNvSpPr txBox="1"/>
          <p:nvPr/>
        </p:nvSpPr>
        <p:spPr>
          <a:xfrm>
            <a:off x="4617720" y="3456432"/>
            <a:ext cx="38404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40</a:t>
            </a:r>
            <a:endParaRPr lang="en-US" sz="1050" dirty="0"/>
          </a:p>
        </p:txBody>
      </p:sp>
      <p:sp>
        <p:nvSpPr>
          <p:cNvPr id="97" name="Shape 95"/>
          <p:cNvSpPr/>
          <p:nvPr/>
        </p:nvSpPr>
        <p:spPr>
          <a:xfrm>
            <a:off x="5052060" y="3456432"/>
            <a:ext cx="384048" cy="384048"/>
          </a:xfrm>
          <a:prstGeom prst="roundRect">
            <a:avLst>
              <a:gd name="adj" fmla="val 19048"/>
            </a:avLst>
          </a:prstGeom>
          <a:solidFill>
            <a:srgbClr val="FFFFFF"/>
          </a:solidFill>
          <a:ln w="22225">
            <a:solidFill>
              <a:srgbClr val="0F6B64"/>
            </a:solidFill>
            <a:prstDash val="solid"/>
          </a:ln>
        </p:spPr>
      </p:sp>
      <p:sp>
        <p:nvSpPr>
          <p:cNvPr id="98" name="Text 96"/>
          <p:cNvSpPr txBox="1"/>
          <p:nvPr/>
        </p:nvSpPr>
        <p:spPr>
          <a:xfrm>
            <a:off x="5052060" y="34564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90</a:t>
            </a:r>
            <a:endParaRPr lang="en-US" sz="1050" dirty="0"/>
          </a:p>
        </p:txBody>
      </p:sp>
      <p:sp>
        <p:nvSpPr>
          <p:cNvPr id="99" name="Shape 97"/>
          <p:cNvSpPr/>
          <p:nvPr/>
        </p:nvSpPr>
        <p:spPr>
          <a:xfrm>
            <a:off x="5486400" y="3456432"/>
            <a:ext cx="384048" cy="384048"/>
          </a:xfrm>
          <a:prstGeom prst="roundRect">
            <a:avLst>
              <a:gd name="adj" fmla="val 19048"/>
            </a:avLst>
          </a:prstGeom>
          <a:solidFill>
            <a:srgbClr val="FFFFFF"/>
          </a:solidFill>
          <a:ln w="22225">
            <a:solidFill>
              <a:srgbClr val="0F6B64"/>
            </a:solidFill>
            <a:prstDash val="solid"/>
          </a:ln>
        </p:spPr>
      </p:sp>
      <p:sp>
        <p:nvSpPr>
          <p:cNvPr id="100" name="Text 98"/>
          <p:cNvSpPr txBox="1"/>
          <p:nvPr/>
        </p:nvSpPr>
        <p:spPr>
          <a:xfrm>
            <a:off x="5486400" y="34564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80</a:t>
            </a:r>
            <a:endParaRPr lang="en-US" sz="1050" dirty="0"/>
          </a:p>
        </p:txBody>
      </p:sp>
      <p:sp>
        <p:nvSpPr>
          <p:cNvPr id="101" name="Shape 99"/>
          <p:cNvSpPr/>
          <p:nvPr/>
        </p:nvSpPr>
        <p:spPr>
          <a:xfrm>
            <a:off x="5920740" y="3456432"/>
            <a:ext cx="384048" cy="384048"/>
          </a:xfrm>
          <a:prstGeom prst="roundRect">
            <a:avLst>
              <a:gd name="adj" fmla="val 19048"/>
            </a:avLst>
          </a:prstGeom>
          <a:solidFill>
            <a:srgbClr val="FFFFFF"/>
          </a:solidFill>
          <a:ln w="22225">
            <a:solidFill>
              <a:srgbClr val="0F6B64"/>
            </a:solidFill>
            <a:prstDash val="solid"/>
          </a:ln>
        </p:spPr>
      </p:sp>
      <p:sp>
        <p:nvSpPr>
          <p:cNvPr id="102" name="Text 100"/>
          <p:cNvSpPr txBox="1"/>
          <p:nvPr/>
        </p:nvSpPr>
        <p:spPr>
          <a:xfrm>
            <a:off x="5920740" y="34564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50</a:t>
            </a:r>
            <a:endParaRPr lang="en-US" sz="1050" dirty="0"/>
          </a:p>
        </p:txBody>
      </p:sp>
      <p:sp>
        <p:nvSpPr>
          <p:cNvPr id="103" name="Shape 101"/>
          <p:cNvSpPr/>
          <p:nvPr/>
        </p:nvSpPr>
        <p:spPr>
          <a:xfrm>
            <a:off x="6355080" y="3456432"/>
            <a:ext cx="384048" cy="384048"/>
          </a:xfrm>
          <a:prstGeom prst="roundRect">
            <a:avLst>
              <a:gd name="adj" fmla="val 19048"/>
            </a:avLst>
          </a:prstGeom>
          <a:solidFill>
            <a:srgbClr val="FFFFFF"/>
          </a:solidFill>
          <a:ln w="22225">
            <a:solidFill>
              <a:srgbClr val="0F6B64"/>
            </a:solidFill>
            <a:prstDash val="solid"/>
          </a:ln>
        </p:spPr>
      </p:sp>
      <p:sp>
        <p:nvSpPr>
          <p:cNvPr id="104" name="Text 102"/>
          <p:cNvSpPr txBox="1"/>
          <p:nvPr/>
        </p:nvSpPr>
        <p:spPr>
          <a:xfrm>
            <a:off x="6355080" y="34564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70</a:t>
            </a:r>
            <a:endParaRPr lang="en-US" sz="1050" dirty="0"/>
          </a:p>
        </p:txBody>
      </p:sp>
      <p:sp>
        <p:nvSpPr>
          <p:cNvPr id="105" name="Shape 103"/>
          <p:cNvSpPr/>
          <p:nvPr/>
        </p:nvSpPr>
        <p:spPr>
          <a:xfrm>
            <a:off x="8549640" y="3474720"/>
            <a:ext cx="3063240" cy="365760"/>
          </a:xfrm>
          <a:prstGeom prst="roundRect">
            <a:avLst>
              <a:gd name="adj" fmla="val 50000"/>
            </a:avLst>
          </a:prstGeom>
          <a:solidFill>
            <a:srgbClr val="C98A1E"/>
          </a:solidFill>
          <a:ln/>
        </p:spPr>
      </p:sp>
      <p:sp>
        <p:nvSpPr>
          <p:cNvPr id="106" name="Text 104"/>
          <p:cNvSpPr txBox="1"/>
          <p:nvPr/>
        </p:nvSpPr>
        <p:spPr>
          <a:xfrm>
            <a:off x="8549640" y="3474720"/>
            <a:ext cx="3063240" cy="365760"/>
          </a:xfrm>
          <a:prstGeom prst="rect">
            <a:avLst/>
          </a:prstGeom>
          <a:noFill/>
          <a:ln/>
        </p:spPr>
        <p:txBody>
          <a:bodyPr wrap="square" lIns="88900" tIns="88900" rIns="88900" bIns="8890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i=2, swap(A[2],A[4])</a:t>
            </a:r>
            <a:endParaRPr lang="en-US" sz="1600" dirty="0"/>
          </a:p>
        </p:txBody>
      </p:sp>
      <p:sp>
        <p:nvSpPr>
          <p:cNvPr id="107" name="Shape 105"/>
          <p:cNvSpPr/>
          <p:nvPr/>
        </p:nvSpPr>
        <p:spPr>
          <a:xfrm>
            <a:off x="548640" y="3931920"/>
            <a:ext cx="594360" cy="365760"/>
          </a:xfrm>
          <a:prstGeom prst="roundRect">
            <a:avLst>
              <a:gd name="adj" fmla="val 50000"/>
            </a:avLst>
          </a:prstGeom>
          <a:solidFill>
            <a:srgbClr val="E8F5F3"/>
          </a:solidFill>
          <a:ln/>
        </p:spPr>
      </p:sp>
      <p:sp>
        <p:nvSpPr>
          <p:cNvPr id="108" name="Text 106"/>
          <p:cNvSpPr txBox="1"/>
          <p:nvPr/>
        </p:nvSpPr>
        <p:spPr>
          <a:xfrm>
            <a:off x="548640" y="3931920"/>
            <a:ext cx="594360" cy="365760"/>
          </a:xfrm>
          <a:prstGeom prst="rect">
            <a:avLst/>
          </a:prstGeom>
          <a:noFill/>
          <a:ln/>
        </p:spPr>
        <p:txBody>
          <a:bodyPr wrap="square" lIns="0" tIns="0" rIns="0" bIns="0" rtlCol="0" anchor="ctr"/>
          <a:lstStyle/>
          <a:p>
            <a:pPr marL="0" indent="0" algn="ctr">
              <a:buNone/>
            </a:pPr>
            <a:r>
              <a:rPr lang="en-US" sz="1600" b="1" dirty="0">
                <a:solidFill>
                  <a:srgbClr val="0B3D3A"/>
                </a:solidFill>
                <a:latin typeface="Calibri" pitchFamily="34" charset="0"/>
                <a:ea typeface="Calibri" pitchFamily="34" charset="-122"/>
                <a:cs typeface="Calibri" pitchFamily="34" charset="-120"/>
              </a:rPr>
              <a:t>j=5</a:t>
            </a:r>
            <a:endParaRPr lang="en-US" sz="1600" dirty="0"/>
          </a:p>
        </p:txBody>
      </p:sp>
      <p:sp>
        <p:nvSpPr>
          <p:cNvPr id="109" name="Shape 107"/>
          <p:cNvSpPr/>
          <p:nvPr/>
        </p:nvSpPr>
        <p:spPr>
          <a:xfrm>
            <a:off x="1234440" y="3931920"/>
            <a:ext cx="2331720" cy="365760"/>
          </a:xfrm>
          <a:prstGeom prst="roundRect">
            <a:avLst>
              <a:gd name="adj" fmla="val 50000"/>
            </a:avLst>
          </a:prstGeom>
          <a:solidFill>
            <a:srgbClr val="E8F5F3"/>
          </a:solidFill>
          <a:ln/>
        </p:spPr>
      </p:sp>
      <p:sp>
        <p:nvSpPr>
          <p:cNvPr id="110" name="Text 108"/>
          <p:cNvSpPr txBox="1"/>
          <p:nvPr/>
        </p:nvSpPr>
        <p:spPr>
          <a:xfrm>
            <a:off x="1234440" y="3931920"/>
            <a:ext cx="2331720" cy="365760"/>
          </a:xfrm>
          <a:prstGeom prst="rect">
            <a:avLst/>
          </a:prstGeom>
          <a:noFill/>
          <a:ln/>
        </p:spPr>
        <p:txBody>
          <a:bodyPr wrap="square" lIns="88900" tIns="88900" rIns="88900" bIns="88900" rtlCol="0" anchor="ctr"/>
          <a:lstStyle/>
          <a:p>
            <a:pPr marL="0" indent="0" algn="l">
              <a:buNone/>
            </a:pPr>
            <a:r>
              <a:rPr lang="en-US" sz="1600" b="1" dirty="0">
                <a:solidFill>
                  <a:srgbClr val="0B3D3A"/>
                </a:solidFill>
                <a:latin typeface="Calibri" pitchFamily="34" charset="0"/>
                <a:ea typeface="Calibri" pitchFamily="34" charset="-122"/>
                <a:cs typeface="Calibri" pitchFamily="34" charset="-120"/>
              </a:rPr>
              <a:t>A[5]=50 ≤ 70</a:t>
            </a:r>
            <a:endParaRPr lang="en-US" sz="1600" dirty="0"/>
          </a:p>
        </p:txBody>
      </p:sp>
      <p:sp>
        <p:nvSpPr>
          <p:cNvPr id="111" name="Shape 109"/>
          <p:cNvSpPr/>
          <p:nvPr/>
        </p:nvSpPr>
        <p:spPr>
          <a:xfrm>
            <a:off x="3749040" y="3913632"/>
            <a:ext cx="384048" cy="384048"/>
          </a:xfrm>
          <a:prstGeom prst="roundRect">
            <a:avLst>
              <a:gd name="adj" fmla="val 19048"/>
            </a:avLst>
          </a:prstGeom>
          <a:solidFill>
            <a:srgbClr val="FFFFFF"/>
          </a:solidFill>
          <a:ln w="22225">
            <a:solidFill>
              <a:srgbClr val="0F6B64"/>
            </a:solidFill>
            <a:prstDash val="solid"/>
          </a:ln>
        </p:spPr>
      </p:sp>
      <p:sp>
        <p:nvSpPr>
          <p:cNvPr id="112" name="Text 110"/>
          <p:cNvSpPr txBox="1"/>
          <p:nvPr/>
        </p:nvSpPr>
        <p:spPr>
          <a:xfrm>
            <a:off x="3749040" y="39136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10</a:t>
            </a:r>
            <a:endParaRPr lang="en-US" sz="1050" dirty="0"/>
          </a:p>
        </p:txBody>
      </p:sp>
      <p:sp>
        <p:nvSpPr>
          <p:cNvPr id="113" name="Shape 111"/>
          <p:cNvSpPr/>
          <p:nvPr/>
        </p:nvSpPr>
        <p:spPr>
          <a:xfrm>
            <a:off x="4183380" y="3913632"/>
            <a:ext cx="384048" cy="384048"/>
          </a:xfrm>
          <a:prstGeom prst="roundRect">
            <a:avLst>
              <a:gd name="adj" fmla="val 19048"/>
            </a:avLst>
          </a:prstGeom>
          <a:solidFill>
            <a:srgbClr val="FFFFFF"/>
          </a:solidFill>
          <a:ln w="22225">
            <a:solidFill>
              <a:srgbClr val="0F6B64"/>
            </a:solidFill>
            <a:prstDash val="solid"/>
          </a:ln>
        </p:spPr>
      </p:sp>
      <p:sp>
        <p:nvSpPr>
          <p:cNvPr id="114" name="Text 112"/>
          <p:cNvSpPr txBox="1"/>
          <p:nvPr/>
        </p:nvSpPr>
        <p:spPr>
          <a:xfrm>
            <a:off x="4183380" y="39136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30</a:t>
            </a:r>
            <a:endParaRPr lang="en-US" sz="1050" dirty="0"/>
          </a:p>
        </p:txBody>
      </p:sp>
      <p:sp>
        <p:nvSpPr>
          <p:cNvPr id="115" name="Shape 113"/>
          <p:cNvSpPr/>
          <p:nvPr/>
        </p:nvSpPr>
        <p:spPr>
          <a:xfrm>
            <a:off x="4617720" y="3913632"/>
            <a:ext cx="384048" cy="384048"/>
          </a:xfrm>
          <a:prstGeom prst="roundRect">
            <a:avLst>
              <a:gd name="adj" fmla="val 19048"/>
            </a:avLst>
          </a:prstGeom>
          <a:solidFill>
            <a:srgbClr val="FFFFFF"/>
          </a:solidFill>
          <a:ln w="22225">
            <a:solidFill>
              <a:srgbClr val="0F6B64"/>
            </a:solidFill>
            <a:prstDash val="solid"/>
          </a:ln>
        </p:spPr>
      </p:sp>
      <p:sp>
        <p:nvSpPr>
          <p:cNvPr id="116" name="Text 114"/>
          <p:cNvSpPr txBox="1"/>
          <p:nvPr/>
        </p:nvSpPr>
        <p:spPr>
          <a:xfrm>
            <a:off x="4617720" y="39136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40</a:t>
            </a:r>
            <a:endParaRPr lang="en-US" sz="1050" dirty="0"/>
          </a:p>
        </p:txBody>
      </p:sp>
      <p:sp>
        <p:nvSpPr>
          <p:cNvPr id="117" name="Shape 115"/>
          <p:cNvSpPr/>
          <p:nvPr/>
        </p:nvSpPr>
        <p:spPr>
          <a:xfrm>
            <a:off x="5052060" y="3913632"/>
            <a:ext cx="384048" cy="384048"/>
          </a:xfrm>
          <a:prstGeom prst="roundRect">
            <a:avLst>
              <a:gd name="adj" fmla="val 19048"/>
            </a:avLst>
          </a:prstGeom>
          <a:solidFill>
            <a:srgbClr val="C98A1E"/>
          </a:solidFill>
          <a:ln w="22225">
            <a:solidFill>
              <a:srgbClr val="0F6B64"/>
            </a:solidFill>
            <a:prstDash val="solid"/>
          </a:ln>
        </p:spPr>
      </p:sp>
      <p:sp>
        <p:nvSpPr>
          <p:cNvPr id="118" name="Text 116"/>
          <p:cNvSpPr txBox="1"/>
          <p:nvPr/>
        </p:nvSpPr>
        <p:spPr>
          <a:xfrm>
            <a:off x="5052060" y="3913632"/>
            <a:ext cx="38404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pitchFamily="34" charset="0"/>
                <a:ea typeface="Courier New" pitchFamily="34" charset="-122"/>
                <a:cs typeface="Courier New" pitchFamily="34" charset="-120"/>
              </a:rPr>
              <a:t>50</a:t>
            </a:r>
            <a:endParaRPr lang="en-US" sz="1050" dirty="0"/>
          </a:p>
        </p:txBody>
      </p:sp>
      <p:sp>
        <p:nvSpPr>
          <p:cNvPr id="119" name="Shape 117"/>
          <p:cNvSpPr/>
          <p:nvPr/>
        </p:nvSpPr>
        <p:spPr>
          <a:xfrm>
            <a:off x="5486400" y="3913632"/>
            <a:ext cx="384048" cy="384048"/>
          </a:xfrm>
          <a:prstGeom prst="roundRect">
            <a:avLst>
              <a:gd name="adj" fmla="val 19048"/>
            </a:avLst>
          </a:prstGeom>
          <a:solidFill>
            <a:srgbClr val="FFFFFF"/>
          </a:solidFill>
          <a:ln w="22225">
            <a:solidFill>
              <a:srgbClr val="0F6B64"/>
            </a:solidFill>
            <a:prstDash val="solid"/>
          </a:ln>
        </p:spPr>
      </p:sp>
      <p:sp>
        <p:nvSpPr>
          <p:cNvPr id="120" name="Text 118"/>
          <p:cNvSpPr txBox="1"/>
          <p:nvPr/>
        </p:nvSpPr>
        <p:spPr>
          <a:xfrm>
            <a:off x="5486400" y="39136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80</a:t>
            </a:r>
            <a:endParaRPr lang="en-US" sz="1050" dirty="0"/>
          </a:p>
        </p:txBody>
      </p:sp>
      <p:sp>
        <p:nvSpPr>
          <p:cNvPr id="121" name="Shape 119"/>
          <p:cNvSpPr/>
          <p:nvPr/>
        </p:nvSpPr>
        <p:spPr>
          <a:xfrm>
            <a:off x="5920740" y="3913632"/>
            <a:ext cx="384048" cy="384048"/>
          </a:xfrm>
          <a:prstGeom prst="roundRect">
            <a:avLst>
              <a:gd name="adj" fmla="val 19048"/>
            </a:avLst>
          </a:prstGeom>
          <a:solidFill>
            <a:srgbClr val="FFFFFF"/>
          </a:solidFill>
          <a:ln w="22225">
            <a:solidFill>
              <a:srgbClr val="0F6B64"/>
            </a:solidFill>
            <a:prstDash val="solid"/>
          </a:ln>
        </p:spPr>
      </p:sp>
      <p:sp>
        <p:nvSpPr>
          <p:cNvPr id="122" name="Text 120"/>
          <p:cNvSpPr txBox="1"/>
          <p:nvPr/>
        </p:nvSpPr>
        <p:spPr>
          <a:xfrm>
            <a:off x="5920740" y="39136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90</a:t>
            </a:r>
            <a:endParaRPr lang="en-US" sz="1050" dirty="0"/>
          </a:p>
        </p:txBody>
      </p:sp>
      <p:sp>
        <p:nvSpPr>
          <p:cNvPr id="123" name="Shape 121"/>
          <p:cNvSpPr/>
          <p:nvPr/>
        </p:nvSpPr>
        <p:spPr>
          <a:xfrm>
            <a:off x="6355080" y="3913632"/>
            <a:ext cx="384048" cy="384048"/>
          </a:xfrm>
          <a:prstGeom prst="roundRect">
            <a:avLst>
              <a:gd name="adj" fmla="val 19048"/>
            </a:avLst>
          </a:prstGeom>
          <a:solidFill>
            <a:srgbClr val="FFFFFF"/>
          </a:solidFill>
          <a:ln w="22225">
            <a:solidFill>
              <a:srgbClr val="0F6B64"/>
            </a:solidFill>
            <a:prstDash val="solid"/>
          </a:ln>
        </p:spPr>
      </p:sp>
      <p:sp>
        <p:nvSpPr>
          <p:cNvPr id="124" name="Text 122"/>
          <p:cNvSpPr txBox="1"/>
          <p:nvPr/>
        </p:nvSpPr>
        <p:spPr>
          <a:xfrm>
            <a:off x="6355080" y="3913632"/>
            <a:ext cx="384048" cy="384048"/>
          </a:xfrm>
          <a:prstGeom prst="rect">
            <a:avLst/>
          </a:prstGeom>
          <a:noFill/>
          <a:ln/>
        </p:spPr>
        <p:txBody>
          <a:bodyPr wrap="square" lIns="0" tIns="0" rIns="0" bIns="0" rtlCol="0" anchor="ctr"/>
          <a:lstStyle/>
          <a:p>
            <a:pPr marL="0" indent="0" algn="ctr">
              <a:buNone/>
            </a:pPr>
            <a:r>
              <a:rPr lang="en-US" sz="1050" b="1" dirty="0">
                <a:solidFill>
                  <a:srgbClr val="1B2233"/>
                </a:solidFill>
                <a:latin typeface="Courier New" pitchFamily="34" charset="0"/>
                <a:ea typeface="Courier New" pitchFamily="34" charset="-122"/>
                <a:cs typeface="Courier New" pitchFamily="34" charset="-120"/>
              </a:rPr>
              <a:t>70</a:t>
            </a:r>
            <a:endParaRPr lang="en-US" sz="1050" dirty="0"/>
          </a:p>
        </p:txBody>
      </p:sp>
      <p:sp>
        <p:nvSpPr>
          <p:cNvPr id="125" name="Shape 123"/>
          <p:cNvSpPr/>
          <p:nvPr/>
        </p:nvSpPr>
        <p:spPr>
          <a:xfrm>
            <a:off x="8549640" y="3931920"/>
            <a:ext cx="3063240" cy="365760"/>
          </a:xfrm>
          <a:prstGeom prst="roundRect">
            <a:avLst>
              <a:gd name="adj" fmla="val 50000"/>
            </a:avLst>
          </a:prstGeom>
          <a:solidFill>
            <a:srgbClr val="C98A1E"/>
          </a:solidFill>
          <a:ln/>
        </p:spPr>
      </p:sp>
      <p:sp>
        <p:nvSpPr>
          <p:cNvPr id="126" name="Text 124"/>
          <p:cNvSpPr txBox="1"/>
          <p:nvPr/>
        </p:nvSpPr>
        <p:spPr>
          <a:xfrm>
            <a:off x="8549640" y="3931920"/>
            <a:ext cx="3063240" cy="365760"/>
          </a:xfrm>
          <a:prstGeom prst="rect">
            <a:avLst/>
          </a:prstGeom>
          <a:noFill/>
          <a:ln/>
        </p:spPr>
        <p:txBody>
          <a:bodyPr wrap="square" lIns="88900" tIns="88900" rIns="88900" bIns="8890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i=3, swap(A[3],A[5])</a:t>
            </a:r>
            <a:endParaRPr lang="en-US" sz="1600" dirty="0"/>
          </a:p>
        </p:txBody>
      </p:sp>
      <p:sp>
        <p:nvSpPr>
          <p:cNvPr id="127" name="Shape 125"/>
          <p:cNvSpPr/>
          <p:nvPr/>
        </p:nvSpPr>
        <p:spPr>
          <a:xfrm>
            <a:off x="548640" y="4480560"/>
            <a:ext cx="11064240" cy="502920"/>
          </a:xfrm>
          <a:prstGeom prst="roundRect">
            <a:avLst>
              <a:gd name="adj" fmla="val 18182"/>
            </a:avLst>
          </a:prstGeom>
          <a:solidFill>
            <a:srgbClr val="E8F5F3"/>
          </a:solidFill>
          <a:ln w="12700">
            <a:solidFill>
              <a:srgbClr val="BFE3DE"/>
            </a:solidFill>
            <a:prstDash val="solid"/>
          </a:ln>
        </p:spPr>
      </p:sp>
      <p:sp>
        <p:nvSpPr>
          <p:cNvPr id="128" name="Text 126"/>
          <p:cNvSpPr txBox="1"/>
          <p:nvPr/>
        </p:nvSpPr>
        <p:spPr>
          <a:xfrm>
            <a:off x="777240" y="4480560"/>
            <a:ext cx="10607040" cy="502920"/>
          </a:xfrm>
          <a:prstGeom prst="rect">
            <a:avLst/>
          </a:prstGeom>
          <a:noFill/>
          <a:ln/>
        </p:spPr>
        <p:txBody>
          <a:bodyPr wrap="square" lIns="0" tIns="0" rIns="0" bIns="0" rtlCol="0" anchor="ctr"/>
          <a:lstStyle/>
          <a:p>
            <a:pPr marL="0" indent="0">
              <a:buNone/>
            </a:pPr>
            <a:r>
              <a:rPr lang="en-US" i="1" dirty="0">
                <a:solidFill>
                  <a:srgbClr val="0B3D3A"/>
                </a:solidFill>
                <a:latin typeface="Calibri" pitchFamily="34" charset="0"/>
                <a:ea typeface="Calibri" pitchFamily="34" charset="-122"/>
                <a:cs typeface="Calibri" pitchFamily="34" charset="-120"/>
              </a:rPr>
              <a:t>Scan complete. Final step: swap(A[i+1], A[high]) = swap(A[4], A[6])  —  places the pivot.</a:t>
            </a:r>
            <a:endParaRPr lang="en-US" dirty="0"/>
          </a:p>
        </p:txBody>
      </p:sp>
      <p:sp>
        <p:nvSpPr>
          <p:cNvPr id="129" name="Shape 127"/>
          <p:cNvSpPr/>
          <p:nvPr/>
        </p:nvSpPr>
        <p:spPr>
          <a:xfrm>
            <a:off x="548640" y="5010912"/>
            <a:ext cx="11064240" cy="777240"/>
          </a:xfrm>
          <a:prstGeom prst="roundRect">
            <a:avLst>
              <a:gd name="adj" fmla="val 11765"/>
            </a:avLst>
          </a:prstGeom>
          <a:solidFill>
            <a:srgbClr val="81D4C8"/>
          </a:solidFill>
          <a:ln w="12700">
            <a:solidFill>
              <a:srgbClr val="0B3D3A"/>
            </a:solidFill>
            <a:prstDash val="solid"/>
          </a:ln>
        </p:spPr>
      </p:sp>
      <p:sp>
        <p:nvSpPr>
          <p:cNvPr id="130" name="Shape 128"/>
          <p:cNvSpPr/>
          <p:nvPr/>
        </p:nvSpPr>
        <p:spPr>
          <a:xfrm>
            <a:off x="777240" y="5148072"/>
            <a:ext cx="411480" cy="411480"/>
          </a:xfrm>
          <a:prstGeom prst="roundRect">
            <a:avLst>
              <a:gd name="adj" fmla="val 17778"/>
            </a:avLst>
          </a:prstGeom>
          <a:solidFill>
            <a:srgbClr val="FFFFFF"/>
          </a:solidFill>
          <a:ln w="22225">
            <a:solidFill>
              <a:srgbClr val="14918C"/>
            </a:solidFill>
            <a:prstDash val="solid"/>
          </a:ln>
        </p:spPr>
      </p:sp>
      <p:sp>
        <p:nvSpPr>
          <p:cNvPr id="131" name="Text 129"/>
          <p:cNvSpPr txBox="1"/>
          <p:nvPr/>
        </p:nvSpPr>
        <p:spPr>
          <a:xfrm>
            <a:off x="777240" y="5148072"/>
            <a:ext cx="411480" cy="411480"/>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10</a:t>
            </a:r>
            <a:endParaRPr lang="en-US" sz="1100" dirty="0"/>
          </a:p>
        </p:txBody>
      </p:sp>
      <p:sp>
        <p:nvSpPr>
          <p:cNvPr id="132" name="Shape 130"/>
          <p:cNvSpPr/>
          <p:nvPr/>
        </p:nvSpPr>
        <p:spPr>
          <a:xfrm>
            <a:off x="1252728" y="5148072"/>
            <a:ext cx="411480" cy="411480"/>
          </a:xfrm>
          <a:prstGeom prst="roundRect">
            <a:avLst>
              <a:gd name="adj" fmla="val 17778"/>
            </a:avLst>
          </a:prstGeom>
          <a:solidFill>
            <a:srgbClr val="FFFFFF"/>
          </a:solidFill>
          <a:ln w="22225">
            <a:solidFill>
              <a:srgbClr val="14918C"/>
            </a:solidFill>
            <a:prstDash val="solid"/>
          </a:ln>
        </p:spPr>
      </p:sp>
      <p:sp>
        <p:nvSpPr>
          <p:cNvPr id="133" name="Text 131"/>
          <p:cNvSpPr txBox="1"/>
          <p:nvPr/>
        </p:nvSpPr>
        <p:spPr>
          <a:xfrm>
            <a:off x="1252728" y="5148072"/>
            <a:ext cx="411480" cy="411480"/>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30</a:t>
            </a:r>
            <a:endParaRPr lang="en-US" sz="1100" dirty="0"/>
          </a:p>
        </p:txBody>
      </p:sp>
      <p:sp>
        <p:nvSpPr>
          <p:cNvPr id="134" name="Shape 132"/>
          <p:cNvSpPr/>
          <p:nvPr/>
        </p:nvSpPr>
        <p:spPr>
          <a:xfrm>
            <a:off x="1728216" y="5148072"/>
            <a:ext cx="411480" cy="411480"/>
          </a:xfrm>
          <a:prstGeom prst="roundRect">
            <a:avLst>
              <a:gd name="adj" fmla="val 17778"/>
            </a:avLst>
          </a:prstGeom>
          <a:solidFill>
            <a:srgbClr val="FFFFFF"/>
          </a:solidFill>
          <a:ln w="22225">
            <a:solidFill>
              <a:srgbClr val="14918C"/>
            </a:solidFill>
            <a:prstDash val="solid"/>
          </a:ln>
        </p:spPr>
      </p:sp>
      <p:sp>
        <p:nvSpPr>
          <p:cNvPr id="135" name="Text 133"/>
          <p:cNvSpPr txBox="1"/>
          <p:nvPr/>
        </p:nvSpPr>
        <p:spPr>
          <a:xfrm>
            <a:off x="1728216" y="5148072"/>
            <a:ext cx="411480" cy="411480"/>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40</a:t>
            </a:r>
            <a:endParaRPr lang="en-US" sz="1100" dirty="0"/>
          </a:p>
        </p:txBody>
      </p:sp>
      <p:sp>
        <p:nvSpPr>
          <p:cNvPr id="136" name="Shape 134"/>
          <p:cNvSpPr/>
          <p:nvPr/>
        </p:nvSpPr>
        <p:spPr>
          <a:xfrm>
            <a:off x="2203704" y="5148072"/>
            <a:ext cx="411480" cy="411480"/>
          </a:xfrm>
          <a:prstGeom prst="roundRect">
            <a:avLst>
              <a:gd name="adj" fmla="val 17778"/>
            </a:avLst>
          </a:prstGeom>
          <a:solidFill>
            <a:srgbClr val="FFFFFF"/>
          </a:solidFill>
          <a:ln w="22225">
            <a:solidFill>
              <a:srgbClr val="14918C"/>
            </a:solidFill>
            <a:prstDash val="solid"/>
          </a:ln>
        </p:spPr>
      </p:sp>
      <p:sp>
        <p:nvSpPr>
          <p:cNvPr id="137" name="Text 135"/>
          <p:cNvSpPr txBox="1"/>
          <p:nvPr/>
        </p:nvSpPr>
        <p:spPr>
          <a:xfrm>
            <a:off x="2203704" y="5148072"/>
            <a:ext cx="411480" cy="411480"/>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50</a:t>
            </a:r>
            <a:endParaRPr lang="en-US" sz="1100" dirty="0"/>
          </a:p>
        </p:txBody>
      </p:sp>
      <p:sp>
        <p:nvSpPr>
          <p:cNvPr id="138" name="Shape 136"/>
          <p:cNvSpPr/>
          <p:nvPr/>
        </p:nvSpPr>
        <p:spPr>
          <a:xfrm>
            <a:off x="2679192" y="5148072"/>
            <a:ext cx="411480" cy="411480"/>
          </a:xfrm>
          <a:prstGeom prst="roundRect">
            <a:avLst>
              <a:gd name="adj" fmla="val 17778"/>
            </a:avLst>
          </a:prstGeom>
          <a:solidFill>
            <a:srgbClr val="D9480F"/>
          </a:solidFill>
          <a:ln w="22225">
            <a:solidFill>
              <a:srgbClr val="14918C"/>
            </a:solidFill>
            <a:prstDash val="solid"/>
          </a:ln>
        </p:spPr>
      </p:sp>
      <p:sp>
        <p:nvSpPr>
          <p:cNvPr id="139" name="Text 137"/>
          <p:cNvSpPr txBox="1"/>
          <p:nvPr/>
        </p:nvSpPr>
        <p:spPr>
          <a:xfrm>
            <a:off x="2679192" y="5148072"/>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70</a:t>
            </a:r>
            <a:endParaRPr lang="en-US" sz="1100" dirty="0"/>
          </a:p>
        </p:txBody>
      </p:sp>
      <p:sp>
        <p:nvSpPr>
          <p:cNvPr id="140" name="Shape 138"/>
          <p:cNvSpPr/>
          <p:nvPr/>
        </p:nvSpPr>
        <p:spPr>
          <a:xfrm>
            <a:off x="3154680" y="5148072"/>
            <a:ext cx="411480" cy="411480"/>
          </a:xfrm>
          <a:prstGeom prst="roundRect">
            <a:avLst>
              <a:gd name="adj" fmla="val 17778"/>
            </a:avLst>
          </a:prstGeom>
          <a:solidFill>
            <a:srgbClr val="FFFFFF"/>
          </a:solidFill>
          <a:ln w="22225">
            <a:solidFill>
              <a:srgbClr val="14918C"/>
            </a:solidFill>
            <a:prstDash val="solid"/>
          </a:ln>
        </p:spPr>
      </p:sp>
      <p:sp>
        <p:nvSpPr>
          <p:cNvPr id="141" name="Text 139"/>
          <p:cNvSpPr txBox="1"/>
          <p:nvPr/>
        </p:nvSpPr>
        <p:spPr>
          <a:xfrm>
            <a:off x="3154680" y="5148072"/>
            <a:ext cx="411480" cy="411480"/>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90</a:t>
            </a:r>
            <a:endParaRPr lang="en-US" sz="1100" dirty="0"/>
          </a:p>
        </p:txBody>
      </p:sp>
      <p:sp>
        <p:nvSpPr>
          <p:cNvPr id="142" name="Shape 140"/>
          <p:cNvSpPr/>
          <p:nvPr/>
        </p:nvSpPr>
        <p:spPr>
          <a:xfrm>
            <a:off x="3630168" y="5148072"/>
            <a:ext cx="411480" cy="411480"/>
          </a:xfrm>
          <a:prstGeom prst="roundRect">
            <a:avLst>
              <a:gd name="adj" fmla="val 17778"/>
            </a:avLst>
          </a:prstGeom>
          <a:solidFill>
            <a:srgbClr val="FFFFFF"/>
          </a:solidFill>
          <a:ln w="22225">
            <a:solidFill>
              <a:srgbClr val="14918C"/>
            </a:solidFill>
            <a:prstDash val="solid"/>
          </a:ln>
        </p:spPr>
      </p:sp>
      <p:sp>
        <p:nvSpPr>
          <p:cNvPr id="143" name="Text 141"/>
          <p:cNvSpPr txBox="1"/>
          <p:nvPr/>
        </p:nvSpPr>
        <p:spPr>
          <a:xfrm>
            <a:off x="3630168" y="5148072"/>
            <a:ext cx="411480" cy="411480"/>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80</a:t>
            </a:r>
            <a:endParaRPr lang="en-US" sz="1100" dirty="0"/>
          </a:p>
        </p:txBody>
      </p:sp>
      <p:sp>
        <p:nvSpPr>
          <p:cNvPr id="144" name="Text 142"/>
          <p:cNvSpPr txBox="1"/>
          <p:nvPr/>
        </p:nvSpPr>
        <p:spPr>
          <a:xfrm>
            <a:off x="7863840" y="5102352"/>
            <a:ext cx="3657600" cy="594360"/>
          </a:xfrm>
          <a:prstGeom prst="rect">
            <a:avLst/>
          </a:prstGeom>
          <a:noFill/>
          <a:ln/>
        </p:spPr>
        <p:txBody>
          <a:bodyPr wrap="square" lIns="0" tIns="0" rIns="0" bIns="0" rtlCol="0" anchor="ctr"/>
          <a:lstStyle/>
          <a:p>
            <a:pPr marL="0" indent="0">
              <a:lnSpc>
                <a:spcPct val="130000"/>
              </a:lnSpc>
              <a:buNone/>
            </a:pPr>
            <a:r>
              <a:rPr lang="en-US" sz="1600" b="1" dirty="0">
                <a:latin typeface="Courier New" pitchFamily="34" charset="0"/>
                <a:ea typeface="Courier New" pitchFamily="34" charset="-122"/>
                <a:cs typeface="Courier New" pitchFamily="34" charset="-120"/>
              </a:rPr>
              <a:t>Pivot 70 → final index 4.</a:t>
            </a:r>
            <a:endParaRPr lang="en-US" sz="1600" dirty="0"/>
          </a:p>
          <a:p>
            <a:pPr marL="0" indent="0">
              <a:lnSpc>
                <a:spcPct val="130000"/>
              </a:lnSpc>
              <a:buNone/>
            </a:pPr>
            <a:r>
              <a:rPr lang="en-US" sz="1600" b="1" dirty="0">
                <a:latin typeface="Courier New" pitchFamily="34" charset="0"/>
                <a:ea typeface="Courier New" pitchFamily="34" charset="-122"/>
                <a:cs typeface="Courier New" pitchFamily="34" charset="-120"/>
              </a:rPr>
              <a:t>Comparisons: 6   Swaps: 5</a:t>
            </a:r>
            <a:endParaRPr lang="en-US" sz="1600" dirty="0"/>
          </a:p>
        </p:txBody>
      </p:sp>
      <p:sp>
        <p:nvSpPr>
          <p:cNvPr id="145" name="Text 143"/>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146" name="Text 14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TRACE — PARTITION CALLS 2–4</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The Left Branch: [10, 30, 40, 50]</a:t>
            </a:r>
            <a:endParaRPr lang="en-US" sz="3000" dirty="0"/>
          </a:p>
        </p:txBody>
      </p:sp>
      <p:sp>
        <p:nvSpPr>
          <p:cNvPr id="6" name="Text 4"/>
          <p:cNvSpPr txBox="1"/>
          <p:nvPr/>
        </p:nvSpPr>
        <p:spPr>
          <a:xfrm>
            <a:off x="548640" y="1325880"/>
            <a:ext cx="11064240" cy="548640"/>
          </a:xfrm>
          <a:prstGeom prst="rect">
            <a:avLst/>
          </a:prstGeom>
          <a:noFill/>
          <a:ln/>
        </p:spPr>
        <p:txBody>
          <a:bodyPr wrap="square" lIns="0" tIns="0" rIns="0" bIns="0" rtlCol="0" anchor="ctr"/>
          <a:lstStyle/>
          <a:p>
            <a:pPr marL="0" indent="0">
              <a:lnSpc>
                <a:spcPct val="130000"/>
              </a:lnSpc>
              <a:buNone/>
            </a:pPr>
            <a:r>
              <a:rPr lang="en-US" sz="1600" b="1" i="1" dirty="0">
                <a:solidFill>
                  <a:srgbClr val="5B6584"/>
                </a:solidFill>
                <a:latin typeface="Calibri" pitchFamily="34" charset="0"/>
                <a:ea typeface="Calibri" pitchFamily="34" charset="-122"/>
                <a:cs typeface="Calibri" pitchFamily="34" charset="-120"/>
              </a:rPr>
              <a:t>This subarray was already sorted ascending — with last-element pivoting, that means every partition call finds NOTHING greater than the pivot, so the pivot always lands at the very last position of its own subarray.</a:t>
            </a:r>
            <a:endParaRPr lang="en-US" sz="1600" b="1" dirty="0"/>
          </a:p>
        </p:txBody>
      </p:sp>
      <p:sp>
        <p:nvSpPr>
          <p:cNvPr id="7" name="Shape 5"/>
          <p:cNvSpPr/>
          <p:nvPr/>
        </p:nvSpPr>
        <p:spPr>
          <a:xfrm>
            <a:off x="548640" y="2057400"/>
            <a:ext cx="11064240" cy="1143000"/>
          </a:xfrm>
          <a:prstGeom prst="roundRect">
            <a:avLst>
              <a:gd name="adj" fmla="val 8000"/>
            </a:avLst>
          </a:prstGeom>
          <a:solidFill>
            <a:srgbClr val="E8F5F3"/>
          </a:solidFill>
          <a:ln w="12700">
            <a:solidFill>
              <a:srgbClr val="BFE3DE"/>
            </a:solidFill>
            <a:prstDash val="solid"/>
          </a:ln>
        </p:spPr>
      </p:sp>
      <p:sp>
        <p:nvSpPr>
          <p:cNvPr id="8" name="Text 6"/>
          <p:cNvSpPr txBox="1"/>
          <p:nvPr/>
        </p:nvSpPr>
        <p:spPr>
          <a:xfrm>
            <a:off x="777240" y="2167128"/>
            <a:ext cx="7772400" cy="274320"/>
          </a:xfrm>
          <a:prstGeom prst="rect">
            <a:avLst/>
          </a:prstGeom>
          <a:noFill/>
          <a:ln/>
        </p:spPr>
        <p:txBody>
          <a:bodyPr wrap="square" lIns="0" tIns="0" rIns="0" bIns="0" rtlCol="0" anchor="ctr"/>
          <a:lstStyle/>
          <a:p>
            <a:pPr marL="0" indent="0">
              <a:buNone/>
            </a:pPr>
            <a:r>
              <a:rPr lang="en-US" b="1" dirty="0">
                <a:solidFill>
                  <a:srgbClr val="0B3D3A"/>
                </a:solidFill>
                <a:latin typeface="Courier New" pitchFamily="34" charset="0"/>
                <a:ea typeface="Courier New" pitchFamily="34" charset="-122"/>
                <a:cs typeface="Courier New" pitchFamily="34" charset="-120"/>
              </a:rPr>
              <a:t>Call 2:  PARTITION(A, 0, 3),  pivot = 50</a:t>
            </a:r>
            <a:endParaRPr lang="en-US" dirty="0"/>
          </a:p>
        </p:txBody>
      </p:sp>
      <p:sp>
        <p:nvSpPr>
          <p:cNvPr id="9" name="Shape 7"/>
          <p:cNvSpPr/>
          <p:nvPr/>
        </p:nvSpPr>
        <p:spPr>
          <a:xfrm>
            <a:off x="777240" y="2514600"/>
            <a:ext cx="384048" cy="384048"/>
          </a:xfrm>
          <a:prstGeom prst="roundRect">
            <a:avLst>
              <a:gd name="adj" fmla="val 19048"/>
            </a:avLst>
          </a:prstGeom>
          <a:solidFill>
            <a:srgbClr val="FFFFFF"/>
          </a:solidFill>
          <a:ln w="22225">
            <a:solidFill>
              <a:srgbClr val="0F6B64"/>
            </a:solidFill>
            <a:prstDash val="solid"/>
          </a:ln>
        </p:spPr>
      </p:sp>
      <p:sp>
        <p:nvSpPr>
          <p:cNvPr id="10" name="Text 8"/>
          <p:cNvSpPr txBox="1"/>
          <p:nvPr/>
        </p:nvSpPr>
        <p:spPr>
          <a:xfrm>
            <a:off x="777240" y="2514600"/>
            <a:ext cx="384048" cy="384048"/>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10</a:t>
            </a:r>
            <a:endParaRPr lang="en-US" sz="1100" dirty="0"/>
          </a:p>
        </p:txBody>
      </p:sp>
      <p:sp>
        <p:nvSpPr>
          <p:cNvPr id="11" name="Shape 9"/>
          <p:cNvSpPr/>
          <p:nvPr/>
        </p:nvSpPr>
        <p:spPr>
          <a:xfrm>
            <a:off x="1225296" y="2514600"/>
            <a:ext cx="384048" cy="384048"/>
          </a:xfrm>
          <a:prstGeom prst="roundRect">
            <a:avLst>
              <a:gd name="adj" fmla="val 19048"/>
            </a:avLst>
          </a:prstGeom>
          <a:solidFill>
            <a:srgbClr val="FFFFFF"/>
          </a:solidFill>
          <a:ln w="22225">
            <a:solidFill>
              <a:srgbClr val="0F6B64"/>
            </a:solidFill>
            <a:prstDash val="solid"/>
          </a:ln>
        </p:spPr>
      </p:sp>
      <p:sp>
        <p:nvSpPr>
          <p:cNvPr id="12" name="Text 10"/>
          <p:cNvSpPr txBox="1"/>
          <p:nvPr/>
        </p:nvSpPr>
        <p:spPr>
          <a:xfrm>
            <a:off x="1225296" y="2514600"/>
            <a:ext cx="384048" cy="384048"/>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30</a:t>
            </a:r>
            <a:endParaRPr lang="en-US" sz="1100" dirty="0"/>
          </a:p>
        </p:txBody>
      </p:sp>
      <p:sp>
        <p:nvSpPr>
          <p:cNvPr id="13" name="Shape 11"/>
          <p:cNvSpPr/>
          <p:nvPr/>
        </p:nvSpPr>
        <p:spPr>
          <a:xfrm>
            <a:off x="1673352" y="2514600"/>
            <a:ext cx="384048" cy="384048"/>
          </a:xfrm>
          <a:prstGeom prst="roundRect">
            <a:avLst>
              <a:gd name="adj" fmla="val 19048"/>
            </a:avLst>
          </a:prstGeom>
          <a:solidFill>
            <a:srgbClr val="FFFFFF"/>
          </a:solidFill>
          <a:ln w="22225">
            <a:solidFill>
              <a:srgbClr val="0F6B64"/>
            </a:solidFill>
            <a:prstDash val="solid"/>
          </a:ln>
        </p:spPr>
      </p:sp>
      <p:sp>
        <p:nvSpPr>
          <p:cNvPr id="14" name="Text 12"/>
          <p:cNvSpPr txBox="1"/>
          <p:nvPr/>
        </p:nvSpPr>
        <p:spPr>
          <a:xfrm>
            <a:off x="1673352" y="2514600"/>
            <a:ext cx="384048" cy="384048"/>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40</a:t>
            </a:r>
            <a:endParaRPr lang="en-US" sz="1100" dirty="0"/>
          </a:p>
        </p:txBody>
      </p:sp>
      <p:sp>
        <p:nvSpPr>
          <p:cNvPr id="15" name="Shape 13"/>
          <p:cNvSpPr/>
          <p:nvPr/>
        </p:nvSpPr>
        <p:spPr>
          <a:xfrm>
            <a:off x="2121408" y="2514600"/>
            <a:ext cx="384048" cy="384048"/>
          </a:xfrm>
          <a:prstGeom prst="roundRect">
            <a:avLst>
              <a:gd name="adj" fmla="val 19048"/>
            </a:avLst>
          </a:prstGeom>
          <a:solidFill>
            <a:srgbClr val="D9480F"/>
          </a:solidFill>
          <a:ln w="22225">
            <a:solidFill>
              <a:srgbClr val="0F6B64"/>
            </a:solidFill>
            <a:prstDash val="solid"/>
          </a:ln>
        </p:spPr>
      </p:sp>
      <p:sp>
        <p:nvSpPr>
          <p:cNvPr id="16" name="Text 14"/>
          <p:cNvSpPr txBox="1"/>
          <p:nvPr/>
        </p:nvSpPr>
        <p:spPr>
          <a:xfrm>
            <a:off x="2121408" y="251460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50</a:t>
            </a:r>
            <a:endParaRPr lang="en-US" sz="1100" dirty="0"/>
          </a:p>
        </p:txBody>
      </p:sp>
      <p:sp>
        <p:nvSpPr>
          <p:cNvPr id="17" name="Text 15"/>
          <p:cNvSpPr txBox="1"/>
          <p:nvPr/>
        </p:nvSpPr>
        <p:spPr>
          <a:xfrm>
            <a:off x="3429000" y="2560320"/>
            <a:ext cx="5257800" cy="502920"/>
          </a:xfrm>
          <a:prstGeom prst="rect">
            <a:avLst/>
          </a:prstGeom>
          <a:noFill/>
          <a:ln/>
        </p:spPr>
        <p:txBody>
          <a:bodyPr wrap="square" lIns="0" tIns="0" rIns="0" bIns="0" rtlCol="0" anchor="ctr"/>
          <a:lstStyle/>
          <a:p>
            <a:pPr marL="0" indent="0">
              <a:lnSpc>
                <a:spcPct val="120000"/>
              </a:lnSpc>
              <a:buNone/>
            </a:pPr>
            <a:r>
              <a:rPr lang="en-US" sz="1600" b="1" dirty="0">
                <a:solidFill>
                  <a:srgbClr val="5B6584"/>
                </a:solidFill>
                <a:latin typeface="Calibri" pitchFamily="34" charset="0"/>
                <a:ea typeface="Calibri" pitchFamily="34" charset="-122"/>
                <a:cs typeface="Calibri" pitchFamily="34" charset="-120"/>
              </a:rPr>
              <a:t>All 3 elements ≤ 50 — no real swaps, pivot stays at index 3.</a:t>
            </a:r>
            <a:endParaRPr lang="en-US" sz="1600" b="1" dirty="0"/>
          </a:p>
        </p:txBody>
      </p:sp>
      <p:sp>
        <p:nvSpPr>
          <p:cNvPr id="18" name="Shape 16"/>
          <p:cNvSpPr/>
          <p:nvPr/>
        </p:nvSpPr>
        <p:spPr>
          <a:xfrm>
            <a:off x="8915400" y="2624328"/>
            <a:ext cx="2377440" cy="347472"/>
          </a:xfrm>
          <a:prstGeom prst="roundRect">
            <a:avLst>
              <a:gd name="adj" fmla="val 52632"/>
            </a:avLst>
          </a:prstGeom>
          <a:solidFill>
            <a:srgbClr val="0B3D3A"/>
          </a:solidFill>
          <a:ln/>
        </p:spPr>
      </p:sp>
      <p:sp>
        <p:nvSpPr>
          <p:cNvPr id="19" name="Text 17"/>
          <p:cNvSpPr txBox="1"/>
          <p:nvPr/>
        </p:nvSpPr>
        <p:spPr>
          <a:xfrm>
            <a:off x="8915400" y="2624328"/>
            <a:ext cx="2377440" cy="347472"/>
          </a:xfrm>
          <a:prstGeom prst="rect">
            <a:avLst/>
          </a:prstGeom>
          <a:noFill/>
          <a:ln/>
        </p:spPr>
        <p:txBody>
          <a:bodyPr wrap="square" lIns="0" tIns="0" rIns="0" bIns="0" rtlCol="0" anchor="ctr"/>
          <a:lstStyle/>
          <a:p>
            <a:pPr marL="0" indent="0" algn="ctr">
              <a:buNone/>
            </a:pPr>
            <a:r>
              <a:rPr lang="en-US" b="1" dirty="0">
                <a:solidFill>
                  <a:srgbClr val="C98A1E"/>
                </a:solidFill>
                <a:latin typeface="Calibri" pitchFamily="34" charset="0"/>
                <a:ea typeface="Calibri" pitchFamily="34" charset="-122"/>
                <a:cs typeface="Calibri" pitchFamily="34" charset="-120"/>
              </a:rPr>
              <a:t>3 comparisons</a:t>
            </a:r>
            <a:endParaRPr lang="en-US" dirty="0"/>
          </a:p>
        </p:txBody>
      </p:sp>
      <p:sp>
        <p:nvSpPr>
          <p:cNvPr id="20" name="Shape 18"/>
          <p:cNvSpPr/>
          <p:nvPr/>
        </p:nvSpPr>
        <p:spPr>
          <a:xfrm>
            <a:off x="548640" y="3337560"/>
            <a:ext cx="11064240" cy="1143000"/>
          </a:xfrm>
          <a:prstGeom prst="roundRect">
            <a:avLst>
              <a:gd name="adj" fmla="val 8000"/>
            </a:avLst>
          </a:prstGeom>
          <a:solidFill>
            <a:srgbClr val="E8F5F3"/>
          </a:solidFill>
          <a:ln w="12700">
            <a:solidFill>
              <a:srgbClr val="BFE3DE"/>
            </a:solidFill>
            <a:prstDash val="solid"/>
          </a:ln>
        </p:spPr>
      </p:sp>
      <p:sp>
        <p:nvSpPr>
          <p:cNvPr id="21" name="Text 19"/>
          <p:cNvSpPr txBox="1"/>
          <p:nvPr/>
        </p:nvSpPr>
        <p:spPr>
          <a:xfrm>
            <a:off x="777240" y="3447288"/>
            <a:ext cx="7772400" cy="274320"/>
          </a:xfrm>
          <a:prstGeom prst="rect">
            <a:avLst/>
          </a:prstGeom>
          <a:noFill/>
          <a:ln/>
        </p:spPr>
        <p:txBody>
          <a:bodyPr wrap="square" lIns="0" tIns="0" rIns="0" bIns="0" rtlCol="0" anchor="ctr"/>
          <a:lstStyle/>
          <a:p>
            <a:pPr marL="0" indent="0">
              <a:buNone/>
            </a:pPr>
            <a:r>
              <a:rPr lang="en-US" b="1" dirty="0">
                <a:solidFill>
                  <a:srgbClr val="0B3D3A"/>
                </a:solidFill>
                <a:latin typeface="Courier New" pitchFamily="34" charset="0"/>
                <a:ea typeface="Courier New" pitchFamily="34" charset="-122"/>
                <a:cs typeface="Courier New" pitchFamily="34" charset="-120"/>
              </a:rPr>
              <a:t>Call 3:  PARTITION(A, 0, 2),  pivot = 40</a:t>
            </a:r>
            <a:endParaRPr lang="en-US" dirty="0"/>
          </a:p>
        </p:txBody>
      </p:sp>
      <p:sp>
        <p:nvSpPr>
          <p:cNvPr id="22" name="Shape 20"/>
          <p:cNvSpPr/>
          <p:nvPr/>
        </p:nvSpPr>
        <p:spPr>
          <a:xfrm>
            <a:off x="777240" y="3794760"/>
            <a:ext cx="384048" cy="384048"/>
          </a:xfrm>
          <a:prstGeom prst="roundRect">
            <a:avLst>
              <a:gd name="adj" fmla="val 19048"/>
            </a:avLst>
          </a:prstGeom>
          <a:solidFill>
            <a:srgbClr val="FFFFFF"/>
          </a:solidFill>
          <a:ln w="22225">
            <a:solidFill>
              <a:srgbClr val="0F6B64"/>
            </a:solidFill>
            <a:prstDash val="solid"/>
          </a:ln>
        </p:spPr>
      </p:sp>
      <p:sp>
        <p:nvSpPr>
          <p:cNvPr id="23" name="Text 21"/>
          <p:cNvSpPr txBox="1"/>
          <p:nvPr/>
        </p:nvSpPr>
        <p:spPr>
          <a:xfrm>
            <a:off x="777240" y="3794760"/>
            <a:ext cx="384048" cy="384048"/>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10</a:t>
            </a:r>
            <a:endParaRPr lang="en-US" sz="1100" dirty="0"/>
          </a:p>
        </p:txBody>
      </p:sp>
      <p:sp>
        <p:nvSpPr>
          <p:cNvPr id="24" name="Shape 22"/>
          <p:cNvSpPr/>
          <p:nvPr/>
        </p:nvSpPr>
        <p:spPr>
          <a:xfrm>
            <a:off x="1225296" y="3794760"/>
            <a:ext cx="384048" cy="384048"/>
          </a:xfrm>
          <a:prstGeom prst="roundRect">
            <a:avLst>
              <a:gd name="adj" fmla="val 19048"/>
            </a:avLst>
          </a:prstGeom>
          <a:solidFill>
            <a:srgbClr val="FFFFFF"/>
          </a:solidFill>
          <a:ln w="22225">
            <a:solidFill>
              <a:srgbClr val="0F6B64"/>
            </a:solidFill>
            <a:prstDash val="solid"/>
          </a:ln>
        </p:spPr>
      </p:sp>
      <p:sp>
        <p:nvSpPr>
          <p:cNvPr id="25" name="Text 23"/>
          <p:cNvSpPr txBox="1"/>
          <p:nvPr/>
        </p:nvSpPr>
        <p:spPr>
          <a:xfrm>
            <a:off x="1225296" y="3794760"/>
            <a:ext cx="384048" cy="384048"/>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30</a:t>
            </a:r>
            <a:endParaRPr lang="en-US" sz="1100" dirty="0"/>
          </a:p>
        </p:txBody>
      </p:sp>
      <p:sp>
        <p:nvSpPr>
          <p:cNvPr id="26" name="Shape 24"/>
          <p:cNvSpPr/>
          <p:nvPr/>
        </p:nvSpPr>
        <p:spPr>
          <a:xfrm>
            <a:off x="1673352" y="3794760"/>
            <a:ext cx="384048" cy="384048"/>
          </a:xfrm>
          <a:prstGeom prst="roundRect">
            <a:avLst>
              <a:gd name="adj" fmla="val 19048"/>
            </a:avLst>
          </a:prstGeom>
          <a:solidFill>
            <a:srgbClr val="D9480F"/>
          </a:solidFill>
          <a:ln w="22225">
            <a:solidFill>
              <a:srgbClr val="0F6B64"/>
            </a:solidFill>
            <a:prstDash val="solid"/>
          </a:ln>
        </p:spPr>
      </p:sp>
      <p:sp>
        <p:nvSpPr>
          <p:cNvPr id="27" name="Text 25"/>
          <p:cNvSpPr txBox="1"/>
          <p:nvPr/>
        </p:nvSpPr>
        <p:spPr>
          <a:xfrm>
            <a:off x="1673352" y="379476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40</a:t>
            </a:r>
            <a:endParaRPr lang="en-US" sz="1100" dirty="0"/>
          </a:p>
        </p:txBody>
      </p:sp>
      <p:sp>
        <p:nvSpPr>
          <p:cNvPr id="28" name="Text 26"/>
          <p:cNvSpPr txBox="1"/>
          <p:nvPr/>
        </p:nvSpPr>
        <p:spPr>
          <a:xfrm>
            <a:off x="3749040" y="3840480"/>
            <a:ext cx="4937760" cy="502920"/>
          </a:xfrm>
          <a:prstGeom prst="rect">
            <a:avLst/>
          </a:prstGeom>
          <a:noFill/>
          <a:ln/>
        </p:spPr>
        <p:txBody>
          <a:bodyPr wrap="square" lIns="0" tIns="0" rIns="0" bIns="0" rtlCol="0" anchor="ctr"/>
          <a:lstStyle/>
          <a:p>
            <a:pPr marL="0" indent="0">
              <a:lnSpc>
                <a:spcPct val="120000"/>
              </a:lnSpc>
              <a:buNone/>
            </a:pPr>
            <a:r>
              <a:rPr lang="en-US" sz="1600" b="1" dirty="0">
                <a:solidFill>
                  <a:srgbClr val="5B6584"/>
                </a:solidFill>
                <a:latin typeface="Calibri" pitchFamily="34" charset="0"/>
                <a:ea typeface="Calibri" pitchFamily="34" charset="-122"/>
                <a:cs typeface="Calibri" pitchFamily="34" charset="-120"/>
              </a:rPr>
              <a:t>Both elements ≤ 40 — pivot stays at index 2.</a:t>
            </a:r>
            <a:endParaRPr lang="en-US" sz="1600" b="1" dirty="0"/>
          </a:p>
        </p:txBody>
      </p:sp>
      <p:sp>
        <p:nvSpPr>
          <p:cNvPr id="29" name="Shape 27"/>
          <p:cNvSpPr/>
          <p:nvPr/>
        </p:nvSpPr>
        <p:spPr>
          <a:xfrm>
            <a:off x="8915400" y="3904488"/>
            <a:ext cx="2377440" cy="347472"/>
          </a:xfrm>
          <a:prstGeom prst="roundRect">
            <a:avLst>
              <a:gd name="adj" fmla="val 52632"/>
            </a:avLst>
          </a:prstGeom>
          <a:solidFill>
            <a:srgbClr val="0B3D3A"/>
          </a:solidFill>
          <a:ln/>
        </p:spPr>
      </p:sp>
      <p:sp>
        <p:nvSpPr>
          <p:cNvPr id="30" name="Text 28"/>
          <p:cNvSpPr txBox="1"/>
          <p:nvPr/>
        </p:nvSpPr>
        <p:spPr>
          <a:xfrm>
            <a:off x="8915400" y="3904488"/>
            <a:ext cx="2377440" cy="347472"/>
          </a:xfrm>
          <a:prstGeom prst="rect">
            <a:avLst/>
          </a:prstGeom>
          <a:noFill/>
          <a:ln/>
        </p:spPr>
        <p:txBody>
          <a:bodyPr wrap="square" lIns="0" tIns="0" rIns="0" bIns="0" rtlCol="0" anchor="ctr"/>
          <a:lstStyle/>
          <a:p>
            <a:pPr marL="0" indent="0" algn="ctr">
              <a:buNone/>
            </a:pPr>
            <a:r>
              <a:rPr lang="en-US" b="1" dirty="0">
                <a:solidFill>
                  <a:srgbClr val="C98A1E"/>
                </a:solidFill>
                <a:latin typeface="Calibri" pitchFamily="34" charset="0"/>
                <a:ea typeface="Calibri" pitchFamily="34" charset="-122"/>
                <a:cs typeface="Calibri" pitchFamily="34" charset="-120"/>
              </a:rPr>
              <a:t>2 comparisons</a:t>
            </a:r>
            <a:endParaRPr lang="en-US" dirty="0"/>
          </a:p>
        </p:txBody>
      </p:sp>
      <p:sp>
        <p:nvSpPr>
          <p:cNvPr id="31" name="Shape 29"/>
          <p:cNvSpPr/>
          <p:nvPr/>
        </p:nvSpPr>
        <p:spPr>
          <a:xfrm>
            <a:off x="548640" y="4617720"/>
            <a:ext cx="11064240" cy="1143000"/>
          </a:xfrm>
          <a:prstGeom prst="roundRect">
            <a:avLst>
              <a:gd name="adj" fmla="val 8000"/>
            </a:avLst>
          </a:prstGeom>
          <a:solidFill>
            <a:srgbClr val="E8F5F3"/>
          </a:solidFill>
          <a:ln w="12700">
            <a:solidFill>
              <a:srgbClr val="BFE3DE"/>
            </a:solidFill>
            <a:prstDash val="solid"/>
          </a:ln>
        </p:spPr>
      </p:sp>
      <p:sp>
        <p:nvSpPr>
          <p:cNvPr id="32" name="Text 30"/>
          <p:cNvSpPr txBox="1"/>
          <p:nvPr/>
        </p:nvSpPr>
        <p:spPr>
          <a:xfrm>
            <a:off x="777240" y="4727448"/>
            <a:ext cx="7772400" cy="274320"/>
          </a:xfrm>
          <a:prstGeom prst="rect">
            <a:avLst/>
          </a:prstGeom>
          <a:noFill/>
          <a:ln/>
        </p:spPr>
        <p:txBody>
          <a:bodyPr wrap="square" lIns="0" tIns="0" rIns="0" bIns="0" rtlCol="0" anchor="ctr"/>
          <a:lstStyle/>
          <a:p>
            <a:pPr marL="0" indent="0">
              <a:buNone/>
            </a:pPr>
            <a:r>
              <a:rPr lang="en-US" b="1" dirty="0">
                <a:solidFill>
                  <a:srgbClr val="0B3D3A"/>
                </a:solidFill>
                <a:latin typeface="Courier New" pitchFamily="34" charset="0"/>
                <a:ea typeface="Courier New" pitchFamily="34" charset="-122"/>
                <a:cs typeface="Courier New" pitchFamily="34" charset="-120"/>
              </a:rPr>
              <a:t>Call 4:  PARTITION(A, 0, 1),  pivot = 30</a:t>
            </a:r>
            <a:endParaRPr lang="en-US" dirty="0"/>
          </a:p>
        </p:txBody>
      </p:sp>
      <p:sp>
        <p:nvSpPr>
          <p:cNvPr id="33" name="Shape 31"/>
          <p:cNvSpPr/>
          <p:nvPr/>
        </p:nvSpPr>
        <p:spPr>
          <a:xfrm>
            <a:off x="777240" y="5074920"/>
            <a:ext cx="384048" cy="384048"/>
          </a:xfrm>
          <a:prstGeom prst="roundRect">
            <a:avLst>
              <a:gd name="adj" fmla="val 19048"/>
            </a:avLst>
          </a:prstGeom>
          <a:solidFill>
            <a:srgbClr val="FFFFFF"/>
          </a:solidFill>
          <a:ln w="22225">
            <a:solidFill>
              <a:srgbClr val="0F6B64"/>
            </a:solidFill>
            <a:prstDash val="solid"/>
          </a:ln>
        </p:spPr>
      </p:sp>
      <p:sp>
        <p:nvSpPr>
          <p:cNvPr id="34" name="Text 32"/>
          <p:cNvSpPr txBox="1"/>
          <p:nvPr/>
        </p:nvSpPr>
        <p:spPr>
          <a:xfrm>
            <a:off x="777240" y="5074920"/>
            <a:ext cx="384048" cy="384048"/>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10</a:t>
            </a:r>
            <a:endParaRPr lang="en-US" sz="1100" dirty="0"/>
          </a:p>
        </p:txBody>
      </p:sp>
      <p:sp>
        <p:nvSpPr>
          <p:cNvPr id="35" name="Shape 33"/>
          <p:cNvSpPr/>
          <p:nvPr/>
        </p:nvSpPr>
        <p:spPr>
          <a:xfrm>
            <a:off x="1225296" y="5074920"/>
            <a:ext cx="384048" cy="384048"/>
          </a:xfrm>
          <a:prstGeom prst="roundRect">
            <a:avLst>
              <a:gd name="adj" fmla="val 19048"/>
            </a:avLst>
          </a:prstGeom>
          <a:solidFill>
            <a:srgbClr val="D9480F"/>
          </a:solidFill>
          <a:ln w="22225">
            <a:solidFill>
              <a:srgbClr val="0F6B64"/>
            </a:solidFill>
            <a:prstDash val="solid"/>
          </a:ln>
        </p:spPr>
      </p:sp>
      <p:sp>
        <p:nvSpPr>
          <p:cNvPr id="36" name="Text 34"/>
          <p:cNvSpPr txBox="1"/>
          <p:nvPr/>
        </p:nvSpPr>
        <p:spPr>
          <a:xfrm>
            <a:off x="1225296" y="507492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30</a:t>
            </a:r>
            <a:endParaRPr lang="en-US" sz="1100" dirty="0"/>
          </a:p>
        </p:txBody>
      </p:sp>
      <p:sp>
        <p:nvSpPr>
          <p:cNvPr id="37" name="Text 35"/>
          <p:cNvSpPr txBox="1"/>
          <p:nvPr/>
        </p:nvSpPr>
        <p:spPr>
          <a:xfrm>
            <a:off x="2286000" y="5120640"/>
            <a:ext cx="6400800" cy="502920"/>
          </a:xfrm>
          <a:prstGeom prst="rect">
            <a:avLst/>
          </a:prstGeom>
          <a:noFill/>
          <a:ln/>
        </p:spPr>
        <p:txBody>
          <a:bodyPr wrap="square" lIns="0" tIns="0" rIns="0" bIns="0" rtlCol="0" anchor="ctr"/>
          <a:lstStyle/>
          <a:p>
            <a:pPr marL="0" indent="0">
              <a:lnSpc>
                <a:spcPct val="120000"/>
              </a:lnSpc>
              <a:buNone/>
            </a:pPr>
            <a:r>
              <a:rPr lang="en-US" sz="1600" b="1" dirty="0">
                <a:solidFill>
                  <a:srgbClr val="5B6584"/>
                </a:solidFill>
                <a:latin typeface="Calibri" pitchFamily="34" charset="0"/>
                <a:ea typeface="Calibri" pitchFamily="34" charset="-122"/>
                <a:cs typeface="Calibri" pitchFamily="34" charset="-120"/>
              </a:rPr>
              <a:t>The one element ≤ 30 — pivot stays at index 1. Left of it: [10], a base case.</a:t>
            </a:r>
            <a:endParaRPr lang="en-US" sz="1600" b="1" dirty="0"/>
          </a:p>
        </p:txBody>
      </p:sp>
      <p:sp>
        <p:nvSpPr>
          <p:cNvPr id="38" name="Shape 36"/>
          <p:cNvSpPr/>
          <p:nvPr/>
        </p:nvSpPr>
        <p:spPr>
          <a:xfrm>
            <a:off x="8915400" y="5184648"/>
            <a:ext cx="2377440" cy="347472"/>
          </a:xfrm>
          <a:prstGeom prst="roundRect">
            <a:avLst>
              <a:gd name="adj" fmla="val 52632"/>
            </a:avLst>
          </a:prstGeom>
          <a:solidFill>
            <a:srgbClr val="0B3D3A"/>
          </a:solidFill>
          <a:ln/>
        </p:spPr>
      </p:sp>
      <p:sp>
        <p:nvSpPr>
          <p:cNvPr id="39" name="Text 37"/>
          <p:cNvSpPr txBox="1"/>
          <p:nvPr/>
        </p:nvSpPr>
        <p:spPr>
          <a:xfrm>
            <a:off x="8915400" y="5184648"/>
            <a:ext cx="2377440" cy="347472"/>
          </a:xfrm>
          <a:prstGeom prst="rect">
            <a:avLst/>
          </a:prstGeom>
          <a:noFill/>
          <a:ln/>
        </p:spPr>
        <p:txBody>
          <a:bodyPr wrap="square" lIns="0" tIns="0" rIns="0" bIns="0" rtlCol="0" anchor="ctr"/>
          <a:lstStyle/>
          <a:p>
            <a:pPr marL="0" indent="0" algn="ctr">
              <a:buNone/>
            </a:pPr>
            <a:r>
              <a:rPr lang="en-US" b="1" dirty="0">
                <a:solidFill>
                  <a:srgbClr val="C98A1E"/>
                </a:solidFill>
                <a:latin typeface="Calibri" pitchFamily="34" charset="0"/>
                <a:ea typeface="Calibri" pitchFamily="34" charset="-122"/>
                <a:cs typeface="Calibri" pitchFamily="34" charset="-120"/>
              </a:rPr>
              <a:t>1 comparison</a:t>
            </a:r>
            <a:endParaRPr lang="en-US" dirty="0"/>
          </a:p>
        </p:txBody>
      </p:sp>
      <p:sp>
        <p:nvSpPr>
          <p:cNvPr id="40" name="Text 38"/>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41" name="Text 39"/>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TRACE — PARTITION CALL 5 (FINAL)</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The Right Branch: [90, 80]</a:t>
            </a:r>
            <a:endParaRPr lang="en-US" sz="3000" dirty="0"/>
          </a:p>
        </p:txBody>
      </p:sp>
      <p:sp>
        <p:nvSpPr>
          <p:cNvPr id="6" name="Shape 4"/>
          <p:cNvSpPr/>
          <p:nvPr/>
        </p:nvSpPr>
        <p:spPr>
          <a:xfrm>
            <a:off x="548640" y="1463040"/>
            <a:ext cx="11064240" cy="1371600"/>
          </a:xfrm>
          <a:prstGeom prst="roundRect">
            <a:avLst>
              <a:gd name="adj" fmla="val 6667"/>
            </a:avLst>
          </a:prstGeom>
          <a:solidFill>
            <a:schemeClr val="accent3">
              <a:lumMod val="40000"/>
              <a:lumOff val="60000"/>
            </a:schemeClr>
          </a:solidFill>
          <a:ln w="12700">
            <a:solidFill>
              <a:srgbClr val="BFE3DE"/>
            </a:solidFill>
            <a:prstDash val="solid"/>
          </a:ln>
        </p:spPr>
      </p:sp>
      <p:sp>
        <p:nvSpPr>
          <p:cNvPr id="7" name="Text 5"/>
          <p:cNvSpPr txBox="1"/>
          <p:nvPr/>
        </p:nvSpPr>
        <p:spPr>
          <a:xfrm>
            <a:off x="777240" y="1600200"/>
            <a:ext cx="7772400" cy="274320"/>
          </a:xfrm>
          <a:prstGeom prst="rect">
            <a:avLst/>
          </a:prstGeom>
          <a:noFill/>
          <a:ln/>
        </p:spPr>
        <p:txBody>
          <a:bodyPr wrap="square" lIns="0" tIns="0" rIns="0" bIns="0" rtlCol="0" anchor="ctr"/>
          <a:lstStyle/>
          <a:p>
            <a:pPr marL="0" indent="0">
              <a:buNone/>
            </a:pPr>
            <a:r>
              <a:rPr lang="en-US" b="1" dirty="0">
                <a:solidFill>
                  <a:srgbClr val="0B3D3A"/>
                </a:solidFill>
                <a:latin typeface="Courier New" pitchFamily="34" charset="0"/>
                <a:ea typeface="Courier New" pitchFamily="34" charset="-122"/>
                <a:cs typeface="Courier New" pitchFamily="34" charset="-120"/>
              </a:rPr>
              <a:t>Call 5:  PARTITION(A, 5, 6),  pivot = 80</a:t>
            </a:r>
            <a:endParaRPr lang="en-US" dirty="0"/>
          </a:p>
        </p:txBody>
      </p:sp>
      <p:sp>
        <p:nvSpPr>
          <p:cNvPr id="8" name="Shape 6"/>
          <p:cNvSpPr/>
          <p:nvPr/>
        </p:nvSpPr>
        <p:spPr>
          <a:xfrm>
            <a:off x="777240" y="1965960"/>
            <a:ext cx="438912" cy="438912"/>
          </a:xfrm>
          <a:prstGeom prst="roundRect">
            <a:avLst>
              <a:gd name="adj" fmla="val 16667"/>
            </a:avLst>
          </a:prstGeom>
          <a:solidFill>
            <a:srgbClr val="FFFFFF"/>
          </a:solidFill>
          <a:ln w="22225">
            <a:solidFill>
              <a:srgbClr val="0F6B64"/>
            </a:solidFill>
            <a:prstDash val="solid"/>
          </a:ln>
        </p:spPr>
      </p:sp>
      <p:sp>
        <p:nvSpPr>
          <p:cNvPr id="9" name="Text 7"/>
          <p:cNvSpPr txBox="1"/>
          <p:nvPr/>
        </p:nvSpPr>
        <p:spPr>
          <a:xfrm>
            <a:off x="777240" y="1965960"/>
            <a:ext cx="438912" cy="438912"/>
          </a:xfrm>
          <a:prstGeom prst="rect">
            <a:avLst/>
          </a:prstGeom>
          <a:noFill/>
          <a:ln/>
        </p:spPr>
        <p:txBody>
          <a:bodyPr wrap="square" lIns="0" tIns="0" rIns="0" bIns="0" rtlCol="0" anchor="ctr"/>
          <a:lstStyle/>
          <a:p>
            <a:pPr marL="0" indent="0" algn="ctr">
              <a:buNone/>
            </a:pPr>
            <a:r>
              <a:rPr lang="en-US" sz="1300" b="1" dirty="0">
                <a:solidFill>
                  <a:srgbClr val="1B2233"/>
                </a:solidFill>
                <a:latin typeface="Courier New" pitchFamily="34" charset="0"/>
                <a:ea typeface="Courier New" pitchFamily="34" charset="-122"/>
                <a:cs typeface="Courier New" pitchFamily="34" charset="-120"/>
              </a:rPr>
              <a:t>90</a:t>
            </a:r>
            <a:endParaRPr lang="en-US" sz="1300" dirty="0"/>
          </a:p>
        </p:txBody>
      </p:sp>
      <p:sp>
        <p:nvSpPr>
          <p:cNvPr id="10" name="Shape 8"/>
          <p:cNvSpPr/>
          <p:nvPr/>
        </p:nvSpPr>
        <p:spPr>
          <a:xfrm>
            <a:off x="1289304" y="1965960"/>
            <a:ext cx="438912" cy="438912"/>
          </a:xfrm>
          <a:prstGeom prst="roundRect">
            <a:avLst>
              <a:gd name="adj" fmla="val 16667"/>
            </a:avLst>
          </a:prstGeom>
          <a:solidFill>
            <a:srgbClr val="D9480F"/>
          </a:solidFill>
          <a:ln w="22225">
            <a:solidFill>
              <a:srgbClr val="0F6B64"/>
            </a:solidFill>
            <a:prstDash val="solid"/>
          </a:ln>
        </p:spPr>
      </p:sp>
      <p:sp>
        <p:nvSpPr>
          <p:cNvPr id="11" name="Text 9"/>
          <p:cNvSpPr txBox="1"/>
          <p:nvPr/>
        </p:nvSpPr>
        <p:spPr>
          <a:xfrm>
            <a:off x="1289304" y="1965960"/>
            <a:ext cx="438912"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Courier New" pitchFamily="34" charset="0"/>
                <a:ea typeface="Courier New" pitchFamily="34" charset="-122"/>
                <a:cs typeface="Courier New" pitchFamily="34" charset="-120"/>
              </a:rPr>
              <a:t>80</a:t>
            </a:r>
            <a:endParaRPr lang="en-US" sz="1300" dirty="0"/>
          </a:p>
        </p:txBody>
      </p:sp>
      <p:sp>
        <p:nvSpPr>
          <p:cNvPr id="12" name="Text 10"/>
          <p:cNvSpPr txBox="1"/>
          <p:nvPr/>
        </p:nvSpPr>
        <p:spPr>
          <a:xfrm>
            <a:off x="1956815" y="2011680"/>
            <a:ext cx="6998925" cy="548640"/>
          </a:xfrm>
          <a:prstGeom prst="rect">
            <a:avLst/>
          </a:prstGeom>
          <a:noFill/>
          <a:ln/>
        </p:spPr>
        <p:txBody>
          <a:bodyPr wrap="square" lIns="0" tIns="0" rIns="0" bIns="0" rtlCol="0" anchor="ctr"/>
          <a:lstStyle/>
          <a:p>
            <a:pPr marL="0" indent="0">
              <a:lnSpc>
                <a:spcPct val="125000"/>
              </a:lnSpc>
              <a:buNone/>
            </a:pPr>
            <a:r>
              <a:rPr lang="en-US" sz="1400" b="1" dirty="0">
                <a:solidFill>
                  <a:srgbClr val="C00000"/>
                </a:solidFill>
                <a:latin typeface="Calibri" pitchFamily="34" charset="0"/>
                <a:ea typeface="Calibri" pitchFamily="34" charset="-122"/>
                <a:cs typeface="Calibri" pitchFamily="34" charset="-120"/>
              </a:rPr>
              <a:t>A[5]=90 ≤ 80?  No  →  swap(A[i+1], A[high]) = swap(A[5], A[6])  —  places pivot at index 5.</a:t>
            </a:r>
            <a:endParaRPr lang="en-US" sz="1400" b="1" dirty="0">
              <a:solidFill>
                <a:srgbClr val="C00000"/>
              </a:solidFill>
            </a:endParaRPr>
          </a:p>
        </p:txBody>
      </p:sp>
      <p:sp>
        <p:nvSpPr>
          <p:cNvPr id="13" name="Shape 11"/>
          <p:cNvSpPr/>
          <p:nvPr/>
        </p:nvSpPr>
        <p:spPr>
          <a:xfrm>
            <a:off x="9052560" y="2057400"/>
            <a:ext cx="2194560" cy="347472"/>
          </a:xfrm>
          <a:prstGeom prst="roundRect">
            <a:avLst>
              <a:gd name="adj" fmla="val 52632"/>
            </a:avLst>
          </a:prstGeom>
          <a:solidFill>
            <a:srgbClr val="0B3D3A"/>
          </a:solidFill>
          <a:ln/>
        </p:spPr>
      </p:sp>
      <p:sp>
        <p:nvSpPr>
          <p:cNvPr id="14" name="Text 12"/>
          <p:cNvSpPr txBox="1"/>
          <p:nvPr/>
        </p:nvSpPr>
        <p:spPr>
          <a:xfrm>
            <a:off x="9052560" y="2057400"/>
            <a:ext cx="2194560" cy="347472"/>
          </a:xfrm>
          <a:prstGeom prst="rect">
            <a:avLst/>
          </a:prstGeom>
          <a:noFill/>
          <a:ln/>
        </p:spPr>
        <p:txBody>
          <a:bodyPr wrap="square" lIns="0" tIns="0" rIns="0" bIns="0" rtlCol="0" anchor="ctr"/>
          <a:lstStyle/>
          <a:p>
            <a:pPr marL="0" indent="0" algn="ctr">
              <a:buNone/>
            </a:pPr>
            <a:r>
              <a:rPr lang="en-US" b="1" dirty="0">
                <a:solidFill>
                  <a:srgbClr val="C98A1E"/>
                </a:solidFill>
                <a:latin typeface="Calibri" pitchFamily="34" charset="0"/>
                <a:ea typeface="Calibri" pitchFamily="34" charset="-122"/>
                <a:cs typeface="Calibri" pitchFamily="34" charset="-120"/>
              </a:rPr>
              <a:t>1 comparison</a:t>
            </a:r>
            <a:endParaRPr lang="en-US" dirty="0"/>
          </a:p>
        </p:txBody>
      </p:sp>
      <p:sp>
        <p:nvSpPr>
          <p:cNvPr id="15" name="Text 13"/>
          <p:cNvSpPr txBox="1"/>
          <p:nvPr/>
        </p:nvSpPr>
        <p:spPr>
          <a:xfrm>
            <a:off x="777240" y="2514600"/>
            <a:ext cx="9144000" cy="274320"/>
          </a:xfrm>
          <a:prstGeom prst="rect">
            <a:avLst/>
          </a:prstGeom>
          <a:noFill/>
          <a:ln/>
        </p:spPr>
        <p:txBody>
          <a:bodyPr wrap="square" lIns="0" tIns="0" rIns="0" bIns="0" rtlCol="0" anchor="ctr"/>
          <a:lstStyle/>
          <a:p>
            <a:pPr marL="0" indent="0">
              <a:buNone/>
            </a:pPr>
            <a:r>
              <a:rPr lang="en-US" i="1" dirty="0">
                <a:solidFill>
                  <a:srgbClr val="5B6584"/>
                </a:solidFill>
                <a:latin typeface="Calibri" pitchFamily="34" charset="0"/>
                <a:ea typeface="Calibri" pitchFamily="34" charset="-122"/>
                <a:cs typeface="Calibri" pitchFamily="34" charset="-120"/>
              </a:rPr>
              <a:t>Right of the pivot: [90] — a base case, needs no further work.</a:t>
            </a:r>
            <a:endParaRPr lang="en-US" dirty="0"/>
          </a:p>
        </p:txBody>
      </p:sp>
      <p:sp>
        <p:nvSpPr>
          <p:cNvPr id="16" name="Shape 14"/>
          <p:cNvSpPr/>
          <p:nvPr/>
        </p:nvSpPr>
        <p:spPr>
          <a:xfrm>
            <a:off x="548640" y="3108960"/>
            <a:ext cx="11064240" cy="1828800"/>
          </a:xfrm>
          <a:prstGeom prst="roundRect">
            <a:avLst>
              <a:gd name="adj" fmla="val 5000"/>
            </a:avLst>
          </a:prstGeom>
          <a:solidFill>
            <a:schemeClr val="accent3">
              <a:lumMod val="20000"/>
              <a:lumOff val="80000"/>
            </a:schemeClr>
          </a:solidFill>
          <a:ln w="12700">
            <a:solidFill>
              <a:srgbClr val="0B3D3A"/>
            </a:solidFill>
            <a:prstDash val="solid"/>
          </a:ln>
        </p:spPr>
      </p:sp>
      <p:sp>
        <p:nvSpPr>
          <p:cNvPr id="17" name="Text 15"/>
          <p:cNvSpPr txBox="1"/>
          <p:nvPr/>
        </p:nvSpPr>
        <p:spPr>
          <a:xfrm>
            <a:off x="822960" y="3291840"/>
            <a:ext cx="4572000" cy="274320"/>
          </a:xfrm>
          <a:prstGeom prst="rect">
            <a:avLst/>
          </a:prstGeom>
          <a:noFill/>
          <a:ln/>
        </p:spPr>
        <p:txBody>
          <a:bodyPr wrap="square" lIns="0" tIns="0" rIns="0" bIns="0" rtlCol="0" anchor="ctr"/>
          <a:lstStyle/>
          <a:p>
            <a:pPr marL="0" indent="0">
              <a:buNone/>
            </a:pPr>
            <a:r>
              <a:rPr lang="en-US" b="1" kern="0" spc="150" dirty="0">
                <a:solidFill>
                  <a:srgbClr val="C98A1E"/>
                </a:solidFill>
                <a:latin typeface="Calibri" pitchFamily="34" charset="0"/>
                <a:ea typeface="Calibri" pitchFamily="34" charset="-122"/>
                <a:cs typeface="Calibri" pitchFamily="34" charset="-120"/>
              </a:rPr>
              <a:t>FINAL SORTED ARRAY</a:t>
            </a:r>
            <a:endParaRPr lang="en-US" dirty="0"/>
          </a:p>
        </p:txBody>
      </p:sp>
      <p:sp>
        <p:nvSpPr>
          <p:cNvPr id="18" name="Shape 16"/>
          <p:cNvSpPr/>
          <p:nvPr/>
        </p:nvSpPr>
        <p:spPr>
          <a:xfrm>
            <a:off x="822960" y="3611880"/>
            <a:ext cx="530352" cy="530352"/>
          </a:xfrm>
          <a:prstGeom prst="roundRect">
            <a:avLst>
              <a:gd name="adj" fmla="val 13793"/>
            </a:avLst>
          </a:prstGeom>
          <a:solidFill>
            <a:srgbClr val="2E9E6D"/>
          </a:solidFill>
          <a:ln w="22225">
            <a:solidFill>
              <a:srgbClr val="2E9E6D"/>
            </a:solidFill>
            <a:prstDash val="solid"/>
          </a:ln>
        </p:spPr>
      </p:sp>
      <p:sp>
        <p:nvSpPr>
          <p:cNvPr id="19" name="Text 17"/>
          <p:cNvSpPr txBox="1"/>
          <p:nvPr/>
        </p:nvSpPr>
        <p:spPr>
          <a:xfrm>
            <a:off x="822960" y="36118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10</a:t>
            </a:r>
            <a:endParaRPr lang="en-US" sz="1500" dirty="0"/>
          </a:p>
        </p:txBody>
      </p:sp>
      <p:sp>
        <p:nvSpPr>
          <p:cNvPr id="20" name="Shape 18"/>
          <p:cNvSpPr/>
          <p:nvPr/>
        </p:nvSpPr>
        <p:spPr>
          <a:xfrm>
            <a:off x="1444752" y="3611880"/>
            <a:ext cx="530352" cy="530352"/>
          </a:xfrm>
          <a:prstGeom prst="roundRect">
            <a:avLst>
              <a:gd name="adj" fmla="val 13793"/>
            </a:avLst>
          </a:prstGeom>
          <a:solidFill>
            <a:srgbClr val="2E9E6D"/>
          </a:solidFill>
          <a:ln w="22225">
            <a:solidFill>
              <a:srgbClr val="2E9E6D"/>
            </a:solidFill>
            <a:prstDash val="solid"/>
          </a:ln>
        </p:spPr>
      </p:sp>
      <p:sp>
        <p:nvSpPr>
          <p:cNvPr id="21" name="Text 19"/>
          <p:cNvSpPr txBox="1"/>
          <p:nvPr/>
        </p:nvSpPr>
        <p:spPr>
          <a:xfrm>
            <a:off x="1444752" y="36118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30</a:t>
            </a:r>
            <a:endParaRPr lang="en-US" sz="1500" dirty="0"/>
          </a:p>
        </p:txBody>
      </p:sp>
      <p:sp>
        <p:nvSpPr>
          <p:cNvPr id="22" name="Shape 20"/>
          <p:cNvSpPr/>
          <p:nvPr/>
        </p:nvSpPr>
        <p:spPr>
          <a:xfrm>
            <a:off x="2066544" y="3611880"/>
            <a:ext cx="530352" cy="530352"/>
          </a:xfrm>
          <a:prstGeom prst="roundRect">
            <a:avLst>
              <a:gd name="adj" fmla="val 13793"/>
            </a:avLst>
          </a:prstGeom>
          <a:solidFill>
            <a:srgbClr val="2E9E6D"/>
          </a:solidFill>
          <a:ln w="22225">
            <a:solidFill>
              <a:srgbClr val="2E9E6D"/>
            </a:solidFill>
            <a:prstDash val="solid"/>
          </a:ln>
        </p:spPr>
      </p:sp>
      <p:sp>
        <p:nvSpPr>
          <p:cNvPr id="23" name="Text 21"/>
          <p:cNvSpPr txBox="1"/>
          <p:nvPr/>
        </p:nvSpPr>
        <p:spPr>
          <a:xfrm>
            <a:off x="2066544" y="36118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40</a:t>
            </a:r>
            <a:endParaRPr lang="en-US" sz="1500" dirty="0"/>
          </a:p>
        </p:txBody>
      </p:sp>
      <p:sp>
        <p:nvSpPr>
          <p:cNvPr id="24" name="Shape 22"/>
          <p:cNvSpPr/>
          <p:nvPr/>
        </p:nvSpPr>
        <p:spPr>
          <a:xfrm>
            <a:off x="2688336" y="3611880"/>
            <a:ext cx="530352" cy="530352"/>
          </a:xfrm>
          <a:prstGeom prst="roundRect">
            <a:avLst>
              <a:gd name="adj" fmla="val 13793"/>
            </a:avLst>
          </a:prstGeom>
          <a:solidFill>
            <a:srgbClr val="2E9E6D"/>
          </a:solidFill>
          <a:ln w="22225">
            <a:solidFill>
              <a:srgbClr val="2E9E6D"/>
            </a:solidFill>
            <a:prstDash val="solid"/>
          </a:ln>
        </p:spPr>
      </p:sp>
      <p:sp>
        <p:nvSpPr>
          <p:cNvPr id="25" name="Text 23"/>
          <p:cNvSpPr txBox="1"/>
          <p:nvPr/>
        </p:nvSpPr>
        <p:spPr>
          <a:xfrm>
            <a:off x="2688336" y="36118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50</a:t>
            </a:r>
            <a:endParaRPr lang="en-US" sz="1500" dirty="0"/>
          </a:p>
        </p:txBody>
      </p:sp>
      <p:sp>
        <p:nvSpPr>
          <p:cNvPr id="26" name="Shape 24"/>
          <p:cNvSpPr/>
          <p:nvPr/>
        </p:nvSpPr>
        <p:spPr>
          <a:xfrm>
            <a:off x="3310128" y="3611880"/>
            <a:ext cx="530352" cy="530352"/>
          </a:xfrm>
          <a:prstGeom prst="roundRect">
            <a:avLst>
              <a:gd name="adj" fmla="val 13793"/>
            </a:avLst>
          </a:prstGeom>
          <a:solidFill>
            <a:srgbClr val="2E9E6D"/>
          </a:solidFill>
          <a:ln w="22225">
            <a:solidFill>
              <a:srgbClr val="2E9E6D"/>
            </a:solidFill>
            <a:prstDash val="solid"/>
          </a:ln>
        </p:spPr>
      </p:sp>
      <p:sp>
        <p:nvSpPr>
          <p:cNvPr id="27" name="Text 25"/>
          <p:cNvSpPr txBox="1"/>
          <p:nvPr/>
        </p:nvSpPr>
        <p:spPr>
          <a:xfrm>
            <a:off x="3310128" y="36118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70</a:t>
            </a:r>
            <a:endParaRPr lang="en-US" sz="1500" dirty="0"/>
          </a:p>
        </p:txBody>
      </p:sp>
      <p:sp>
        <p:nvSpPr>
          <p:cNvPr id="28" name="Shape 26"/>
          <p:cNvSpPr/>
          <p:nvPr/>
        </p:nvSpPr>
        <p:spPr>
          <a:xfrm>
            <a:off x="3931920" y="3611880"/>
            <a:ext cx="530352" cy="530352"/>
          </a:xfrm>
          <a:prstGeom prst="roundRect">
            <a:avLst>
              <a:gd name="adj" fmla="val 13793"/>
            </a:avLst>
          </a:prstGeom>
          <a:solidFill>
            <a:srgbClr val="2E9E6D"/>
          </a:solidFill>
          <a:ln w="22225">
            <a:solidFill>
              <a:srgbClr val="2E9E6D"/>
            </a:solidFill>
            <a:prstDash val="solid"/>
          </a:ln>
        </p:spPr>
      </p:sp>
      <p:sp>
        <p:nvSpPr>
          <p:cNvPr id="29" name="Text 27"/>
          <p:cNvSpPr txBox="1"/>
          <p:nvPr/>
        </p:nvSpPr>
        <p:spPr>
          <a:xfrm>
            <a:off x="3931920" y="36118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80</a:t>
            </a:r>
            <a:endParaRPr lang="en-US" sz="1500" dirty="0"/>
          </a:p>
        </p:txBody>
      </p:sp>
      <p:sp>
        <p:nvSpPr>
          <p:cNvPr id="30" name="Shape 28"/>
          <p:cNvSpPr/>
          <p:nvPr/>
        </p:nvSpPr>
        <p:spPr>
          <a:xfrm>
            <a:off x="4553712" y="3611880"/>
            <a:ext cx="530352" cy="530352"/>
          </a:xfrm>
          <a:prstGeom prst="roundRect">
            <a:avLst>
              <a:gd name="adj" fmla="val 13793"/>
            </a:avLst>
          </a:prstGeom>
          <a:solidFill>
            <a:srgbClr val="2E9E6D"/>
          </a:solidFill>
          <a:ln w="22225">
            <a:solidFill>
              <a:srgbClr val="2E9E6D"/>
            </a:solidFill>
            <a:prstDash val="solid"/>
          </a:ln>
        </p:spPr>
      </p:sp>
      <p:sp>
        <p:nvSpPr>
          <p:cNvPr id="31" name="Text 29"/>
          <p:cNvSpPr txBox="1"/>
          <p:nvPr/>
        </p:nvSpPr>
        <p:spPr>
          <a:xfrm>
            <a:off x="4553712" y="36118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90</a:t>
            </a:r>
            <a:endParaRPr lang="en-US" sz="1500" dirty="0"/>
          </a:p>
        </p:txBody>
      </p:sp>
      <p:sp>
        <p:nvSpPr>
          <p:cNvPr id="32" name="Text 30"/>
          <p:cNvSpPr txBox="1"/>
          <p:nvPr/>
        </p:nvSpPr>
        <p:spPr>
          <a:xfrm>
            <a:off x="5394960" y="3611880"/>
            <a:ext cx="5943600" cy="1188720"/>
          </a:xfrm>
          <a:prstGeom prst="rect">
            <a:avLst/>
          </a:prstGeom>
          <a:noFill/>
          <a:ln/>
        </p:spPr>
        <p:txBody>
          <a:bodyPr wrap="square" lIns="0" tIns="0" rIns="0" bIns="0" rtlCol="0" anchor="ctr"/>
          <a:lstStyle/>
          <a:p>
            <a:pPr marL="0" indent="0">
              <a:lnSpc>
                <a:spcPct val="160000"/>
              </a:lnSpc>
              <a:buNone/>
            </a:pPr>
            <a:r>
              <a:rPr lang="en-US" b="1" dirty="0">
                <a:latin typeface="Courier New" pitchFamily="34" charset="0"/>
                <a:ea typeface="Courier New" pitchFamily="34" charset="-122"/>
                <a:cs typeface="Courier New" pitchFamily="34" charset="-120"/>
              </a:rPr>
              <a:t>Total comparisons:  6 + 3 + 2 + 1 + 1 = 13
Total swap operations:  5 + 4 + 3 + 2 + 1 = 15</a:t>
            </a:r>
            <a:endParaRPr lang="en-US" b="1" dirty="0"/>
          </a:p>
        </p:txBody>
      </p:sp>
      <p:sp>
        <p:nvSpPr>
          <p:cNvPr id="33" name="Text 31"/>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34" name="Text 32"/>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CONNECTING THE CALLS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Comparison-Count Summary</a:t>
            </a:r>
            <a:endParaRPr lang="en-US" sz="3000" dirty="0"/>
          </a:p>
        </p:txBody>
      </p:sp>
      <p:sp>
        <p:nvSpPr>
          <p:cNvPr id="6" name="Shape 4"/>
          <p:cNvSpPr/>
          <p:nvPr/>
        </p:nvSpPr>
        <p:spPr>
          <a:xfrm>
            <a:off x="548640" y="1463040"/>
            <a:ext cx="11064240" cy="457200"/>
          </a:xfrm>
          <a:prstGeom prst="roundRect">
            <a:avLst>
              <a:gd name="adj" fmla="val 20000"/>
            </a:avLst>
          </a:prstGeom>
          <a:solidFill>
            <a:srgbClr val="0F6B64"/>
          </a:solidFill>
          <a:ln w="12700">
            <a:solidFill>
              <a:srgbClr val="0F6B64"/>
            </a:solidFill>
            <a:prstDash val="solid"/>
          </a:ln>
        </p:spPr>
      </p:sp>
      <p:sp>
        <p:nvSpPr>
          <p:cNvPr id="7" name="Text 5"/>
          <p:cNvSpPr txBox="1"/>
          <p:nvPr/>
        </p:nvSpPr>
        <p:spPr>
          <a:xfrm>
            <a:off x="548640" y="1463040"/>
            <a:ext cx="10972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Call</a:t>
            </a:r>
            <a:endParaRPr lang="en-US" sz="1200" dirty="0"/>
          </a:p>
        </p:txBody>
      </p:sp>
      <p:sp>
        <p:nvSpPr>
          <p:cNvPr id="8" name="Text 6"/>
          <p:cNvSpPr txBox="1"/>
          <p:nvPr/>
        </p:nvSpPr>
        <p:spPr>
          <a:xfrm>
            <a:off x="1645920" y="1463040"/>
            <a:ext cx="32918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Subarray</a:t>
            </a:r>
            <a:endParaRPr lang="en-US" sz="1200" dirty="0"/>
          </a:p>
        </p:txBody>
      </p:sp>
      <p:sp>
        <p:nvSpPr>
          <p:cNvPr id="9" name="Text 7"/>
          <p:cNvSpPr txBox="1"/>
          <p:nvPr/>
        </p:nvSpPr>
        <p:spPr>
          <a:xfrm>
            <a:off x="4937760" y="146304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Size (m)</a:t>
            </a:r>
            <a:endParaRPr lang="en-US" sz="1200" dirty="0"/>
          </a:p>
        </p:txBody>
      </p:sp>
      <p:sp>
        <p:nvSpPr>
          <p:cNvPr id="10" name="Text 8"/>
          <p:cNvSpPr txBox="1"/>
          <p:nvPr/>
        </p:nvSpPr>
        <p:spPr>
          <a:xfrm>
            <a:off x="6492240" y="1463040"/>
            <a:ext cx="26517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Comparisons (m−1)</a:t>
            </a:r>
            <a:endParaRPr lang="en-US" sz="1200" dirty="0"/>
          </a:p>
        </p:txBody>
      </p:sp>
      <p:sp>
        <p:nvSpPr>
          <p:cNvPr id="11" name="Text 9"/>
          <p:cNvSpPr txBox="1"/>
          <p:nvPr/>
        </p:nvSpPr>
        <p:spPr>
          <a:xfrm>
            <a:off x="9144000" y="1463040"/>
            <a:ext cx="24688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Pivot Final Index</a:t>
            </a:r>
            <a:endParaRPr lang="en-US" sz="1200" dirty="0"/>
          </a:p>
        </p:txBody>
      </p:sp>
      <p:sp>
        <p:nvSpPr>
          <p:cNvPr id="12" name="Shape 10"/>
          <p:cNvSpPr/>
          <p:nvPr/>
        </p:nvSpPr>
        <p:spPr>
          <a:xfrm>
            <a:off x="548640" y="1920240"/>
            <a:ext cx="11064240" cy="502920"/>
          </a:xfrm>
          <a:prstGeom prst="roundRect">
            <a:avLst>
              <a:gd name="adj" fmla="val 18182"/>
            </a:avLst>
          </a:prstGeom>
          <a:solidFill>
            <a:srgbClr val="E8F5F3"/>
          </a:solidFill>
          <a:ln w="12700">
            <a:solidFill>
              <a:srgbClr val="BFE3DE"/>
            </a:solidFill>
            <a:prstDash val="solid"/>
          </a:ln>
        </p:spPr>
      </p:sp>
      <p:sp>
        <p:nvSpPr>
          <p:cNvPr id="13" name="Text 11"/>
          <p:cNvSpPr txBox="1"/>
          <p:nvPr/>
        </p:nvSpPr>
        <p:spPr>
          <a:xfrm>
            <a:off x="548640" y="1920240"/>
            <a:ext cx="1097280" cy="502920"/>
          </a:xfrm>
          <a:prstGeom prst="rect">
            <a:avLst/>
          </a:prstGeom>
          <a:noFill/>
          <a:ln/>
        </p:spPr>
        <p:txBody>
          <a:bodyPr wrap="square" lIns="0" tIns="0" rIns="0" bIns="0" rtlCol="0" anchor="ctr"/>
          <a:lstStyle/>
          <a:p>
            <a:pPr marL="0" indent="0" algn="ctr">
              <a:buNone/>
            </a:pPr>
            <a:r>
              <a:rPr lang="en-US" sz="1600" b="1" dirty="0">
                <a:solidFill>
                  <a:srgbClr val="1B2233"/>
                </a:solidFill>
                <a:latin typeface="Calibri" pitchFamily="34" charset="0"/>
                <a:ea typeface="Calibri" pitchFamily="34" charset="-122"/>
                <a:cs typeface="Calibri" pitchFamily="34" charset="-120"/>
              </a:rPr>
              <a:t>1</a:t>
            </a:r>
            <a:endParaRPr lang="en-US" sz="1600" dirty="0"/>
          </a:p>
        </p:txBody>
      </p:sp>
      <p:sp>
        <p:nvSpPr>
          <p:cNvPr id="14" name="Text 12"/>
          <p:cNvSpPr txBox="1"/>
          <p:nvPr/>
        </p:nvSpPr>
        <p:spPr>
          <a:xfrm>
            <a:off x="1645920" y="1920240"/>
            <a:ext cx="329184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[10,80,30,90,40,50,70]</a:t>
            </a:r>
            <a:endParaRPr lang="en-US" sz="1600" dirty="0"/>
          </a:p>
        </p:txBody>
      </p:sp>
      <p:sp>
        <p:nvSpPr>
          <p:cNvPr id="15" name="Text 13"/>
          <p:cNvSpPr txBox="1"/>
          <p:nvPr/>
        </p:nvSpPr>
        <p:spPr>
          <a:xfrm>
            <a:off x="4937760" y="1920240"/>
            <a:ext cx="15544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7</a:t>
            </a:r>
            <a:endParaRPr lang="en-US" sz="1600" dirty="0"/>
          </a:p>
        </p:txBody>
      </p:sp>
      <p:sp>
        <p:nvSpPr>
          <p:cNvPr id="16" name="Text 14"/>
          <p:cNvSpPr txBox="1"/>
          <p:nvPr/>
        </p:nvSpPr>
        <p:spPr>
          <a:xfrm>
            <a:off x="6492240" y="1920240"/>
            <a:ext cx="265176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6</a:t>
            </a:r>
            <a:endParaRPr lang="en-US" sz="1600" dirty="0"/>
          </a:p>
        </p:txBody>
      </p:sp>
      <p:sp>
        <p:nvSpPr>
          <p:cNvPr id="17" name="Text 15"/>
          <p:cNvSpPr txBox="1"/>
          <p:nvPr/>
        </p:nvSpPr>
        <p:spPr>
          <a:xfrm>
            <a:off x="9144000" y="1920240"/>
            <a:ext cx="24688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4</a:t>
            </a:r>
            <a:endParaRPr lang="en-US" sz="1600" dirty="0"/>
          </a:p>
        </p:txBody>
      </p:sp>
      <p:sp>
        <p:nvSpPr>
          <p:cNvPr id="18" name="Shape 16"/>
          <p:cNvSpPr/>
          <p:nvPr/>
        </p:nvSpPr>
        <p:spPr>
          <a:xfrm>
            <a:off x="548640" y="2423160"/>
            <a:ext cx="11064240" cy="502920"/>
          </a:xfrm>
          <a:prstGeom prst="roundRect">
            <a:avLst>
              <a:gd name="adj" fmla="val 18182"/>
            </a:avLst>
          </a:prstGeom>
          <a:solidFill>
            <a:srgbClr val="FFFFFF"/>
          </a:solidFill>
          <a:ln w="12700">
            <a:solidFill>
              <a:srgbClr val="BFE3DE"/>
            </a:solidFill>
            <a:prstDash val="solid"/>
          </a:ln>
        </p:spPr>
      </p:sp>
      <p:sp>
        <p:nvSpPr>
          <p:cNvPr id="19" name="Text 17"/>
          <p:cNvSpPr txBox="1"/>
          <p:nvPr/>
        </p:nvSpPr>
        <p:spPr>
          <a:xfrm>
            <a:off x="548640" y="2423160"/>
            <a:ext cx="1097280" cy="502920"/>
          </a:xfrm>
          <a:prstGeom prst="rect">
            <a:avLst/>
          </a:prstGeom>
          <a:noFill/>
          <a:ln/>
        </p:spPr>
        <p:txBody>
          <a:bodyPr wrap="square" lIns="0" tIns="0" rIns="0" bIns="0" rtlCol="0" anchor="ctr"/>
          <a:lstStyle/>
          <a:p>
            <a:pPr marL="0" indent="0" algn="ctr">
              <a:buNone/>
            </a:pPr>
            <a:r>
              <a:rPr lang="en-US" sz="1600" b="1" dirty="0">
                <a:solidFill>
                  <a:srgbClr val="1B2233"/>
                </a:solidFill>
                <a:latin typeface="Calibri" pitchFamily="34" charset="0"/>
                <a:ea typeface="Calibri" pitchFamily="34" charset="-122"/>
                <a:cs typeface="Calibri" pitchFamily="34" charset="-120"/>
              </a:rPr>
              <a:t>2</a:t>
            </a:r>
            <a:endParaRPr lang="en-US" sz="1600" dirty="0"/>
          </a:p>
        </p:txBody>
      </p:sp>
      <p:sp>
        <p:nvSpPr>
          <p:cNvPr id="20" name="Text 18"/>
          <p:cNvSpPr txBox="1"/>
          <p:nvPr/>
        </p:nvSpPr>
        <p:spPr>
          <a:xfrm>
            <a:off x="1645920" y="2423160"/>
            <a:ext cx="329184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[10,30,40,50]</a:t>
            </a:r>
            <a:endParaRPr lang="en-US" sz="1600" dirty="0"/>
          </a:p>
        </p:txBody>
      </p:sp>
      <p:sp>
        <p:nvSpPr>
          <p:cNvPr id="21" name="Text 19"/>
          <p:cNvSpPr txBox="1"/>
          <p:nvPr/>
        </p:nvSpPr>
        <p:spPr>
          <a:xfrm>
            <a:off x="4937760" y="2423160"/>
            <a:ext cx="15544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6492240" y="2423160"/>
            <a:ext cx="265176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3</a:t>
            </a:r>
            <a:endParaRPr lang="en-US" sz="1600" dirty="0"/>
          </a:p>
        </p:txBody>
      </p:sp>
      <p:sp>
        <p:nvSpPr>
          <p:cNvPr id="23" name="Text 21"/>
          <p:cNvSpPr txBox="1"/>
          <p:nvPr/>
        </p:nvSpPr>
        <p:spPr>
          <a:xfrm>
            <a:off x="9144000" y="2423160"/>
            <a:ext cx="24688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3 (rel.)</a:t>
            </a:r>
            <a:endParaRPr lang="en-US" sz="1600" dirty="0"/>
          </a:p>
        </p:txBody>
      </p:sp>
      <p:sp>
        <p:nvSpPr>
          <p:cNvPr id="24" name="Shape 22"/>
          <p:cNvSpPr/>
          <p:nvPr/>
        </p:nvSpPr>
        <p:spPr>
          <a:xfrm>
            <a:off x="548640" y="2926080"/>
            <a:ext cx="11064240" cy="502920"/>
          </a:xfrm>
          <a:prstGeom prst="roundRect">
            <a:avLst>
              <a:gd name="adj" fmla="val 18182"/>
            </a:avLst>
          </a:prstGeom>
          <a:solidFill>
            <a:srgbClr val="E8F5F3"/>
          </a:solidFill>
          <a:ln w="12700">
            <a:solidFill>
              <a:srgbClr val="BFE3DE"/>
            </a:solidFill>
            <a:prstDash val="solid"/>
          </a:ln>
        </p:spPr>
      </p:sp>
      <p:sp>
        <p:nvSpPr>
          <p:cNvPr id="25" name="Text 23"/>
          <p:cNvSpPr txBox="1"/>
          <p:nvPr/>
        </p:nvSpPr>
        <p:spPr>
          <a:xfrm>
            <a:off x="548640" y="2926080"/>
            <a:ext cx="1097280" cy="502920"/>
          </a:xfrm>
          <a:prstGeom prst="rect">
            <a:avLst/>
          </a:prstGeom>
          <a:noFill/>
          <a:ln/>
        </p:spPr>
        <p:txBody>
          <a:bodyPr wrap="square" lIns="0" tIns="0" rIns="0" bIns="0" rtlCol="0" anchor="ctr"/>
          <a:lstStyle/>
          <a:p>
            <a:pPr marL="0" indent="0" algn="ctr">
              <a:buNone/>
            </a:pPr>
            <a:r>
              <a:rPr lang="en-US" sz="1600" b="1" dirty="0">
                <a:solidFill>
                  <a:srgbClr val="1B2233"/>
                </a:solidFill>
                <a:latin typeface="Calibri" pitchFamily="34" charset="0"/>
                <a:ea typeface="Calibri" pitchFamily="34" charset="-122"/>
                <a:cs typeface="Calibri" pitchFamily="34" charset="-120"/>
              </a:rPr>
              <a:t>3</a:t>
            </a:r>
            <a:endParaRPr lang="en-US" sz="1600" dirty="0"/>
          </a:p>
        </p:txBody>
      </p:sp>
      <p:sp>
        <p:nvSpPr>
          <p:cNvPr id="26" name="Text 24"/>
          <p:cNvSpPr txBox="1"/>
          <p:nvPr/>
        </p:nvSpPr>
        <p:spPr>
          <a:xfrm>
            <a:off x="1645920" y="2926080"/>
            <a:ext cx="329184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[10,30,40]</a:t>
            </a:r>
            <a:endParaRPr lang="en-US" sz="1600" dirty="0"/>
          </a:p>
        </p:txBody>
      </p:sp>
      <p:sp>
        <p:nvSpPr>
          <p:cNvPr id="27" name="Text 25"/>
          <p:cNvSpPr txBox="1"/>
          <p:nvPr/>
        </p:nvSpPr>
        <p:spPr>
          <a:xfrm>
            <a:off x="4937760" y="2926080"/>
            <a:ext cx="15544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3</a:t>
            </a:r>
            <a:endParaRPr lang="en-US" sz="1600" dirty="0"/>
          </a:p>
        </p:txBody>
      </p:sp>
      <p:sp>
        <p:nvSpPr>
          <p:cNvPr id="28" name="Text 26"/>
          <p:cNvSpPr txBox="1"/>
          <p:nvPr/>
        </p:nvSpPr>
        <p:spPr>
          <a:xfrm>
            <a:off x="6492240" y="2926080"/>
            <a:ext cx="265176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2</a:t>
            </a:r>
            <a:endParaRPr lang="en-US" sz="1600" dirty="0"/>
          </a:p>
        </p:txBody>
      </p:sp>
      <p:sp>
        <p:nvSpPr>
          <p:cNvPr id="29" name="Text 27"/>
          <p:cNvSpPr txBox="1"/>
          <p:nvPr/>
        </p:nvSpPr>
        <p:spPr>
          <a:xfrm>
            <a:off x="9144000" y="2926080"/>
            <a:ext cx="24688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2 (rel.)</a:t>
            </a:r>
            <a:endParaRPr lang="en-US" sz="1600" dirty="0"/>
          </a:p>
        </p:txBody>
      </p:sp>
      <p:sp>
        <p:nvSpPr>
          <p:cNvPr id="30" name="Shape 28"/>
          <p:cNvSpPr/>
          <p:nvPr/>
        </p:nvSpPr>
        <p:spPr>
          <a:xfrm>
            <a:off x="548640" y="3429000"/>
            <a:ext cx="11064240" cy="502920"/>
          </a:xfrm>
          <a:prstGeom prst="roundRect">
            <a:avLst>
              <a:gd name="adj" fmla="val 18182"/>
            </a:avLst>
          </a:prstGeom>
          <a:solidFill>
            <a:srgbClr val="FFFFFF"/>
          </a:solidFill>
          <a:ln w="12700">
            <a:solidFill>
              <a:srgbClr val="BFE3DE"/>
            </a:solidFill>
            <a:prstDash val="solid"/>
          </a:ln>
        </p:spPr>
      </p:sp>
      <p:sp>
        <p:nvSpPr>
          <p:cNvPr id="31" name="Text 29"/>
          <p:cNvSpPr txBox="1"/>
          <p:nvPr/>
        </p:nvSpPr>
        <p:spPr>
          <a:xfrm>
            <a:off x="548640" y="3429000"/>
            <a:ext cx="1097280" cy="502920"/>
          </a:xfrm>
          <a:prstGeom prst="rect">
            <a:avLst/>
          </a:prstGeom>
          <a:noFill/>
          <a:ln/>
        </p:spPr>
        <p:txBody>
          <a:bodyPr wrap="square" lIns="0" tIns="0" rIns="0" bIns="0" rtlCol="0" anchor="ctr"/>
          <a:lstStyle/>
          <a:p>
            <a:pPr marL="0" indent="0" algn="ctr">
              <a:buNone/>
            </a:pPr>
            <a:r>
              <a:rPr lang="en-US" sz="1600" b="1" dirty="0">
                <a:solidFill>
                  <a:srgbClr val="1B2233"/>
                </a:solidFill>
                <a:latin typeface="Calibri" pitchFamily="34" charset="0"/>
                <a:ea typeface="Calibri" pitchFamily="34" charset="-122"/>
                <a:cs typeface="Calibri" pitchFamily="34" charset="-120"/>
              </a:rPr>
              <a:t>4</a:t>
            </a:r>
            <a:endParaRPr lang="en-US" sz="1600" dirty="0"/>
          </a:p>
        </p:txBody>
      </p:sp>
      <p:sp>
        <p:nvSpPr>
          <p:cNvPr id="32" name="Text 30"/>
          <p:cNvSpPr txBox="1"/>
          <p:nvPr/>
        </p:nvSpPr>
        <p:spPr>
          <a:xfrm>
            <a:off x="1645920" y="3429000"/>
            <a:ext cx="329184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[10,30]</a:t>
            </a:r>
            <a:endParaRPr lang="en-US" sz="1600" dirty="0"/>
          </a:p>
        </p:txBody>
      </p:sp>
      <p:sp>
        <p:nvSpPr>
          <p:cNvPr id="33" name="Text 31"/>
          <p:cNvSpPr txBox="1"/>
          <p:nvPr/>
        </p:nvSpPr>
        <p:spPr>
          <a:xfrm>
            <a:off x="4937760" y="3429000"/>
            <a:ext cx="15544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2</a:t>
            </a:r>
            <a:endParaRPr lang="en-US" sz="1600" dirty="0"/>
          </a:p>
        </p:txBody>
      </p:sp>
      <p:sp>
        <p:nvSpPr>
          <p:cNvPr id="34" name="Text 32"/>
          <p:cNvSpPr txBox="1"/>
          <p:nvPr/>
        </p:nvSpPr>
        <p:spPr>
          <a:xfrm>
            <a:off x="6492240" y="3429000"/>
            <a:ext cx="265176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1</a:t>
            </a:r>
            <a:endParaRPr lang="en-US" sz="1600" dirty="0"/>
          </a:p>
        </p:txBody>
      </p:sp>
      <p:sp>
        <p:nvSpPr>
          <p:cNvPr id="35" name="Text 33"/>
          <p:cNvSpPr txBox="1"/>
          <p:nvPr/>
        </p:nvSpPr>
        <p:spPr>
          <a:xfrm>
            <a:off x="9144000" y="3429000"/>
            <a:ext cx="24688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1 (rel.)</a:t>
            </a:r>
            <a:endParaRPr lang="en-US" sz="1600" dirty="0"/>
          </a:p>
        </p:txBody>
      </p:sp>
      <p:sp>
        <p:nvSpPr>
          <p:cNvPr id="36" name="Shape 34"/>
          <p:cNvSpPr/>
          <p:nvPr/>
        </p:nvSpPr>
        <p:spPr>
          <a:xfrm>
            <a:off x="548640" y="3931920"/>
            <a:ext cx="11064240" cy="502920"/>
          </a:xfrm>
          <a:prstGeom prst="roundRect">
            <a:avLst>
              <a:gd name="adj" fmla="val 18182"/>
            </a:avLst>
          </a:prstGeom>
          <a:solidFill>
            <a:srgbClr val="E8F5F3"/>
          </a:solidFill>
          <a:ln w="12700">
            <a:solidFill>
              <a:srgbClr val="BFE3DE"/>
            </a:solidFill>
            <a:prstDash val="solid"/>
          </a:ln>
        </p:spPr>
      </p:sp>
      <p:sp>
        <p:nvSpPr>
          <p:cNvPr id="37" name="Text 35"/>
          <p:cNvSpPr txBox="1"/>
          <p:nvPr/>
        </p:nvSpPr>
        <p:spPr>
          <a:xfrm>
            <a:off x="548640" y="3931920"/>
            <a:ext cx="1097280" cy="502920"/>
          </a:xfrm>
          <a:prstGeom prst="rect">
            <a:avLst/>
          </a:prstGeom>
          <a:noFill/>
          <a:ln/>
        </p:spPr>
        <p:txBody>
          <a:bodyPr wrap="square" lIns="0" tIns="0" rIns="0" bIns="0" rtlCol="0" anchor="ctr"/>
          <a:lstStyle/>
          <a:p>
            <a:pPr marL="0" indent="0" algn="ctr">
              <a:buNone/>
            </a:pPr>
            <a:r>
              <a:rPr lang="en-US" sz="1600" b="1" dirty="0">
                <a:solidFill>
                  <a:srgbClr val="1B2233"/>
                </a:solidFill>
                <a:latin typeface="Calibri" pitchFamily="34" charset="0"/>
                <a:ea typeface="Calibri" pitchFamily="34" charset="-122"/>
                <a:cs typeface="Calibri" pitchFamily="34" charset="-120"/>
              </a:rPr>
              <a:t>5</a:t>
            </a:r>
            <a:endParaRPr lang="en-US" sz="1600" dirty="0"/>
          </a:p>
        </p:txBody>
      </p:sp>
      <p:sp>
        <p:nvSpPr>
          <p:cNvPr id="38" name="Text 36"/>
          <p:cNvSpPr txBox="1"/>
          <p:nvPr/>
        </p:nvSpPr>
        <p:spPr>
          <a:xfrm>
            <a:off x="1645920" y="3931920"/>
            <a:ext cx="329184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ourier New" pitchFamily="34" charset="0"/>
                <a:ea typeface="Courier New" pitchFamily="34" charset="-122"/>
                <a:cs typeface="Courier New" pitchFamily="34" charset="-120"/>
              </a:rPr>
              <a:t>[90,80]</a:t>
            </a:r>
            <a:endParaRPr lang="en-US" sz="1600" dirty="0"/>
          </a:p>
        </p:txBody>
      </p:sp>
      <p:sp>
        <p:nvSpPr>
          <p:cNvPr id="39" name="Text 37"/>
          <p:cNvSpPr txBox="1"/>
          <p:nvPr/>
        </p:nvSpPr>
        <p:spPr>
          <a:xfrm>
            <a:off x="4937760" y="3931920"/>
            <a:ext cx="15544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2</a:t>
            </a:r>
            <a:endParaRPr lang="en-US" sz="1600" dirty="0"/>
          </a:p>
        </p:txBody>
      </p:sp>
      <p:sp>
        <p:nvSpPr>
          <p:cNvPr id="40" name="Text 38"/>
          <p:cNvSpPr txBox="1"/>
          <p:nvPr/>
        </p:nvSpPr>
        <p:spPr>
          <a:xfrm>
            <a:off x="6492240" y="3931920"/>
            <a:ext cx="265176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1</a:t>
            </a:r>
            <a:endParaRPr lang="en-US" sz="1600" dirty="0"/>
          </a:p>
        </p:txBody>
      </p:sp>
      <p:sp>
        <p:nvSpPr>
          <p:cNvPr id="41" name="Text 39"/>
          <p:cNvSpPr txBox="1"/>
          <p:nvPr/>
        </p:nvSpPr>
        <p:spPr>
          <a:xfrm>
            <a:off x="9144000" y="3931920"/>
            <a:ext cx="2468880" cy="502920"/>
          </a:xfrm>
          <a:prstGeom prst="rect">
            <a:avLst/>
          </a:prstGeom>
          <a:noFill/>
          <a:ln/>
        </p:spPr>
        <p:txBody>
          <a:bodyPr wrap="square" lIns="0" tIns="0" rIns="0" bIns="0" rtlCol="0" anchor="ctr"/>
          <a:lstStyle/>
          <a:p>
            <a:pPr marL="0" indent="0" algn="ctr">
              <a:buNone/>
            </a:pPr>
            <a:r>
              <a:rPr lang="en-US" sz="1600" dirty="0">
                <a:solidFill>
                  <a:srgbClr val="1B2233"/>
                </a:solidFill>
                <a:latin typeface="Calibri" pitchFamily="34" charset="0"/>
                <a:ea typeface="Calibri" pitchFamily="34" charset="-122"/>
                <a:cs typeface="Calibri" pitchFamily="34" charset="-120"/>
              </a:rPr>
              <a:t>5 (abs.)</a:t>
            </a:r>
            <a:endParaRPr lang="en-US" sz="1600" dirty="0"/>
          </a:p>
        </p:txBody>
      </p:sp>
      <p:sp>
        <p:nvSpPr>
          <p:cNvPr id="42" name="Shape 40"/>
          <p:cNvSpPr/>
          <p:nvPr/>
        </p:nvSpPr>
        <p:spPr>
          <a:xfrm>
            <a:off x="548640" y="4434840"/>
            <a:ext cx="11064240" cy="502920"/>
          </a:xfrm>
          <a:prstGeom prst="roundRect">
            <a:avLst>
              <a:gd name="adj" fmla="val 18182"/>
            </a:avLst>
          </a:prstGeom>
          <a:solidFill>
            <a:srgbClr val="DCF3E8"/>
          </a:solidFill>
          <a:ln w="12700">
            <a:solidFill>
              <a:srgbClr val="7FC9A6"/>
            </a:solidFill>
            <a:prstDash val="solid"/>
          </a:ln>
        </p:spPr>
      </p:sp>
      <p:sp>
        <p:nvSpPr>
          <p:cNvPr id="43" name="Text 41"/>
          <p:cNvSpPr txBox="1"/>
          <p:nvPr/>
        </p:nvSpPr>
        <p:spPr>
          <a:xfrm>
            <a:off x="548640" y="4434840"/>
            <a:ext cx="5943600" cy="502920"/>
          </a:xfrm>
          <a:prstGeom prst="rect">
            <a:avLst/>
          </a:prstGeom>
          <a:noFill/>
          <a:ln/>
        </p:spPr>
        <p:txBody>
          <a:bodyPr wrap="square" lIns="0" tIns="0" rIns="0" bIns="0" rtlCol="0" anchor="ctr"/>
          <a:lstStyle/>
          <a:p>
            <a:pPr marL="0" indent="0" algn="ctr">
              <a:buNone/>
            </a:pPr>
            <a:r>
              <a:rPr lang="en-US" sz="2000" b="1" dirty="0">
                <a:solidFill>
                  <a:srgbClr val="2E9E6D"/>
                </a:solidFill>
                <a:latin typeface="Calibri" pitchFamily="34" charset="0"/>
                <a:ea typeface="Calibri" pitchFamily="34" charset="-122"/>
                <a:cs typeface="Calibri" pitchFamily="34" charset="-120"/>
              </a:rPr>
              <a:t>TOTAL</a:t>
            </a:r>
            <a:endParaRPr lang="en-US" sz="2000" dirty="0"/>
          </a:p>
        </p:txBody>
      </p:sp>
      <p:sp>
        <p:nvSpPr>
          <p:cNvPr id="44" name="Text 42"/>
          <p:cNvSpPr txBox="1"/>
          <p:nvPr/>
        </p:nvSpPr>
        <p:spPr>
          <a:xfrm>
            <a:off x="6492240" y="4434840"/>
            <a:ext cx="2651760" cy="502920"/>
          </a:xfrm>
          <a:prstGeom prst="rect">
            <a:avLst/>
          </a:prstGeom>
          <a:noFill/>
          <a:ln/>
        </p:spPr>
        <p:txBody>
          <a:bodyPr wrap="square" lIns="0" tIns="0" rIns="0" bIns="0" rtlCol="0" anchor="ctr"/>
          <a:lstStyle/>
          <a:p>
            <a:pPr marL="0" indent="0" algn="ctr">
              <a:buNone/>
            </a:pPr>
            <a:r>
              <a:rPr lang="en-US" b="1" dirty="0">
                <a:solidFill>
                  <a:srgbClr val="0B3D3A"/>
                </a:solidFill>
                <a:latin typeface="Courier New" pitchFamily="34" charset="0"/>
                <a:ea typeface="Courier New" pitchFamily="34" charset="-122"/>
                <a:cs typeface="Courier New" pitchFamily="34" charset="-120"/>
              </a:rPr>
              <a:t>13 comparisons</a:t>
            </a:r>
            <a:endParaRPr lang="en-US" dirty="0"/>
          </a:p>
        </p:txBody>
      </p:sp>
      <p:sp>
        <p:nvSpPr>
          <p:cNvPr id="45" name="Shape 43"/>
          <p:cNvSpPr/>
          <p:nvPr/>
        </p:nvSpPr>
        <p:spPr>
          <a:xfrm>
            <a:off x="411480" y="5078725"/>
            <a:ext cx="11338560" cy="1426464"/>
          </a:xfrm>
          <a:prstGeom prst="roundRect">
            <a:avLst>
              <a:gd name="adj" fmla="val 6452"/>
            </a:avLst>
          </a:prstGeom>
          <a:solidFill>
            <a:srgbClr val="81D4C8"/>
          </a:solidFill>
          <a:ln w="12700">
            <a:solidFill>
              <a:srgbClr val="0B3D3A"/>
            </a:solidFill>
            <a:prstDash val="solid"/>
          </a:ln>
        </p:spPr>
      </p:sp>
      <p:sp>
        <p:nvSpPr>
          <p:cNvPr id="47" name="Text 45"/>
          <p:cNvSpPr txBox="1"/>
          <p:nvPr/>
        </p:nvSpPr>
        <p:spPr>
          <a:xfrm>
            <a:off x="487680" y="5321808"/>
            <a:ext cx="11292840" cy="914400"/>
          </a:xfrm>
          <a:prstGeom prst="rect">
            <a:avLst/>
          </a:prstGeom>
          <a:noFill/>
          <a:ln/>
        </p:spPr>
        <p:txBody>
          <a:bodyPr wrap="square" lIns="0" tIns="0" rIns="0" bIns="0" rtlCol="0" anchor="ctr"/>
          <a:lstStyle/>
          <a:p>
            <a:pPr marL="0" indent="0">
              <a:buNone/>
            </a:pPr>
            <a:r>
              <a:rPr lang="en-US" b="1" dirty="0">
                <a:latin typeface="Times New Roman" panose="02020603050405020304" pitchFamily="18" charset="0"/>
                <a:ea typeface="Courier New" pitchFamily="34" charset="-122"/>
                <a:cs typeface="Times New Roman" panose="02020603050405020304" pitchFamily="18" charset="0"/>
              </a:rPr>
              <a:t>Worst-case bound (n=7):   n(n−1)/2 = 21 comparisons   (fully unbalanced partitions every time)
Best/average estimate:   ≈ n log₂ n ≈ 19.6 comparisons   (perfectly balanced partitions every time)
Our actual count:   13 comparisons   — better than both estimates, even with one badly unbalanced branch, because the array was small and the right branch resolved instantly.</a:t>
            </a:r>
            <a:endParaRPr lang="en-US" b="1" dirty="0">
              <a:latin typeface="Times New Roman" panose="02020603050405020304" pitchFamily="18" charset="0"/>
              <a:cs typeface="Times New Roman" panose="02020603050405020304" pitchFamily="18" charset="0"/>
            </a:endParaRPr>
          </a:p>
        </p:txBody>
      </p:sp>
      <p:sp>
        <p:nvSpPr>
          <p:cNvPr id="48" name="Text 46"/>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49" name="Text 47"/>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FFFFFF">
              <a:alpha val="8000"/>
            </a:srgbClr>
          </a:solidFill>
          <a:ln/>
        </p:spPr>
      </p:sp>
      <p:sp>
        <p:nvSpPr>
          <p:cNvPr id="3" name="Shape 1"/>
          <p:cNvSpPr/>
          <p:nvPr/>
        </p:nvSpPr>
        <p:spPr>
          <a:xfrm rot="12300000">
            <a:off x="-1097280" y="5760720"/>
            <a:ext cx="2377440" cy="2377440"/>
          </a:xfrm>
          <a:prstGeom prst="triangle">
            <a:avLst/>
          </a:prstGeom>
          <a:solidFill>
            <a:srgbClr val="FFFFFF">
              <a:alpha val="8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C98A1E"/>
                </a:solidFill>
                <a:latin typeface="Calibri" pitchFamily="34" charset="0"/>
                <a:ea typeface="Calibri" pitchFamily="34" charset="-122"/>
                <a:cs typeface="Calibri" pitchFamily="34" charset="-120"/>
              </a:rPr>
              <a:t>THE ALGORITHM</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600" b="1" dirty="0">
                <a:latin typeface="Cambria" pitchFamily="34" charset="0"/>
                <a:ea typeface="Cambria" pitchFamily="34" charset="-122"/>
                <a:cs typeface="Cambria" pitchFamily="34" charset="-120"/>
              </a:rPr>
              <a:t>Pseudocode</a:t>
            </a:r>
            <a:endParaRPr lang="en-US" sz="3600" dirty="0"/>
          </a:p>
        </p:txBody>
      </p:sp>
      <p:sp>
        <p:nvSpPr>
          <p:cNvPr id="6" name="Shape 4"/>
          <p:cNvSpPr/>
          <p:nvPr/>
        </p:nvSpPr>
        <p:spPr>
          <a:xfrm>
            <a:off x="548640" y="1417320"/>
            <a:ext cx="5486400" cy="1828800"/>
          </a:xfrm>
          <a:prstGeom prst="roundRect">
            <a:avLst>
              <a:gd name="adj" fmla="val 4000"/>
            </a:avLst>
          </a:prstGeom>
          <a:solidFill>
            <a:schemeClr val="tx2">
              <a:lumMod val="20000"/>
              <a:lumOff val="80000"/>
            </a:schemeClr>
          </a:solidFill>
          <a:ln/>
        </p:spPr>
      </p:sp>
      <p:sp>
        <p:nvSpPr>
          <p:cNvPr id="7" name="Text 5"/>
          <p:cNvSpPr txBox="1"/>
          <p:nvPr/>
        </p:nvSpPr>
        <p:spPr>
          <a:xfrm>
            <a:off x="777240" y="1581912"/>
            <a:ext cx="5029200" cy="1499616"/>
          </a:xfrm>
          <a:prstGeom prst="rect">
            <a:avLst/>
          </a:prstGeom>
          <a:noFill/>
          <a:ln/>
        </p:spPr>
        <p:txBody>
          <a:bodyPr wrap="square" lIns="0" tIns="0" rIns="0" bIns="0" rtlCol="0" anchor="t"/>
          <a:lstStyle/>
          <a:p>
            <a:pPr marL="0" indent="0">
              <a:lnSpc>
                <a:spcPct val="135000"/>
              </a:lnSpc>
              <a:buNone/>
            </a:pPr>
            <a:r>
              <a:rPr lang="en-US" sz="1600" b="1" dirty="0">
                <a:latin typeface="Courier New" pitchFamily="34" charset="0"/>
                <a:ea typeface="Courier New" pitchFamily="34" charset="-122"/>
                <a:cs typeface="Courier New" pitchFamily="34" charset="-120"/>
              </a:rPr>
              <a:t>QUICKSORT(A, low, high)
</a:t>
            </a:r>
            <a:r>
              <a:rPr lang="en-US" sz="1600" dirty="0">
                <a:latin typeface="Courier New" pitchFamily="34" charset="0"/>
                <a:ea typeface="Courier New" pitchFamily="34" charset="-122"/>
                <a:cs typeface="Courier New" pitchFamily="34" charset="-120"/>
              </a:rPr>
              <a:t>  if low &lt; high
      p = PARTITION(A, low, high)
      QUICKSORT(A, low, p − 1)
      QUICKSORT(A, p + 1, high)</a:t>
            </a:r>
            <a:endParaRPr lang="en-US" sz="1600" dirty="0"/>
          </a:p>
        </p:txBody>
      </p:sp>
      <p:sp>
        <p:nvSpPr>
          <p:cNvPr id="8" name="Shape 6"/>
          <p:cNvSpPr/>
          <p:nvPr/>
        </p:nvSpPr>
        <p:spPr>
          <a:xfrm>
            <a:off x="6172200" y="1417320"/>
            <a:ext cx="5440680" cy="2743200"/>
          </a:xfrm>
          <a:prstGeom prst="roundRect">
            <a:avLst>
              <a:gd name="adj" fmla="val 2667"/>
            </a:avLst>
          </a:prstGeom>
          <a:solidFill>
            <a:schemeClr val="accent2">
              <a:lumMod val="20000"/>
              <a:lumOff val="80000"/>
            </a:schemeClr>
          </a:solidFill>
          <a:ln/>
        </p:spPr>
      </p:sp>
      <p:sp>
        <p:nvSpPr>
          <p:cNvPr id="9" name="Text 7"/>
          <p:cNvSpPr txBox="1"/>
          <p:nvPr/>
        </p:nvSpPr>
        <p:spPr>
          <a:xfrm>
            <a:off x="6263640" y="1581912"/>
            <a:ext cx="5120640" cy="2816352"/>
          </a:xfrm>
          <a:prstGeom prst="rect">
            <a:avLst/>
          </a:prstGeom>
          <a:noFill/>
          <a:ln/>
        </p:spPr>
        <p:txBody>
          <a:bodyPr wrap="square" lIns="0" tIns="0" rIns="0" bIns="0" rtlCol="0" anchor="t"/>
          <a:lstStyle/>
          <a:p>
            <a:pPr marL="0" indent="0">
              <a:buNone/>
            </a:pPr>
            <a:r>
              <a:rPr lang="en-US" b="1" dirty="0">
                <a:latin typeface="Courier New" pitchFamily="34" charset="0"/>
                <a:ea typeface="Courier New" pitchFamily="34" charset="-122"/>
                <a:cs typeface="Courier New" pitchFamily="34" charset="-120"/>
              </a:rPr>
              <a:t>PARTITION(A, low, high)
  pivot = A[high]
  i = low − 1
  for j = low to high − 1
      if A[j] ≤ pivot
          i = i + 1
          swap A[i], A[j]
  swap A[i+1], A[high]
  return i + 1</a:t>
            </a:r>
            <a:endParaRPr lang="en-US" b="1" dirty="0"/>
          </a:p>
        </p:txBody>
      </p:sp>
      <p:sp>
        <p:nvSpPr>
          <p:cNvPr id="10" name="Shape 8"/>
          <p:cNvSpPr/>
          <p:nvPr/>
        </p:nvSpPr>
        <p:spPr>
          <a:xfrm>
            <a:off x="548640" y="3429000"/>
            <a:ext cx="5486400" cy="2880360"/>
          </a:xfrm>
          <a:prstGeom prst="roundRect">
            <a:avLst>
              <a:gd name="adj" fmla="val 3175"/>
            </a:avLst>
          </a:prstGeom>
          <a:solidFill>
            <a:schemeClr val="accent3">
              <a:lumMod val="20000"/>
              <a:lumOff val="80000"/>
            </a:schemeClr>
          </a:solidFill>
          <a:ln w="12700">
            <a:solidFill>
              <a:srgbClr val="0F6B64"/>
            </a:solidFill>
            <a:prstDash val="solid"/>
          </a:ln>
        </p:spPr>
      </p:sp>
      <p:sp>
        <p:nvSpPr>
          <p:cNvPr id="11" name="Text 9"/>
          <p:cNvSpPr txBox="1"/>
          <p:nvPr/>
        </p:nvSpPr>
        <p:spPr>
          <a:xfrm>
            <a:off x="777240" y="3566160"/>
            <a:ext cx="5029200" cy="274320"/>
          </a:xfrm>
          <a:prstGeom prst="rect">
            <a:avLst/>
          </a:prstGeom>
          <a:noFill/>
          <a:ln/>
        </p:spPr>
        <p:txBody>
          <a:bodyPr wrap="square" lIns="0" tIns="0" rIns="0" bIns="0" rtlCol="0" anchor="ctr"/>
          <a:lstStyle/>
          <a:p>
            <a:pPr marL="0" indent="0">
              <a:buNone/>
            </a:pPr>
            <a:r>
              <a:rPr lang="en-US" sz="1600" b="1" kern="0" spc="120" dirty="0">
                <a:solidFill>
                  <a:srgbClr val="C98A1E"/>
                </a:solidFill>
                <a:latin typeface="Calibri" pitchFamily="34" charset="0"/>
                <a:ea typeface="Calibri" pitchFamily="34" charset="-122"/>
                <a:cs typeface="Calibri" pitchFamily="34" charset="-120"/>
              </a:rPr>
              <a:t>LINE-BY-LINE (QUICKSORT)</a:t>
            </a:r>
            <a:endParaRPr lang="en-US" sz="1600" dirty="0"/>
          </a:p>
        </p:txBody>
      </p:sp>
      <p:sp>
        <p:nvSpPr>
          <p:cNvPr id="12" name="Text 10"/>
          <p:cNvSpPr txBox="1"/>
          <p:nvPr/>
        </p:nvSpPr>
        <p:spPr>
          <a:xfrm>
            <a:off x="777240" y="3886200"/>
            <a:ext cx="5029200" cy="685800"/>
          </a:xfrm>
          <a:prstGeom prst="rect">
            <a:avLst/>
          </a:prstGeom>
          <a:noFill/>
          <a:ln/>
        </p:spPr>
        <p:txBody>
          <a:bodyPr wrap="square" lIns="0" tIns="0" rIns="0" bIns="0" rtlCol="0" anchor="ctr"/>
          <a:lstStyle/>
          <a:p>
            <a:pPr marL="0" indent="0">
              <a:lnSpc>
                <a:spcPct val="125000"/>
              </a:lnSpc>
              <a:buNone/>
            </a:pPr>
            <a:r>
              <a:rPr lang="en-US" sz="1600" b="1" dirty="0">
                <a:latin typeface="Courier New" pitchFamily="34" charset="0"/>
                <a:ea typeface="Courier New" pitchFamily="34" charset="-122"/>
                <a:cs typeface="Courier New" pitchFamily="34" charset="-120"/>
              </a:rPr>
              <a:t>if low &lt; high  —  </a:t>
            </a:r>
            <a:r>
              <a:rPr lang="en-US" sz="1600" dirty="0">
                <a:latin typeface="Calibri" pitchFamily="34" charset="0"/>
                <a:ea typeface="Calibri" pitchFamily="34" charset="-122"/>
                <a:cs typeface="Calibri" pitchFamily="34" charset="-120"/>
              </a:rPr>
              <a:t>Base case guard — a subarray of size ≤ 1 is already sorted.</a:t>
            </a:r>
            <a:endParaRPr lang="en-US" sz="1600" dirty="0"/>
          </a:p>
        </p:txBody>
      </p:sp>
      <p:sp>
        <p:nvSpPr>
          <p:cNvPr id="13" name="Text 11"/>
          <p:cNvSpPr txBox="1"/>
          <p:nvPr/>
        </p:nvSpPr>
        <p:spPr>
          <a:xfrm>
            <a:off x="777240" y="4533272"/>
            <a:ext cx="5029200" cy="685800"/>
          </a:xfrm>
          <a:prstGeom prst="rect">
            <a:avLst/>
          </a:prstGeom>
          <a:noFill/>
          <a:ln/>
        </p:spPr>
        <p:txBody>
          <a:bodyPr wrap="square" lIns="0" tIns="0" rIns="0" bIns="0" rtlCol="0" anchor="ctr"/>
          <a:lstStyle/>
          <a:p>
            <a:pPr marL="0" indent="0">
              <a:lnSpc>
                <a:spcPct val="125000"/>
              </a:lnSpc>
              <a:buNone/>
            </a:pPr>
            <a:r>
              <a:rPr lang="en-US" sz="1600" b="1" dirty="0">
                <a:latin typeface="Courier New" pitchFamily="34" charset="0"/>
                <a:ea typeface="Courier New" pitchFamily="34" charset="-122"/>
                <a:cs typeface="Courier New" pitchFamily="34" charset="-120"/>
              </a:rPr>
              <a:t>p = PARTITION(...)  —  </a:t>
            </a:r>
            <a:r>
              <a:rPr lang="en-US" sz="1600" dirty="0">
                <a:latin typeface="Calibri" pitchFamily="34" charset="0"/>
                <a:ea typeface="Calibri" pitchFamily="34" charset="-122"/>
                <a:cs typeface="Calibri" pitchFamily="34" charset="-120"/>
              </a:rPr>
              <a:t>Places one element (the pivot) in its final position; returns that index.</a:t>
            </a:r>
            <a:endParaRPr lang="en-US" sz="1600" dirty="0"/>
          </a:p>
        </p:txBody>
      </p:sp>
      <p:sp>
        <p:nvSpPr>
          <p:cNvPr id="14" name="Text 12"/>
          <p:cNvSpPr txBox="1"/>
          <p:nvPr/>
        </p:nvSpPr>
        <p:spPr>
          <a:xfrm>
            <a:off x="777240" y="5440680"/>
            <a:ext cx="5029200" cy="685800"/>
          </a:xfrm>
          <a:prstGeom prst="rect">
            <a:avLst/>
          </a:prstGeom>
          <a:noFill/>
          <a:ln/>
        </p:spPr>
        <p:txBody>
          <a:bodyPr wrap="square" lIns="0" tIns="0" rIns="0" bIns="0" rtlCol="0" anchor="ctr"/>
          <a:lstStyle/>
          <a:p>
            <a:pPr marL="0" indent="0">
              <a:lnSpc>
                <a:spcPct val="125000"/>
              </a:lnSpc>
              <a:buNone/>
            </a:pPr>
            <a:r>
              <a:rPr lang="en-US" sz="1600" b="1" dirty="0">
                <a:latin typeface="Courier New" pitchFamily="34" charset="0"/>
                <a:ea typeface="Courier New" pitchFamily="34" charset="-122"/>
                <a:cs typeface="Courier New" pitchFamily="34" charset="-120"/>
              </a:rPr>
              <a:t>Two recursive calls  —  </a:t>
            </a:r>
            <a:r>
              <a:rPr lang="en-US" sz="1600" dirty="0">
                <a:latin typeface="Calibri" pitchFamily="34" charset="0"/>
                <a:ea typeface="Calibri" pitchFamily="34" charset="-122"/>
                <a:cs typeface="Calibri" pitchFamily="34" charset="-120"/>
              </a:rPr>
              <a:t>Sort everything strictly left of p, and everything strictly right of p — the pivot itself is excluded, since it's already correct.</a:t>
            </a:r>
            <a:endParaRPr lang="en-US" sz="1600" dirty="0"/>
          </a:p>
        </p:txBody>
      </p:sp>
      <p:sp>
        <p:nvSpPr>
          <p:cNvPr id="15" name="Shape 13"/>
          <p:cNvSpPr/>
          <p:nvPr/>
        </p:nvSpPr>
        <p:spPr>
          <a:xfrm>
            <a:off x="6172200" y="4297680"/>
            <a:ext cx="5440680" cy="2011680"/>
          </a:xfrm>
          <a:prstGeom prst="roundRect">
            <a:avLst>
              <a:gd name="adj" fmla="val 4545"/>
            </a:avLst>
          </a:prstGeom>
          <a:solidFill>
            <a:schemeClr val="accent6">
              <a:lumMod val="20000"/>
              <a:lumOff val="80000"/>
            </a:schemeClr>
          </a:solidFill>
          <a:ln w="12700">
            <a:solidFill>
              <a:srgbClr val="0F6B64"/>
            </a:solidFill>
            <a:prstDash val="solid"/>
          </a:ln>
        </p:spPr>
      </p:sp>
      <p:sp>
        <p:nvSpPr>
          <p:cNvPr id="16" name="Text 14"/>
          <p:cNvSpPr txBox="1"/>
          <p:nvPr/>
        </p:nvSpPr>
        <p:spPr>
          <a:xfrm>
            <a:off x="6400800" y="4434840"/>
            <a:ext cx="4937760" cy="274320"/>
          </a:xfrm>
          <a:prstGeom prst="rect">
            <a:avLst/>
          </a:prstGeom>
          <a:noFill/>
          <a:ln/>
        </p:spPr>
        <p:txBody>
          <a:bodyPr wrap="square" lIns="0" tIns="0" rIns="0" bIns="0" rtlCol="0" anchor="ctr"/>
          <a:lstStyle/>
          <a:p>
            <a:pPr marL="0" indent="0">
              <a:buNone/>
            </a:pPr>
            <a:r>
              <a:rPr lang="en-US" b="1" kern="0" spc="120" dirty="0">
                <a:solidFill>
                  <a:srgbClr val="C98A1E"/>
                </a:solidFill>
                <a:latin typeface="Calibri" pitchFamily="34" charset="0"/>
                <a:ea typeface="Calibri" pitchFamily="34" charset="-122"/>
                <a:cs typeface="Calibri" pitchFamily="34" charset="-120"/>
              </a:rPr>
              <a:t>KEY INVARIANT (PARTITION)</a:t>
            </a:r>
            <a:endParaRPr lang="en-US" dirty="0"/>
          </a:p>
        </p:txBody>
      </p:sp>
      <p:sp>
        <p:nvSpPr>
          <p:cNvPr id="17" name="Text 15"/>
          <p:cNvSpPr txBox="1"/>
          <p:nvPr/>
        </p:nvSpPr>
        <p:spPr>
          <a:xfrm>
            <a:off x="6400800" y="4736592"/>
            <a:ext cx="4937760" cy="1463040"/>
          </a:xfrm>
          <a:prstGeom prst="rect">
            <a:avLst/>
          </a:prstGeom>
          <a:noFill/>
          <a:ln/>
        </p:spPr>
        <p:txBody>
          <a:bodyPr wrap="square" lIns="0" tIns="0" rIns="0" bIns="0" rtlCol="0" anchor="ctr"/>
          <a:lstStyle/>
          <a:p>
            <a:pPr marL="0" indent="0" algn="just">
              <a:lnSpc>
                <a:spcPct val="130000"/>
              </a:lnSpc>
              <a:buNone/>
            </a:pPr>
            <a:r>
              <a:rPr lang="en-US" sz="1600" b="1" dirty="0">
                <a:latin typeface="Calibri" pitchFamily="34" charset="0"/>
                <a:ea typeface="Calibri" pitchFamily="34" charset="-122"/>
                <a:cs typeface="Calibri" pitchFamily="34" charset="-120"/>
              </a:rPr>
              <a:t>Unlike Merge Sort's MERGE, this function needs no auxiliary array — every comparison and swap happens directly within A[low..high]. That single property is the reason Quick Sort is in-place while Merge Sort is not.</a:t>
            </a:r>
            <a:endParaRPr lang="en-US" sz="1600" b="1" dirty="0"/>
          </a:p>
        </p:txBody>
      </p:sp>
      <p:sp>
        <p:nvSpPr>
          <p:cNvPr id="18" name="Text 16"/>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9FD8D0"/>
                </a:solidFill>
                <a:latin typeface="Calibri" pitchFamily="34" charset="0"/>
                <a:ea typeface="Calibri" pitchFamily="34" charset="-122"/>
                <a:cs typeface="Calibri" pitchFamily="34" charset="-120"/>
              </a:rPr>
              <a:t>Quick Sort  |  Data Structures Using C</a:t>
            </a:r>
            <a:endParaRPr lang="en-US" sz="900" dirty="0"/>
          </a:p>
        </p:txBody>
      </p:sp>
      <p:sp>
        <p:nvSpPr>
          <p:cNvPr id="19" name="Text 17"/>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9FD8D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FFFFFF">
              <a:alpha val="8000"/>
            </a:srgbClr>
          </a:solidFill>
          <a:ln/>
        </p:spPr>
      </p:sp>
      <p:sp>
        <p:nvSpPr>
          <p:cNvPr id="3" name="Shape 1"/>
          <p:cNvSpPr/>
          <p:nvPr/>
        </p:nvSpPr>
        <p:spPr>
          <a:xfrm rot="12300000">
            <a:off x="-1097280" y="5760720"/>
            <a:ext cx="2377440" cy="2377440"/>
          </a:xfrm>
          <a:prstGeom prst="triangle">
            <a:avLst/>
          </a:prstGeom>
          <a:solidFill>
            <a:srgbClr val="FFFFFF">
              <a:alpha val="8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C98A1E"/>
                </a:solidFill>
                <a:latin typeface="Calibri" pitchFamily="34" charset="0"/>
                <a:ea typeface="Calibri" pitchFamily="34" charset="-122"/>
                <a:cs typeface="Calibri" pitchFamily="34" charset="-120"/>
              </a:rPr>
              <a:t>IMPLEMENTATION</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Quick Sort in C</a:t>
            </a:r>
            <a:endParaRPr lang="en-US" sz="3000" dirty="0"/>
          </a:p>
        </p:txBody>
      </p:sp>
      <p:sp>
        <p:nvSpPr>
          <p:cNvPr id="6" name="Shape 4"/>
          <p:cNvSpPr/>
          <p:nvPr/>
        </p:nvSpPr>
        <p:spPr>
          <a:xfrm>
            <a:off x="548640" y="1371600"/>
            <a:ext cx="6126480" cy="4983480"/>
          </a:xfrm>
          <a:prstGeom prst="roundRect">
            <a:avLst>
              <a:gd name="adj" fmla="val 1468"/>
            </a:avLst>
          </a:prstGeom>
          <a:solidFill>
            <a:schemeClr val="bg2">
              <a:lumMod val="90000"/>
            </a:schemeClr>
          </a:solidFill>
          <a:ln/>
        </p:spPr>
      </p:sp>
      <p:sp>
        <p:nvSpPr>
          <p:cNvPr id="7" name="Text 5"/>
          <p:cNvSpPr txBox="1"/>
          <p:nvPr/>
        </p:nvSpPr>
        <p:spPr>
          <a:xfrm>
            <a:off x="777240" y="1536192"/>
            <a:ext cx="5669280" cy="4654296"/>
          </a:xfrm>
          <a:prstGeom prst="rect">
            <a:avLst/>
          </a:prstGeom>
          <a:noFill/>
          <a:ln/>
        </p:spPr>
        <p:txBody>
          <a:bodyPr wrap="square" lIns="0" tIns="0" rIns="0" bIns="0" rtlCol="0" anchor="t"/>
          <a:lstStyle/>
          <a:p>
            <a:pPr marL="0" indent="0">
              <a:buNone/>
            </a:pPr>
            <a:r>
              <a:rPr lang="en-US" sz="1600" b="1" dirty="0">
                <a:latin typeface="Courier New" pitchFamily="34" charset="0"/>
                <a:ea typeface="Courier New" pitchFamily="34" charset="-122"/>
                <a:cs typeface="Courier New" pitchFamily="34" charset="-120"/>
              </a:rPr>
              <a:t>int partition(int A[], int low, int high)
{
    int pivot = A[high];
    int i = low - 1;
    for (int j = low; j &lt; high; j++)
    {
        if (A[j] &lt;= pivot)
        {
            i++;
            int temp = A[i];
            A[i] = A[j];
            A[j] = temp;
        }
    }
    int temp = A[i + 1];
    A[i + 1] = A[high];
    A[high] = temp;
    return i + 1;
}</a:t>
            </a:r>
            <a:endParaRPr lang="en-US" sz="1600" b="1" dirty="0"/>
          </a:p>
        </p:txBody>
      </p:sp>
      <p:sp>
        <p:nvSpPr>
          <p:cNvPr id="8" name="Shape 6"/>
          <p:cNvSpPr/>
          <p:nvPr/>
        </p:nvSpPr>
        <p:spPr>
          <a:xfrm>
            <a:off x="6903720" y="1371600"/>
            <a:ext cx="4709160" cy="4983480"/>
          </a:xfrm>
          <a:prstGeom prst="roundRect">
            <a:avLst>
              <a:gd name="adj" fmla="val 1942"/>
            </a:avLst>
          </a:prstGeom>
          <a:solidFill>
            <a:schemeClr val="accent3">
              <a:lumMod val="20000"/>
              <a:lumOff val="80000"/>
            </a:schemeClr>
          </a:solidFill>
          <a:ln w="12700">
            <a:solidFill>
              <a:srgbClr val="0F6B64"/>
            </a:solidFill>
            <a:prstDash val="solid"/>
          </a:ln>
        </p:spPr>
      </p:sp>
      <p:sp>
        <p:nvSpPr>
          <p:cNvPr id="9" name="Text 7"/>
          <p:cNvSpPr txBox="1"/>
          <p:nvPr/>
        </p:nvSpPr>
        <p:spPr>
          <a:xfrm>
            <a:off x="7132320" y="1536192"/>
            <a:ext cx="4206240" cy="274320"/>
          </a:xfrm>
          <a:prstGeom prst="rect">
            <a:avLst/>
          </a:prstGeom>
          <a:noFill/>
          <a:ln/>
        </p:spPr>
        <p:txBody>
          <a:bodyPr wrap="square" lIns="0" tIns="0" rIns="0" bIns="0" rtlCol="0" anchor="ctr"/>
          <a:lstStyle/>
          <a:p>
            <a:pPr marL="0" indent="0">
              <a:buNone/>
            </a:pPr>
            <a:r>
              <a:rPr lang="en-US" sz="1100" b="1" kern="0" spc="150" dirty="0">
                <a:solidFill>
                  <a:srgbClr val="C98A1E"/>
                </a:solidFill>
                <a:latin typeface="Calibri" pitchFamily="34" charset="0"/>
                <a:ea typeface="Calibri" pitchFamily="34" charset="-122"/>
                <a:cs typeface="Calibri" pitchFamily="34" charset="-120"/>
              </a:rPr>
              <a:t>QUICKSORT + main()</a:t>
            </a:r>
            <a:endParaRPr lang="en-US" sz="1100" dirty="0"/>
          </a:p>
        </p:txBody>
      </p:sp>
      <p:sp>
        <p:nvSpPr>
          <p:cNvPr id="10" name="Text 8"/>
          <p:cNvSpPr txBox="1"/>
          <p:nvPr/>
        </p:nvSpPr>
        <p:spPr>
          <a:xfrm>
            <a:off x="7132320" y="1874520"/>
            <a:ext cx="4251960" cy="4297680"/>
          </a:xfrm>
          <a:prstGeom prst="rect">
            <a:avLst/>
          </a:prstGeom>
          <a:noFill/>
          <a:ln/>
        </p:spPr>
        <p:txBody>
          <a:bodyPr wrap="square" lIns="0" tIns="0" rIns="0" bIns="0" rtlCol="0" anchor="t"/>
          <a:lstStyle/>
          <a:p>
            <a:pPr marL="0" indent="0">
              <a:buNone/>
            </a:pPr>
            <a:r>
              <a:rPr lang="en-US" sz="1400" b="1" dirty="0">
                <a:latin typeface="Courier New" pitchFamily="34" charset="0"/>
                <a:ea typeface="Courier New" pitchFamily="34" charset="-122"/>
                <a:cs typeface="Courier New" pitchFamily="34" charset="-120"/>
              </a:rPr>
              <a:t>void quickSort(int A[], int low, int high)
{
    if (low &lt; high)
    {
        int p = partition(A, low, high);
        quickSort(A, low, p - 1);
        quickSort(A, p + 1, high);
    }
}
int main()
{
    int A[] = {10,80,30,90,40,50,70};
    int n = sizeof(A) / sizeof(A[0]);
    quickSort(A, 0, n - 1);
    for (int i = 0; i &lt; n; i++)
        printf("%d ", A[i]);
    return 0;
}</a:t>
            </a:r>
            <a:endParaRPr lang="en-US" sz="1400" b="1" dirty="0"/>
          </a:p>
        </p:txBody>
      </p:sp>
      <p:sp>
        <p:nvSpPr>
          <p:cNvPr id="11" name="Text 9"/>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9FD8D0"/>
                </a:solidFill>
                <a:latin typeface="Calibri" pitchFamily="34" charset="0"/>
                <a:ea typeface="Calibri" pitchFamily="34" charset="-122"/>
                <a:cs typeface="Calibri" pitchFamily="34" charset="-120"/>
              </a:rPr>
              <a:t>Quick Sort  |  Data Structures Using C</a:t>
            </a:r>
            <a:endParaRPr lang="en-US" sz="900" dirty="0"/>
          </a:p>
        </p:txBody>
      </p:sp>
      <p:sp>
        <p:nvSpPr>
          <p:cNvPr id="12" name="Text 10"/>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9FD8D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CONNECTING CODE TO EXAMPLE</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Trace: partition(A, 0, 6)</a:t>
            </a:r>
            <a:endParaRPr lang="en-US" sz="3000" dirty="0"/>
          </a:p>
        </p:txBody>
      </p:sp>
      <p:sp>
        <p:nvSpPr>
          <p:cNvPr id="6" name="Text 4"/>
          <p:cNvSpPr txBox="1"/>
          <p:nvPr/>
        </p:nvSpPr>
        <p:spPr>
          <a:xfrm>
            <a:off x="548640" y="1371600"/>
            <a:ext cx="10972800" cy="320040"/>
          </a:xfrm>
          <a:prstGeom prst="rect">
            <a:avLst/>
          </a:prstGeom>
          <a:noFill/>
          <a:ln/>
        </p:spPr>
        <p:txBody>
          <a:bodyPr wrap="square" lIns="0" tIns="0" rIns="0" bIns="0" rtlCol="0" anchor="ctr"/>
          <a:lstStyle/>
          <a:p>
            <a:pPr marL="0" indent="0">
              <a:buNone/>
            </a:pPr>
            <a:r>
              <a:rPr lang="en-US" sz="1250" dirty="0">
                <a:solidFill>
                  <a:srgbClr val="5B6584"/>
                </a:solidFill>
                <a:latin typeface="Calibri" pitchFamily="34" charset="0"/>
                <a:ea typeface="Calibri" pitchFamily="34" charset="-122"/>
                <a:cs typeface="Calibri" pitchFamily="34" charset="-120"/>
              </a:rPr>
              <a:t>Starting array:  [10, 80, 30, 90, 40, 50, 70]     pivot = A[6] = 70,   i = -1</a:t>
            </a:r>
            <a:endParaRPr lang="en-US" sz="1250" dirty="0"/>
          </a:p>
        </p:txBody>
      </p:sp>
      <p:sp>
        <p:nvSpPr>
          <p:cNvPr id="7" name="Shape 5"/>
          <p:cNvSpPr/>
          <p:nvPr/>
        </p:nvSpPr>
        <p:spPr>
          <a:xfrm>
            <a:off x="548640" y="1828800"/>
            <a:ext cx="685800" cy="365760"/>
          </a:xfrm>
          <a:prstGeom prst="roundRect">
            <a:avLst>
              <a:gd name="adj" fmla="val 50000"/>
            </a:avLst>
          </a:prstGeom>
          <a:solidFill>
            <a:srgbClr val="E8F5F3"/>
          </a:solidFill>
          <a:ln/>
        </p:spPr>
      </p:sp>
      <p:sp>
        <p:nvSpPr>
          <p:cNvPr id="8" name="Text 6"/>
          <p:cNvSpPr txBox="1"/>
          <p:nvPr/>
        </p:nvSpPr>
        <p:spPr>
          <a:xfrm>
            <a:off x="548640" y="1828800"/>
            <a:ext cx="685800" cy="365760"/>
          </a:xfrm>
          <a:prstGeom prst="rect">
            <a:avLst/>
          </a:prstGeom>
          <a:noFill/>
          <a:ln/>
        </p:spPr>
        <p:txBody>
          <a:bodyPr wrap="square" lIns="0" tIns="0" rIns="0" bIns="0" rtlCol="0" anchor="ctr"/>
          <a:lstStyle/>
          <a:p>
            <a:pPr marL="0" indent="0" algn="ctr">
              <a:buNone/>
            </a:pPr>
            <a:r>
              <a:rPr lang="en-US" sz="1100" b="1" dirty="0">
                <a:solidFill>
                  <a:srgbClr val="0B3D3A"/>
                </a:solidFill>
                <a:latin typeface="Calibri" pitchFamily="34" charset="0"/>
                <a:ea typeface="Calibri" pitchFamily="34" charset="-122"/>
                <a:cs typeface="Calibri" pitchFamily="34" charset="-120"/>
              </a:rPr>
              <a:t>j=0</a:t>
            </a:r>
            <a:endParaRPr lang="en-US" sz="1100" dirty="0"/>
          </a:p>
        </p:txBody>
      </p:sp>
      <p:sp>
        <p:nvSpPr>
          <p:cNvPr id="9" name="Shape 7"/>
          <p:cNvSpPr/>
          <p:nvPr/>
        </p:nvSpPr>
        <p:spPr>
          <a:xfrm>
            <a:off x="1325880" y="1828800"/>
            <a:ext cx="2834640" cy="365760"/>
          </a:xfrm>
          <a:prstGeom prst="roundRect">
            <a:avLst>
              <a:gd name="adj" fmla="val 50000"/>
            </a:avLst>
          </a:prstGeom>
          <a:solidFill>
            <a:srgbClr val="E8F5F3"/>
          </a:solidFill>
          <a:ln/>
        </p:spPr>
      </p:sp>
      <p:sp>
        <p:nvSpPr>
          <p:cNvPr id="10" name="Text 8"/>
          <p:cNvSpPr txBox="1"/>
          <p:nvPr/>
        </p:nvSpPr>
        <p:spPr>
          <a:xfrm>
            <a:off x="1325880" y="1828800"/>
            <a:ext cx="2834640" cy="365760"/>
          </a:xfrm>
          <a:prstGeom prst="rect">
            <a:avLst/>
          </a:prstGeom>
          <a:noFill/>
          <a:ln/>
        </p:spPr>
        <p:txBody>
          <a:bodyPr wrap="square" lIns="88900" tIns="88900" rIns="88900" bIns="88900" rtlCol="0" anchor="ctr"/>
          <a:lstStyle/>
          <a:p>
            <a:pPr marL="0" indent="0" algn="l">
              <a:buNone/>
            </a:pPr>
            <a:r>
              <a:rPr lang="en-US" sz="1100" b="1" dirty="0">
                <a:solidFill>
                  <a:srgbClr val="0B3D3A"/>
                </a:solidFill>
                <a:latin typeface="Calibri" pitchFamily="34" charset="0"/>
                <a:ea typeface="Calibri" pitchFamily="34" charset="-122"/>
                <a:cs typeface="Calibri" pitchFamily="34" charset="-120"/>
              </a:rPr>
              <a:t>A[0]=10 ≤ 70</a:t>
            </a:r>
            <a:endParaRPr lang="en-US" sz="1100" dirty="0"/>
          </a:p>
        </p:txBody>
      </p:sp>
      <p:sp>
        <p:nvSpPr>
          <p:cNvPr id="11" name="Shape 9"/>
          <p:cNvSpPr/>
          <p:nvPr/>
        </p:nvSpPr>
        <p:spPr>
          <a:xfrm>
            <a:off x="4297680" y="1828800"/>
            <a:ext cx="3108960" cy="365760"/>
          </a:xfrm>
          <a:prstGeom prst="roundRect">
            <a:avLst>
              <a:gd name="adj" fmla="val 50000"/>
            </a:avLst>
          </a:prstGeom>
          <a:solidFill>
            <a:srgbClr val="EDEFF3"/>
          </a:solidFill>
          <a:ln/>
        </p:spPr>
      </p:sp>
      <p:sp>
        <p:nvSpPr>
          <p:cNvPr id="12" name="Text 10"/>
          <p:cNvSpPr txBox="1"/>
          <p:nvPr/>
        </p:nvSpPr>
        <p:spPr>
          <a:xfrm>
            <a:off x="4297680" y="1828800"/>
            <a:ext cx="3108960" cy="365760"/>
          </a:xfrm>
          <a:prstGeom prst="rect">
            <a:avLst/>
          </a:prstGeom>
          <a:noFill/>
          <a:ln/>
        </p:spPr>
        <p:txBody>
          <a:bodyPr wrap="square" lIns="88900" tIns="88900" rIns="88900" bIns="88900" rtlCol="0" anchor="ctr"/>
          <a:lstStyle/>
          <a:p>
            <a:pPr marL="0" indent="0" algn="l">
              <a:buNone/>
            </a:pPr>
            <a:r>
              <a:rPr lang="en-US" sz="1100" b="1" dirty="0">
                <a:solidFill>
                  <a:srgbClr val="5B6584"/>
                </a:solidFill>
                <a:latin typeface="Calibri" pitchFamily="34" charset="0"/>
                <a:ea typeface="Calibri" pitchFamily="34" charset="-122"/>
                <a:cs typeface="Calibri" pitchFamily="34" charset="-120"/>
              </a:rPr>
              <a:t>i=0; swap(A[0],A[0])</a:t>
            </a:r>
            <a:endParaRPr lang="en-US" sz="1100" dirty="0"/>
          </a:p>
        </p:txBody>
      </p:sp>
      <p:sp>
        <p:nvSpPr>
          <p:cNvPr id="13" name="Shape 11"/>
          <p:cNvSpPr/>
          <p:nvPr/>
        </p:nvSpPr>
        <p:spPr>
          <a:xfrm>
            <a:off x="7543800" y="1828800"/>
            <a:ext cx="3703320" cy="365760"/>
          </a:xfrm>
          <a:prstGeom prst="roundRect">
            <a:avLst>
              <a:gd name="adj" fmla="val 50000"/>
            </a:avLst>
          </a:prstGeom>
          <a:solidFill>
            <a:srgbClr val="F5F6FE"/>
          </a:solidFill>
          <a:ln/>
        </p:spPr>
      </p:sp>
      <p:sp>
        <p:nvSpPr>
          <p:cNvPr id="14" name="Text 12"/>
          <p:cNvSpPr txBox="1"/>
          <p:nvPr/>
        </p:nvSpPr>
        <p:spPr>
          <a:xfrm>
            <a:off x="7543800" y="1828800"/>
            <a:ext cx="3703320" cy="365760"/>
          </a:xfrm>
          <a:prstGeom prst="rect">
            <a:avLst/>
          </a:prstGeom>
          <a:noFill/>
          <a:ln/>
        </p:spPr>
        <p:txBody>
          <a:bodyPr wrap="square" lIns="88900" tIns="88900" rIns="88900" bIns="88900" rtlCol="0" anchor="ctr"/>
          <a:lstStyle/>
          <a:p>
            <a:pPr marL="0" indent="0" algn="l">
              <a:buNone/>
            </a:pPr>
            <a:r>
              <a:rPr lang="en-US" sz="1000" b="1" dirty="0">
                <a:solidFill>
                  <a:srgbClr val="5B6584"/>
                </a:solidFill>
                <a:latin typeface="Calibri" pitchFamily="34" charset="0"/>
                <a:ea typeface="Calibri" pitchFamily="34" charset="-122"/>
                <a:cs typeface="Calibri" pitchFamily="34" charset="-120"/>
              </a:rPr>
              <a:t>self-swap (no-op)</a:t>
            </a:r>
            <a:endParaRPr lang="en-US" sz="1000" dirty="0"/>
          </a:p>
        </p:txBody>
      </p:sp>
      <p:sp>
        <p:nvSpPr>
          <p:cNvPr id="15" name="Shape 13"/>
          <p:cNvSpPr/>
          <p:nvPr/>
        </p:nvSpPr>
        <p:spPr>
          <a:xfrm>
            <a:off x="548640" y="2286000"/>
            <a:ext cx="685800" cy="365760"/>
          </a:xfrm>
          <a:prstGeom prst="roundRect">
            <a:avLst>
              <a:gd name="adj" fmla="val 50000"/>
            </a:avLst>
          </a:prstGeom>
          <a:solidFill>
            <a:srgbClr val="E8F5F3"/>
          </a:solidFill>
          <a:ln/>
        </p:spPr>
      </p:sp>
      <p:sp>
        <p:nvSpPr>
          <p:cNvPr id="16" name="Text 14"/>
          <p:cNvSpPr txBox="1"/>
          <p:nvPr/>
        </p:nvSpPr>
        <p:spPr>
          <a:xfrm>
            <a:off x="548640" y="2286000"/>
            <a:ext cx="685800" cy="365760"/>
          </a:xfrm>
          <a:prstGeom prst="rect">
            <a:avLst/>
          </a:prstGeom>
          <a:noFill/>
          <a:ln/>
        </p:spPr>
        <p:txBody>
          <a:bodyPr wrap="square" lIns="0" tIns="0" rIns="0" bIns="0" rtlCol="0" anchor="ctr"/>
          <a:lstStyle/>
          <a:p>
            <a:pPr marL="0" indent="0" algn="ctr">
              <a:buNone/>
            </a:pPr>
            <a:r>
              <a:rPr lang="en-US" sz="1100" b="1" dirty="0">
                <a:solidFill>
                  <a:srgbClr val="0B3D3A"/>
                </a:solidFill>
                <a:latin typeface="Calibri" pitchFamily="34" charset="0"/>
                <a:ea typeface="Calibri" pitchFamily="34" charset="-122"/>
                <a:cs typeface="Calibri" pitchFamily="34" charset="-120"/>
              </a:rPr>
              <a:t>j=1</a:t>
            </a:r>
            <a:endParaRPr lang="en-US" sz="1100" dirty="0"/>
          </a:p>
        </p:txBody>
      </p:sp>
      <p:sp>
        <p:nvSpPr>
          <p:cNvPr id="17" name="Shape 15"/>
          <p:cNvSpPr/>
          <p:nvPr/>
        </p:nvSpPr>
        <p:spPr>
          <a:xfrm>
            <a:off x="1325880" y="2286000"/>
            <a:ext cx="2834640" cy="365760"/>
          </a:xfrm>
          <a:prstGeom prst="roundRect">
            <a:avLst>
              <a:gd name="adj" fmla="val 50000"/>
            </a:avLst>
          </a:prstGeom>
          <a:solidFill>
            <a:srgbClr val="EDEFF3"/>
          </a:solidFill>
          <a:ln/>
        </p:spPr>
      </p:sp>
      <p:sp>
        <p:nvSpPr>
          <p:cNvPr id="18" name="Text 16"/>
          <p:cNvSpPr txBox="1"/>
          <p:nvPr/>
        </p:nvSpPr>
        <p:spPr>
          <a:xfrm>
            <a:off x="1325880" y="2286000"/>
            <a:ext cx="2834640" cy="365760"/>
          </a:xfrm>
          <a:prstGeom prst="rect">
            <a:avLst/>
          </a:prstGeom>
          <a:noFill/>
          <a:ln/>
        </p:spPr>
        <p:txBody>
          <a:bodyPr wrap="square" lIns="88900" tIns="88900" rIns="88900" bIns="88900" rtlCol="0" anchor="ctr"/>
          <a:lstStyle/>
          <a:p>
            <a:pPr marL="0" indent="0" algn="l">
              <a:buNone/>
            </a:pPr>
            <a:r>
              <a:rPr lang="en-US" sz="1100" b="1" dirty="0">
                <a:solidFill>
                  <a:srgbClr val="5B6584"/>
                </a:solidFill>
                <a:latin typeface="Calibri" pitchFamily="34" charset="0"/>
                <a:ea typeface="Calibri" pitchFamily="34" charset="-122"/>
                <a:cs typeface="Calibri" pitchFamily="34" charset="-120"/>
              </a:rPr>
              <a:t>A[1]=80 ≤ 70?  false</a:t>
            </a:r>
            <a:endParaRPr lang="en-US" sz="1100" dirty="0"/>
          </a:p>
        </p:txBody>
      </p:sp>
      <p:sp>
        <p:nvSpPr>
          <p:cNvPr id="19" name="Shape 17"/>
          <p:cNvSpPr/>
          <p:nvPr/>
        </p:nvSpPr>
        <p:spPr>
          <a:xfrm>
            <a:off x="4297680" y="2286000"/>
            <a:ext cx="3108960" cy="365760"/>
          </a:xfrm>
          <a:prstGeom prst="roundRect">
            <a:avLst>
              <a:gd name="adj" fmla="val 50000"/>
            </a:avLst>
          </a:prstGeom>
          <a:solidFill>
            <a:srgbClr val="EDEFF3"/>
          </a:solidFill>
          <a:ln/>
        </p:spPr>
      </p:sp>
      <p:sp>
        <p:nvSpPr>
          <p:cNvPr id="20" name="Text 18"/>
          <p:cNvSpPr txBox="1"/>
          <p:nvPr/>
        </p:nvSpPr>
        <p:spPr>
          <a:xfrm>
            <a:off x="4297680" y="2286000"/>
            <a:ext cx="3108960" cy="365760"/>
          </a:xfrm>
          <a:prstGeom prst="rect">
            <a:avLst/>
          </a:prstGeom>
          <a:noFill/>
          <a:ln/>
        </p:spPr>
        <p:txBody>
          <a:bodyPr wrap="square" lIns="88900" tIns="88900" rIns="88900" bIns="88900" rtlCol="0" anchor="ctr"/>
          <a:lstStyle/>
          <a:p>
            <a:pPr marL="0" indent="0" algn="l">
              <a:buNone/>
            </a:pPr>
            <a:r>
              <a:rPr lang="en-US" sz="1100" b="1" dirty="0">
                <a:solidFill>
                  <a:srgbClr val="5B6584"/>
                </a:solidFill>
                <a:latin typeface="Calibri" pitchFamily="34" charset="0"/>
                <a:ea typeface="Calibri" pitchFamily="34" charset="-122"/>
                <a:cs typeface="Calibri" pitchFamily="34" charset="-120"/>
              </a:rPr>
              <a:t>no swap</a:t>
            </a:r>
            <a:endParaRPr lang="en-US" sz="1100" dirty="0"/>
          </a:p>
        </p:txBody>
      </p:sp>
      <p:sp>
        <p:nvSpPr>
          <p:cNvPr id="21" name="Shape 19"/>
          <p:cNvSpPr/>
          <p:nvPr/>
        </p:nvSpPr>
        <p:spPr>
          <a:xfrm>
            <a:off x="7543800" y="2286000"/>
            <a:ext cx="3703320" cy="365760"/>
          </a:xfrm>
          <a:prstGeom prst="roundRect">
            <a:avLst>
              <a:gd name="adj" fmla="val 50000"/>
            </a:avLst>
          </a:prstGeom>
          <a:solidFill>
            <a:srgbClr val="F5F6FE"/>
          </a:solidFill>
          <a:ln/>
        </p:spPr>
      </p:sp>
      <p:sp>
        <p:nvSpPr>
          <p:cNvPr id="22" name="Text 20"/>
          <p:cNvSpPr txBox="1"/>
          <p:nvPr/>
        </p:nvSpPr>
        <p:spPr>
          <a:xfrm>
            <a:off x="7543800" y="2286000"/>
            <a:ext cx="3703320" cy="365760"/>
          </a:xfrm>
          <a:prstGeom prst="rect">
            <a:avLst/>
          </a:prstGeom>
          <a:noFill/>
          <a:ln/>
        </p:spPr>
        <p:txBody>
          <a:bodyPr wrap="square" lIns="88900" tIns="88900" rIns="88900" bIns="88900" rtlCol="0" anchor="ctr"/>
          <a:lstStyle/>
          <a:p>
            <a:pPr marL="0" indent="0" algn="l">
              <a:buNone/>
            </a:pPr>
            <a:r>
              <a:rPr lang="en-US" sz="1000" b="1" dirty="0">
                <a:solidFill>
                  <a:srgbClr val="5B6584"/>
                </a:solidFill>
                <a:latin typeface="Calibri" pitchFamily="34" charset="0"/>
                <a:ea typeface="Calibri" pitchFamily="34" charset="-122"/>
                <a:cs typeface="Calibri" pitchFamily="34" charset="-120"/>
              </a:rPr>
              <a:t>comparison only</a:t>
            </a:r>
            <a:endParaRPr lang="en-US" sz="1000" dirty="0"/>
          </a:p>
        </p:txBody>
      </p:sp>
      <p:sp>
        <p:nvSpPr>
          <p:cNvPr id="23" name="Shape 21"/>
          <p:cNvSpPr/>
          <p:nvPr/>
        </p:nvSpPr>
        <p:spPr>
          <a:xfrm>
            <a:off x="548640" y="2743200"/>
            <a:ext cx="685800" cy="365760"/>
          </a:xfrm>
          <a:prstGeom prst="roundRect">
            <a:avLst>
              <a:gd name="adj" fmla="val 50000"/>
            </a:avLst>
          </a:prstGeom>
          <a:solidFill>
            <a:srgbClr val="E8F5F3"/>
          </a:solidFill>
          <a:ln/>
        </p:spPr>
      </p:sp>
      <p:sp>
        <p:nvSpPr>
          <p:cNvPr id="24" name="Text 22"/>
          <p:cNvSpPr txBox="1"/>
          <p:nvPr/>
        </p:nvSpPr>
        <p:spPr>
          <a:xfrm>
            <a:off x="548640" y="2743200"/>
            <a:ext cx="685800" cy="365760"/>
          </a:xfrm>
          <a:prstGeom prst="rect">
            <a:avLst/>
          </a:prstGeom>
          <a:noFill/>
          <a:ln/>
        </p:spPr>
        <p:txBody>
          <a:bodyPr wrap="square" lIns="0" tIns="0" rIns="0" bIns="0" rtlCol="0" anchor="ctr"/>
          <a:lstStyle/>
          <a:p>
            <a:pPr marL="0" indent="0" algn="ctr">
              <a:buNone/>
            </a:pPr>
            <a:r>
              <a:rPr lang="en-US" sz="1100" b="1" dirty="0">
                <a:solidFill>
                  <a:srgbClr val="0B3D3A"/>
                </a:solidFill>
                <a:latin typeface="Calibri" pitchFamily="34" charset="0"/>
                <a:ea typeface="Calibri" pitchFamily="34" charset="-122"/>
                <a:cs typeface="Calibri" pitchFamily="34" charset="-120"/>
              </a:rPr>
              <a:t>j=2</a:t>
            </a:r>
            <a:endParaRPr lang="en-US" sz="1100" dirty="0"/>
          </a:p>
        </p:txBody>
      </p:sp>
      <p:sp>
        <p:nvSpPr>
          <p:cNvPr id="25" name="Shape 23"/>
          <p:cNvSpPr/>
          <p:nvPr/>
        </p:nvSpPr>
        <p:spPr>
          <a:xfrm>
            <a:off x="1325880" y="2743200"/>
            <a:ext cx="2834640" cy="365760"/>
          </a:xfrm>
          <a:prstGeom prst="roundRect">
            <a:avLst>
              <a:gd name="adj" fmla="val 50000"/>
            </a:avLst>
          </a:prstGeom>
          <a:solidFill>
            <a:srgbClr val="E8F5F3"/>
          </a:solidFill>
          <a:ln/>
        </p:spPr>
      </p:sp>
      <p:sp>
        <p:nvSpPr>
          <p:cNvPr id="26" name="Text 24"/>
          <p:cNvSpPr txBox="1"/>
          <p:nvPr/>
        </p:nvSpPr>
        <p:spPr>
          <a:xfrm>
            <a:off x="1325880" y="2743200"/>
            <a:ext cx="2834640" cy="365760"/>
          </a:xfrm>
          <a:prstGeom prst="rect">
            <a:avLst/>
          </a:prstGeom>
          <a:noFill/>
          <a:ln/>
        </p:spPr>
        <p:txBody>
          <a:bodyPr wrap="square" lIns="88900" tIns="88900" rIns="88900" bIns="88900" rtlCol="0" anchor="ctr"/>
          <a:lstStyle/>
          <a:p>
            <a:pPr marL="0" indent="0" algn="l">
              <a:buNone/>
            </a:pPr>
            <a:r>
              <a:rPr lang="en-US" sz="1100" b="1" dirty="0">
                <a:solidFill>
                  <a:srgbClr val="0B3D3A"/>
                </a:solidFill>
                <a:latin typeface="Calibri" pitchFamily="34" charset="0"/>
                <a:ea typeface="Calibri" pitchFamily="34" charset="-122"/>
                <a:cs typeface="Calibri" pitchFamily="34" charset="-120"/>
              </a:rPr>
              <a:t>A[2]=30 ≤ 70</a:t>
            </a:r>
            <a:endParaRPr lang="en-US" sz="1100" dirty="0"/>
          </a:p>
        </p:txBody>
      </p:sp>
      <p:sp>
        <p:nvSpPr>
          <p:cNvPr id="27" name="Shape 25"/>
          <p:cNvSpPr/>
          <p:nvPr/>
        </p:nvSpPr>
        <p:spPr>
          <a:xfrm>
            <a:off x="4297680" y="2743200"/>
            <a:ext cx="3108960" cy="365760"/>
          </a:xfrm>
          <a:prstGeom prst="roundRect">
            <a:avLst>
              <a:gd name="adj" fmla="val 50000"/>
            </a:avLst>
          </a:prstGeom>
          <a:solidFill>
            <a:srgbClr val="C98A1E"/>
          </a:solidFill>
          <a:ln/>
        </p:spPr>
      </p:sp>
      <p:sp>
        <p:nvSpPr>
          <p:cNvPr id="28" name="Text 26"/>
          <p:cNvSpPr txBox="1"/>
          <p:nvPr/>
        </p:nvSpPr>
        <p:spPr>
          <a:xfrm>
            <a:off x="4297680" y="2743200"/>
            <a:ext cx="3108960" cy="365760"/>
          </a:xfrm>
          <a:prstGeom prst="rect">
            <a:avLst/>
          </a:prstGeom>
          <a:noFill/>
          <a:ln/>
        </p:spPr>
        <p:txBody>
          <a:bodyPr wrap="square" lIns="88900" tIns="88900" rIns="88900" bIns="889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i=1; swap(A[1],A[2])</a:t>
            </a:r>
            <a:endParaRPr lang="en-US" sz="1100" dirty="0"/>
          </a:p>
        </p:txBody>
      </p:sp>
      <p:sp>
        <p:nvSpPr>
          <p:cNvPr id="29" name="Shape 27"/>
          <p:cNvSpPr/>
          <p:nvPr/>
        </p:nvSpPr>
        <p:spPr>
          <a:xfrm>
            <a:off x="7543800" y="2743200"/>
            <a:ext cx="3703320" cy="365760"/>
          </a:xfrm>
          <a:prstGeom prst="roundRect">
            <a:avLst>
              <a:gd name="adj" fmla="val 50000"/>
            </a:avLst>
          </a:prstGeom>
          <a:solidFill>
            <a:srgbClr val="F5F6FE"/>
          </a:solidFill>
          <a:ln/>
        </p:spPr>
      </p:sp>
      <p:sp>
        <p:nvSpPr>
          <p:cNvPr id="30" name="Text 28"/>
          <p:cNvSpPr txBox="1"/>
          <p:nvPr/>
        </p:nvSpPr>
        <p:spPr>
          <a:xfrm>
            <a:off x="7543800" y="2743200"/>
            <a:ext cx="3703320" cy="365760"/>
          </a:xfrm>
          <a:prstGeom prst="rect">
            <a:avLst/>
          </a:prstGeom>
          <a:noFill/>
          <a:ln/>
        </p:spPr>
        <p:txBody>
          <a:bodyPr wrap="square" lIns="88900" tIns="88900" rIns="88900" bIns="88900" rtlCol="0" anchor="ctr"/>
          <a:lstStyle/>
          <a:p>
            <a:pPr marL="0" indent="0" algn="l">
              <a:buNone/>
            </a:pPr>
            <a:r>
              <a:rPr lang="en-US" sz="1000" b="1" dirty="0">
                <a:solidFill>
                  <a:srgbClr val="5B6584"/>
                </a:solidFill>
                <a:latin typeface="Calibri" pitchFamily="34" charset="0"/>
                <a:ea typeface="Calibri" pitchFamily="34" charset="-122"/>
                <a:cs typeface="Calibri" pitchFamily="34" charset="-120"/>
              </a:rPr>
              <a:t>real swap</a:t>
            </a:r>
            <a:endParaRPr lang="en-US" sz="1000" dirty="0"/>
          </a:p>
        </p:txBody>
      </p:sp>
      <p:sp>
        <p:nvSpPr>
          <p:cNvPr id="31" name="Shape 29"/>
          <p:cNvSpPr/>
          <p:nvPr/>
        </p:nvSpPr>
        <p:spPr>
          <a:xfrm>
            <a:off x="548640" y="3200400"/>
            <a:ext cx="685800" cy="365760"/>
          </a:xfrm>
          <a:prstGeom prst="roundRect">
            <a:avLst>
              <a:gd name="adj" fmla="val 50000"/>
            </a:avLst>
          </a:prstGeom>
          <a:solidFill>
            <a:srgbClr val="E8F5F3"/>
          </a:solidFill>
          <a:ln/>
        </p:spPr>
      </p:sp>
      <p:sp>
        <p:nvSpPr>
          <p:cNvPr id="32" name="Text 30"/>
          <p:cNvSpPr txBox="1"/>
          <p:nvPr/>
        </p:nvSpPr>
        <p:spPr>
          <a:xfrm>
            <a:off x="548640" y="3200400"/>
            <a:ext cx="685800" cy="365760"/>
          </a:xfrm>
          <a:prstGeom prst="rect">
            <a:avLst/>
          </a:prstGeom>
          <a:noFill/>
          <a:ln/>
        </p:spPr>
        <p:txBody>
          <a:bodyPr wrap="square" lIns="0" tIns="0" rIns="0" bIns="0" rtlCol="0" anchor="ctr"/>
          <a:lstStyle/>
          <a:p>
            <a:pPr marL="0" indent="0" algn="ctr">
              <a:buNone/>
            </a:pPr>
            <a:r>
              <a:rPr lang="en-US" sz="1100" b="1" dirty="0">
                <a:solidFill>
                  <a:srgbClr val="0B3D3A"/>
                </a:solidFill>
                <a:latin typeface="Calibri" pitchFamily="34" charset="0"/>
                <a:ea typeface="Calibri" pitchFamily="34" charset="-122"/>
                <a:cs typeface="Calibri" pitchFamily="34" charset="-120"/>
              </a:rPr>
              <a:t>j=3</a:t>
            </a:r>
            <a:endParaRPr lang="en-US" sz="1100" dirty="0"/>
          </a:p>
        </p:txBody>
      </p:sp>
      <p:sp>
        <p:nvSpPr>
          <p:cNvPr id="33" name="Shape 31"/>
          <p:cNvSpPr/>
          <p:nvPr/>
        </p:nvSpPr>
        <p:spPr>
          <a:xfrm>
            <a:off x="1325880" y="3200400"/>
            <a:ext cx="2834640" cy="365760"/>
          </a:xfrm>
          <a:prstGeom prst="roundRect">
            <a:avLst>
              <a:gd name="adj" fmla="val 50000"/>
            </a:avLst>
          </a:prstGeom>
          <a:solidFill>
            <a:srgbClr val="EDEFF3"/>
          </a:solidFill>
          <a:ln/>
        </p:spPr>
      </p:sp>
      <p:sp>
        <p:nvSpPr>
          <p:cNvPr id="34" name="Text 32"/>
          <p:cNvSpPr txBox="1"/>
          <p:nvPr/>
        </p:nvSpPr>
        <p:spPr>
          <a:xfrm>
            <a:off x="1325880" y="3200400"/>
            <a:ext cx="2834640" cy="365760"/>
          </a:xfrm>
          <a:prstGeom prst="rect">
            <a:avLst/>
          </a:prstGeom>
          <a:noFill/>
          <a:ln/>
        </p:spPr>
        <p:txBody>
          <a:bodyPr wrap="square" lIns="88900" tIns="88900" rIns="88900" bIns="88900" rtlCol="0" anchor="ctr"/>
          <a:lstStyle/>
          <a:p>
            <a:pPr marL="0" indent="0" algn="l">
              <a:buNone/>
            </a:pPr>
            <a:r>
              <a:rPr lang="en-US" sz="1100" b="1" dirty="0">
                <a:solidFill>
                  <a:srgbClr val="5B6584"/>
                </a:solidFill>
                <a:latin typeface="Calibri" pitchFamily="34" charset="0"/>
                <a:ea typeface="Calibri" pitchFamily="34" charset="-122"/>
                <a:cs typeface="Calibri" pitchFamily="34" charset="-120"/>
              </a:rPr>
              <a:t>A[3]=90 ≤ 70?  false</a:t>
            </a:r>
            <a:endParaRPr lang="en-US" sz="1100" dirty="0"/>
          </a:p>
        </p:txBody>
      </p:sp>
      <p:sp>
        <p:nvSpPr>
          <p:cNvPr id="35" name="Shape 33"/>
          <p:cNvSpPr/>
          <p:nvPr/>
        </p:nvSpPr>
        <p:spPr>
          <a:xfrm>
            <a:off x="4297680" y="3200400"/>
            <a:ext cx="3108960" cy="365760"/>
          </a:xfrm>
          <a:prstGeom prst="roundRect">
            <a:avLst>
              <a:gd name="adj" fmla="val 50000"/>
            </a:avLst>
          </a:prstGeom>
          <a:solidFill>
            <a:srgbClr val="EDEFF3"/>
          </a:solidFill>
          <a:ln/>
        </p:spPr>
      </p:sp>
      <p:sp>
        <p:nvSpPr>
          <p:cNvPr id="36" name="Text 34"/>
          <p:cNvSpPr txBox="1"/>
          <p:nvPr/>
        </p:nvSpPr>
        <p:spPr>
          <a:xfrm>
            <a:off x="4297680" y="3200400"/>
            <a:ext cx="3108960" cy="365760"/>
          </a:xfrm>
          <a:prstGeom prst="rect">
            <a:avLst/>
          </a:prstGeom>
          <a:noFill/>
          <a:ln/>
        </p:spPr>
        <p:txBody>
          <a:bodyPr wrap="square" lIns="88900" tIns="88900" rIns="88900" bIns="88900" rtlCol="0" anchor="ctr"/>
          <a:lstStyle/>
          <a:p>
            <a:pPr marL="0" indent="0" algn="l">
              <a:buNone/>
            </a:pPr>
            <a:r>
              <a:rPr lang="en-US" sz="1100" b="1" dirty="0">
                <a:solidFill>
                  <a:srgbClr val="5B6584"/>
                </a:solidFill>
                <a:latin typeface="Calibri" pitchFamily="34" charset="0"/>
                <a:ea typeface="Calibri" pitchFamily="34" charset="-122"/>
                <a:cs typeface="Calibri" pitchFamily="34" charset="-120"/>
              </a:rPr>
              <a:t>no swap</a:t>
            </a:r>
            <a:endParaRPr lang="en-US" sz="1100" dirty="0"/>
          </a:p>
        </p:txBody>
      </p:sp>
      <p:sp>
        <p:nvSpPr>
          <p:cNvPr id="37" name="Shape 35"/>
          <p:cNvSpPr/>
          <p:nvPr/>
        </p:nvSpPr>
        <p:spPr>
          <a:xfrm>
            <a:off x="7543800" y="3200400"/>
            <a:ext cx="3703320" cy="365760"/>
          </a:xfrm>
          <a:prstGeom prst="roundRect">
            <a:avLst>
              <a:gd name="adj" fmla="val 50000"/>
            </a:avLst>
          </a:prstGeom>
          <a:solidFill>
            <a:srgbClr val="F5F6FE"/>
          </a:solidFill>
          <a:ln/>
        </p:spPr>
      </p:sp>
      <p:sp>
        <p:nvSpPr>
          <p:cNvPr id="38" name="Text 36"/>
          <p:cNvSpPr txBox="1"/>
          <p:nvPr/>
        </p:nvSpPr>
        <p:spPr>
          <a:xfrm>
            <a:off x="7543800" y="3200400"/>
            <a:ext cx="3703320" cy="365760"/>
          </a:xfrm>
          <a:prstGeom prst="rect">
            <a:avLst/>
          </a:prstGeom>
          <a:noFill/>
          <a:ln/>
        </p:spPr>
        <p:txBody>
          <a:bodyPr wrap="square" lIns="88900" tIns="88900" rIns="88900" bIns="88900" rtlCol="0" anchor="ctr"/>
          <a:lstStyle/>
          <a:p>
            <a:pPr marL="0" indent="0" algn="l">
              <a:buNone/>
            </a:pPr>
            <a:r>
              <a:rPr lang="en-US" sz="1000" b="1" dirty="0">
                <a:solidFill>
                  <a:srgbClr val="5B6584"/>
                </a:solidFill>
                <a:latin typeface="Calibri" pitchFamily="34" charset="0"/>
                <a:ea typeface="Calibri" pitchFamily="34" charset="-122"/>
                <a:cs typeface="Calibri" pitchFamily="34" charset="-120"/>
              </a:rPr>
              <a:t>comparison only</a:t>
            </a:r>
            <a:endParaRPr lang="en-US" sz="1000" dirty="0"/>
          </a:p>
        </p:txBody>
      </p:sp>
      <p:sp>
        <p:nvSpPr>
          <p:cNvPr id="39" name="Shape 37"/>
          <p:cNvSpPr/>
          <p:nvPr/>
        </p:nvSpPr>
        <p:spPr>
          <a:xfrm>
            <a:off x="548640" y="3657600"/>
            <a:ext cx="685800" cy="365760"/>
          </a:xfrm>
          <a:prstGeom prst="roundRect">
            <a:avLst>
              <a:gd name="adj" fmla="val 50000"/>
            </a:avLst>
          </a:prstGeom>
          <a:solidFill>
            <a:srgbClr val="E8F5F3"/>
          </a:solidFill>
          <a:ln/>
        </p:spPr>
      </p:sp>
      <p:sp>
        <p:nvSpPr>
          <p:cNvPr id="40" name="Text 38"/>
          <p:cNvSpPr txBox="1"/>
          <p:nvPr/>
        </p:nvSpPr>
        <p:spPr>
          <a:xfrm>
            <a:off x="548640" y="3657600"/>
            <a:ext cx="685800" cy="365760"/>
          </a:xfrm>
          <a:prstGeom prst="rect">
            <a:avLst/>
          </a:prstGeom>
          <a:noFill/>
          <a:ln/>
        </p:spPr>
        <p:txBody>
          <a:bodyPr wrap="square" lIns="0" tIns="0" rIns="0" bIns="0" rtlCol="0" anchor="ctr"/>
          <a:lstStyle/>
          <a:p>
            <a:pPr marL="0" indent="0" algn="ctr">
              <a:buNone/>
            </a:pPr>
            <a:r>
              <a:rPr lang="en-US" sz="1100" b="1" dirty="0">
                <a:solidFill>
                  <a:srgbClr val="0B3D3A"/>
                </a:solidFill>
                <a:latin typeface="Calibri" pitchFamily="34" charset="0"/>
                <a:ea typeface="Calibri" pitchFamily="34" charset="-122"/>
                <a:cs typeface="Calibri" pitchFamily="34" charset="-120"/>
              </a:rPr>
              <a:t>j=4</a:t>
            </a:r>
            <a:endParaRPr lang="en-US" sz="1100" dirty="0"/>
          </a:p>
        </p:txBody>
      </p:sp>
      <p:sp>
        <p:nvSpPr>
          <p:cNvPr id="41" name="Shape 39"/>
          <p:cNvSpPr/>
          <p:nvPr/>
        </p:nvSpPr>
        <p:spPr>
          <a:xfrm>
            <a:off x="1325880" y="3657600"/>
            <a:ext cx="2834640" cy="365760"/>
          </a:xfrm>
          <a:prstGeom prst="roundRect">
            <a:avLst>
              <a:gd name="adj" fmla="val 50000"/>
            </a:avLst>
          </a:prstGeom>
          <a:solidFill>
            <a:srgbClr val="E8F5F3"/>
          </a:solidFill>
          <a:ln/>
        </p:spPr>
      </p:sp>
      <p:sp>
        <p:nvSpPr>
          <p:cNvPr id="42" name="Text 40"/>
          <p:cNvSpPr txBox="1"/>
          <p:nvPr/>
        </p:nvSpPr>
        <p:spPr>
          <a:xfrm>
            <a:off x="1325880" y="3657600"/>
            <a:ext cx="2834640" cy="365760"/>
          </a:xfrm>
          <a:prstGeom prst="rect">
            <a:avLst/>
          </a:prstGeom>
          <a:noFill/>
          <a:ln/>
        </p:spPr>
        <p:txBody>
          <a:bodyPr wrap="square" lIns="88900" tIns="88900" rIns="88900" bIns="88900" rtlCol="0" anchor="ctr"/>
          <a:lstStyle/>
          <a:p>
            <a:pPr marL="0" indent="0" algn="l">
              <a:buNone/>
            </a:pPr>
            <a:r>
              <a:rPr lang="en-US" sz="1100" b="1" dirty="0">
                <a:solidFill>
                  <a:srgbClr val="0B3D3A"/>
                </a:solidFill>
                <a:latin typeface="Calibri" pitchFamily="34" charset="0"/>
                <a:ea typeface="Calibri" pitchFamily="34" charset="-122"/>
                <a:cs typeface="Calibri" pitchFamily="34" charset="-120"/>
              </a:rPr>
              <a:t>A[4]=40 ≤ 70</a:t>
            </a:r>
            <a:endParaRPr lang="en-US" sz="1100" dirty="0"/>
          </a:p>
        </p:txBody>
      </p:sp>
      <p:sp>
        <p:nvSpPr>
          <p:cNvPr id="43" name="Shape 41"/>
          <p:cNvSpPr/>
          <p:nvPr/>
        </p:nvSpPr>
        <p:spPr>
          <a:xfrm>
            <a:off x="4297680" y="3657600"/>
            <a:ext cx="3108960" cy="365760"/>
          </a:xfrm>
          <a:prstGeom prst="roundRect">
            <a:avLst>
              <a:gd name="adj" fmla="val 50000"/>
            </a:avLst>
          </a:prstGeom>
          <a:solidFill>
            <a:srgbClr val="C98A1E"/>
          </a:solidFill>
          <a:ln/>
        </p:spPr>
      </p:sp>
      <p:sp>
        <p:nvSpPr>
          <p:cNvPr id="44" name="Text 42"/>
          <p:cNvSpPr txBox="1"/>
          <p:nvPr/>
        </p:nvSpPr>
        <p:spPr>
          <a:xfrm>
            <a:off x="4297680" y="3657600"/>
            <a:ext cx="3108960" cy="365760"/>
          </a:xfrm>
          <a:prstGeom prst="rect">
            <a:avLst/>
          </a:prstGeom>
          <a:noFill/>
          <a:ln/>
        </p:spPr>
        <p:txBody>
          <a:bodyPr wrap="square" lIns="88900" tIns="88900" rIns="88900" bIns="889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i=2; swap(A[2],A[4])</a:t>
            </a:r>
            <a:endParaRPr lang="en-US" sz="1100" dirty="0"/>
          </a:p>
        </p:txBody>
      </p:sp>
      <p:sp>
        <p:nvSpPr>
          <p:cNvPr id="45" name="Shape 43"/>
          <p:cNvSpPr/>
          <p:nvPr/>
        </p:nvSpPr>
        <p:spPr>
          <a:xfrm>
            <a:off x="7543800" y="3657600"/>
            <a:ext cx="3703320" cy="365760"/>
          </a:xfrm>
          <a:prstGeom prst="roundRect">
            <a:avLst>
              <a:gd name="adj" fmla="val 50000"/>
            </a:avLst>
          </a:prstGeom>
          <a:solidFill>
            <a:srgbClr val="F5F6FE"/>
          </a:solidFill>
          <a:ln/>
        </p:spPr>
      </p:sp>
      <p:sp>
        <p:nvSpPr>
          <p:cNvPr id="46" name="Text 44"/>
          <p:cNvSpPr txBox="1"/>
          <p:nvPr/>
        </p:nvSpPr>
        <p:spPr>
          <a:xfrm>
            <a:off x="7543800" y="3657600"/>
            <a:ext cx="3703320" cy="365760"/>
          </a:xfrm>
          <a:prstGeom prst="rect">
            <a:avLst/>
          </a:prstGeom>
          <a:noFill/>
          <a:ln/>
        </p:spPr>
        <p:txBody>
          <a:bodyPr wrap="square" lIns="88900" tIns="88900" rIns="88900" bIns="88900" rtlCol="0" anchor="ctr"/>
          <a:lstStyle/>
          <a:p>
            <a:pPr marL="0" indent="0" algn="l">
              <a:buNone/>
            </a:pPr>
            <a:r>
              <a:rPr lang="en-US" sz="1000" b="1" dirty="0">
                <a:solidFill>
                  <a:srgbClr val="5B6584"/>
                </a:solidFill>
                <a:latin typeface="Calibri" pitchFamily="34" charset="0"/>
                <a:ea typeface="Calibri" pitchFamily="34" charset="-122"/>
                <a:cs typeface="Calibri" pitchFamily="34" charset="-120"/>
              </a:rPr>
              <a:t>real swap</a:t>
            </a:r>
            <a:endParaRPr lang="en-US" sz="1000" dirty="0"/>
          </a:p>
        </p:txBody>
      </p:sp>
      <p:sp>
        <p:nvSpPr>
          <p:cNvPr id="47" name="Shape 45"/>
          <p:cNvSpPr/>
          <p:nvPr/>
        </p:nvSpPr>
        <p:spPr>
          <a:xfrm>
            <a:off x="548640" y="4114800"/>
            <a:ext cx="685800" cy="365760"/>
          </a:xfrm>
          <a:prstGeom prst="roundRect">
            <a:avLst>
              <a:gd name="adj" fmla="val 50000"/>
            </a:avLst>
          </a:prstGeom>
          <a:solidFill>
            <a:srgbClr val="E8F5F3"/>
          </a:solidFill>
          <a:ln/>
        </p:spPr>
      </p:sp>
      <p:sp>
        <p:nvSpPr>
          <p:cNvPr id="48" name="Text 46"/>
          <p:cNvSpPr txBox="1"/>
          <p:nvPr/>
        </p:nvSpPr>
        <p:spPr>
          <a:xfrm>
            <a:off x="548640" y="4114800"/>
            <a:ext cx="685800" cy="365760"/>
          </a:xfrm>
          <a:prstGeom prst="rect">
            <a:avLst/>
          </a:prstGeom>
          <a:noFill/>
          <a:ln/>
        </p:spPr>
        <p:txBody>
          <a:bodyPr wrap="square" lIns="0" tIns="0" rIns="0" bIns="0" rtlCol="0" anchor="ctr"/>
          <a:lstStyle/>
          <a:p>
            <a:pPr marL="0" indent="0" algn="ctr">
              <a:buNone/>
            </a:pPr>
            <a:r>
              <a:rPr lang="en-US" sz="1100" b="1" dirty="0">
                <a:solidFill>
                  <a:srgbClr val="0B3D3A"/>
                </a:solidFill>
                <a:latin typeface="Calibri" pitchFamily="34" charset="0"/>
                <a:ea typeface="Calibri" pitchFamily="34" charset="-122"/>
                <a:cs typeface="Calibri" pitchFamily="34" charset="-120"/>
              </a:rPr>
              <a:t>j=5</a:t>
            </a:r>
            <a:endParaRPr lang="en-US" sz="1100" dirty="0"/>
          </a:p>
        </p:txBody>
      </p:sp>
      <p:sp>
        <p:nvSpPr>
          <p:cNvPr id="49" name="Shape 47"/>
          <p:cNvSpPr/>
          <p:nvPr/>
        </p:nvSpPr>
        <p:spPr>
          <a:xfrm>
            <a:off x="1325880" y="4114800"/>
            <a:ext cx="2834640" cy="365760"/>
          </a:xfrm>
          <a:prstGeom prst="roundRect">
            <a:avLst>
              <a:gd name="adj" fmla="val 50000"/>
            </a:avLst>
          </a:prstGeom>
          <a:solidFill>
            <a:srgbClr val="E8F5F3"/>
          </a:solidFill>
          <a:ln/>
        </p:spPr>
      </p:sp>
      <p:sp>
        <p:nvSpPr>
          <p:cNvPr id="50" name="Text 48"/>
          <p:cNvSpPr txBox="1"/>
          <p:nvPr/>
        </p:nvSpPr>
        <p:spPr>
          <a:xfrm>
            <a:off x="1325880" y="4114800"/>
            <a:ext cx="2834640" cy="365760"/>
          </a:xfrm>
          <a:prstGeom prst="rect">
            <a:avLst/>
          </a:prstGeom>
          <a:noFill/>
          <a:ln/>
        </p:spPr>
        <p:txBody>
          <a:bodyPr wrap="square" lIns="88900" tIns="88900" rIns="88900" bIns="88900" rtlCol="0" anchor="ctr"/>
          <a:lstStyle/>
          <a:p>
            <a:pPr marL="0" indent="0" algn="l">
              <a:buNone/>
            </a:pPr>
            <a:r>
              <a:rPr lang="en-US" sz="1100" b="1" dirty="0">
                <a:solidFill>
                  <a:srgbClr val="0B3D3A"/>
                </a:solidFill>
                <a:latin typeface="Calibri" pitchFamily="34" charset="0"/>
                <a:ea typeface="Calibri" pitchFamily="34" charset="-122"/>
                <a:cs typeface="Calibri" pitchFamily="34" charset="-120"/>
              </a:rPr>
              <a:t>A[5]=50 ≤ 70</a:t>
            </a:r>
            <a:endParaRPr lang="en-US" sz="1100" dirty="0"/>
          </a:p>
        </p:txBody>
      </p:sp>
      <p:sp>
        <p:nvSpPr>
          <p:cNvPr id="51" name="Shape 49"/>
          <p:cNvSpPr/>
          <p:nvPr/>
        </p:nvSpPr>
        <p:spPr>
          <a:xfrm>
            <a:off x="4297680" y="4114800"/>
            <a:ext cx="3108960" cy="365760"/>
          </a:xfrm>
          <a:prstGeom prst="roundRect">
            <a:avLst>
              <a:gd name="adj" fmla="val 50000"/>
            </a:avLst>
          </a:prstGeom>
          <a:solidFill>
            <a:srgbClr val="C98A1E"/>
          </a:solidFill>
          <a:ln/>
        </p:spPr>
      </p:sp>
      <p:sp>
        <p:nvSpPr>
          <p:cNvPr id="52" name="Text 50"/>
          <p:cNvSpPr txBox="1"/>
          <p:nvPr/>
        </p:nvSpPr>
        <p:spPr>
          <a:xfrm>
            <a:off x="4297680" y="4114800"/>
            <a:ext cx="3108960" cy="365760"/>
          </a:xfrm>
          <a:prstGeom prst="rect">
            <a:avLst/>
          </a:prstGeom>
          <a:noFill/>
          <a:ln/>
        </p:spPr>
        <p:txBody>
          <a:bodyPr wrap="square" lIns="88900" tIns="88900" rIns="88900" bIns="889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i=3; swap(A[3],A[5])</a:t>
            </a:r>
            <a:endParaRPr lang="en-US" sz="1100" dirty="0"/>
          </a:p>
        </p:txBody>
      </p:sp>
      <p:sp>
        <p:nvSpPr>
          <p:cNvPr id="53" name="Shape 51"/>
          <p:cNvSpPr/>
          <p:nvPr/>
        </p:nvSpPr>
        <p:spPr>
          <a:xfrm>
            <a:off x="7543800" y="4114800"/>
            <a:ext cx="3703320" cy="365760"/>
          </a:xfrm>
          <a:prstGeom prst="roundRect">
            <a:avLst>
              <a:gd name="adj" fmla="val 50000"/>
            </a:avLst>
          </a:prstGeom>
          <a:solidFill>
            <a:srgbClr val="F5F6FE"/>
          </a:solidFill>
          <a:ln/>
        </p:spPr>
      </p:sp>
      <p:sp>
        <p:nvSpPr>
          <p:cNvPr id="54" name="Text 52"/>
          <p:cNvSpPr txBox="1"/>
          <p:nvPr/>
        </p:nvSpPr>
        <p:spPr>
          <a:xfrm>
            <a:off x="7543800" y="4114800"/>
            <a:ext cx="3703320" cy="365760"/>
          </a:xfrm>
          <a:prstGeom prst="rect">
            <a:avLst/>
          </a:prstGeom>
          <a:noFill/>
          <a:ln/>
        </p:spPr>
        <p:txBody>
          <a:bodyPr wrap="square" lIns="88900" tIns="88900" rIns="88900" bIns="88900" rtlCol="0" anchor="ctr"/>
          <a:lstStyle/>
          <a:p>
            <a:pPr marL="0" indent="0" algn="l">
              <a:buNone/>
            </a:pPr>
            <a:r>
              <a:rPr lang="en-US" sz="1000" b="1" dirty="0">
                <a:solidFill>
                  <a:srgbClr val="5B6584"/>
                </a:solidFill>
                <a:latin typeface="Calibri" pitchFamily="34" charset="0"/>
                <a:ea typeface="Calibri" pitchFamily="34" charset="-122"/>
                <a:cs typeface="Calibri" pitchFamily="34" charset="-120"/>
              </a:rPr>
              <a:t>real swap</a:t>
            </a:r>
            <a:endParaRPr lang="en-US" sz="1000" dirty="0"/>
          </a:p>
        </p:txBody>
      </p:sp>
      <p:sp>
        <p:nvSpPr>
          <p:cNvPr id="55" name="Shape 53"/>
          <p:cNvSpPr/>
          <p:nvPr/>
        </p:nvSpPr>
        <p:spPr>
          <a:xfrm>
            <a:off x="548640" y="4663440"/>
            <a:ext cx="11064240" cy="502920"/>
          </a:xfrm>
          <a:prstGeom prst="roundRect">
            <a:avLst>
              <a:gd name="adj" fmla="val 18182"/>
            </a:avLst>
          </a:prstGeom>
          <a:solidFill>
            <a:srgbClr val="E8F5F3"/>
          </a:solidFill>
          <a:ln w="12700">
            <a:solidFill>
              <a:srgbClr val="BFE3DE"/>
            </a:solidFill>
            <a:prstDash val="solid"/>
          </a:ln>
        </p:spPr>
      </p:sp>
      <p:sp>
        <p:nvSpPr>
          <p:cNvPr id="56" name="Text 54"/>
          <p:cNvSpPr txBox="1"/>
          <p:nvPr/>
        </p:nvSpPr>
        <p:spPr>
          <a:xfrm>
            <a:off x="777240" y="4663440"/>
            <a:ext cx="10607040" cy="502920"/>
          </a:xfrm>
          <a:prstGeom prst="rect">
            <a:avLst/>
          </a:prstGeom>
          <a:noFill/>
          <a:ln/>
        </p:spPr>
        <p:txBody>
          <a:bodyPr wrap="square" lIns="0" tIns="0" rIns="0" bIns="0" rtlCol="0" anchor="ctr"/>
          <a:lstStyle/>
          <a:p>
            <a:pPr marL="0" indent="0">
              <a:buNone/>
            </a:pPr>
            <a:r>
              <a:rPr lang="en-US" sz="1150" i="1" dirty="0">
                <a:solidFill>
                  <a:srgbClr val="0B3D3A"/>
                </a:solidFill>
                <a:latin typeface="Calibri" pitchFamily="34" charset="0"/>
                <a:ea typeface="Calibri" pitchFamily="34" charset="-122"/>
                <a:cs typeface="Calibri" pitchFamily="34" charset="-120"/>
              </a:rPr>
              <a:t>Loop complete. Final line executes:  swap(A[i+1], A[high]) = swap(A[4], A[6])  —  a real swap (80 ↔ 70).</a:t>
            </a:r>
            <a:endParaRPr lang="en-US" sz="1150" dirty="0"/>
          </a:p>
        </p:txBody>
      </p:sp>
      <p:sp>
        <p:nvSpPr>
          <p:cNvPr id="57" name="Shape 55"/>
          <p:cNvSpPr/>
          <p:nvPr/>
        </p:nvSpPr>
        <p:spPr>
          <a:xfrm>
            <a:off x="548640" y="5193792"/>
            <a:ext cx="11064240" cy="777240"/>
          </a:xfrm>
          <a:prstGeom prst="roundRect">
            <a:avLst>
              <a:gd name="adj" fmla="val 11765"/>
            </a:avLst>
          </a:prstGeom>
          <a:solidFill>
            <a:srgbClr val="CAE5DC"/>
          </a:solidFill>
          <a:ln w="12700">
            <a:solidFill>
              <a:srgbClr val="0B3D3A"/>
            </a:solidFill>
            <a:prstDash val="solid"/>
          </a:ln>
        </p:spPr>
      </p:sp>
      <p:sp>
        <p:nvSpPr>
          <p:cNvPr id="58" name="Shape 56"/>
          <p:cNvSpPr/>
          <p:nvPr/>
        </p:nvSpPr>
        <p:spPr>
          <a:xfrm>
            <a:off x="777240" y="5330952"/>
            <a:ext cx="411480" cy="411480"/>
          </a:xfrm>
          <a:prstGeom prst="roundRect">
            <a:avLst>
              <a:gd name="adj" fmla="val 17778"/>
            </a:avLst>
          </a:prstGeom>
          <a:solidFill>
            <a:srgbClr val="FFFFFF"/>
          </a:solidFill>
          <a:ln w="22225">
            <a:solidFill>
              <a:srgbClr val="14918C"/>
            </a:solidFill>
            <a:prstDash val="solid"/>
          </a:ln>
        </p:spPr>
      </p:sp>
      <p:sp>
        <p:nvSpPr>
          <p:cNvPr id="59" name="Text 57"/>
          <p:cNvSpPr txBox="1"/>
          <p:nvPr/>
        </p:nvSpPr>
        <p:spPr>
          <a:xfrm>
            <a:off x="777240" y="5330952"/>
            <a:ext cx="411480" cy="411480"/>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10</a:t>
            </a:r>
            <a:endParaRPr lang="en-US" sz="1100" dirty="0"/>
          </a:p>
        </p:txBody>
      </p:sp>
      <p:sp>
        <p:nvSpPr>
          <p:cNvPr id="60" name="Shape 58"/>
          <p:cNvSpPr/>
          <p:nvPr/>
        </p:nvSpPr>
        <p:spPr>
          <a:xfrm>
            <a:off x="1252728" y="5330952"/>
            <a:ext cx="411480" cy="411480"/>
          </a:xfrm>
          <a:prstGeom prst="roundRect">
            <a:avLst>
              <a:gd name="adj" fmla="val 17778"/>
            </a:avLst>
          </a:prstGeom>
          <a:solidFill>
            <a:srgbClr val="FFFFFF"/>
          </a:solidFill>
          <a:ln w="22225">
            <a:solidFill>
              <a:srgbClr val="14918C"/>
            </a:solidFill>
            <a:prstDash val="solid"/>
          </a:ln>
        </p:spPr>
      </p:sp>
      <p:sp>
        <p:nvSpPr>
          <p:cNvPr id="61" name="Text 59"/>
          <p:cNvSpPr txBox="1"/>
          <p:nvPr/>
        </p:nvSpPr>
        <p:spPr>
          <a:xfrm>
            <a:off x="1252728" y="5330952"/>
            <a:ext cx="411480" cy="411480"/>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30</a:t>
            </a:r>
            <a:endParaRPr lang="en-US" sz="1100" dirty="0"/>
          </a:p>
        </p:txBody>
      </p:sp>
      <p:sp>
        <p:nvSpPr>
          <p:cNvPr id="62" name="Shape 60"/>
          <p:cNvSpPr/>
          <p:nvPr/>
        </p:nvSpPr>
        <p:spPr>
          <a:xfrm>
            <a:off x="1728216" y="5330952"/>
            <a:ext cx="411480" cy="411480"/>
          </a:xfrm>
          <a:prstGeom prst="roundRect">
            <a:avLst>
              <a:gd name="adj" fmla="val 17778"/>
            </a:avLst>
          </a:prstGeom>
          <a:solidFill>
            <a:srgbClr val="FFFFFF"/>
          </a:solidFill>
          <a:ln w="22225">
            <a:solidFill>
              <a:srgbClr val="14918C"/>
            </a:solidFill>
            <a:prstDash val="solid"/>
          </a:ln>
        </p:spPr>
      </p:sp>
      <p:sp>
        <p:nvSpPr>
          <p:cNvPr id="63" name="Text 61"/>
          <p:cNvSpPr txBox="1"/>
          <p:nvPr/>
        </p:nvSpPr>
        <p:spPr>
          <a:xfrm>
            <a:off x="1728216" y="5330952"/>
            <a:ext cx="411480" cy="411480"/>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40</a:t>
            </a:r>
            <a:endParaRPr lang="en-US" sz="1100" dirty="0"/>
          </a:p>
        </p:txBody>
      </p:sp>
      <p:sp>
        <p:nvSpPr>
          <p:cNvPr id="64" name="Shape 62"/>
          <p:cNvSpPr/>
          <p:nvPr/>
        </p:nvSpPr>
        <p:spPr>
          <a:xfrm>
            <a:off x="2203704" y="5330952"/>
            <a:ext cx="411480" cy="411480"/>
          </a:xfrm>
          <a:prstGeom prst="roundRect">
            <a:avLst>
              <a:gd name="adj" fmla="val 17778"/>
            </a:avLst>
          </a:prstGeom>
          <a:solidFill>
            <a:srgbClr val="FFFFFF"/>
          </a:solidFill>
          <a:ln w="22225">
            <a:solidFill>
              <a:srgbClr val="14918C"/>
            </a:solidFill>
            <a:prstDash val="solid"/>
          </a:ln>
        </p:spPr>
      </p:sp>
      <p:sp>
        <p:nvSpPr>
          <p:cNvPr id="65" name="Text 63"/>
          <p:cNvSpPr txBox="1"/>
          <p:nvPr/>
        </p:nvSpPr>
        <p:spPr>
          <a:xfrm>
            <a:off x="2203704" y="5330952"/>
            <a:ext cx="411480" cy="411480"/>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50</a:t>
            </a:r>
            <a:endParaRPr lang="en-US" sz="1100" dirty="0"/>
          </a:p>
        </p:txBody>
      </p:sp>
      <p:sp>
        <p:nvSpPr>
          <p:cNvPr id="66" name="Shape 64"/>
          <p:cNvSpPr/>
          <p:nvPr/>
        </p:nvSpPr>
        <p:spPr>
          <a:xfrm>
            <a:off x="2679192" y="5330952"/>
            <a:ext cx="411480" cy="411480"/>
          </a:xfrm>
          <a:prstGeom prst="roundRect">
            <a:avLst>
              <a:gd name="adj" fmla="val 17778"/>
            </a:avLst>
          </a:prstGeom>
          <a:solidFill>
            <a:srgbClr val="D9480F"/>
          </a:solidFill>
          <a:ln w="22225">
            <a:solidFill>
              <a:srgbClr val="14918C"/>
            </a:solidFill>
            <a:prstDash val="solid"/>
          </a:ln>
        </p:spPr>
      </p:sp>
      <p:sp>
        <p:nvSpPr>
          <p:cNvPr id="67" name="Text 65"/>
          <p:cNvSpPr txBox="1"/>
          <p:nvPr/>
        </p:nvSpPr>
        <p:spPr>
          <a:xfrm>
            <a:off x="2679192" y="5330952"/>
            <a:ext cx="4114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70</a:t>
            </a:r>
            <a:endParaRPr lang="en-US" sz="1100" dirty="0"/>
          </a:p>
        </p:txBody>
      </p:sp>
      <p:sp>
        <p:nvSpPr>
          <p:cNvPr id="68" name="Shape 66"/>
          <p:cNvSpPr/>
          <p:nvPr/>
        </p:nvSpPr>
        <p:spPr>
          <a:xfrm>
            <a:off x="3154680" y="5330952"/>
            <a:ext cx="411480" cy="411480"/>
          </a:xfrm>
          <a:prstGeom prst="roundRect">
            <a:avLst>
              <a:gd name="adj" fmla="val 17778"/>
            </a:avLst>
          </a:prstGeom>
          <a:solidFill>
            <a:srgbClr val="FFFFFF"/>
          </a:solidFill>
          <a:ln w="22225">
            <a:solidFill>
              <a:srgbClr val="14918C"/>
            </a:solidFill>
            <a:prstDash val="solid"/>
          </a:ln>
        </p:spPr>
      </p:sp>
      <p:sp>
        <p:nvSpPr>
          <p:cNvPr id="69" name="Text 67"/>
          <p:cNvSpPr txBox="1"/>
          <p:nvPr/>
        </p:nvSpPr>
        <p:spPr>
          <a:xfrm>
            <a:off x="3154680" y="5330952"/>
            <a:ext cx="411480" cy="411480"/>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90</a:t>
            </a:r>
            <a:endParaRPr lang="en-US" sz="1100" dirty="0"/>
          </a:p>
        </p:txBody>
      </p:sp>
      <p:sp>
        <p:nvSpPr>
          <p:cNvPr id="70" name="Shape 68"/>
          <p:cNvSpPr/>
          <p:nvPr/>
        </p:nvSpPr>
        <p:spPr>
          <a:xfrm>
            <a:off x="3630168" y="5330952"/>
            <a:ext cx="411480" cy="411480"/>
          </a:xfrm>
          <a:prstGeom prst="roundRect">
            <a:avLst>
              <a:gd name="adj" fmla="val 17778"/>
            </a:avLst>
          </a:prstGeom>
          <a:solidFill>
            <a:srgbClr val="FFFFFF"/>
          </a:solidFill>
          <a:ln w="22225">
            <a:solidFill>
              <a:srgbClr val="14918C"/>
            </a:solidFill>
            <a:prstDash val="solid"/>
          </a:ln>
        </p:spPr>
      </p:sp>
      <p:sp>
        <p:nvSpPr>
          <p:cNvPr id="71" name="Text 69"/>
          <p:cNvSpPr txBox="1"/>
          <p:nvPr/>
        </p:nvSpPr>
        <p:spPr>
          <a:xfrm>
            <a:off x="3630168" y="5330952"/>
            <a:ext cx="411480" cy="411480"/>
          </a:xfrm>
          <a:prstGeom prst="rect">
            <a:avLst/>
          </a:prstGeom>
          <a:noFill/>
          <a:ln/>
        </p:spPr>
        <p:txBody>
          <a:bodyPr wrap="square" lIns="0" tIns="0" rIns="0" bIns="0" rtlCol="0" anchor="ctr"/>
          <a:lstStyle/>
          <a:p>
            <a:pPr marL="0" indent="0" algn="ctr">
              <a:buNone/>
            </a:pPr>
            <a:r>
              <a:rPr lang="en-US" sz="1100" b="1" dirty="0">
                <a:solidFill>
                  <a:srgbClr val="1B2233"/>
                </a:solidFill>
                <a:latin typeface="Courier New" pitchFamily="34" charset="0"/>
                <a:ea typeface="Courier New" pitchFamily="34" charset="-122"/>
                <a:cs typeface="Courier New" pitchFamily="34" charset="-120"/>
              </a:rPr>
              <a:t>80</a:t>
            </a:r>
            <a:endParaRPr lang="en-US" sz="1100" dirty="0"/>
          </a:p>
        </p:txBody>
      </p:sp>
      <p:sp>
        <p:nvSpPr>
          <p:cNvPr id="72" name="Text 70"/>
          <p:cNvSpPr txBox="1"/>
          <p:nvPr/>
        </p:nvSpPr>
        <p:spPr>
          <a:xfrm>
            <a:off x="5603081" y="5449824"/>
            <a:ext cx="5918359" cy="365760"/>
          </a:xfrm>
          <a:prstGeom prst="rect">
            <a:avLst/>
          </a:prstGeom>
          <a:noFill/>
          <a:ln/>
        </p:spPr>
        <p:txBody>
          <a:bodyPr wrap="square" lIns="0" tIns="0" rIns="0" bIns="0" rtlCol="0" anchor="ctr"/>
          <a:lstStyle/>
          <a:p>
            <a:pPr marL="0" indent="0">
              <a:buNone/>
            </a:pPr>
            <a:r>
              <a:rPr lang="en-US" sz="1600" b="1" dirty="0">
                <a:latin typeface="Courier New" pitchFamily="34" charset="0"/>
                <a:ea typeface="Courier New" pitchFamily="34" charset="-122"/>
                <a:cs typeface="Courier New" pitchFamily="34" charset="-120"/>
              </a:rPr>
              <a:t>return i + 1 = 4  —  pivot's final index</a:t>
            </a:r>
            <a:endParaRPr lang="en-US" sz="1600" dirty="0"/>
          </a:p>
        </p:txBody>
      </p:sp>
      <p:sp>
        <p:nvSpPr>
          <p:cNvPr id="73" name="Text 71"/>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74" name="Text 72"/>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RIGOROUS ANALYSIS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Time Complexity — Recurrence Relations</a:t>
            </a:r>
            <a:endParaRPr lang="en-US" sz="3000" dirty="0"/>
          </a:p>
        </p:txBody>
      </p:sp>
      <p:sp>
        <p:nvSpPr>
          <p:cNvPr id="6" name="Text 4"/>
          <p:cNvSpPr txBox="1"/>
          <p:nvPr/>
        </p:nvSpPr>
        <p:spPr>
          <a:xfrm>
            <a:off x="548640" y="1325880"/>
            <a:ext cx="11064240" cy="365760"/>
          </a:xfrm>
          <a:prstGeom prst="rect">
            <a:avLst/>
          </a:prstGeom>
          <a:noFill/>
          <a:ln/>
        </p:spPr>
        <p:txBody>
          <a:bodyPr wrap="square" lIns="0" tIns="0" rIns="0" bIns="0" rtlCol="0" anchor="ctr"/>
          <a:lstStyle/>
          <a:p>
            <a:pPr marL="0" indent="0">
              <a:buNone/>
            </a:pPr>
            <a:r>
              <a:rPr lang="en-US" sz="1400" b="1" i="1" dirty="0">
                <a:solidFill>
                  <a:srgbClr val="5B6584"/>
                </a:solidFill>
                <a:latin typeface="Calibri" pitchFamily="34" charset="0"/>
                <a:ea typeface="Calibri" pitchFamily="34" charset="-122"/>
                <a:cs typeface="Calibri" pitchFamily="34" charset="-120"/>
              </a:rPr>
              <a:t>Every call to QUICKSORT does Θ(n) work in PARTITION, then recurses on two pieces whose sizes depend entirely on where the pivot landed.</a:t>
            </a:r>
            <a:endParaRPr lang="en-US" sz="1400" b="1" dirty="0"/>
          </a:p>
        </p:txBody>
      </p:sp>
      <p:sp>
        <p:nvSpPr>
          <p:cNvPr id="7" name="Shape 5"/>
          <p:cNvSpPr/>
          <p:nvPr/>
        </p:nvSpPr>
        <p:spPr>
          <a:xfrm>
            <a:off x="548640" y="1783080"/>
            <a:ext cx="5440680" cy="2331720"/>
          </a:xfrm>
          <a:prstGeom prst="roundRect">
            <a:avLst>
              <a:gd name="adj" fmla="val 3922"/>
            </a:avLst>
          </a:prstGeom>
          <a:solidFill>
            <a:srgbClr val="E8F5F3"/>
          </a:solidFill>
          <a:ln w="12700">
            <a:solidFill>
              <a:srgbClr val="BFE3DE"/>
            </a:solidFill>
            <a:prstDash val="solid"/>
          </a:ln>
        </p:spPr>
      </p:sp>
      <p:sp>
        <p:nvSpPr>
          <p:cNvPr id="8" name="Text 6"/>
          <p:cNvSpPr txBox="1"/>
          <p:nvPr/>
        </p:nvSpPr>
        <p:spPr>
          <a:xfrm>
            <a:off x="777240" y="1920240"/>
            <a:ext cx="4937760" cy="274320"/>
          </a:xfrm>
          <a:prstGeom prst="rect">
            <a:avLst/>
          </a:prstGeom>
          <a:noFill/>
          <a:ln/>
        </p:spPr>
        <p:txBody>
          <a:bodyPr wrap="square" lIns="0" tIns="0" rIns="0" bIns="0" rtlCol="0" anchor="ctr"/>
          <a:lstStyle/>
          <a:p>
            <a:pPr marL="0" indent="0">
              <a:buNone/>
            </a:pPr>
            <a:r>
              <a:rPr lang="en-US" sz="1600" b="1" kern="0" spc="80" dirty="0">
                <a:solidFill>
                  <a:srgbClr val="14918C"/>
                </a:solidFill>
                <a:latin typeface="Calibri" pitchFamily="34" charset="0"/>
                <a:ea typeface="Calibri" pitchFamily="34" charset="-122"/>
                <a:cs typeface="Calibri" pitchFamily="34" charset="-120"/>
              </a:rPr>
              <a:t>BEST / AVERAGE CASE — BALANCED SPLITS</a:t>
            </a:r>
            <a:endParaRPr lang="en-US" sz="1600" dirty="0"/>
          </a:p>
        </p:txBody>
      </p:sp>
      <p:sp>
        <p:nvSpPr>
          <p:cNvPr id="9" name="Text 7"/>
          <p:cNvSpPr txBox="1"/>
          <p:nvPr/>
        </p:nvSpPr>
        <p:spPr>
          <a:xfrm>
            <a:off x="777240" y="2212848"/>
            <a:ext cx="4937760" cy="365760"/>
          </a:xfrm>
          <a:prstGeom prst="rect">
            <a:avLst/>
          </a:prstGeom>
          <a:noFill/>
          <a:ln/>
        </p:spPr>
        <p:txBody>
          <a:bodyPr wrap="square" lIns="0" tIns="0" rIns="0" bIns="0" rtlCol="0" anchor="ctr"/>
          <a:lstStyle/>
          <a:p>
            <a:pPr marL="0" indent="0">
              <a:buNone/>
            </a:pPr>
            <a:r>
              <a:rPr lang="en-US" b="1" dirty="0">
                <a:solidFill>
                  <a:srgbClr val="0B3D3A"/>
                </a:solidFill>
                <a:latin typeface="Courier New" pitchFamily="34" charset="0"/>
                <a:ea typeface="Courier New" pitchFamily="34" charset="-122"/>
                <a:cs typeface="Courier New" pitchFamily="34" charset="-120"/>
              </a:rPr>
              <a:t>T(n) = 2T(n/2) + Θ(n)</a:t>
            </a:r>
            <a:endParaRPr lang="en-US" dirty="0"/>
          </a:p>
        </p:txBody>
      </p:sp>
      <p:sp>
        <p:nvSpPr>
          <p:cNvPr id="10" name="Text 8"/>
          <p:cNvSpPr txBox="1"/>
          <p:nvPr/>
        </p:nvSpPr>
        <p:spPr>
          <a:xfrm>
            <a:off x="777240" y="2651760"/>
            <a:ext cx="5120640" cy="1371600"/>
          </a:xfrm>
          <a:prstGeom prst="rect">
            <a:avLst/>
          </a:prstGeom>
          <a:noFill/>
          <a:ln/>
        </p:spPr>
        <p:txBody>
          <a:bodyPr wrap="square" lIns="0" tIns="0" rIns="0" bIns="0" rtlCol="0" anchor="ctr"/>
          <a:lstStyle/>
          <a:p>
            <a:pPr marL="0" indent="0">
              <a:lnSpc>
                <a:spcPct val="135000"/>
              </a:lnSpc>
              <a:buNone/>
            </a:pPr>
            <a:r>
              <a:rPr lang="en-US" sz="1600" dirty="0">
                <a:solidFill>
                  <a:srgbClr val="1B2233"/>
                </a:solidFill>
                <a:latin typeface="Calibri" pitchFamily="34" charset="0"/>
                <a:ea typeface="Calibri" pitchFamily="34" charset="-122"/>
                <a:cs typeface="Calibri" pitchFamily="34" charset="-120"/>
              </a:rPr>
              <a:t>Same recurrence form as Merge Sort!
Master Theorem, Case 2 (a=2, b=2, f(n)=Θ(n)=Θ(n</a:t>
            </a:r>
            <a:r>
              <a:rPr lang="en-US" sz="1600" i="1" dirty="0">
                <a:solidFill>
                  <a:srgbClr val="1B2233"/>
                </a:solidFill>
                <a:latin typeface="Calibri" pitchFamily="34" charset="0"/>
                <a:ea typeface="Calibri" pitchFamily="34" charset="-122"/>
                <a:cs typeface="Calibri" pitchFamily="34" charset="-120"/>
              </a:rPr>
              <a:t>log_b a</a:t>
            </a:r>
            <a:r>
              <a:rPr lang="en-US" sz="1600" dirty="0">
                <a:solidFill>
                  <a:srgbClr val="1B2233"/>
                </a:solidFill>
                <a:latin typeface="Calibri" pitchFamily="34" charset="0"/>
                <a:ea typeface="Calibri" pitchFamily="34" charset="-122"/>
                <a:cs typeface="Calibri" pitchFamily="34" charset="-120"/>
              </a:rPr>
              <a:t>))  ⇒
</a:t>
            </a:r>
            <a:r>
              <a:rPr lang="en-US" sz="1600" b="1" dirty="0">
                <a:solidFill>
                  <a:srgbClr val="0F6B64"/>
                </a:solidFill>
                <a:latin typeface="Calibri" pitchFamily="34" charset="0"/>
                <a:ea typeface="Calibri" pitchFamily="34" charset="-122"/>
                <a:cs typeface="Calibri" pitchFamily="34" charset="-120"/>
              </a:rPr>
              <a:t>T(n) = Θ(n log n)</a:t>
            </a:r>
            <a:endParaRPr lang="en-US" sz="1600" dirty="0"/>
          </a:p>
        </p:txBody>
      </p:sp>
      <p:sp>
        <p:nvSpPr>
          <p:cNvPr id="11" name="Shape 9"/>
          <p:cNvSpPr/>
          <p:nvPr/>
        </p:nvSpPr>
        <p:spPr>
          <a:xfrm>
            <a:off x="6172200" y="1783080"/>
            <a:ext cx="5440680" cy="2331720"/>
          </a:xfrm>
          <a:prstGeom prst="roundRect">
            <a:avLst>
              <a:gd name="adj" fmla="val 3922"/>
            </a:avLst>
          </a:prstGeom>
          <a:solidFill>
            <a:srgbClr val="FCEFE7"/>
          </a:solidFill>
          <a:ln w="12700">
            <a:solidFill>
              <a:srgbClr val="F0C29A"/>
            </a:solidFill>
            <a:prstDash val="solid"/>
          </a:ln>
        </p:spPr>
      </p:sp>
      <p:sp>
        <p:nvSpPr>
          <p:cNvPr id="12" name="Text 10"/>
          <p:cNvSpPr txBox="1"/>
          <p:nvPr/>
        </p:nvSpPr>
        <p:spPr>
          <a:xfrm>
            <a:off x="6400800" y="1920240"/>
            <a:ext cx="4937760" cy="274320"/>
          </a:xfrm>
          <a:prstGeom prst="rect">
            <a:avLst/>
          </a:prstGeom>
          <a:noFill/>
          <a:ln/>
        </p:spPr>
        <p:txBody>
          <a:bodyPr wrap="square" lIns="0" tIns="0" rIns="0" bIns="0" rtlCol="0" anchor="ctr"/>
          <a:lstStyle/>
          <a:p>
            <a:pPr marL="0" indent="0">
              <a:buNone/>
            </a:pPr>
            <a:r>
              <a:rPr lang="en-US" sz="1600" b="1" kern="0" spc="80" dirty="0">
                <a:solidFill>
                  <a:srgbClr val="D9480F"/>
                </a:solidFill>
                <a:latin typeface="Calibri" pitchFamily="34" charset="0"/>
                <a:ea typeface="Calibri" pitchFamily="34" charset="-122"/>
                <a:cs typeface="Calibri" pitchFamily="34" charset="-120"/>
              </a:rPr>
              <a:t>WORST CASE — MAXIMALLY UNBALANCED</a:t>
            </a:r>
            <a:endParaRPr lang="en-US" sz="1600" dirty="0"/>
          </a:p>
        </p:txBody>
      </p:sp>
      <p:sp>
        <p:nvSpPr>
          <p:cNvPr id="13" name="Text 11"/>
          <p:cNvSpPr txBox="1"/>
          <p:nvPr/>
        </p:nvSpPr>
        <p:spPr>
          <a:xfrm>
            <a:off x="6400800" y="2212848"/>
            <a:ext cx="4937760" cy="365760"/>
          </a:xfrm>
          <a:prstGeom prst="rect">
            <a:avLst/>
          </a:prstGeom>
          <a:noFill/>
          <a:ln/>
        </p:spPr>
        <p:txBody>
          <a:bodyPr wrap="square" lIns="0" tIns="0" rIns="0" bIns="0" rtlCol="0" anchor="ctr"/>
          <a:lstStyle/>
          <a:p>
            <a:pPr marL="0" indent="0">
              <a:buNone/>
            </a:pPr>
            <a:r>
              <a:rPr lang="en-US" b="1" dirty="0">
                <a:solidFill>
                  <a:srgbClr val="0B3D3A"/>
                </a:solidFill>
                <a:latin typeface="Courier New" pitchFamily="34" charset="0"/>
                <a:ea typeface="Courier New" pitchFamily="34" charset="-122"/>
                <a:cs typeface="Courier New" pitchFamily="34" charset="-120"/>
              </a:rPr>
              <a:t>T(n) = T(n−1) + T(0) + Θ(n)</a:t>
            </a:r>
            <a:endParaRPr lang="en-US" dirty="0"/>
          </a:p>
        </p:txBody>
      </p:sp>
      <p:sp>
        <p:nvSpPr>
          <p:cNvPr id="14" name="Text 12"/>
          <p:cNvSpPr txBox="1"/>
          <p:nvPr/>
        </p:nvSpPr>
        <p:spPr>
          <a:xfrm>
            <a:off x="6400800" y="2651760"/>
            <a:ext cx="4937760" cy="1371600"/>
          </a:xfrm>
          <a:prstGeom prst="rect">
            <a:avLst/>
          </a:prstGeom>
          <a:noFill/>
          <a:ln/>
        </p:spPr>
        <p:txBody>
          <a:bodyPr wrap="square" lIns="0" tIns="0" rIns="0" bIns="0" rtlCol="0" anchor="ctr"/>
          <a:lstStyle/>
          <a:p>
            <a:pPr marL="0" indent="0">
              <a:lnSpc>
                <a:spcPct val="135000"/>
              </a:lnSpc>
              <a:buNone/>
            </a:pPr>
            <a:r>
              <a:rPr lang="en-US" sz="1600" dirty="0">
                <a:solidFill>
                  <a:srgbClr val="1B2233"/>
                </a:solidFill>
                <a:latin typeface="Calibri" pitchFamily="34" charset="0"/>
                <a:ea typeface="Calibri" pitchFamily="34" charset="-122"/>
                <a:cs typeface="Calibri" pitchFamily="34" charset="-120"/>
              </a:rPr>
              <a:t>Doesn't fit the Master Theorem's balanced form — solve by </a:t>
            </a:r>
            <a:r>
              <a:rPr lang="en-US" sz="1600" b="1" dirty="0">
                <a:solidFill>
                  <a:srgbClr val="D9480F"/>
                </a:solidFill>
                <a:latin typeface="Calibri" pitchFamily="34" charset="0"/>
                <a:ea typeface="Calibri" pitchFamily="34" charset="-122"/>
                <a:cs typeface="Calibri" pitchFamily="34" charset="-120"/>
              </a:rPr>
              <a:t>telescoping</a:t>
            </a:r>
            <a:r>
              <a:rPr lang="en-US" sz="1600" dirty="0">
                <a:solidFill>
                  <a:srgbClr val="1B2233"/>
                </a:solidFill>
                <a:latin typeface="Calibri" pitchFamily="34" charset="0"/>
                <a:ea typeface="Calibri" pitchFamily="34" charset="-122"/>
                <a:cs typeface="Calibri" pitchFamily="34" charset="-120"/>
              </a:rPr>
              <a:t>:
T(n) = Θ(n)+Θ(n−1)+…+Θ(1) = Θ(n(n+1)/2)
</a:t>
            </a:r>
            <a:r>
              <a:rPr lang="en-US" sz="1600" b="1" dirty="0">
                <a:solidFill>
                  <a:srgbClr val="D9480F"/>
                </a:solidFill>
                <a:latin typeface="Calibri" pitchFamily="34" charset="0"/>
                <a:ea typeface="Calibri" pitchFamily="34" charset="-122"/>
                <a:cs typeface="Calibri" pitchFamily="34" charset="-120"/>
              </a:rPr>
              <a:t>T(n) = Θ(n²)</a:t>
            </a:r>
            <a:endParaRPr lang="en-US" sz="1600" dirty="0"/>
          </a:p>
        </p:txBody>
      </p:sp>
      <p:sp>
        <p:nvSpPr>
          <p:cNvPr id="15" name="Shape 13"/>
          <p:cNvSpPr/>
          <p:nvPr/>
        </p:nvSpPr>
        <p:spPr>
          <a:xfrm>
            <a:off x="548640" y="4251960"/>
            <a:ext cx="11064240" cy="960120"/>
          </a:xfrm>
          <a:prstGeom prst="roundRect">
            <a:avLst>
              <a:gd name="adj" fmla="val 9524"/>
            </a:avLst>
          </a:prstGeom>
          <a:solidFill>
            <a:srgbClr val="81D4C8"/>
          </a:solidFill>
          <a:ln w="12700">
            <a:solidFill>
              <a:srgbClr val="0B3D3A"/>
            </a:solidFill>
            <a:prstDash val="solid"/>
          </a:ln>
        </p:spPr>
      </p:sp>
      <p:sp>
        <p:nvSpPr>
          <p:cNvPr id="17" name="Text 15"/>
          <p:cNvSpPr txBox="1"/>
          <p:nvPr/>
        </p:nvSpPr>
        <p:spPr>
          <a:xfrm>
            <a:off x="777240" y="4480560"/>
            <a:ext cx="10835640" cy="548640"/>
          </a:xfrm>
          <a:prstGeom prst="rect">
            <a:avLst/>
          </a:prstGeom>
          <a:noFill/>
          <a:ln/>
        </p:spPr>
        <p:txBody>
          <a:bodyPr wrap="square" lIns="0" tIns="0" rIns="0" bIns="0" rtlCol="0" anchor="ctr"/>
          <a:lstStyle/>
          <a:p>
            <a:pPr marL="0" indent="0">
              <a:lnSpc>
                <a:spcPct val="125000"/>
              </a:lnSpc>
              <a:buNone/>
            </a:pPr>
            <a:r>
              <a:rPr lang="en-US" b="1" dirty="0">
                <a:latin typeface="Calibri" pitchFamily="34" charset="0"/>
                <a:ea typeface="Calibri" pitchFamily="34" charset="-122"/>
                <a:cs typeface="Calibri" pitchFamily="34" charset="-120"/>
              </a:rPr>
              <a:t>Best/Average:  </a:t>
            </a:r>
            <a:r>
              <a:rPr lang="en-US" dirty="0">
                <a:latin typeface="Calibri" pitchFamily="34" charset="0"/>
                <a:ea typeface="Calibri" pitchFamily="34" charset="-122"/>
                <a:cs typeface="Calibri" pitchFamily="34" charset="-120"/>
              </a:rPr>
              <a:t>a randomly-ordered array, or a good pivot strategy (e.g. median-of-three).   </a:t>
            </a:r>
            <a:r>
              <a:rPr lang="en-US" b="1" dirty="0">
                <a:latin typeface="Calibri" pitchFamily="34" charset="0"/>
                <a:ea typeface="Calibri" pitchFamily="34" charset="-122"/>
                <a:cs typeface="Calibri" pitchFamily="34" charset="-120"/>
              </a:rPr>
              <a:t>Worst:  </a:t>
            </a:r>
            <a:r>
              <a:rPr lang="en-US" dirty="0">
                <a:latin typeface="Calibri" pitchFamily="34" charset="0"/>
                <a:ea typeface="Calibri" pitchFamily="34" charset="-122"/>
                <a:cs typeface="Calibri" pitchFamily="34" charset="-120"/>
              </a:rPr>
              <a:t>an already-sorted (or reverse-sorted) array combined with naive first/last-element pivoting — exactly what our left branch demonstrated.</a:t>
            </a:r>
            <a:endParaRPr lang="en-US" dirty="0"/>
          </a:p>
        </p:txBody>
      </p:sp>
      <p:sp>
        <p:nvSpPr>
          <p:cNvPr id="18" name="Shape 16"/>
          <p:cNvSpPr/>
          <p:nvPr/>
        </p:nvSpPr>
        <p:spPr>
          <a:xfrm>
            <a:off x="548640" y="5394960"/>
            <a:ext cx="11064240" cy="914400"/>
          </a:xfrm>
          <a:prstGeom prst="roundRect">
            <a:avLst>
              <a:gd name="adj" fmla="val 10000"/>
            </a:avLst>
          </a:prstGeom>
          <a:solidFill>
            <a:srgbClr val="E8F5F3"/>
          </a:solidFill>
          <a:ln w="12700">
            <a:solidFill>
              <a:srgbClr val="BFE3DE"/>
            </a:solidFill>
            <a:prstDash val="solid"/>
          </a:ln>
        </p:spPr>
      </p:sp>
      <p:sp>
        <p:nvSpPr>
          <p:cNvPr id="19" name="Text 17"/>
          <p:cNvSpPr txBox="1"/>
          <p:nvPr/>
        </p:nvSpPr>
        <p:spPr>
          <a:xfrm>
            <a:off x="777240" y="5394960"/>
            <a:ext cx="10607040" cy="914400"/>
          </a:xfrm>
          <a:prstGeom prst="rect">
            <a:avLst/>
          </a:prstGeom>
          <a:noFill/>
          <a:ln/>
        </p:spPr>
        <p:txBody>
          <a:bodyPr wrap="square" lIns="0" tIns="0" rIns="0" bIns="0" rtlCol="0" anchor="ctr"/>
          <a:lstStyle/>
          <a:p>
            <a:pPr marL="0" indent="0">
              <a:lnSpc>
                <a:spcPct val="130000"/>
              </a:lnSpc>
              <a:buNone/>
            </a:pPr>
            <a:r>
              <a:rPr lang="en-US" dirty="0">
                <a:solidFill>
                  <a:srgbClr val="0B3D3A"/>
                </a:solidFill>
                <a:latin typeface="Calibri" pitchFamily="34" charset="0"/>
                <a:ea typeface="Calibri" pitchFamily="34" charset="-122"/>
                <a:cs typeface="Calibri" pitchFamily="34" charset="-120"/>
              </a:rPr>
              <a:t>Recursion depth mirrors this too:  </a:t>
            </a:r>
            <a:r>
              <a:rPr lang="en-US" dirty="0">
                <a:solidFill>
                  <a:srgbClr val="5B6584"/>
                </a:solidFill>
                <a:latin typeface="Calibri" pitchFamily="34" charset="0"/>
                <a:ea typeface="Calibri" pitchFamily="34" charset="-122"/>
                <a:cs typeface="Calibri" pitchFamily="34" charset="-120"/>
              </a:rPr>
              <a:t>balanced splits give O(log n) depth (like Merge Sort); the worst-case chain gives O(n) depth — exactly the 4-level-deep left branch we traced two slides ago, generalized to n levels.</a:t>
            </a:r>
            <a:endParaRPr lang="en-US" dirty="0"/>
          </a:p>
        </p:txBody>
      </p:sp>
      <p:sp>
        <p:nvSpPr>
          <p:cNvPr id="20" name="Text 18"/>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21" name="Text 19"/>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RIGOROUS ANALYSIS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Complexity Summary</a:t>
            </a:r>
            <a:endParaRPr lang="en-US" sz="3000" dirty="0"/>
          </a:p>
        </p:txBody>
      </p:sp>
      <p:sp>
        <p:nvSpPr>
          <p:cNvPr id="6" name="Shape 4"/>
          <p:cNvSpPr/>
          <p:nvPr/>
        </p:nvSpPr>
        <p:spPr>
          <a:xfrm>
            <a:off x="548640" y="1463040"/>
            <a:ext cx="3520440" cy="2514600"/>
          </a:xfrm>
          <a:prstGeom prst="roundRect">
            <a:avLst>
              <a:gd name="adj" fmla="val 3636"/>
            </a:avLst>
          </a:prstGeom>
          <a:solidFill>
            <a:srgbClr val="2E9E6D"/>
          </a:solidFill>
          <a:ln w="12700">
            <a:solidFill>
              <a:srgbClr val="2E9E6D"/>
            </a:solidFill>
            <a:prstDash val="solid"/>
          </a:ln>
        </p:spPr>
      </p:sp>
      <p:sp>
        <p:nvSpPr>
          <p:cNvPr id="7" name="Text 5"/>
          <p:cNvSpPr txBox="1"/>
          <p:nvPr/>
        </p:nvSpPr>
        <p:spPr>
          <a:xfrm>
            <a:off x="777240" y="1664208"/>
            <a:ext cx="30632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BEST CASE</a:t>
            </a:r>
            <a:endParaRPr lang="en-US" sz="1150" dirty="0"/>
          </a:p>
        </p:txBody>
      </p:sp>
      <p:sp>
        <p:nvSpPr>
          <p:cNvPr id="8" name="Text 6"/>
          <p:cNvSpPr txBox="1"/>
          <p:nvPr/>
        </p:nvSpPr>
        <p:spPr>
          <a:xfrm>
            <a:off x="777240" y="1956816"/>
            <a:ext cx="306324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O(n log n)</a:t>
            </a:r>
            <a:endParaRPr lang="en-US" sz="3400" dirty="0"/>
          </a:p>
        </p:txBody>
      </p:sp>
      <p:sp>
        <p:nvSpPr>
          <p:cNvPr id="9" name="Text 7"/>
          <p:cNvSpPr txBox="1"/>
          <p:nvPr/>
        </p:nvSpPr>
        <p:spPr>
          <a:xfrm>
            <a:off x="777240" y="2697480"/>
            <a:ext cx="3063240" cy="1188720"/>
          </a:xfrm>
          <a:prstGeom prst="rect">
            <a:avLst/>
          </a:prstGeom>
          <a:noFill/>
          <a:ln/>
        </p:spPr>
        <p:txBody>
          <a:bodyPr wrap="square" lIns="0" tIns="0" rIns="0" bIns="0" rtlCol="0" anchor="ctr"/>
          <a:lstStyle/>
          <a:p>
            <a:pPr marL="0" indent="0">
              <a:lnSpc>
                <a:spcPct val="130000"/>
              </a:lnSpc>
              <a:buNone/>
            </a:pPr>
            <a:r>
              <a:rPr lang="en-US" sz="1150" dirty="0">
                <a:solidFill>
                  <a:srgbClr val="F5FBF9"/>
                </a:solidFill>
                <a:latin typeface="Calibri" pitchFamily="34" charset="0"/>
                <a:ea typeface="Calibri" pitchFamily="34" charset="-122"/>
                <a:cs typeface="Calibri" pitchFamily="34" charset="-120"/>
              </a:rPr>
              <a:t>Pivot always splits the array into two roughly equal halves.</a:t>
            </a:r>
            <a:endParaRPr lang="en-US" sz="1150" dirty="0"/>
          </a:p>
        </p:txBody>
      </p:sp>
      <p:sp>
        <p:nvSpPr>
          <p:cNvPr id="10" name="Shape 8"/>
          <p:cNvSpPr/>
          <p:nvPr/>
        </p:nvSpPr>
        <p:spPr>
          <a:xfrm>
            <a:off x="4343400" y="1463040"/>
            <a:ext cx="3520440" cy="2514600"/>
          </a:xfrm>
          <a:prstGeom prst="roundRect">
            <a:avLst>
              <a:gd name="adj" fmla="val 3636"/>
            </a:avLst>
          </a:prstGeom>
          <a:solidFill>
            <a:srgbClr val="0F6B64"/>
          </a:solidFill>
          <a:ln w="12700">
            <a:solidFill>
              <a:srgbClr val="0F6B64"/>
            </a:solidFill>
            <a:prstDash val="solid"/>
          </a:ln>
        </p:spPr>
      </p:sp>
      <p:sp>
        <p:nvSpPr>
          <p:cNvPr id="11" name="Text 9"/>
          <p:cNvSpPr txBox="1"/>
          <p:nvPr/>
        </p:nvSpPr>
        <p:spPr>
          <a:xfrm>
            <a:off x="4572000" y="1664208"/>
            <a:ext cx="30632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AVERAGE CASE</a:t>
            </a:r>
            <a:endParaRPr lang="en-US" sz="1150" dirty="0"/>
          </a:p>
        </p:txBody>
      </p:sp>
      <p:sp>
        <p:nvSpPr>
          <p:cNvPr id="12" name="Text 10"/>
          <p:cNvSpPr txBox="1"/>
          <p:nvPr/>
        </p:nvSpPr>
        <p:spPr>
          <a:xfrm>
            <a:off x="4572000" y="1956816"/>
            <a:ext cx="306324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O(n log n)</a:t>
            </a:r>
            <a:endParaRPr lang="en-US" sz="3400" dirty="0"/>
          </a:p>
        </p:txBody>
      </p:sp>
      <p:sp>
        <p:nvSpPr>
          <p:cNvPr id="13" name="Text 11"/>
          <p:cNvSpPr txBox="1"/>
          <p:nvPr/>
        </p:nvSpPr>
        <p:spPr>
          <a:xfrm>
            <a:off x="4572000" y="2697480"/>
            <a:ext cx="3063240" cy="1188720"/>
          </a:xfrm>
          <a:prstGeom prst="rect">
            <a:avLst/>
          </a:prstGeom>
          <a:noFill/>
          <a:ln/>
        </p:spPr>
        <p:txBody>
          <a:bodyPr wrap="square" lIns="0" tIns="0" rIns="0" bIns="0" rtlCol="0" anchor="ctr"/>
          <a:lstStyle/>
          <a:p>
            <a:pPr marL="0" indent="0">
              <a:lnSpc>
                <a:spcPct val="130000"/>
              </a:lnSpc>
              <a:buNone/>
            </a:pPr>
            <a:r>
              <a:rPr lang="en-US" sz="1150" dirty="0">
                <a:solidFill>
                  <a:srgbClr val="F5FBF9"/>
                </a:solidFill>
                <a:latin typeface="Calibri" pitchFamily="34" charset="0"/>
                <a:ea typeface="Calibri" pitchFamily="34" charset="-122"/>
                <a:cs typeface="Calibri" pitchFamily="34" charset="-120"/>
              </a:rPr>
              <a:t>Random pivot placement across many runs still averages out to balanced splits.</a:t>
            </a:r>
            <a:endParaRPr lang="en-US" sz="1150" dirty="0"/>
          </a:p>
        </p:txBody>
      </p:sp>
      <p:sp>
        <p:nvSpPr>
          <p:cNvPr id="14" name="Shape 12"/>
          <p:cNvSpPr/>
          <p:nvPr/>
        </p:nvSpPr>
        <p:spPr>
          <a:xfrm>
            <a:off x="8138160" y="1463040"/>
            <a:ext cx="3520440" cy="2514600"/>
          </a:xfrm>
          <a:prstGeom prst="roundRect">
            <a:avLst>
              <a:gd name="adj" fmla="val 3636"/>
            </a:avLst>
          </a:prstGeom>
          <a:solidFill>
            <a:srgbClr val="D9480F"/>
          </a:solidFill>
          <a:ln w="12700">
            <a:solidFill>
              <a:srgbClr val="D9480F"/>
            </a:solidFill>
            <a:prstDash val="solid"/>
          </a:ln>
        </p:spPr>
      </p:sp>
      <p:sp>
        <p:nvSpPr>
          <p:cNvPr id="15" name="Text 13"/>
          <p:cNvSpPr txBox="1"/>
          <p:nvPr/>
        </p:nvSpPr>
        <p:spPr>
          <a:xfrm>
            <a:off x="8366760" y="1664208"/>
            <a:ext cx="306324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WORST CASE</a:t>
            </a:r>
            <a:endParaRPr lang="en-US" sz="1150" dirty="0"/>
          </a:p>
        </p:txBody>
      </p:sp>
      <p:sp>
        <p:nvSpPr>
          <p:cNvPr id="16" name="Text 14"/>
          <p:cNvSpPr txBox="1"/>
          <p:nvPr/>
        </p:nvSpPr>
        <p:spPr>
          <a:xfrm>
            <a:off x="8366760" y="1956816"/>
            <a:ext cx="306324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O(n²)</a:t>
            </a:r>
            <a:endParaRPr lang="en-US" sz="3400" dirty="0"/>
          </a:p>
        </p:txBody>
      </p:sp>
      <p:sp>
        <p:nvSpPr>
          <p:cNvPr id="17" name="Text 15"/>
          <p:cNvSpPr txBox="1"/>
          <p:nvPr/>
        </p:nvSpPr>
        <p:spPr>
          <a:xfrm>
            <a:off x="8366760" y="2697480"/>
            <a:ext cx="3063240" cy="1188720"/>
          </a:xfrm>
          <a:prstGeom prst="rect">
            <a:avLst/>
          </a:prstGeom>
          <a:noFill/>
          <a:ln/>
        </p:spPr>
        <p:txBody>
          <a:bodyPr wrap="square" lIns="0" tIns="0" rIns="0" bIns="0" rtlCol="0" anchor="ctr"/>
          <a:lstStyle/>
          <a:p>
            <a:pPr marL="0" indent="0">
              <a:lnSpc>
                <a:spcPct val="130000"/>
              </a:lnSpc>
              <a:buNone/>
            </a:pPr>
            <a:r>
              <a:rPr lang="en-US" sz="1150" dirty="0">
                <a:solidFill>
                  <a:srgbClr val="F5FBF9"/>
                </a:solidFill>
                <a:latin typeface="Calibri" pitchFamily="34" charset="0"/>
                <a:ea typeface="Calibri" pitchFamily="34" charset="-122"/>
                <a:cs typeface="Calibri" pitchFamily="34" charset="-120"/>
              </a:rPr>
              <a:t>Pivot is always the smallest or largest element — one side of every partition is empty.</a:t>
            </a:r>
            <a:endParaRPr lang="en-US" sz="1150" dirty="0"/>
          </a:p>
        </p:txBody>
      </p:sp>
      <p:sp>
        <p:nvSpPr>
          <p:cNvPr id="18" name="Shape 16"/>
          <p:cNvSpPr/>
          <p:nvPr/>
        </p:nvSpPr>
        <p:spPr>
          <a:xfrm>
            <a:off x="548640" y="4206240"/>
            <a:ext cx="5440680" cy="1737360"/>
          </a:xfrm>
          <a:prstGeom prst="roundRect">
            <a:avLst>
              <a:gd name="adj" fmla="val 5263"/>
            </a:avLst>
          </a:prstGeom>
          <a:solidFill>
            <a:srgbClr val="E8F5F3"/>
          </a:solidFill>
          <a:ln w="12700">
            <a:solidFill>
              <a:srgbClr val="BFE3DE"/>
            </a:solidFill>
            <a:prstDash val="solid"/>
          </a:ln>
        </p:spPr>
      </p:sp>
      <p:sp>
        <p:nvSpPr>
          <p:cNvPr id="19" name="Text 17"/>
          <p:cNvSpPr txBox="1"/>
          <p:nvPr/>
        </p:nvSpPr>
        <p:spPr>
          <a:xfrm>
            <a:off x="777240" y="4370832"/>
            <a:ext cx="4572000" cy="274320"/>
          </a:xfrm>
          <a:prstGeom prst="rect">
            <a:avLst/>
          </a:prstGeom>
          <a:noFill/>
          <a:ln/>
        </p:spPr>
        <p:txBody>
          <a:bodyPr wrap="square" lIns="0" tIns="0" rIns="0" bIns="0" rtlCol="0" anchor="ctr"/>
          <a:lstStyle/>
          <a:p>
            <a:pPr marL="0" indent="0">
              <a:buNone/>
            </a:pPr>
            <a:r>
              <a:rPr lang="en-US" sz="1100" b="1" kern="0" spc="120" dirty="0">
                <a:solidFill>
                  <a:srgbClr val="14918C"/>
                </a:solidFill>
                <a:latin typeface="Calibri" pitchFamily="34" charset="0"/>
                <a:ea typeface="Calibri" pitchFamily="34" charset="-122"/>
                <a:cs typeface="Calibri" pitchFamily="34" charset="-120"/>
              </a:rPr>
              <a:t>SPACE COMPLEXITY</a:t>
            </a:r>
            <a:endParaRPr lang="en-US" sz="1100" dirty="0"/>
          </a:p>
        </p:txBody>
      </p:sp>
      <p:sp>
        <p:nvSpPr>
          <p:cNvPr id="20" name="Text 18"/>
          <p:cNvSpPr txBox="1"/>
          <p:nvPr/>
        </p:nvSpPr>
        <p:spPr>
          <a:xfrm>
            <a:off x="777240" y="4645152"/>
            <a:ext cx="4937760" cy="457200"/>
          </a:xfrm>
          <a:prstGeom prst="rect">
            <a:avLst/>
          </a:prstGeom>
          <a:noFill/>
          <a:ln/>
        </p:spPr>
        <p:txBody>
          <a:bodyPr wrap="square" lIns="0" tIns="0" rIns="0" bIns="0" rtlCol="0" anchor="ctr"/>
          <a:lstStyle/>
          <a:p>
            <a:pPr marL="0" indent="0">
              <a:buNone/>
            </a:pPr>
            <a:r>
              <a:rPr lang="en-US" sz="1900" b="1" dirty="0">
                <a:solidFill>
                  <a:srgbClr val="0B3D3A"/>
                </a:solidFill>
                <a:latin typeface="Cambria" pitchFamily="34" charset="0"/>
                <a:ea typeface="Cambria" pitchFamily="34" charset="-122"/>
                <a:cs typeface="Cambria" pitchFamily="34" charset="-120"/>
              </a:rPr>
              <a:t>O(log n) avg   /   O(n) worst</a:t>
            </a:r>
            <a:endParaRPr lang="en-US" sz="1900" dirty="0"/>
          </a:p>
        </p:txBody>
      </p:sp>
      <p:sp>
        <p:nvSpPr>
          <p:cNvPr id="21" name="Text 19"/>
          <p:cNvSpPr txBox="1"/>
          <p:nvPr/>
        </p:nvSpPr>
        <p:spPr>
          <a:xfrm>
            <a:off x="777240" y="5120640"/>
            <a:ext cx="4937760" cy="777240"/>
          </a:xfrm>
          <a:prstGeom prst="rect">
            <a:avLst/>
          </a:prstGeom>
          <a:noFill/>
          <a:ln/>
        </p:spPr>
        <p:txBody>
          <a:bodyPr wrap="square" lIns="0" tIns="0" rIns="0" bIns="0" rtlCol="0" anchor="ctr"/>
          <a:lstStyle/>
          <a:p>
            <a:pPr marL="0" indent="0">
              <a:lnSpc>
                <a:spcPct val="125000"/>
              </a:lnSpc>
              <a:buNone/>
            </a:pPr>
            <a:r>
              <a:rPr lang="en-US" sz="1100" dirty="0">
                <a:solidFill>
                  <a:srgbClr val="5B6584"/>
                </a:solidFill>
                <a:latin typeface="Calibri" pitchFamily="34" charset="0"/>
                <a:ea typeface="Calibri" pitchFamily="34" charset="-122"/>
                <a:cs typeface="Calibri" pitchFamily="34" charset="-120"/>
              </a:rPr>
              <a:t>No auxiliary array is needed — only the recursive call stack. Its depth matches the recursion depth: O(log n) for balanced splits, O(n) for the degenerate chain.</a:t>
            </a:r>
            <a:endParaRPr lang="en-US" sz="1100" dirty="0"/>
          </a:p>
        </p:txBody>
      </p:sp>
      <p:sp>
        <p:nvSpPr>
          <p:cNvPr id="22" name="Shape 20"/>
          <p:cNvSpPr/>
          <p:nvPr/>
        </p:nvSpPr>
        <p:spPr>
          <a:xfrm>
            <a:off x="6172200" y="4206240"/>
            <a:ext cx="5440680" cy="1737360"/>
          </a:xfrm>
          <a:prstGeom prst="roundRect">
            <a:avLst>
              <a:gd name="adj" fmla="val 5263"/>
            </a:avLst>
          </a:prstGeom>
          <a:solidFill>
            <a:srgbClr val="0B3D3A"/>
          </a:solidFill>
          <a:ln w="12700">
            <a:solidFill>
              <a:srgbClr val="0B3D3A"/>
            </a:solidFill>
            <a:prstDash val="solid"/>
          </a:ln>
        </p:spPr>
      </p:sp>
      <p:sp>
        <p:nvSpPr>
          <p:cNvPr id="23" name="Text 21"/>
          <p:cNvSpPr txBox="1"/>
          <p:nvPr/>
        </p:nvSpPr>
        <p:spPr>
          <a:xfrm>
            <a:off x="6400800" y="4370832"/>
            <a:ext cx="4937760" cy="274320"/>
          </a:xfrm>
          <a:prstGeom prst="rect">
            <a:avLst/>
          </a:prstGeom>
          <a:noFill/>
          <a:ln/>
        </p:spPr>
        <p:txBody>
          <a:bodyPr wrap="square" lIns="0" tIns="0" rIns="0" bIns="0" rtlCol="0" anchor="ctr"/>
          <a:lstStyle/>
          <a:p>
            <a:pPr marL="0" indent="0">
              <a:buNone/>
            </a:pPr>
            <a:r>
              <a:rPr lang="en-US" sz="1100" b="1" kern="0" spc="100" dirty="0">
                <a:solidFill>
                  <a:srgbClr val="C98A1E"/>
                </a:solidFill>
                <a:latin typeface="Calibri" pitchFamily="34" charset="0"/>
                <a:ea typeface="Calibri" pitchFamily="34" charset="-122"/>
                <a:cs typeface="Calibri" pitchFamily="34" charset="-120"/>
              </a:rPr>
              <a:t>QUICK SORT vs MERGE SORT SPACE</a:t>
            </a:r>
            <a:endParaRPr lang="en-US" sz="1100" dirty="0"/>
          </a:p>
        </p:txBody>
      </p:sp>
      <p:sp>
        <p:nvSpPr>
          <p:cNvPr id="24" name="Text 22"/>
          <p:cNvSpPr txBox="1"/>
          <p:nvPr/>
        </p:nvSpPr>
        <p:spPr>
          <a:xfrm>
            <a:off x="6400800" y="4663440"/>
            <a:ext cx="4937760" cy="1188720"/>
          </a:xfrm>
          <a:prstGeom prst="rect">
            <a:avLst/>
          </a:prstGeom>
          <a:noFill/>
          <a:ln/>
        </p:spPr>
        <p:txBody>
          <a:bodyPr wrap="square" lIns="0" tIns="0" rIns="0" bIns="0" rtlCol="0" anchor="ctr"/>
          <a:lstStyle/>
          <a:p>
            <a:pPr marL="0" indent="0">
              <a:lnSpc>
                <a:spcPct val="130000"/>
              </a:lnSpc>
              <a:buNone/>
            </a:pPr>
            <a:r>
              <a:rPr lang="en-US" sz="1150" dirty="0">
                <a:solidFill>
                  <a:srgbClr val="D6EFEC"/>
                </a:solidFill>
                <a:latin typeface="Calibri" pitchFamily="34" charset="0"/>
                <a:ea typeface="Calibri" pitchFamily="34" charset="-122"/>
                <a:cs typeface="Calibri" pitchFamily="34" charset="-120"/>
              </a:rPr>
              <a:t>Merge Sort always needs O(n) auxiliary space for merging. Quick Sort needs none — its only overhead is the call stack, which is why it's generally preferred when memory is tight.</a:t>
            </a:r>
            <a:endParaRPr lang="en-US" sz="1150" dirty="0"/>
          </a:p>
        </p:txBody>
      </p:sp>
      <p:sp>
        <p:nvSpPr>
          <p:cNvPr id="25" name="Text 23"/>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26" name="Text 2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PROPERTIES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Characteristics of Quick Sort</a:t>
            </a:r>
            <a:endParaRPr lang="en-US" sz="3000" dirty="0"/>
          </a:p>
        </p:txBody>
      </p:sp>
      <p:sp>
        <p:nvSpPr>
          <p:cNvPr id="6" name="Shape 4"/>
          <p:cNvSpPr/>
          <p:nvPr/>
        </p:nvSpPr>
        <p:spPr>
          <a:xfrm>
            <a:off x="548640" y="1463040"/>
            <a:ext cx="5440680" cy="4572000"/>
          </a:xfrm>
          <a:prstGeom prst="roundRect">
            <a:avLst>
              <a:gd name="adj" fmla="val 2000"/>
            </a:avLst>
          </a:prstGeom>
          <a:solidFill>
            <a:srgbClr val="E8F5F3"/>
          </a:solidFill>
          <a:ln w="12700">
            <a:solidFill>
              <a:srgbClr val="BFE3DE"/>
            </a:solidFill>
            <a:prstDash val="solid"/>
          </a:ln>
        </p:spPr>
      </p:sp>
      <p:sp>
        <p:nvSpPr>
          <p:cNvPr id="7" name="Text 5"/>
          <p:cNvSpPr txBox="1"/>
          <p:nvPr/>
        </p:nvSpPr>
        <p:spPr>
          <a:xfrm>
            <a:off x="777240" y="1627632"/>
            <a:ext cx="4846320" cy="274320"/>
          </a:xfrm>
          <a:prstGeom prst="rect">
            <a:avLst/>
          </a:prstGeom>
          <a:noFill/>
          <a:ln/>
        </p:spPr>
        <p:txBody>
          <a:bodyPr wrap="square" lIns="0" tIns="0" rIns="0" bIns="0" rtlCol="0" anchor="ctr"/>
          <a:lstStyle/>
          <a:p>
            <a:pPr marL="0" indent="0">
              <a:buNone/>
            </a:pPr>
            <a:r>
              <a:rPr lang="en-US" sz="1200" b="1" kern="0" spc="120" dirty="0">
                <a:solidFill>
                  <a:srgbClr val="14918C"/>
                </a:solidFill>
                <a:latin typeface="Calibri" pitchFamily="34" charset="0"/>
                <a:ea typeface="Calibri" pitchFamily="34" charset="-122"/>
                <a:cs typeface="Calibri" pitchFamily="34" charset="-120"/>
              </a:rPr>
              <a:t>PROPERTIES</a:t>
            </a:r>
            <a:endParaRPr lang="en-US" sz="1200" dirty="0"/>
          </a:p>
        </p:txBody>
      </p:sp>
      <p:sp>
        <p:nvSpPr>
          <p:cNvPr id="8" name="Shape 6"/>
          <p:cNvSpPr/>
          <p:nvPr/>
        </p:nvSpPr>
        <p:spPr>
          <a:xfrm>
            <a:off x="777240" y="2039112"/>
            <a:ext cx="310896" cy="310896"/>
          </a:xfrm>
          <a:prstGeom prst="ellipse">
            <a:avLst/>
          </a:prstGeom>
          <a:solidFill>
            <a:srgbClr val="0F6B64"/>
          </a:solidFill>
          <a:ln/>
        </p:spPr>
      </p:sp>
      <p:sp>
        <p:nvSpPr>
          <p:cNvPr id="9" name="Text 7"/>
          <p:cNvSpPr txBox="1"/>
          <p:nvPr/>
        </p:nvSpPr>
        <p:spPr>
          <a:xfrm>
            <a:off x="777240" y="20391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0" name="Text 8"/>
          <p:cNvSpPr txBox="1"/>
          <p:nvPr/>
        </p:nvSpPr>
        <p:spPr>
          <a:xfrm>
            <a:off x="1207008" y="2011680"/>
            <a:ext cx="4572000" cy="274320"/>
          </a:xfrm>
          <a:prstGeom prst="rect">
            <a:avLst/>
          </a:prstGeom>
          <a:noFill/>
          <a:ln/>
        </p:spPr>
        <p:txBody>
          <a:bodyPr wrap="square" lIns="0" tIns="0" rIns="0" bIns="0" rtlCol="0" anchor="ctr"/>
          <a:lstStyle/>
          <a:p>
            <a:pPr marL="0" indent="0">
              <a:buNone/>
            </a:pPr>
            <a:r>
              <a:rPr lang="en-US" sz="1350" b="1" dirty="0">
                <a:solidFill>
                  <a:srgbClr val="0B3D3A"/>
                </a:solidFill>
                <a:latin typeface="Cambria" pitchFamily="34" charset="0"/>
                <a:ea typeface="Cambria" pitchFamily="34" charset="-122"/>
                <a:cs typeface="Cambria" pitchFamily="34" charset="-120"/>
              </a:rPr>
              <a:t>In-Place</a:t>
            </a:r>
            <a:endParaRPr lang="en-US" sz="1350" dirty="0"/>
          </a:p>
        </p:txBody>
      </p:sp>
      <p:sp>
        <p:nvSpPr>
          <p:cNvPr id="11" name="Text 9"/>
          <p:cNvSpPr txBox="1"/>
          <p:nvPr/>
        </p:nvSpPr>
        <p:spPr>
          <a:xfrm>
            <a:off x="1207008" y="2304288"/>
            <a:ext cx="4572000" cy="457200"/>
          </a:xfrm>
          <a:prstGeom prst="rect">
            <a:avLst/>
          </a:prstGeom>
          <a:noFill/>
          <a:ln/>
        </p:spPr>
        <p:txBody>
          <a:bodyPr wrap="square" lIns="0" tIns="0" rIns="0" bIns="0" rtlCol="0" anchor="ctr"/>
          <a:lstStyle/>
          <a:p>
            <a:pPr marL="0" indent="0">
              <a:lnSpc>
                <a:spcPct val="120000"/>
              </a:lnSpc>
              <a:buNone/>
            </a:pPr>
            <a:r>
              <a:rPr lang="en-US" sz="1100" dirty="0">
                <a:solidFill>
                  <a:srgbClr val="5B6584"/>
                </a:solidFill>
                <a:latin typeface="Calibri" pitchFamily="34" charset="0"/>
                <a:ea typeface="Calibri" pitchFamily="34" charset="-122"/>
                <a:cs typeface="Calibri" pitchFamily="34" charset="-120"/>
              </a:rPr>
              <a:t>Sorts within the array using O(log n) extra stack space — no auxiliary array.</a:t>
            </a:r>
            <a:endParaRPr lang="en-US" sz="1100" dirty="0"/>
          </a:p>
        </p:txBody>
      </p:sp>
      <p:sp>
        <p:nvSpPr>
          <p:cNvPr id="12" name="Shape 10"/>
          <p:cNvSpPr/>
          <p:nvPr/>
        </p:nvSpPr>
        <p:spPr>
          <a:xfrm>
            <a:off x="777240" y="3026664"/>
            <a:ext cx="310896" cy="310896"/>
          </a:xfrm>
          <a:prstGeom prst="ellipse">
            <a:avLst/>
          </a:prstGeom>
          <a:solidFill>
            <a:srgbClr val="0F6B64"/>
          </a:solidFill>
          <a:ln/>
        </p:spPr>
      </p:sp>
      <p:sp>
        <p:nvSpPr>
          <p:cNvPr id="13" name="Text 11"/>
          <p:cNvSpPr txBox="1"/>
          <p:nvPr/>
        </p:nvSpPr>
        <p:spPr>
          <a:xfrm>
            <a:off x="777240" y="302666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txBox="1"/>
          <p:nvPr/>
        </p:nvSpPr>
        <p:spPr>
          <a:xfrm>
            <a:off x="1207008" y="2999232"/>
            <a:ext cx="4572000" cy="274320"/>
          </a:xfrm>
          <a:prstGeom prst="rect">
            <a:avLst/>
          </a:prstGeom>
          <a:noFill/>
          <a:ln/>
        </p:spPr>
        <p:txBody>
          <a:bodyPr wrap="square" lIns="0" tIns="0" rIns="0" bIns="0" rtlCol="0" anchor="ctr"/>
          <a:lstStyle/>
          <a:p>
            <a:pPr marL="0" indent="0">
              <a:buNone/>
            </a:pPr>
            <a:r>
              <a:rPr lang="en-US" sz="1350" b="1" dirty="0">
                <a:solidFill>
                  <a:srgbClr val="0B3D3A"/>
                </a:solidFill>
                <a:latin typeface="Cambria" pitchFamily="34" charset="0"/>
                <a:ea typeface="Cambria" pitchFamily="34" charset="-122"/>
                <a:cs typeface="Cambria" pitchFamily="34" charset="-120"/>
              </a:rPr>
              <a:t>Not Stable</a:t>
            </a:r>
            <a:endParaRPr lang="en-US" sz="1350" dirty="0"/>
          </a:p>
        </p:txBody>
      </p:sp>
      <p:sp>
        <p:nvSpPr>
          <p:cNvPr id="15" name="Text 13"/>
          <p:cNvSpPr txBox="1"/>
          <p:nvPr/>
        </p:nvSpPr>
        <p:spPr>
          <a:xfrm>
            <a:off x="1207008" y="3291840"/>
            <a:ext cx="4572000" cy="457200"/>
          </a:xfrm>
          <a:prstGeom prst="rect">
            <a:avLst/>
          </a:prstGeom>
          <a:noFill/>
          <a:ln/>
        </p:spPr>
        <p:txBody>
          <a:bodyPr wrap="square" lIns="0" tIns="0" rIns="0" bIns="0" rtlCol="0" anchor="ctr"/>
          <a:lstStyle/>
          <a:p>
            <a:pPr marL="0" indent="0">
              <a:lnSpc>
                <a:spcPct val="120000"/>
              </a:lnSpc>
              <a:buNone/>
            </a:pPr>
            <a:r>
              <a:rPr lang="en-US" sz="1100" dirty="0">
                <a:solidFill>
                  <a:srgbClr val="5B6584"/>
                </a:solidFill>
                <a:latin typeface="Calibri" pitchFamily="34" charset="0"/>
                <a:ea typeface="Calibri" pitchFamily="34" charset="-122"/>
                <a:cs typeface="Calibri" pitchFamily="34" charset="-120"/>
              </a:rPr>
              <a:t>The partition swap can move an element past an equal one.</a:t>
            </a:r>
            <a:endParaRPr lang="en-US" sz="1100" dirty="0"/>
          </a:p>
        </p:txBody>
      </p:sp>
      <p:sp>
        <p:nvSpPr>
          <p:cNvPr id="16" name="Shape 14"/>
          <p:cNvSpPr/>
          <p:nvPr/>
        </p:nvSpPr>
        <p:spPr>
          <a:xfrm>
            <a:off x="777240" y="4014216"/>
            <a:ext cx="310896" cy="310896"/>
          </a:xfrm>
          <a:prstGeom prst="ellipse">
            <a:avLst/>
          </a:prstGeom>
          <a:solidFill>
            <a:srgbClr val="0F6B64"/>
          </a:solidFill>
          <a:ln/>
        </p:spPr>
      </p:sp>
      <p:sp>
        <p:nvSpPr>
          <p:cNvPr id="17" name="Text 15"/>
          <p:cNvSpPr txBox="1"/>
          <p:nvPr/>
        </p:nvSpPr>
        <p:spPr>
          <a:xfrm>
            <a:off x="777240" y="401421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1207008" y="3986784"/>
            <a:ext cx="4572000" cy="274320"/>
          </a:xfrm>
          <a:prstGeom prst="rect">
            <a:avLst/>
          </a:prstGeom>
          <a:noFill/>
          <a:ln/>
        </p:spPr>
        <p:txBody>
          <a:bodyPr wrap="square" lIns="0" tIns="0" rIns="0" bIns="0" rtlCol="0" anchor="ctr"/>
          <a:lstStyle/>
          <a:p>
            <a:pPr marL="0" indent="0">
              <a:buNone/>
            </a:pPr>
            <a:r>
              <a:rPr lang="en-US" sz="1350" b="1" dirty="0">
                <a:solidFill>
                  <a:srgbClr val="0B3D3A"/>
                </a:solidFill>
                <a:latin typeface="Cambria" pitchFamily="34" charset="0"/>
                <a:ea typeface="Cambria" pitchFamily="34" charset="-122"/>
                <a:cs typeface="Cambria" pitchFamily="34" charset="-120"/>
              </a:rPr>
              <a:t>Comparison-Based</a:t>
            </a:r>
            <a:endParaRPr lang="en-US" sz="1350" dirty="0"/>
          </a:p>
        </p:txBody>
      </p:sp>
      <p:sp>
        <p:nvSpPr>
          <p:cNvPr id="19" name="Text 17"/>
          <p:cNvSpPr txBox="1"/>
          <p:nvPr/>
        </p:nvSpPr>
        <p:spPr>
          <a:xfrm>
            <a:off x="1207008" y="4279392"/>
            <a:ext cx="4572000" cy="457200"/>
          </a:xfrm>
          <a:prstGeom prst="rect">
            <a:avLst/>
          </a:prstGeom>
          <a:noFill/>
          <a:ln/>
        </p:spPr>
        <p:txBody>
          <a:bodyPr wrap="square" lIns="0" tIns="0" rIns="0" bIns="0" rtlCol="0" anchor="ctr"/>
          <a:lstStyle/>
          <a:p>
            <a:pPr marL="0" indent="0">
              <a:lnSpc>
                <a:spcPct val="120000"/>
              </a:lnSpc>
              <a:buNone/>
            </a:pPr>
            <a:r>
              <a:rPr lang="en-US" sz="1100" dirty="0">
                <a:solidFill>
                  <a:srgbClr val="5B6584"/>
                </a:solidFill>
                <a:latin typeface="Calibri" pitchFamily="34" charset="0"/>
                <a:ea typeface="Calibri" pitchFamily="34" charset="-122"/>
                <a:cs typeface="Calibri" pitchFamily="34" charset="-120"/>
              </a:rPr>
              <a:t>Every decision comes from comparing an element to the pivot.</a:t>
            </a:r>
            <a:endParaRPr lang="en-US" sz="1100" dirty="0"/>
          </a:p>
        </p:txBody>
      </p:sp>
      <p:sp>
        <p:nvSpPr>
          <p:cNvPr id="20" name="Shape 18"/>
          <p:cNvSpPr/>
          <p:nvPr/>
        </p:nvSpPr>
        <p:spPr>
          <a:xfrm>
            <a:off x="777240" y="5001768"/>
            <a:ext cx="310896" cy="310896"/>
          </a:xfrm>
          <a:prstGeom prst="ellipse">
            <a:avLst/>
          </a:prstGeom>
          <a:solidFill>
            <a:srgbClr val="0F6B64"/>
          </a:solidFill>
          <a:ln/>
        </p:spPr>
      </p:sp>
      <p:sp>
        <p:nvSpPr>
          <p:cNvPr id="21" name="Text 19"/>
          <p:cNvSpPr txBox="1"/>
          <p:nvPr/>
        </p:nvSpPr>
        <p:spPr>
          <a:xfrm>
            <a:off x="777240" y="500176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2" name="Text 20"/>
          <p:cNvSpPr txBox="1"/>
          <p:nvPr/>
        </p:nvSpPr>
        <p:spPr>
          <a:xfrm>
            <a:off x="1207008" y="4974336"/>
            <a:ext cx="4572000" cy="274320"/>
          </a:xfrm>
          <a:prstGeom prst="rect">
            <a:avLst/>
          </a:prstGeom>
          <a:noFill/>
          <a:ln/>
        </p:spPr>
        <p:txBody>
          <a:bodyPr wrap="square" lIns="0" tIns="0" rIns="0" bIns="0" rtlCol="0" anchor="ctr"/>
          <a:lstStyle/>
          <a:p>
            <a:pPr marL="0" indent="0">
              <a:buNone/>
            </a:pPr>
            <a:r>
              <a:rPr lang="en-US" sz="1350" b="1" dirty="0">
                <a:solidFill>
                  <a:srgbClr val="0B3D3A"/>
                </a:solidFill>
                <a:latin typeface="Cambria" pitchFamily="34" charset="0"/>
                <a:ea typeface="Cambria" pitchFamily="34" charset="-122"/>
                <a:cs typeface="Cambria" pitchFamily="34" charset="-120"/>
              </a:rPr>
              <a:t>Divide-and-Conquer</a:t>
            </a:r>
            <a:endParaRPr lang="en-US" sz="1350" dirty="0"/>
          </a:p>
        </p:txBody>
      </p:sp>
      <p:sp>
        <p:nvSpPr>
          <p:cNvPr id="23" name="Text 21"/>
          <p:cNvSpPr txBox="1"/>
          <p:nvPr/>
        </p:nvSpPr>
        <p:spPr>
          <a:xfrm>
            <a:off x="1207008" y="5266944"/>
            <a:ext cx="4572000" cy="457200"/>
          </a:xfrm>
          <a:prstGeom prst="rect">
            <a:avLst/>
          </a:prstGeom>
          <a:noFill/>
          <a:ln/>
        </p:spPr>
        <p:txBody>
          <a:bodyPr wrap="square" lIns="0" tIns="0" rIns="0" bIns="0" rtlCol="0" anchor="ctr"/>
          <a:lstStyle/>
          <a:p>
            <a:pPr marL="0" indent="0">
              <a:lnSpc>
                <a:spcPct val="120000"/>
              </a:lnSpc>
              <a:buNone/>
            </a:pPr>
            <a:r>
              <a:rPr lang="en-US" sz="1100" dirty="0">
                <a:solidFill>
                  <a:srgbClr val="5B6584"/>
                </a:solidFill>
                <a:latin typeface="Calibri" pitchFamily="34" charset="0"/>
                <a:ea typeface="Calibri" pitchFamily="34" charset="-122"/>
                <a:cs typeface="Calibri" pitchFamily="34" charset="-120"/>
              </a:rPr>
              <a:t>Partition, then recursively conquer each side — no combine step.</a:t>
            </a:r>
            <a:endParaRPr lang="en-US" sz="1100" dirty="0"/>
          </a:p>
        </p:txBody>
      </p:sp>
      <p:sp>
        <p:nvSpPr>
          <p:cNvPr id="24" name="Shape 22"/>
          <p:cNvSpPr/>
          <p:nvPr/>
        </p:nvSpPr>
        <p:spPr>
          <a:xfrm>
            <a:off x="6263640" y="1463040"/>
            <a:ext cx="5349240" cy="4572000"/>
          </a:xfrm>
          <a:prstGeom prst="roundRect">
            <a:avLst>
              <a:gd name="adj" fmla="val 2000"/>
            </a:avLst>
          </a:prstGeom>
          <a:solidFill>
            <a:srgbClr val="0B3D3A"/>
          </a:solidFill>
          <a:ln w="12700">
            <a:solidFill>
              <a:srgbClr val="0B3D3A"/>
            </a:solidFill>
            <a:prstDash val="solid"/>
          </a:ln>
        </p:spPr>
      </p:sp>
      <p:sp>
        <p:nvSpPr>
          <p:cNvPr id="25" name="Text 23"/>
          <p:cNvSpPr txBox="1"/>
          <p:nvPr/>
        </p:nvSpPr>
        <p:spPr>
          <a:xfrm>
            <a:off x="6492240" y="1627632"/>
            <a:ext cx="4846320" cy="274320"/>
          </a:xfrm>
          <a:prstGeom prst="rect">
            <a:avLst/>
          </a:prstGeom>
          <a:noFill/>
          <a:ln/>
        </p:spPr>
        <p:txBody>
          <a:bodyPr wrap="square" lIns="0" tIns="0" rIns="0" bIns="0" rtlCol="0" anchor="ctr"/>
          <a:lstStyle/>
          <a:p>
            <a:pPr marL="0" indent="0">
              <a:buNone/>
            </a:pPr>
            <a:r>
              <a:rPr lang="en-US" sz="1100" b="1" kern="0" spc="100" dirty="0">
                <a:solidFill>
                  <a:srgbClr val="C98A1E"/>
                </a:solidFill>
                <a:latin typeface="Calibri" pitchFamily="34" charset="0"/>
                <a:ea typeface="Calibri" pitchFamily="34" charset="-122"/>
                <a:cs typeface="Calibri" pitchFamily="34" charset="-120"/>
              </a:rPr>
              <a:t>WHY “NOT STABLE”? A QUICK EXAMPLE</a:t>
            </a:r>
            <a:endParaRPr lang="en-US" sz="1100" dirty="0"/>
          </a:p>
        </p:txBody>
      </p:sp>
      <p:sp>
        <p:nvSpPr>
          <p:cNvPr id="26" name="Text 24"/>
          <p:cNvSpPr txBox="1"/>
          <p:nvPr/>
        </p:nvSpPr>
        <p:spPr>
          <a:xfrm>
            <a:off x="6492240" y="1938528"/>
            <a:ext cx="4846320" cy="457200"/>
          </a:xfrm>
          <a:prstGeom prst="rect">
            <a:avLst/>
          </a:prstGeom>
          <a:noFill/>
          <a:ln/>
        </p:spPr>
        <p:txBody>
          <a:bodyPr wrap="square" lIns="0" tIns="0" rIns="0" bIns="0" rtlCol="0" anchor="ctr"/>
          <a:lstStyle/>
          <a:p>
            <a:pPr marL="0" indent="0">
              <a:lnSpc>
                <a:spcPct val="125000"/>
              </a:lnSpc>
              <a:buNone/>
            </a:pPr>
            <a:r>
              <a:rPr lang="en-US" sz="1150" dirty="0">
                <a:solidFill>
                  <a:srgbClr val="D6EFEC"/>
                </a:solidFill>
                <a:latin typeface="Calibri" pitchFamily="34" charset="0"/>
                <a:ea typeface="Calibri" pitchFamily="34" charset="-122"/>
                <a:cs typeface="Calibri" pitchFamily="34" charset="-120"/>
              </a:rPr>
              <a:t>Take two equal-valued elements, tagged to track their original order:</a:t>
            </a:r>
            <a:endParaRPr lang="en-US" sz="1150" dirty="0"/>
          </a:p>
        </p:txBody>
      </p:sp>
      <p:sp>
        <p:nvSpPr>
          <p:cNvPr id="27" name="Shape 25"/>
          <p:cNvSpPr/>
          <p:nvPr/>
        </p:nvSpPr>
        <p:spPr>
          <a:xfrm>
            <a:off x="6492240" y="2423160"/>
            <a:ext cx="548640" cy="548640"/>
          </a:xfrm>
          <a:prstGeom prst="roundRect">
            <a:avLst>
              <a:gd name="adj" fmla="val 13333"/>
            </a:avLst>
          </a:prstGeom>
          <a:solidFill>
            <a:srgbClr val="FFFFFF"/>
          </a:solidFill>
          <a:ln w="22225">
            <a:solidFill>
              <a:srgbClr val="14918C"/>
            </a:solidFill>
            <a:prstDash val="solid"/>
          </a:ln>
        </p:spPr>
      </p:sp>
      <p:sp>
        <p:nvSpPr>
          <p:cNvPr id="28" name="Text 26"/>
          <p:cNvSpPr txBox="1"/>
          <p:nvPr/>
        </p:nvSpPr>
        <p:spPr>
          <a:xfrm>
            <a:off x="6492240" y="2423160"/>
            <a:ext cx="548640" cy="548640"/>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5a</a:t>
            </a:r>
            <a:endParaRPr lang="en-US" sz="1200" dirty="0"/>
          </a:p>
        </p:txBody>
      </p:sp>
      <p:sp>
        <p:nvSpPr>
          <p:cNvPr id="29" name="Shape 27"/>
          <p:cNvSpPr/>
          <p:nvPr/>
        </p:nvSpPr>
        <p:spPr>
          <a:xfrm>
            <a:off x="7150608" y="2423160"/>
            <a:ext cx="548640" cy="548640"/>
          </a:xfrm>
          <a:prstGeom prst="roundRect">
            <a:avLst>
              <a:gd name="adj" fmla="val 13333"/>
            </a:avLst>
          </a:prstGeom>
          <a:solidFill>
            <a:srgbClr val="FFFFFF"/>
          </a:solidFill>
          <a:ln w="22225">
            <a:solidFill>
              <a:srgbClr val="14918C"/>
            </a:solidFill>
            <a:prstDash val="solid"/>
          </a:ln>
        </p:spPr>
      </p:sp>
      <p:sp>
        <p:nvSpPr>
          <p:cNvPr id="30" name="Text 28"/>
          <p:cNvSpPr txBox="1"/>
          <p:nvPr/>
        </p:nvSpPr>
        <p:spPr>
          <a:xfrm>
            <a:off x="7150608" y="2423160"/>
            <a:ext cx="548640" cy="548640"/>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3</a:t>
            </a:r>
            <a:endParaRPr lang="en-US" sz="1200" dirty="0"/>
          </a:p>
        </p:txBody>
      </p:sp>
      <p:sp>
        <p:nvSpPr>
          <p:cNvPr id="31" name="Shape 29"/>
          <p:cNvSpPr/>
          <p:nvPr/>
        </p:nvSpPr>
        <p:spPr>
          <a:xfrm>
            <a:off x="7808976" y="2423160"/>
            <a:ext cx="548640" cy="548640"/>
          </a:xfrm>
          <a:prstGeom prst="roundRect">
            <a:avLst>
              <a:gd name="adj" fmla="val 13333"/>
            </a:avLst>
          </a:prstGeom>
          <a:solidFill>
            <a:srgbClr val="FFFFFF"/>
          </a:solidFill>
          <a:ln w="22225">
            <a:solidFill>
              <a:srgbClr val="14918C"/>
            </a:solidFill>
            <a:prstDash val="solid"/>
          </a:ln>
        </p:spPr>
      </p:sp>
      <p:sp>
        <p:nvSpPr>
          <p:cNvPr id="32" name="Text 30"/>
          <p:cNvSpPr txBox="1"/>
          <p:nvPr/>
        </p:nvSpPr>
        <p:spPr>
          <a:xfrm>
            <a:off x="7808976" y="2423160"/>
            <a:ext cx="548640" cy="548640"/>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5b</a:t>
            </a:r>
            <a:endParaRPr lang="en-US" sz="1200" dirty="0"/>
          </a:p>
        </p:txBody>
      </p:sp>
      <p:sp>
        <p:nvSpPr>
          <p:cNvPr id="33" name="Shape 31"/>
          <p:cNvSpPr/>
          <p:nvPr/>
        </p:nvSpPr>
        <p:spPr>
          <a:xfrm>
            <a:off x="8467344" y="2423160"/>
            <a:ext cx="548640" cy="548640"/>
          </a:xfrm>
          <a:prstGeom prst="roundRect">
            <a:avLst>
              <a:gd name="adj" fmla="val 13333"/>
            </a:avLst>
          </a:prstGeom>
          <a:solidFill>
            <a:srgbClr val="FFFFFF"/>
          </a:solidFill>
          <a:ln w="22225">
            <a:solidFill>
              <a:srgbClr val="14918C"/>
            </a:solidFill>
            <a:prstDash val="solid"/>
          </a:ln>
        </p:spPr>
      </p:sp>
      <p:sp>
        <p:nvSpPr>
          <p:cNvPr id="34" name="Text 32"/>
          <p:cNvSpPr txBox="1"/>
          <p:nvPr/>
        </p:nvSpPr>
        <p:spPr>
          <a:xfrm>
            <a:off x="8467344" y="2423160"/>
            <a:ext cx="548640" cy="548640"/>
          </a:xfrm>
          <a:prstGeom prst="rect">
            <a:avLst/>
          </a:prstGeom>
          <a:noFill/>
          <a:ln/>
        </p:spPr>
        <p:txBody>
          <a:bodyPr wrap="square" lIns="0" tIns="0" rIns="0" bIns="0" rtlCol="0" anchor="ctr"/>
          <a:lstStyle/>
          <a:p>
            <a:pPr marL="0" indent="0" algn="ctr">
              <a:buNone/>
            </a:pPr>
            <a:r>
              <a:rPr lang="en-US" sz="1200" b="1" dirty="0">
                <a:solidFill>
                  <a:srgbClr val="1B2233"/>
                </a:solidFill>
                <a:latin typeface="Courier New" pitchFamily="34" charset="0"/>
                <a:ea typeface="Courier New" pitchFamily="34" charset="-122"/>
                <a:cs typeface="Courier New" pitchFamily="34" charset="-120"/>
              </a:rPr>
              <a:t>4</a:t>
            </a:r>
            <a:endParaRPr lang="en-US" sz="1200" dirty="0"/>
          </a:p>
        </p:txBody>
      </p:sp>
      <p:sp>
        <p:nvSpPr>
          <p:cNvPr id="35" name="Text 33"/>
          <p:cNvSpPr txBox="1"/>
          <p:nvPr/>
        </p:nvSpPr>
        <p:spPr>
          <a:xfrm>
            <a:off x="6492240" y="2999232"/>
            <a:ext cx="4572000" cy="228600"/>
          </a:xfrm>
          <a:prstGeom prst="rect">
            <a:avLst/>
          </a:prstGeom>
          <a:noFill/>
          <a:ln/>
        </p:spPr>
        <p:txBody>
          <a:bodyPr wrap="square" lIns="0" tIns="0" rIns="0" bIns="0" rtlCol="0" anchor="ctr"/>
          <a:lstStyle/>
          <a:p>
            <a:pPr marL="0" indent="0">
              <a:buNone/>
            </a:pPr>
            <a:r>
              <a:rPr lang="en-US" sz="1000" dirty="0">
                <a:solidFill>
                  <a:srgbClr val="9FD8D0"/>
                </a:solidFill>
                <a:latin typeface="Courier New" pitchFamily="34" charset="0"/>
                <a:ea typeface="Courier New" pitchFamily="34" charset="-122"/>
                <a:cs typeface="Courier New" pitchFamily="34" charset="-120"/>
              </a:rPr>
              <a:t>pivot = A[3] = 4</a:t>
            </a:r>
            <a:endParaRPr lang="en-US" sz="1000" dirty="0"/>
          </a:p>
        </p:txBody>
      </p:sp>
      <p:sp>
        <p:nvSpPr>
          <p:cNvPr id="36" name="Text 34"/>
          <p:cNvSpPr txBox="1"/>
          <p:nvPr/>
        </p:nvSpPr>
        <p:spPr>
          <a:xfrm>
            <a:off x="6492240" y="3337560"/>
            <a:ext cx="4846320" cy="1005840"/>
          </a:xfrm>
          <a:prstGeom prst="rect">
            <a:avLst/>
          </a:prstGeom>
          <a:noFill/>
          <a:ln/>
        </p:spPr>
        <p:txBody>
          <a:bodyPr wrap="square" lIns="0" tIns="0" rIns="0" bIns="0" rtlCol="0" anchor="ctr"/>
          <a:lstStyle/>
          <a:p>
            <a:pPr marL="0" indent="0">
              <a:lnSpc>
                <a:spcPct val="130000"/>
              </a:lnSpc>
              <a:buNone/>
            </a:pPr>
            <a:r>
              <a:rPr lang="en-US" sz="1150" dirty="0">
                <a:solidFill>
                  <a:srgbClr val="D6EFEC"/>
                </a:solidFill>
                <a:latin typeface="Calibri" pitchFamily="34" charset="0"/>
                <a:ea typeface="Calibri" pitchFamily="34" charset="-122"/>
                <a:cs typeface="Calibri" pitchFamily="34" charset="-120"/>
              </a:rPr>
              <a:t>Partitioning around pivot=4 moves 3 before both 5's, but the swap mechanics can easily place 5b before 5a in the process — their original relative order (5a before 5b) is not guaranteed to survive.</a:t>
            </a:r>
            <a:endParaRPr lang="en-US" sz="1150" dirty="0"/>
          </a:p>
        </p:txBody>
      </p:sp>
      <p:sp>
        <p:nvSpPr>
          <p:cNvPr id="37" name="Text 35"/>
          <p:cNvSpPr txBox="1"/>
          <p:nvPr/>
        </p:nvSpPr>
        <p:spPr>
          <a:xfrm>
            <a:off x="6492240" y="4526280"/>
            <a:ext cx="4846320" cy="548640"/>
          </a:xfrm>
          <a:prstGeom prst="rect">
            <a:avLst/>
          </a:prstGeom>
          <a:noFill/>
          <a:ln/>
        </p:spPr>
        <p:txBody>
          <a:bodyPr wrap="square" lIns="0" tIns="0" rIns="0" bIns="0" rtlCol="0" anchor="ctr"/>
          <a:lstStyle/>
          <a:p>
            <a:pPr marL="0" indent="0">
              <a:lnSpc>
                <a:spcPct val="125000"/>
              </a:lnSpc>
              <a:buNone/>
            </a:pPr>
            <a:r>
              <a:rPr lang="en-US" sz="1100" i="1" dirty="0">
                <a:solidFill>
                  <a:srgbClr val="9FD8D0"/>
                </a:solidFill>
                <a:latin typeface="Calibri" pitchFamily="34" charset="0"/>
                <a:ea typeface="Calibri" pitchFamily="34" charset="-122"/>
                <a:cs typeface="Calibri" pitchFamily="34" charset="-120"/>
              </a:rPr>
              <a:t>Contrast with Merge Sort's MERGE, whose L[i] ≤ R[j] tie-break rule guarantees stability by design.</a:t>
            </a:r>
            <a:endParaRPr lang="en-US" sz="1100" dirty="0"/>
          </a:p>
        </p:txBody>
      </p:sp>
      <p:sp>
        <p:nvSpPr>
          <p:cNvPr id="38" name="Text 36"/>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39" name="Text 37"/>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COMPARATIVE ANALYSIS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Quick Sort vs Other Sorting Algorithms</a:t>
            </a:r>
            <a:endParaRPr lang="en-US" sz="3000" dirty="0"/>
          </a:p>
        </p:txBody>
      </p:sp>
      <p:sp>
        <p:nvSpPr>
          <p:cNvPr id="6" name="Shape 4"/>
          <p:cNvSpPr/>
          <p:nvPr/>
        </p:nvSpPr>
        <p:spPr>
          <a:xfrm>
            <a:off x="548640" y="1508760"/>
            <a:ext cx="11064240" cy="457200"/>
          </a:xfrm>
          <a:prstGeom prst="roundRect">
            <a:avLst>
              <a:gd name="adj" fmla="val 20000"/>
            </a:avLst>
          </a:prstGeom>
          <a:solidFill>
            <a:srgbClr val="0F6B64"/>
          </a:solidFill>
          <a:ln w="12700">
            <a:solidFill>
              <a:srgbClr val="0F6B64"/>
            </a:solidFill>
            <a:prstDash val="solid"/>
          </a:ln>
        </p:spPr>
      </p:sp>
      <p:sp>
        <p:nvSpPr>
          <p:cNvPr id="7" name="Text 5"/>
          <p:cNvSpPr txBox="1"/>
          <p:nvPr/>
        </p:nvSpPr>
        <p:spPr>
          <a:xfrm>
            <a:off x="548640" y="1508760"/>
            <a:ext cx="24688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Algorithm</a:t>
            </a:r>
            <a:endParaRPr lang="en-US" sz="1200" dirty="0"/>
          </a:p>
        </p:txBody>
      </p:sp>
      <p:sp>
        <p:nvSpPr>
          <p:cNvPr id="8" name="Text 6"/>
          <p:cNvSpPr txBox="1"/>
          <p:nvPr/>
        </p:nvSpPr>
        <p:spPr>
          <a:xfrm>
            <a:off x="3017520" y="150876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Best</a:t>
            </a:r>
            <a:endParaRPr lang="en-US" sz="1200" dirty="0"/>
          </a:p>
        </p:txBody>
      </p:sp>
      <p:sp>
        <p:nvSpPr>
          <p:cNvPr id="9" name="Text 7"/>
          <p:cNvSpPr txBox="1"/>
          <p:nvPr/>
        </p:nvSpPr>
        <p:spPr>
          <a:xfrm>
            <a:off x="4709160" y="150876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Average</a:t>
            </a:r>
            <a:endParaRPr lang="en-US" sz="1200" dirty="0"/>
          </a:p>
        </p:txBody>
      </p:sp>
      <p:sp>
        <p:nvSpPr>
          <p:cNvPr id="10" name="Text 8"/>
          <p:cNvSpPr txBox="1"/>
          <p:nvPr/>
        </p:nvSpPr>
        <p:spPr>
          <a:xfrm>
            <a:off x="6400800" y="150876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Worst</a:t>
            </a:r>
            <a:endParaRPr lang="en-US" sz="1200" dirty="0"/>
          </a:p>
        </p:txBody>
      </p:sp>
      <p:sp>
        <p:nvSpPr>
          <p:cNvPr id="11" name="Text 9"/>
          <p:cNvSpPr txBox="1"/>
          <p:nvPr/>
        </p:nvSpPr>
        <p:spPr>
          <a:xfrm>
            <a:off x="8092440" y="1508760"/>
            <a:ext cx="14630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Stable</a:t>
            </a:r>
            <a:endParaRPr lang="en-US" sz="1200" dirty="0"/>
          </a:p>
        </p:txBody>
      </p:sp>
      <p:sp>
        <p:nvSpPr>
          <p:cNvPr id="12" name="Text 10"/>
          <p:cNvSpPr txBox="1"/>
          <p:nvPr/>
        </p:nvSpPr>
        <p:spPr>
          <a:xfrm>
            <a:off x="9555480" y="1508760"/>
            <a:ext cx="20574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Extra Space</a:t>
            </a:r>
            <a:endParaRPr lang="en-US" sz="1200" dirty="0"/>
          </a:p>
        </p:txBody>
      </p:sp>
      <p:sp>
        <p:nvSpPr>
          <p:cNvPr id="13" name="Shape 11"/>
          <p:cNvSpPr/>
          <p:nvPr/>
        </p:nvSpPr>
        <p:spPr>
          <a:xfrm>
            <a:off x="548640" y="1965960"/>
            <a:ext cx="11064240" cy="530352"/>
          </a:xfrm>
          <a:prstGeom prst="roundRect">
            <a:avLst>
              <a:gd name="adj" fmla="val 17241"/>
            </a:avLst>
          </a:prstGeom>
          <a:solidFill>
            <a:srgbClr val="E8F5F3"/>
          </a:solidFill>
          <a:ln w="12700">
            <a:solidFill>
              <a:srgbClr val="BFE3DE"/>
            </a:solidFill>
            <a:prstDash val="solid"/>
          </a:ln>
        </p:spPr>
      </p:sp>
      <p:sp>
        <p:nvSpPr>
          <p:cNvPr id="14" name="Text 12"/>
          <p:cNvSpPr txBox="1"/>
          <p:nvPr/>
        </p:nvSpPr>
        <p:spPr>
          <a:xfrm>
            <a:off x="548640" y="1965960"/>
            <a:ext cx="2468880" cy="530352"/>
          </a:xfrm>
          <a:prstGeom prst="rect">
            <a:avLst/>
          </a:prstGeom>
          <a:noFill/>
          <a:ln/>
        </p:spPr>
        <p:txBody>
          <a:bodyPr wrap="square" lIns="0" tIns="0" rIns="0" bIns="0" rtlCol="0" anchor="ctr"/>
          <a:lstStyle/>
          <a:p>
            <a:pPr marL="0" indent="0" algn="ctr">
              <a:buNone/>
            </a:pPr>
            <a:r>
              <a:rPr lang="en-US" sz="1200" b="1" dirty="0">
                <a:solidFill>
                  <a:srgbClr val="1B2233"/>
                </a:solidFill>
                <a:latin typeface="Calibri" pitchFamily="34" charset="0"/>
                <a:ea typeface="Calibri" pitchFamily="34" charset="-122"/>
                <a:cs typeface="Calibri" pitchFamily="34" charset="-120"/>
              </a:rPr>
              <a:t>Bubble Sort</a:t>
            </a:r>
            <a:endParaRPr lang="en-US" sz="1200" dirty="0"/>
          </a:p>
        </p:txBody>
      </p:sp>
      <p:sp>
        <p:nvSpPr>
          <p:cNvPr id="15" name="Text 13"/>
          <p:cNvSpPr txBox="1"/>
          <p:nvPr/>
        </p:nvSpPr>
        <p:spPr>
          <a:xfrm>
            <a:off x="3017520" y="1965960"/>
            <a:ext cx="16916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a:t>
            </a:r>
            <a:endParaRPr lang="en-US" sz="1200" dirty="0"/>
          </a:p>
        </p:txBody>
      </p:sp>
      <p:sp>
        <p:nvSpPr>
          <p:cNvPr id="16" name="Text 14"/>
          <p:cNvSpPr txBox="1"/>
          <p:nvPr/>
        </p:nvSpPr>
        <p:spPr>
          <a:xfrm>
            <a:off x="4709160" y="1965960"/>
            <a:ext cx="16916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O(n²)</a:t>
            </a:r>
            <a:endParaRPr lang="en-US" sz="1200" dirty="0"/>
          </a:p>
        </p:txBody>
      </p:sp>
      <p:sp>
        <p:nvSpPr>
          <p:cNvPr id="17" name="Text 15"/>
          <p:cNvSpPr txBox="1"/>
          <p:nvPr/>
        </p:nvSpPr>
        <p:spPr>
          <a:xfrm>
            <a:off x="6400800" y="1965960"/>
            <a:ext cx="16916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O(n²)</a:t>
            </a:r>
            <a:endParaRPr lang="en-US" sz="1200" dirty="0"/>
          </a:p>
        </p:txBody>
      </p:sp>
      <p:sp>
        <p:nvSpPr>
          <p:cNvPr id="18" name="Text 16"/>
          <p:cNvSpPr txBox="1"/>
          <p:nvPr/>
        </p:nvSpPr>
        <p:spPr>
          <a:xfrm>
            <a:off x="8092440" y="1965960"/>
            <a:ext cx="14630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Yes</a:t>
            </a:r>
            <a:endParaRPr lang="en-US" sz="1200" dirty="0"/>
          </a:p>
        </p:txBody>
      </p:sp>
      <p:sp>
        <p:nvSpPr>
          <p:cNvPr id="19" name="Text 17"/>
          <p:cNvSpPr txBox="1"/>
          <p:nvPr/>
        </p:nvSpPr>
        <p:spPr>
          <a:xfrm>
            <a:off x="9555480" y="1965960"/>
            <a:ext cx="205740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O(1)</a:t>
            </a:r>
            <a:endParaRPr lang="en-US" sz="1200" dirty="0"/>
          </a:p>
        </p:txBody>
      </p:sp>
      <p:sp>
        <p:nvSpPr>
          <p:cNvPr id="20" name="Shape 18"/>
          <p:cNvSpPr/>
          <p:nvPr/>
        </p:nvSpPr>
        <p:spPr>
          <a:xfrm>
            <a:off x="548640" y="2496312"/>
            <a:ext cx="11064240" cy="530352"/>
          </a:xfrm>
          <a:prstGeom prst="roundRect">
            <a:avLst>
              <a:gd name="adj" fmla="val 17241"/>
            </a:avLst>
          </a:prstGeom>
          <a:solidFill>
            <a:srgbClr val="E8F5F3"/>
          </a:solidFill>
          <a:ln w="12700">
            <a:solidFill>
              <a:srgbClr val="BFE3DE"/>
            </a:solidFill>
            <a:prstDash val="solid"/>
          </a:ln>
        </p:spPr>
      </p:sp>
      <p:sp>
        <p:nvSpPr>
          <p:cNvPr id="21" name="Text 19"/>
          <p:cNvSpPr txBox="1"/>
          <p:nvPr/>
        </p:nvSpPr>
        <p:spPr>
          <a:xfrm>
            <a:off x="548640" y="2496312"/>
            <a:ext cx="2468880" cy="530352"/>
          </a:xfrm>
          <a:prstGeom prst="rect">
            <a:avLst/>
          </a:prstGeom>
          <a:noFill/>
          <a:ln/>
        </p:spPr>
        <p:txBody>
          <a:bodyPr wrap="square" lIns="0" tIns="0" rIns="0" bIns="0" rtlCol="0" anchor="ctr"/>
          <a:lstStyle/>
          <a:p>
            <a:pPr marL="0" indent="0" algn="ctr">
              <a:buNone/>
            </a:pPr>
            <a:r>
              <a:rPr lang="en-US" sz="1200" b="1" dirty="0">
                <a:solidFill>
                  <a:srgbClr val="1B2233"/>
                </a:solidFill>
                <a:latin typeface="Calibri" pitchFamily="34" charset="0"/>
                <a:ea typeface="Calibri" pitchFamily="34" charset="-122"/>
                <a:cs typeface="Calibri" pitchFamily="34" charset="-120"/>
              </a:rPr>
              <a:t>Insertion Sort</a:t>
            </a:r>
            <a:endParaRPr lang="en-US" sz="1200" dirty="0"/>
          </a:p>
        </p:txBody>
      </p:sp>
      <p:sp>
        <p:nvSpPr>
          <p:cNvPr id="22" name="Text 20"/>
          <p:cNvSpPr txBox="1"/>
          <p:nvPr/>
        </p:nvSpPr>
        <p:spPr>
          <a:xfrm>
            <a:off x="3017520" y="2496312"/>
            <a:ext cx="16916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a:t>
            </a:r>
            <a:endParaRPr lang="en-US" sz="1200" dirty="0"/>
          </a:p>
        </p:txBody>
      </p:sp>
      <p:sp>
        <p:nvSpPr>
          <p:cNvPr id="23" name="Text 21"/>
          <p:cNvSpPr txBox="1"/>
          <p:nvPr/>
        </p:nvSpPr>
        <p:spPr>
          <a:xfrm>
            <a:off x="4709160" y="2496312"/>
            <a:ext cx="16916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O(n²)</a:t>
            </a:r>
            <a:endParaRPr lang="en-US" sz="1200" dirty="0"/>
          </a:p>
        </p:txBody>
      </p:sp>
      <p:sp>
        <p:nvSpPr>
          <p:cNvPr id="24" name="Text 22"/>
          <p:cNvSpPr txBox="1"/>
          <p:nvPr/>
        </p:nvSpPr>
        <p:spPr>
          <a:xfrm>
            <a:off x="6400800" y="2496312"/>
            <a:ext cx="16916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O(n²)</a:t>
            </a:r>
            <a:endParaRPr lang="en-US" sz="1200" dirty="0"/>
          </a:p>
        </p:txBody>
      </p:sp>
      <p:sp>
        <p:nvSpPr>
          <p:cNvPr id="25" name="Text 23"/>
          <p:cNvSpPr txBox="1"/>
          <p:nvPr/>
        </p:nvSpPr>
        <p:spPr>
          <a:xfrm>
            <a:off x="8092440" y="2496312"/>
            <a:ext cx="14630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Yes</a:t>
            </a:r>
            <a:endParaRPr lang="en-US" sz="1200" dirty="0"/>
          </a:p>
        </p:txBody>
      </p:sp>
      <p:sp>
        <p:nvSpPr>
          <p:cNvPr id="26" name="Text 24"/>
          <p:cNvSpPr txBox="1"/>
          <p:nvPr/>
        </p:nvSpPr>
        <p:spPr>
          <a:xfrm>
            <a:off x="9555480" y="2496312"/>
            <a:ext cx="205740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O(1)</a:t>
            </a:r>
            <a:endParaRPr lang="en-US" sz="1200" dirty="0"/>
          </a:p>
        </p:txBody>
      </p:sp>
      <p:sp>
        <p:nvSpPr>
          <p:cNvPr id="27" name="Shape 25"/>
          <p:cNvSpPr/>
          <p:nvPr/>
        </p:nvSpPr>
        <p:spPr>
          <a:xfrm>
            <a:off x="548640" y="3026664"/>
            <a:ext cx="11064240" cy="530352"/>
          </a:xfrm>
          <a:prstGeom prst="roundRect">
            <a:avLst>
              <a:gd name="adj" fmla="val 17241"/>
            </a:avLst>
          </a:prstGeom>
          <a:solidFill>
            <a:srgbClr val="E8F5F3"/>
          </a:solidFill>
          <a:ln w="12700">
            <a:solidFill>
              <a:srgbClr val="BFE3DE"/>
            </a:solidFill>
            <a:prstDash val="solid"/>
          </a:ln>
        </p:spPr>
      </p:sp>
      <p:sp>
        <p:nvSpPr>
          <p:cNvPr id="28" name="Text 26"/>
          <p:cNvSpPr txBox="1"/>
          <p:nvPr/>
        </p:nvSpPr>
        <p:spPr>
          <a:xfrm>
            <a:off x="548640" y="3026664"/>
            <a:ext cx="2468880" cy="530352"/>
          </a:xfrm>
          <a:prstGeom prst="rect">
            <a:avLst/>
          </a:prstGeom>
          <a:noFill/>
          <a:ln/>
        </p:spPr>
        <p:txBody>
          <a:bodyPr wrap="square" lIns="0" tIns="0" rIns="0" bIns="0" rtlCol="0" anchor="ctr"/>
          <a:lstStyle/>
          <a:p>
            <a:pPr marL="0" indent="0" algn="ctr">
              <a:buNone/>
            </a:pPr>
            <a:r>
              <a:rPr lang="en-US" sz="1200" b="1" dirty="0">
                <a:solidFill>
                  <a:srgbClr val="1B2233"/>
                </a:solidFill>
                <a:latin typeface="Calibri" pitchFamily="34" charset="0"/>
                <a:ea typeface="Calibri" pitchFamily="34" charset="-122"/>
                <a:cs typeface="Calibri" pitchFamily="34" charset="-120"/>
              </a:rPr>
              <a:t>Selection Sort</a:t>
            </a:r>
            <a:endParaRPr lang="en-US" sz="1200" dirty="0"/>
          </a:p>
        </p:txBody>
      </p:sp>
      <p:sp>
        <p:nvSpPr>
          <p:cNvPr id="29" name="Text 27"/>
          <p:cNvSpPr txBox="1"/>
          <p:nvPr/>
        </p:nvSpPr>
        <p:spPr>
          <a:xfrm>
            <a:off x="3017520" y="3026664"/>
            <a:ext cx="16916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O(n²)</a:t>
            </a:r>
            <a:endParaRPr lang="en-US" sz="1200" dirty="0"/>
          </a:p>
        </p:txBody>
      </p:sp>
      <p:sp>
        <p:nvSpPr>
          <p:cNvPr id="30" name="Text 28"/>
          <p:cNvSpPr txBox="1"/>
          <p:nvPr/>
        </p:nvSpPr>
        <p:spPr>
          <a:xfrm>
            <a:off x="4709160" y="3026664"/>
            <a:ext cx="16916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O(n²)</a:t>
            </a:r>
            <a:endParaRPr lang="en-US" sz="1200" dirty="0"/>
          </a:p>
        </p:txBody>
      </p:sp>
      <p:sp>
        <p:nvSpPr>
          <p:cNvPr id="31" name="Text 29"/>
          <p:cNvSpPr txBox="1"/>
          <p:nvPr/>
        </p:nvSpPr>
        <p:spPr>
          <a:xfrm>
            <a:off x="6400800" y="3026664"/>
            <a:ext cx="16916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O(n²)</a:t>
            </a:r>
            <a:endParaRPr lang="en-US" sz="1200" dirty="0"/>
          </a:p>
        </p:txBody>
      </p:sp>
      <p:sp>
        <p:nvSpPr>
          <p:cNvPr id="32" name="Text 30"/>
          <p:cNvSpPr txBox="1"/>
          <p:nvPr/>
        </p:nvSpPr>
        <p:spPr>
          <a:xfrm>
            <a:off x="8092440" y="3026664"/>
            <a:ext cx="14630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No</a:t>
            </a:r>
            <a:endParaRPr lang="en-US" sz="1200" dirty="0"/>
          </a:p>
        </p:txBody>
      </p:sp>
      <p:sp>
        <p:nvSpPr>
          <p:cNvPr id="33" name="Text 31"/>
          <p:cNvSpPr txBox="1"/>
          <p:nvPr/>
        </p:nvSpPr>
        <p:spPr>
          <a:xfrm>
            <a:off x="9555480" y="3026664"/>
            <a:ext cx="205740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O(1)</a:t>
            </a:r>
            <a:endParaRPr lang="en-US" sz="1200" dirty="0"/>
          </a:p>
        </p:txBody>
      </p:sp>
      <p:sp>
        <p:nvSpPr>
          <p:cNvPr id="34" name="Shape 32"/>
          <p:cNvSpPr/>
          <p:nvPr/>
        </p:nvSpPr>
        <p:spPr>
          <a:xfrm>
            <a:off x="548640" y="3557016"/>
            <a:ext cx="11064240" cy="530352"/>
          </a:xfrm>
          <a:prstGeom prst="roundRect">
            <a:avLst>
              <a:gd name="adj" fmla="val 17241"/>
            </a:avLst>
          </a:prstGeom>
          <a:solidFill>
            <a:srgbClr val="E8F5F3"/>
          </a:solidFill>
          <a:ln w="12700">
            <a:solidFill>
              <a:srgbClr val="BFE3DE"/>
            </a:solidFill>
            <a:prstDash val="solid"/>
          </a:ln>
        </p:spPr>
      </p:sp>
      <p:sp>
        <p:nvSpPr>
          <p:cNvPr id="35" name="Text 33"/>
          <p:cNvSpPr txBox="1"/>
          <p:nvPr/>
        </p:nvSpPr>
        <p:spPr>
          <a:xfrm>
            <a:off x="548640" y="3557016"/>
            <a:ext cx="2468880" cy="530352"/>
          </a:xfrm>
          <a:prstGeom prst="rect">
            <a:avLst/>
          </a:prstGeom>
          <a:noFill/>
          <a:ln/>
        </p:spPr>
        <p:txBody>
          <a:bodyPr wrap="square" lIns="0" tIns="0" rIns="0" bIns="0" rtlCol="0" anchor="ctr"/>
          <a:lstStyle/>
          <a:p>
            <a:pPr marL="0" indent="0" algn="ctr">
              <a:buNone/>
            </a:pPr>
            <a:r>
              <a:rPr lang="en-US" sz="1200" b="1" dirty="0">
                <a:solidFill>
                  <a:srgbClr val="1B2233"/>
                </a:solidFill>
                <a:latin typeface="Calibri" pitchFamily="34" charset="0"/>
                <a:ea typeface="Calibri" pitchFamily="34" charset="-122"/>
                <a:cs typeface="Calibri" pitchFamily="34" charset="-120"/>
              </a:rPr>
              <a:t>Merge Sort</a:t>
            </a:r>
            <a:endParaRPr lang="en-US" sz="1200" dirty="0"/>
          </a:p>
        </p:txBody>
      </p:sp>
      <p:sp>
        <p:nvSpPr>
          <p:cNvPr id="36" name="Text 34"/>
          <p:cNvSpPr txBox="1"/>
          <p:nvPr/>
        </p:nvSpPr>
        <p:spPr>
          <a:xfrm>
            <a:off x="3017520" y="3557016"/>
            <a:ext cx="16916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 log n)</a:t>
            </a:r>
            <a:endParaRPr lang="en-US" sz="1200" dirty="0"/>
          </a:p>
        </p:txBody>
      </p:sp>
      <p:sp>
        <p:nvSpPr>
          <p:cNvPr id="37" name="Text 35"/>
          <p:cNvSpPr txBox="1"/>
          <p:nvPr/>
        </p:nvSpPr>
        <p:spPr>
          <a:xfrm>
            <a:off x="4709160" y="3557016"/>
            <a:ext cx="16916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 log n)</a:t>
            </a:r>
            <a:endParaRPr lang="en-US" sz="1200" dirty="0"/>
          </a:p>
        </p:txBody>
      </p:sp>
      <p:sp>
        <p:nvSpPr>
          <p:cNvPr id="38" name="Text 36"/>
          <p:cNvSpPr txBox="1"/>
          <p:nvPr/>
        </p:nvSpPr>
        <p:spPr>
          <a:xfrm>
            <a:off x="6400800" y="3557016"/>
            <a:ext cx="16916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 log n)</a:t>
            </a:r>
            <a:endParaRPr lang="en-US" sz="1200" dirty="0"/>
          </a:p>
        </p:txBody>
      </p:sp>
      <p:sp>
        <p:nvSpPr>
          <p:cNvPr id="39" name="Text 37"/>
          <p:cNvSpPr txBox="1"/>
          <p:nvPr/>
        </p:nvSpPr>
        <p:spPr>
          <a:xfrm>
            <a:off x="8092440" y="3557016"/>
            <a:ext cx="146304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Yes</a:t>
            </a:r>
            <a:endParaRPr lang="en-US" sz="1200" dirty="0"/>
          </a:p>
        </p:txBody>
      </p:sp>
      <p:sp>
        <p:nvSpPr>
          <p:cNvPr id="40" name="Text 38"/>
          <p:cNvSpPr txBox="1"/>
          <p:nvPr/>
        </p:nvSpPr>
        <p:spPr>
          <a:xfrm>
            <a:off x="9555480" y="3557016"/>
            <a:ext cx="2057400" cy="530352"/>
          </a:xfrm>
          <a:prstGeom prst="rect">
            <a:avLst/>
          </a:prstGeom>
          <a:noFill/>
          <a:ln/>
        </p:spPr>
        <p:txBody>
          <a:bodyPr wrap="square" lIns="0" tIns="0" rIns="0" bIns="0" rtlCol="0" anchor="ctr"/>
          <a:lstStyle/>
          <a:p>
            <a:pPr marL="0" indent="0" algn="ctr">
              <a:buNone/>
            </a:pPr>
            <a:r>
              <a:rPr lang="en-US" sz="1200" dirty="0">
                <a:solidFill>
                  <a:srgbClr val="1B2233"/>
                </a:solidFill>
                <a:latin typeface="Courier New" pitchFamily="34" charset="0"/>
                <a:ea typeface="Courier New" pitchFamily="34" charset="-122"/>
                <a:cs typeface="Courier New" pitchFamily="34" charset="-120"/>
              </a:rPr>
              <a:t>O(n)</a:t>
            </a:r>
            <a:endParaRPr lang="en-US" sz="1200" dirty="0"/>
          </a:p>
        </p:txBody>
      </p:sp>
      <p:sp>
        <p:nvSpPr>
          <p:cNvPr id="41" name="Shape 39"/>
          <p:cNvSpPr/>
          <p:nvPr/>
        </p:nvSpPr>
        <p:spPr>
          <a:xfrm>
            <a:off x="548640" y="4087368"/>
            <a:ext cx="11064240" cy="530352"/>
          </a:xfrm>
          <a:prstGeom prst="roundRect">
            <a:avLst>
              <a:gd name="adj" fmla="val 17241"/>
            </a:avLst>
          </a:prstGeom>
          <a:solidFill>
            <a:srgbClr val="FCEFE7"/>
          </a:solidFill>
          <a:ln w="12700">
            <a:solidFill>
              <a:srgbClr val="F0C29A"/>
            </a:solidFill>
            <a:prstDash val="solid"/>
          </a:ln>
        </p:spPr>
      </p:sp>
      <p:sp>
        <p:nvSpPr>
          <p:cNvPr id="42" name="Text 40"/>
          <p:cNvSpPr txBox="1"/>
          <p:nvPr/>
        </p:nvSpPr>
        <p:spPr>
          <a:xfrm>
            <a:off x="548640" y="4087368"/>
            <a:ext cx="2468880" cy="530352"/>
          </a:xfrm>
          <a:prstGeom prst="rect">
            <a:avLst/>
          </a:prstGeom>
          <a:noFill/>
          <a:ln/>
        </p:spPr>
        <p:txBody>
          <a:bodyPr wrap="square" lIns="0" tIns="0" rIns="0" bIns="0" rtlCol="0" anchor="ctr"/>
          <a:lstStyle/>
          <a:p>
            <a:pPr marL="0" indent="0" algn="ctr">
              <a:buNone/>
            </a:pPr>
            <a:r>
              <a:rPr lang="en-US" sz="1200" b="1" dirty="0">
                <a:solidFill>
                  <a:srgbClr val="D9480F"/>
                </a:solidFill>
                <a:latin typeface="Calibri" pitchFamily="34" charset="0"/>
                <a:ea typeface="Calibri" pitchFamily="34" charset="-122"/>
                <a:cs typeface="Calibri" pitchFamily="34" charset="-120"/>
              </a:rPr>
              <a:t>Quick Sort</a:t>
            </a:r>
            <a:endParaRPr lang="en-US" sz="1200" dirty="0"/>
          </a:p>
        </p:txBody>
      </p:sp>
      <p:sp>
        <p:nvSpPr>
          <p:cNvPr id="43" name="Text 41"/>
          <p:cNvSpPr txBox="1"/>
          <p:nvPr/>
        </p:nvSpPr>
        <p:spPr>
          <a:xfrm>
            <a:off x="3017520" y="4087368"/>
            <a:ext cx="1691640" cy="530352"/>
          </a:xfrm>
          <a:prstGeom prst="rect">
            <a:avLst/>
          </a:prstGeom>
          <a:noFill/>
          <a:ln/>
        </p:spPr>
        <p:txBody>
          <a:bodyPr wrap="square" lIns="0" tIns="0" rIns="0" bIns="0" rtlCol="0" anchor="ctr"/>
          <a:lstStyle/>
          <a:p>
            <a:pPr marL="0" indent="0" algn="ctr">
              <a:buNone/>
            </a:pPr>
            <a:r>
              <a:rPr lang="en-US" sz="1200" b="1" dirty="0">
                <a:solidFill>
                  <a:srgbClr val="D9480F"/>
                </a:solidFill>
                <a:latin typeface="Courier New" pitchFamily="34" charset="0"/>
                <a:ea typeface="Courier New" pitchFamily="34" charset="-122"/>
                <a:cs typeface="Courier New" pitchFamily="34" charset="-120"/>
              </a:rPr>
              <a:t>O(n log n)</a:t>
            </a:r>
            <a:endParaRPr lang="en-US" sz="1200" dirty="0"/>
          </a:p>
        </p:txBody>
      </p:sp>
      <p:sp>
        <p:nvSpPr>
          <p:cNvPr id="44" name="Text 42"/>
          <p:cNvSpPr txBox="1"/>
          <p:nvPr/>
        </p:nvSpPr>
        <p:spPr>
          <a:xfrm>
            <a:off x="4709160" y="4087368"/>
            <a:ext cx="1691640" cy="530352"/>
          </a:xfrm>
          <a:prstGeom prst="rect">
            <a:avLst/>
          </a:prstGeom>
          <a:noFill/>
          <a:ln/>
        </p:spPr>
        <p:txBody>
          <a:bodyPr wrap="square" lIns="0" tIns="0" rIns="0" bIns="0" rtlCol="0" anchor="ctr"/>
          <a:lstStyle/>
          <a:p>
            <a:pPr marL="0" indent="0" algn="ctr">
              <a:buNone/>
            </a:pPr>
            <a:r>
              <a:rPr lang="en-US" sz="1200" b="1" dirty="0">
                <a:solidFill>
                  <a:srgbClr val="D9480F"/>
                </a:solidFill>
                <a:latin typeface="Courier New" pitchFamily="34" charset="0"/>
                <a:ea typeface="Courier New" pitchFamily="34" charset="-122"/>
                <a:cs typeface="Courier New" pitchFamily="34" charset="-120"/>
              </a:rPr>
              <a:t>O(n log n)</a:t>
            </a:r>
            <a:endParaRPr lang="en-US" sz="1200" dirty="0"/>
          </a:p>
        </p:txBody>
      </p:sp>
      <p:sp>
        <p:nvSpPr>
          <p:cNvPr id="45" name="Text 43"/>
          <p:cNvSpPr txBox="1"/>
          <p:nvPr/>
        </p:nvSpPr>
        <p:spPr>
          <a:xfrm>
            <a:off x="6400800" y="4087368"/>
            <a:ext cx="1691640" cy="530352"/>
          </a:xfrm>
          <a:prstGeom prst="rect">
            <a:avLst/>
          </a:prstGeom>
          <a:noFill/>
          <a:ln/>
        </p:spPr>
        <p:txBody>
          <a:bodyPr wrap="square" lIns="0" tIns="0" rIns="0" bIns="0" rtlCol="0" anchor="ctr"/>
          <a:lstStyle/>
          <a:p>
            <a:pPr marL="0" indent="0" algn="ctr">
              <a:buNone/>
            </a:pPr>
            <a:r>
              <a:rPr lang="en-US" sz="1200" b="1" dirty="0">
                <a:solidFill>
                  <a:srgbClr val="D9480F"/>
                </a:solidFill>
                <a:latin typeface="Courier New" pitchFamily="34" charset="0"/>
                <a:ea typeface="Courier New" pitchFamily="34" charset="-122"/>
                <a:cs typeface="Courier New" pitchFamily="34" charset="-120"/>
              </a:rPr>
              <a:t>O(n²)</a:t>
            </a:r>
            <a:endParaRPr lang="en-US" sz="1200" dirty="0"/>
          </a:p>
        </p:txBody>
      </p:sp>
      <p:sp>
        <p:nvSpPr>
          <p:cNvPr id="46" name="Text 44"/>
          <p:cNvSpPr txBox="1"/>
          <p:nvPr/>
        </p:nvSpPr>
        <p:spPr>
          <a:xfrm>
            <a:off x="8092440" y="4087368"/>
            <a:ext cx="1463040" cy="530352"/>
          </a:xfrm>
          <a:prstGeom prst="rect">
            <a:avLst/>
          </a:prstGeom>
          <a:noFill/>
          <a:ln/>
        </p:spPr>
        <p:txBody>
          <a:bodyPr wrap="square" lIns="0" tIns="0" rIns="0" bIns="0" rtlCol="0" anchor="ctr"/>
          <a:lstStyle/>
          <a:p>
            <a:pPr marL="0" indent="0" algn="ctr">
              <a:buNone/>
            </a:pPr>
            <a:r>
              <a:rPr lang="en-US" sz="1200" b="1" dirty="0">
                <a:solidFill>
                  <a:srgbClr val="D9480F"/>
                </a:solidFill>
                <a:latin typeface="Courier New" pitchFamily="34" charset="0"/>
                <a:ea typeface="Courier New" pitchFamily="34" charset="-122"/>
                <a:cs typeface="Courier New" pitchFamily="34" charset="-120"/>
              </a:rPr>
              <a:t>No</a:t>
            </a:r>
            <a:endParaRPr lang="en-US" sz="1200" dirty="0"/>
          </a:p>
        </p:txBody>
      </p:sp>
      <p:sp>
        <p:nvSpPr>
          <p:cNvPr id="47" name="Text 45"/>
          <p:cNvSpPr txBox="1"/>
          <p:nvPr/>
        </p:nvSpPr>
        <p:spPr>
          <a:xfrm>
            <a:off x="9555480" y="4087368"/>
            <a:ext cx="2057400" cy="530352"/>
          </a:xfrm>
          <a:prstGeom prst="rect">
            <a:avLst/>
          </a:prstGeom>
          <a:noFill/>
          <a:ln/>
        </p:spPr>
        <p:txBody>
          <a:bodyPr wrap="square" lIns="0" tIns="0" rIns="0" bIns="0" rtlCol="0" anchor="ctr"/>
          <a:lstStyle/>
          <a:p>
            <a:pPr marL="0" indent="0" algn="ctr">
              <a:buNone/>
            </a:pPr>
            <a:r>
              <a:rPr lang="en-US" sz="1200" b="1" dirty="0">
                <a:solidFill>
                  <a:srgbClr val="D9480F"/>
                </a:solidFill>
                <a:latin typeface="Courier New" pitchFamily="34" charset="0"/>
                <a:ea typeface="Courier New" pitchFamily="34" charset="-122"/>
                <a:cs typeface="Courier New" pitchFamily="34" charset="-120"/>
              </a:rPr>
              <a:t>O(log n) avg</a:t>
            </a:r>
            <a:endParaRPr lang="en-US" sz="1200" dirty="0"/>
          </a:p>
        </p:txBody>
      </p:sp>
      <p:sp>
        <p:nvSpPr>
          <p:cNvPr id="48" name="Shape 46"/>
          <p:cNvSpPr/>
          <p:nvPr/>
        </p:nvSpPr>
        <p:spPr>
          <a:xfrm>
            <a:off x="548640" y="4937760"/>
            <a:ext cx="11064240" cy="1463040"/>
          </a:xfrm>
          <a:prstGeom prst="roundRect">
            <a:avLst>
              <a:gd name="adj" fmla="val 6250"/>
            </a:avLst>
          </a:prstGeom>
          <a:solidFill>
            <a:srgbClr val="0B3D3A"/>
          </a:solidFill>
          <a:ln w="12700">
            <a:solidFill>
              <a:srgbClr val="0B3D3A"/>
            </a:solidFill>
            <a:prstDash val="solid"/>
          </a:ln>
        </p:spPr>
      </p:sp>
      <p:sp>
        <p:nvSpPr>
          <p:cNvPr id="49" name="Text 47"/>
          <p:cNvSpPr txBox="1"/>
          <p:nvPr/>
        </p:nvSpPr>
        <p:spPr>
          <a:xfrm>
            <a:off x="777240" y="5074920"/>
            <a:ext cx="7315200" cy="274320"/>
          </a:xfrm>
          <a:prstGeom prst="rect">
            <a:avLst/>
          </a:prstGeom>
          <a:noFill/>
          <a:ln/>
        </p:spPr>
        <p:txBody>
          <a:bodyPr wrap="square" lIns="0" tIns="0" rIns="0" bIns="0" rtlCol="0" anchor="ctr"/>
          <a:lstStyle/>
          <a:p>
            <a:pPr marL="0" indent="0">
              <a:buNone/>
            </a:pPr>
            <a:r>
              <a:rPr lang="en-US" sz="1100" b="1" kern="0" spc="100" dirty="0">
                <a:solidFill>
                  <a:srgbClr val="C98A1E"/>
                </a:solidFill>
                <a:latin typeface="Calibri" pitchFamily="34" charset="0"/>
                <a:ea typeface="Calibri" pitchFamily="34" charset="-122"/>
                <a:cs typeface="Calibri" pitchFamily="34" charset="-120"/>
              </a:rPr>
              <a:t>KEY TAKEAWAYS FROM THE TABLE</a:t>
            </a:r>
            <a:endParaRPr lang="en-US" sz="1100" dirty="0"/>
          </a:p>
        </p:txBody>
      </p:sp>
      <p:sp>
        <p:nvSpPr>
          <p:cNvPr id="50" name="Text 48"/>
          <p:cNvSpPr txBox="1"/>
          <p:nvPr/>
        </p:nvSpPr>
        <p:spPr>
          <a:xfrm>
            <a:off x="777240" y="5394960"/>
            <a:ext cx="10607040" cy="914400"/>
          </a:xfrm>
          <a:prstGeom prst="rect">
            <a:avLst/>
          </a:prstGeom>
          <a:noFill/>
          <a:ln/>
        </p:spPr>
        <p:txBody>
          <a:bodyPr wrap="square" lIns="0" tIns="0" rIns="0" bIns="0" rtlCol="0" anchor="ctr"/>
          <a:lstStyle/>
          <a:p>
            <a:pPr marL="0" indent="0">
              <a:lnSpc>
                <a:spcPct val="135000"/>
              </a:lnSpc>
              <a:buNone/>
            </a:pPr>
            <a:r>
              <a:rPr lang="en-US" sz="1200" dirty="0">
                <a:solidFill>
                  <a:srgbClr val="D6EFEC"/>
                </a:solidFill>
                <a:latin typeface="Calibri" pitchFamily="34" charset="0"/>
                <a:ea typeface="Calibri" pitchFamily="34" charset="-122"/>
                <a:cs typeface="Calibri" pitchFamily="34" charset="-120"/>
              </a:rPr>
              <a:t>•  Quick Sort is the only algorithm here that is both </a:t>
            </a:r>
            <a:r>
              <a:rPr lang="en-US" sz="1200" b="1" dirty="0">
                <a:solidFill>
                  <a:srgbClr val="FFFFFF"/>
                </a:solidFill>
                <a:latin typeface="Calibri" pitchFamily="34" charset="0"/>
                <a:ea typeface="Calibri" pitchFamily="34" charset="-122"/>
                <a:cs typeface="Calibri" pitchFamily="34" charset="-120"/>
              </a:rPr>
              <a:t>O(n log n) on average AND uses no auxiliary array</a:t>
            </a:r>
            <a:r>
              <a:rPr lang="en-US" sz="1200" dirty="0">
                <a:solidFill>
                  <a:srgbClr val="D6EFEC"/>
                </a:solidFill>
                <a:latin typeface="Calibri" pitchFamily="34" charset="0"/>
                <a:ea typeface="Calibri" pitchFamily="34" charset="-122"/>
                <a:cs typeface="Calibri" pitchFamily="34" charset="-120"/>
              </a:rPr>
              <a:t> — Merge Sort matches its speed but not its space efficiency.
•  Its worst case is </a:t>
            </a:r>
            <a:r>
              <a:rPr lang="en-US" sz="1200" b="1" dirty="0">
                <a:solidFill>
                  <a:srgbClr val="D9480F"/>
                </a:solidFill>
                <a:latin typeface="Calibri" pitchFamily="34" charset="0"/>
                <a:ea typeface="Calibri" pitchFamily="34" charset="-122"/>
                <a:cs typeface="Calibri" pitchFamily="34" charset="-120"/>
              </a:rPr>
              <a:t>O(n²)</a:t>
            </a:r>
            <a:r>
              <a:rPr lang="en-US" sz="1200" dirty="0">
                <a:solidFill>
                  <a:srgbClr val="D6EFEC"/>
                </a:solidFill>
                <a:latin typeface="Calibri" pitchFamily="34" charset="0"/>
                <a:ea typeface="Calibri" pitchFamily="34" charset="-122"/>
                <a:cs typeface="Calibri" pitchFamily="34" charset="-120"/>
              </a:rPr>
              <a:t>, the trade-off for not needing a merge step — good pivot selection keeps this rare in practice.</a:t>
            </a:r>
            <a:endParaRPr lang="en-US" sz="1200" dirty="0"/>
          </a:p>
        </p:txBody>
      </p:sp>
      <p:sp>
        <p:nvSpPr>
          <p:cNvPr id="51" name="Text 49"/>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52" name="Text 50"/>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TRADE-OFFS</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Advantages and Limitations</a:t>
            </a:r>
            <a:endParaRPr lang="en-US" sz="3000" dirty="0"/>
          </a:p>
        </p:txBody>
      </p:sp>
      <p:sp>
        <p:nvSpPr>
          <p:cNvPr id="6" name="Shape 4"/>
          <p:cNvSpPr/>
          <p:nvPr/>
        </p:nvSpPr>
        <p:spPr>
          <a:xfrm>
            <a:off x="548640" y="1463040"/>
            <a:ext cx="5440680" cy="4572000"/>
          </a:xfrm>
          <a:prstGeom prst="roundRect">
            <a:avLst>
              <a:gd name="adj" fmla="val 2000"/>
            </a:avLst>
          </a:prstGeom>
          <a:solidFill>
            <a:srgbClr val="E8F5F3"/>
          </a:solidFill>
          <a:ln w="12700">
            <a:solidFill>
              <a:srgbClr val="BFE3DE"/>
            </a:solidFill>
            <a:prstDash val="solid"/>
          </a:ln>
        </p:spPr>
      </p:sp>
      <p:sp>
        <p:nvSpPr>
          <p:cNvPr id="7" name="Text 5"/>
          <p:cNvSpPr txBox="1"/>
          <p:nvPr/>
        </p:nvSpPr>
        <p:spPr>
          <a:xfrm>
            <a:off x="777240" y="1627632"/>
            <a:ext cx="4846320" cy="274320"/>
          </a:xfrm>
          <a:prstGeom prst="rect">
            <a:avLst/>
          </a:prstGeom>
          <a:noFill/>
          <a:ln/>
        </p:spPr>
        <p:txBody>
          <a:bodyPr wrap="square" lIns="0" tIns="0" rIns="0" bIns="0" rtlCol="0" anchor="ctr"/>
          <a:lstStyle/>
          <a:p>
            <a:pPr marL="0" indent="0">
              <a:buNone/>
            </a:pPr>
            <a:r>
              <a:rPr lang="en-US" sz="1300" b="1" kern="0" spc="150" dirty="0">
                <a:solidFill>
                  <a:srgbClr val="0F6B64"/>
                </a:solidFill>
                <a:latin typeface="Calibri" pitchFamily="34" charset="0"/>
                <a:ea typeface="Calibri" pitchFamily="34" charset="-122"/>
                <a:cs typeface="Calibri" pitchFamily="34" charset="-120"/>
              </a:rPr>
              <a:t>ADVANTAGES</a:t>
            </a:r>
            <a:endParaRPr lang="en-US" sz="1300" dirty="0"/>
          </a:p>
        </p:txBody>
      </p:sp>
      <p:sp>
        <p:nvSpPr>
          <p:cNvPr id="8" name="Shape 6"/>
          <p:cNvSpPr/>
          <p:nvPr/>
        </p:nvSpPr>
        <p:spPr>
          <a:xfrm>
            <a:off x="777240" y="2057400"/>
            <a:ext cx="237744" cy="237744"/>
          </a:xfrm>
          <a:prstGeom prst="ellipse">
            <a:avLst/>
          </a:prstGeom>
          <a:solidFill>
            <a:srgbClr val="0F6B64"/>
          </a:solidFill>
          <a:ln/>
        </p:spPr>
      </p:sp>
      <p:sp>
        <p:nvSpPr>
          <p:cNvPr id="9" name="Text 7"/>
          <p:cNvSpPr txBox="1"/>
          <p:nvPr/>
        </p:nvSpPr>
        <p:spPr>
          <a:xfrm>
            <a:off x="777240" y="205740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txBox="1"/>
          <p:nvPr/>
        </p:nvSpPr>
        <p:spPr>
          <a:xfrm>
            <a:off x="1143000" y="1993392"/>
            <a:ext cx="4572000" cy="566928"/>
          </a:xfrm>
          <a:prstGeom prst="rect">
            <a:avLst/>
          </a:prstGeom>
          <a:noFill/>
          <a:ln/>
        </p:spPr>
        <p:txBody>
          <a:bodyPr wrap="square" lIns="0" tIns="0" rIns="0" bIns="0" rtlCol="0" anchor="ctr"/>
          <a:lstStyle/>
          <a:p>
            <a:pPr marL="0" indent="0">
              <a:buNone/>
            </a:pPr>
            <a:r>
              <a:rPr lang="en-US" sz="1200" dirty="0">
                <a:solidFill>
                  <a:srgbClr val="1B2233"/>
                </a:solidFill>
                <a:latin typeface="Calibri" pitchFamily="34" charset="0"/>
                <a:ea typeface="Calibri" pitchFamily="34" charset="-122"/>
                <a:cs typeface="Calibri" pitchFamily="34" charset="-120"/>
              </a:rPr>
              <a:t>Excellent average-case performance: O(n log n).</a:t>
            </a:r>
            <a:endParaRPr lang="en-US" sz="1200" dirty="0"/>
          </a:p>
        </p:txBody>
      </p:sp>
      <p:sp>
        <p:nvSpPr>
          <p:cNvPr id="11" name="Shape 9"/>
          <p:cNvSpPr/>
          <p:nvPr/>
        </p:nvSpPr>
        <p:spPr>
          <a:xfrm>
            <a:off x="777240" y="2697480"/>
            <a:ext cx="237744" cy="237744"/>
          </a:xfrm>
          <a:prstGeom prst="ellipse">
            <a:avLst/>
          </a:prstGeom>
          <a:solidFill>
            <a:srgbClr val="0F6B64"/>
          </a:solidFill>
          <a:ln/>
        </p:spPr>
      </p:sp>
      <p:sp>
        <p:nvSpPr>
          <p:cNvPr id="12" name="Text 10"/>
          <p:cNvSpPr txBox="1"/>
          <p:nvPr/>
        </p:nvSpPr>
        <p:spPr>
          <a:xfrm>
            <a:off x="777240" y="269748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3" name="Text 11"/>
          <p:cNvSpPr txBox="1"/>
          <p:nvPr/>
        </p:nvSpPr>
        <p:spPr>
          <a:xfrm>
            <a:off x="1143000" y="2633472"/>
            <a:ext cx="4572000" cy="566928"/>
          </a:xfrm>
          <a:prstGeom prst="rect">
            <a:avLst/>
          </a:prstGeom>
          <a:noFill/>
          <a:ln/>
        </p:spPr>
        <p:txBody>
          <a:bodyPr wrap="square" lIns="0" tIns="0" rIns="0" bIns="0" rtlCol="0" anchor="ctr"/>
          <a:lstStyle/>
          <a:p>
            <a:pPr marL="0" indent="0">
              <a:buNone/>
            </a:pPr>
            <a:r>
              <a:rPr lang="en-US" sz="1200" dirty="0">
                <a:solidFill>
                  <a:srgbClr val="1B2233"/>
                </a:solidFill>
                <a:latin typeface="Calibri" pitchFamily="34" charset="0"/>
                <a:ea typeface="Calibri" pitchFamily="34" charset="-122"/>
                <a:cs typeface="Calibri" pitchFamily="34" charset="-120"/>
              </a:rPr>
              <a:t>In-place — needs no auxiliary array, unlike Merge Sort.</a:t>
            </a:r>
            <a:endParaRPr lang="en-US" sz="1200" dirty="0"/>
          </a:p>
        </p:txBody>
      </p:sp>
      <p:sp>
        <p:nvSpPr>
          <p:cNvPr id="14" name="Shape 12"/>
          <p:cNvSpPr/>
          <p:nvPr/>
        </p:nvSpPr>
        <p:spPr>
          <a:xfrm>
            <a:off x="777240" y="3337560"/>
            <a:ext cx="237744" cy="237744"/>
          </a:xfrm>
          <a:prstGeom prst="ellipse">
            <a:avLst/>
          </a:prstGeom>
          <a:solidFill>
            <a:srgbClr val="0F6B64"/>
          </a:solidFill>
          <a:ln/>
        </p:spPr>
      </p:sp>
      <p:sp>
        <p:nvSpPr>
          <p:cNvPr id="15" name="Text 13"/>
          <p:cNvSpPr txBox="1"/>
          <p:nvPr/>
        </p:nvSpPr>
        <p:spPr>
          <a:xfrm>
            <a:off x="777240" y="333756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4"/>
          <p:cNvSpPr txBox="1"/>
          <p:nvPr/>
        </p:nvSpPr>
        <p:spPr>
          <a:xfrm>
            <a:off x="1143000" y="3273552"/>
            <a:ext cx="4572000" cy="566928"/>
          </a:xfrm>
          <a:prstGeom prst="rect">
            <a:avLst/>
          </a:prstGeom>
          <a:noFill/>
          <a:ln/>
        </p:spPr>
        <p:txBody>
          <a:bodyPr wrap="square" lIns="0" tIns="0" rIns="0" bIns="0" rtlCol="0" anchor="ctr"/>
          <a:lstStyle/>
          <a:p>
            <a:pPr marL="0" indent="0">
              <a:buNone/>
            </a:pPr>
            <a:r>
              <a:rPr lang="en-US" sz="1200" dirty="0">
                <a:solidFill>
                  <a:srgbClr val="1B2233"/>
                </a:solidFill>
                <a:latin typeface="Calibri" pitchFamily="34" charset="0"/>
                <a:ea typeface="Calibri" pitchFamily="34" charset="-122"/>
                <a:cs typeface="Calibri" pitchFamily="34" charset="-120"/>
              </a:rPr>
              <a:t>Small, cache-friendly memory footprint in practice.</a:t>
            </a:r>
            <a:endParaRPr lang="en-US" sz="1200" dirty="0"/>
          </a:p>
        </p:txBody>
      </p:sp>
      <p:sp>
        <p:nvSpPr>
          <p:cNvPr id="17" name="Shape 15"/>
          <p:cNvSpPr/>
          <p:nvPr/>
        </p:nvSpPr>
        <p:spPr>
          <a:xfrm>
            <a:off x="777240" y="3977640"/>
            <a:ext cx="237744" cy="237744"/>
          </a:xfrm>
          <a:prstGeom prst="ellipse">
            <a:avLst/>
          </a:prstGeom>
          <a:solidFill>
            <a:srgbClr val="0F6B64"/>
          </a:solidFill>
          <a:ln/>
        </p:spPr>
      </p:sp>
      <p:sp>
        <p:nvSpPr>
          <p:cNvPr id="18" name="Text 16"/>
          <p:cNvSpPr txBox="1"/>
          <p:nvPr/>
        </p:nvSpPr>
        <p:spPr>
          <a:xfrm>
            <a:off x="777240" y="397764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7"/>
          <p:cNvSpPr txBox="1"/>
          <p:nvPr/>
        </p:nvSpPr>
        <p:spPr>
          <a:xfrm>
            <a:off x="1143000" y="3913632"/>
            <a:ext cx="4572000" cy="566928"/>
          </a:xfrm>
          <a:prstGeom prst="rect">
            <a:avLst/>
          </a:prstGeom>
          <a:noFill/>
          <a:ln/>
        </p:spPr>
        <p:txBody>
          <a:bodyPr wrap="square" lIns="0" tIns="0" rIns="0" bIns="0" rtlCol="0" anchor="ctr"/>
          <a:lstStyle/>
          <a:p>
            <a:pPr marL="0" indent="0">
              <a:buNone/>
            </a:pPr>
            <a:r>
              <a:rPr lang="en-US" sz="1200" dirty="0">
                <a:solidFill>
                  <a:srgbClr val="1B2233"/>
                </a:solidFill>
                <a:latin typeface="Calibri" pitchFamily="34" charset="0"/>
                <a:ea typeface="Calibri" pitchFamily="34" charset="-122"/>
                <a:cs typeface="Calibri" pitchFamily="34" charset="-120"/>
              </a:rPr>
              <a:t>Easily randomized to make worst-case behavior rare.</a:t>
            </a:r>
            <a:endParaRPr lang="en-US" sz="1200" dirty="0"/>
          </a:p>
        </p:txBody>
      </p:sp>
      <p:sp>
        <p:nvSpPr>
          <p:cNvPr id="20" name="Shape 18"/>
          <p:cNvSpPr/>
          <p:nvPr/>
        </p:nvSpPr>
        <p:spPr>
          <a:xfrm>
            <a:off x="777240" y="4617720"/>
            <a:ext cx="237744" cy="237744"/>
          </a:xfrm>
          <a:prstGeom prst="ellipse">
            <a:avLst/>
          </a:prstGeom>
          <a:solidFill>
            <a:srgbClr val="0F6B64"/>
          </a:solidFill>
          <a:ln/>
        </p:spPr>
      </p:sp>
      <p:sp>
        <p:nvSpPr>
          <p:cNvPr id="21" name="Text 19"/>
          <p:cNvSpPr txBox="1"/>
          <p:nvPr/>
        </p:nvSpPr>
        <p:spPr>
          <a:xfrm>
            <a:off x="777240" y="461772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txBox="1"/>
          <p:nvPr/>
        </p:nvSpPr>
        <p:spPr>
          <a:xfrm>
            <a:off x="1143000" y="4553712"/>
            <a:ext cx="4572000" cy="566928"/>
          </a:xfrm>
          <a:prstGeom prst="rect">
            <a:avLst/>
          </a:prstGeom>
          <a:noFill/>
          <a:ln/>
        </p:spPr>
        <p:txBody>
          <a:bodyPr wrap="square" lIns="0" tIns="0" rIns="0" bIns="0" rtlCol="0" anchor="ctr"/>
          <a:lstStyle/>
          <a:p>
            <a:pPr marL="0" indent="0">
              <a:buNone/>
            </a:pPr>
            <a:r>
              <a:rPr lang="en-US" sz="1200" dirty="0">
                <a:solidFill>
                  <a:srgbClr val="1B2233"/>
                </a:solidFill>
                <a:latin typeface="Calibri" pitchFamily="34" charset="0"/>
                <a:ea typeface="Calibri" pitchFamily="34" charset="-122"/>
                <a:cs typeface="Calibri" pitchFamily="34" charset="-120"/>
              </a:rPr>
              <a:t>The default choice behind many library sort() functions.</a:t>
            </a:r>
            <a:endParaRPr lang="en-US" sz="1200" dirty="0"/>
          </a:p>
        </p:txBody>
      </p:sp>
      <p:sp>
        <p:nvSpPr>
          <p:cNvPr id="23" name="Shape 21"/>
          <p:cNvSpPr/>
          <p:nvPr/>
        </p:nvSpPr>
        <p:spPr>
          <a:xfrm>
            <a:off x="6263640" y="1463040"/>
            <a:ext cx="5349240" cy="4572000"/>
          </a:xfrm>
          <a:prstGeom prst="roundRect">
            <a:avLst>
              <a:gd name="adj" fmla="val 2000"/>
            </a:avLst>
          </a:prstGeom>
          <a:solidFill>
            <a:srgbClr val="81D4C8"/>
          </a:solidFill>
          <a:ln w="12700">
            <a:solidFill>
              <a:srgbClr val="BFE3DE"/>
            </a:solidFill>
            <a:prstDash val="solid"/>
          </a:ln>
        </p:spPr>
      </p:sp>
      <p:sp>
        <p:nvSpPr>
          <p:cNvPr id="24" name="Text 22"/>
          <p:cNvSpPr txBox="1"/>
          <p:nvPr/>
        </p:nvSpPr>
        <p:spPr>
          <a:xfrm>
            <a:off x="6492240" y="1627632"/>
            <a:ext cx="4846320" cy="274320"/>
          </a:xfrm>
          <a:prstGeom prst="rect">
            <a:avLst/>
          </a:prstGeom>
          <a:noFill/>
          <a:ln/>
        </p:spPr>
        <p:txBody>
          <a:bodyPr wrap="square" lIns="0" tIns="0" rIns="0" bIns="0" rtlCol="0" anchor="ctr"/>
          <a:lstStyle/>
          <a:p>
            <a:pPr marL="0" indent="0">
              <a:buNone/>
            </a:pPr>
            <a:r>
              <a:rPr lang="en-US" sz="1300" b="1" kern="0" spc="150" dirty="0">
                <a:solidFill>
                  <a:srgbClr val="D9480F"/>
                </a:solidFill>
                <a:latin typeface="Calibri" pitchFamily="34" charset="0"/>
                <a:ea typeface="Calibri" pitchFamily="34" charset="-122"/>
                <a:cs typeface="Calibri" pitchFamily="34" charset="-120"/>
              </a:rPr>
              <a:t>LIMITATIONS</a:t>
            </a:r>
            <a:endParaRPr lang="en-US" sz="1300" dirty="0"/>
          </a:p>
        </p:txBody>
      </p:sp>
      <p:sp>
        <p:nvSpPr>
          <p:cNvPr id="25" name="Shape 23"/>
          <p:cNvSpPr/>
          <p:nvPr/>
        </p:nvSpPr>
        <p:spPr>
          <a:xfrm>
            <a:off x="6492240" y="2103120"/>
            <a:ext cx="237744" cy="237744"/>
          </a:xfrm>
          <a:prstGeom prst="ellipse">
            <a:avLst/>
          </a:prstGeom>
          <a:solidFill>
            <a:srgbClr val="D9480F"/>
          </a:solidFill>
          <a:ln/>
        </p:spPr>
      </p:sp>
      <p:sp>
        <p:nvSpPr>
          <p:cNvPr id="26" name="Text 24"/>
          <p:cNvSpPr txBox="1"/>
          <p:nvPr/>
        </p:nvSpPr>
        <p:spPr>
          <a:xfrm>
            <a:off x="6492240" y="210312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6858000" y="2029968"/>
            <a:ext cx="4572000" cy="777240"/>
          </a:xfrm>
          <a:prstGeom prst="rect">
            <a:avLst/>
          </a:prstGeom>
          <a:noFill/>
          <a:ln/>
        </p:spPr>
        <p:txBody>
          <a:bodyPr wrap="square" lIns="0" tIns="0" rIns="0" bIns="0" rtlCol="0" anchor="ctr"/>
          <a:lstStyle/>
          <a:p>
            <a:pPr marL="0" indent="0">
              <a:lnSpc>
                <a:spcPct val="120000"/>
              </a:lnSpc>
              <a:buNone/>
            </a:pPr>
            <a:r>
              <a:rPr lang="en-US" sz="1200" dirty="0">
                <a:solidFill>
                  <a:srgbClr val="D6EFEC"/>
                </a:solidFill>
                <a:latin typeface="Calibri" pitchFamily="34" charset="0"/>
                <a:ea typeface="Calibri" pitchFamily="34" charset="-122"/>
                <a:cs typeface="Calibri" pitchFamily="34" charset="-120"/>
              </a:rPr>
              <a:t>Worst-case time complexity is O(n²).</a:t>
            </a:r>
            <a:endParaRPr lang="en-US" sz="1200" dirty="0"/>
          </a:p>
        </p:txBody>
      </p:sp>
      <p:sp>
        <p:nvSpPr>
          <p:cNvPr id="28" name="Shape 26"/>
          <p:cNvSpPr/>
          <p:nvPr/>
        </p:nvSpPr>
        <p:spPr>
          <a:xfrm>
            <a:off x="6492240" y="2971800"/>
            <a:ext cx="237744" cy="237744"/>
          </a:xfrm>
          <a:prstGeom prst="ellipse">
            <a:avLst/>
          </a:prstGeom>
          <a:solidFill>
            <a:srgbClr val="D9480F"/>
          </a:solidFill>
          <a:ln/>
        </p:spPr>
      </p:sp>
      <p:sp>
        <p:nvSpPr>
          <p:cNvPr id="29" name="Text 27"/>
          <p:cNvSpPr txBox="1"/>
          <p:nvPr/>
        </p:nvSpPr>
        <p:spPr>
          <a:xfrm>
            <a:off x="6492240" y="297180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0" name="Text 28"/>
          <p:cNvSpPr txBox="1"/>
          <p:nvPr/>
        </p:nvSpPr>
        <p:spPr>
          <a:xfrm>
            <a:off x="6858000" y="2898648"/>
            <a:ext cx="4572000" cy="777240"/>
          </a:xfrm>
          <a:prstGeom prst="rect">
            <a:avLst/>
          </a:prstGeom>
          <a:noFill/>
          <a:ln/>
        </p:spPr>
        <p:txBody>
          <a:bodyPr wrap="square" lIns="0" tIns="0" rIns="0" bIns="0" rtlCol="0" anchor="ctr"/>
          <a:lstStyle/>
          <a:p>
            <a:pPr marL="0" indent="0">
              <a:lnSpc>
                <a:spcPct val="120000"/>
              </a:lnSpc>
              <a:buNone/>
            </a:pPr>
            <a:r>
              <a:rPr lang="en-US" sz="1200" dirty="0">
                <a:solidFill>
                  <a:srgbClr val="D6EFEC"/>
                </a:solidFill>
                <a:latin typeface="Calibri" pitchFamily="34" charset="0"/>
                <a:ea typeface="Calibri" pitchFamily="34" charset="-122"/>
                <a:cs typeface="Calibri" pitchFamily="34" charset="-120"/>
              </a:rPr>
              <a:t>Not stable — unsuitable when tie order must be preserved.</a:t>
            </a:r>
            <a:endParaRPr lang="en-US" sz="1200" dirty="0"/>
          </a:p>
        </p:txBody>
      </p:sp>
      <p:sp>
        <p:nvSpPr>
          <p:cNvPr id="31" name="Shape 29"/>
          <p:cNvSpPr/>
          <p:nvPr/>
        </p:nvSpPr>
        <p:spPr>
          <a:xfrm>
            <a:off x="6492240" y="3840480"/>
            <a:ext cx="237744" cy="237744"/>
          </a:xfrm>
          <a:prstGeom prst="ellipse">
            <a:avLst/>
          </a:prstGeom>
          <a:solidFill>
            <a:srgbClr val="D9480F"/>
          </a:solidFill>
          <a:ln/>
        </p:spPr>
      </p:sp>
      <p:sp>
        <p:nvSpPr>
          <p:cNvPr id="32" name="Text 30"/>
          <p:cNvSpPr txBox="1"/>
          <p:nvPr/>
        </p:nvSpPr>
        <p:spPr>
          <a:xfrm>
            <a:off x="6492240" y="384048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3" name="Text 31"/>
          <p:cNvSpPr txBox="1"/>
          <p:nvPr/>
        </p:nvSpPr>
        <p:spPr>
          <a:xfrm>
            <a:off x="6858000" y="3767328"/>
            <a:ext cx="4572000" cy="777240"/>
          </a:xfrm>
          <a:prstGeom prst="rect">
            <a:avLst/>
          </a:prstGeom>
          <a:noFill/>
          <a:ln/>
        </p:spPr>
        <p:txBody>
          <a:bodyPr wrap="square" lIns="0" tIns="0" rIns="0" bIns="0" rtlCol="0" anchor="ctr"/>
          <a:lstStyle/>
          <a:p>
            <a:pPr marL="0" indent="0">
              <a:lnSpc>
                <a:spcPct val="120000"/>
              </a:lnSpc>
              <a:buNone/>
            </a:pPr>
            <a:r>
              <a:rPr lang="en-US" sz="1200" dirty="0">
                <a:solidFill>
                  <a:srgbClr val="D6EFEC"/>
                </a:solidFill>
                <a:latin typeface="Calibri" pitchFamily="34" charset="0"/>
                <a:ea typeface="Calibri" pitchFamily="34" charset="-122"/>
                <a:cs typeface="Calibri" pitchFamily="34" charset="-120"/>
              </a:rPr>
              <a:t>Performance is sensitive to pivot choice and input order.</a:t>
            </a:r>
            <a:endParaRPr lang="en-US" sz="1200" dirty="0"/>
          </a:p>
        </p:txBody>
      </p:sp>
      <p:sp>
        <p:nvSpPr>
          <p:cNvPr id="34" name="Shape 32"/>
          <p:cNvSpPr/>
          <p:nvPr/>
        </p:nvSpPr>
        <p:spPr>
          <a:xfrm>
            <a:off x="6492240" y="4709160"/>
            <a:ext cx="237744" cy="237744"/>
          </a:xfrm>
          <a:prstGeom prst="ellipse">
            <a:avLst/>
          </a:prstGeom>
          <a:solidFill>
            <a:srgbClr val="D9480F"/>
          </a:solidFill>
          <a:ln/>
        </p:spPr>
      </p:sp>
      <p:sp>
        <p:nvSpPr>
          <p:cNvPr id="35" name="Text 33"/>
          <p:cNvSpPr txBox="1"/>
          <p:nvPr/>
        </p:nvSpPr>
        <p:spPr>
          <a:xfrm>
            <a:off x="6492240" y="4709160"/>
            <a:ext cx="23774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6" name="Text 34"/>
          <p:cNvSpPr txBox="1"/>
          <p:nvPr/>
        </p:nvSpPr>
        <p:spPr>
          <a:xfrm>
            <a:off x="6858000" y="4636008"/>
            <a:ext cx="4572000" cy="777240"/>
          </a:xfrm>
          <a:prstGeom prst="rect">
            <a:avLst/>
          </a:prstGeom>
          <a:noFill/>
          <a:ln/>
        </p:spPr>
        <p:txBody>
          <a:bodyPr wrap="square" lIns="0" tIns="0" rIns="0" bIns="0" rtlCol="0" anchor="ctr"/>
          <a:lstStyle/>
          <a:p>
            <a:pPr marL="0" indent="0">
              <a:lnSpc>
                <a:spcPct val="120000"/>
              </a:lnSpc>
              <a:buNone/>
            </a:pPr>
            <a:r>
              <a:rPr lang="en-US" sz="1200" dirty="0">
                <a:solidFill>
                  <a:srgbClr val="D6EFEC"/>
                </a:solidFill>
                <a:latin typeface="Calibri" pitchFamily="34" charset="0"/>
                <a:ea typeface="Calibri" pitchFamily="34" charset="-122"/>
                <a:cs typeface="Calibri" pitchFamily="34" charset="-120"/>
              </a:rPr>
              <a:t>Worst case uses O(n) stack space via deep recursion.</a:t>
            </a:r>
            <a:endParaRPr lang="en-US" sz="1200" dirty="0"/>
          </a:p>
        </p:txBody>
      </p:sp>
      <p:sp>
        <p:nvSpPr>
          <p:cNvPr id="37" name="Text 35"/>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38" name="Text 36"/>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1500000">
            <a:off x="10972800" y="-1005840"/>
            <a:ext cx="2377440" cy="2377440"/>
          </a:xfrm>
          <a:prstGeom prst="triangle">
            <a:avLst/>
          </a:prstGeom>
          <a:solidFill>
            <a:srgbClr val="0F6B64">
              <a:alpha val="5000"/>
            </a:srgbClr>
          </a:solidFill>
          <a:ln/>
        </p:spPr>
      </p:sp>
      <p:sp>
        <p:nvSpPr>
          <p:cNvPr id="3" name="Shape 1"/>
          <p:cNvSpPr/>
          <p:nvPr/>
        </p:nvSpPr>
        <p:spPr>
          <a:xfrm rot="12300000">
            <a:off x="-1097280" y="5760720"/>
            <a:ext cx="2377440" cy="2377440"/>
          </a:xfrm>
          <a:prstGeom prst="triangle">
            <a:avLst/>
          </a:prstGeom>
          <a:solidFill>
            <a:srgbClr val="0F6B64">
              <a:alpha val="5000"/>
            </a:srgbClr>
          </a:solidFill>
          <a:ln/>
        </p:spPr>
      </p:sp>
      <p:sp>
        <p:nvSpPr>
          <p:cNvPr id="4" name="Text 2"/>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14918C"/>
                </a:solidFill>
                <a:latin typeface="Calibri" pitchFamily="34" charset="0"/>
                <a:ea typeface="Calibri" pitchFamily="34" charset="-122"/>
                <a:cs typeface="Calibri" pitchFamily="34" charset="-120"/>
              </a:rPr>
              <a:t>WRAP-UP</a:t>
            </a:r>
            <a:endParaRPr lang="en-US" sz="1300" dirty="0"/>
          </a:p>
        </p:txBody>
      </p:sp>
      <p:sp>
        <p:nvSpPr>
          <p:cNvPr id="5" name="Text 3"/>
          <p:cNvSpPr txBox="1"/>
          <p:nvPr/>
        </p:nvSpPr>
        <p:spPr>
          <a:xfrm>
            <a:off x="548640" y="621792"/>
            <a:ext cx="11064240" cy="731520"/>
          </a:xfrm>
          <a:prstGeom prst="rect">
            <a:avLst/>
          </a:prstGeom>
          <a:noFill/>
          <a:ln/>
        </p:spPr>
        <p:txBody>
          <a:bodyPr wrap="square" lIns="0" tIns="0" rIns="0" bIns="0" rtlCol="0" anchor="ctr"/>
          <a:lstStyle/>
          <a:p>
            <a:pPr marL="0" indent="0">
              <a:buNone/>
            </a:pPr>
            <a:r>
              <a:rPr lang="en-US" sz="3000" b="1" dirty="0">
                <a:solidFill>
                  <a:srgbClr val="0B3D3A"/>
                </a:solidFill>
                <a:latin typeface="Cambria" pitchFamily="34" charset="0"/>
                <a:ea typeface="Cambria" pitchFamily="34" charset="-122"/>
                <a:cs typeface="Cambria" pitchFamily="34" charset="-120"/>
              </a:rPr>
              <a:t>Conclusion</a:t>
            </a:r>
            <a:endParaRPr lang="en-US" sz="3000" dirty="0"/>
          </a:p>
        </p:txBody>
      </p:sp>
      <p:sp>
        <p:nvSpPr>
          <p:cNvPr id="6" name="Shape 4"/>
          <p:cNvSpPr/>
          <p:nvPr/>
        </p:nvSpPr>
        <p:spPr>
          <a:xfrm>
            <a:off x="548640" y="1417320"/>
            <a:ext cx="11064240" cy="749808"/>
          </a:xfrm>
          <a:prstGeom prst="roundRect">
            <a:avLst>
              <a:gd name="adj" fmla="val 12195"/>
            </a:avLst>
          </a:prstGeom>
          <a:solidFill>
            <a:srgbClr val="E8F5F3"/>
          </a:solidFill>
          <a:ln w="12700">
            <a:solidFill>
              <a:srgbClr val="BFE3DE"/>
            </a:solidFill>
            <a:prstDash val="solid"/>
          </a:ln>
        </p:spPr>
      </p:sp>
      <p:sp>
        <p:nvSpPr>
          <p:cNvPr id="7" name="Shape 5"/>
          <p:cNvSpPr/>
          <p:nvPr/>
        </p:nvSpPr>
        <p:spPr>
          <a:xfrm>
            <a:off x="777240" y="1600200"/>
            <a:ext cx="384048" cy="384048"/>
          </a:xfrm>
          <a:prstGeom prst="ellipse">
            <a:avLst/>
          </a:prstGeom>
          <a:solidFill>
            <a:srgbClr val="0F6B64"/>
          </a:solidFill>
          <a:ln/>
        </p:spPr>
      </p:sp>
      <p:sp>
        <p:nvSpPr>
          <p:cNvPr id="8" name="Text 6"/>
          <p:cNvSpPr txBox="1"/>
          <p:nvPr/>
        </p:nvSpPr>
        <p:spPr>
          <a:xfrm>
            <a:off x="777240" y="16002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325880" y="1417320"/>
            <a:ext cx="9966960" cy="749808"/>
          </a:xfrm>
          <a:prstGeom prst="rect">
            <a:avLst/>
          </a:prstGeom>
          <a:noFill/>
          <a:ln/>
        </p:spPr>
        <p:txBody>
          <a:bodyPr wrap="square" lIns="0" tIns="0" rIns="0" bIns="0" rtlCol="0" anchor="ctr"/>
          <a:lstStyle/>
          <a:p>
            <a:pPr marL="0" indent="0">
              <a:lnSpc>
                <a:spcPct val="120000"/>
              </a:lnSpc>
              <a:buNone/>
            </a:pPr>
            <a:r>
              <a:rPr lang="en-US" sz="1200" b="1" dirty="0">
                <a:solidFill>
                  <a:srgbClr val="0B3D3A"/>
                </a:solidFill>
                <a:latin typeface="Calibri" pitchFamily="34" charset="0"/>
                <a:ea typeface="Calibri" pitchFamily="34" charset="-122"/>
                <a:cs typeface="Calibri" pitchFamily="34" charset="-120"/>
              </a:rPr>
              <a:t>How it works:  </a:t>
            </a:r>
            <a:r>
              <a:rPr lang="en-US" sz="1200" dirty="0">
                <a:solidFill>
                  <a:srgbClr val="1B2233"/>
                </a:solidFill>
                <a:latin typeface="Calibri" pitchFamily="34" charset="0"/>
                <a:ea typeface="Calibri" pitchFamily="34" charset="-122"/>
                <a:cs typeface="Calibri" pitchFamily="34" charset="-120"/>
              </a:rPr>
              <a:t>Partitions the array around a pivot so smaller elements land left and larger ones land right, then recursively sorts each side.</a:t>
            </a:r>
            <a:endParaRPr lang="en-US" sz="1200" dirty="0"/>
          </a:p>
        </p:txBody>
      </p:sp>
      <p:sp>
        <p:nvSpPr>
          <p:cNvPr id="10" name="Shape 8"/>
          <p:cNvSpPr/>
          <p:nvPr/>
        </p:nvSpPr>
        <p:spPr>
          <a:xfrm>
            <a:off x="548640" y="2304288"/>
            <a:ext cx="11064240" cy="749808"/>
          </a:xfrm>
          <a:prstGeom prst="roundRect">
            <a:avLst>
              <a:gd name="adj" fmla="val 12195"/>
            </a:avLst>
          </a:prstGeom>
          <a:solidFill>
            <a:srgbClr val="E8F5F3"/>
          </a:solidFill>
          <a:ln w="12700">
            <a:solidFill>
              <a:srgbClr val="BFE3DE"/>
            </a:solidFill>
            <a:prstDash val="solid"/>
          </a:ln>
        </p:spPr>
      </p:sp>
      <p:sp>
        <p:nvSpPr>
          <p:cNvPr id="11" name="Shape 9"/>
          <p:cNvSpPr/>
          <p:nvPr/>
        </p:nvSpPr>
        <p:spPr>
          <a:xfrm>
            <a:off x="777240" y="2487168"/>
            <a:ext cx="384048" cy="384048"/>
          </a:xfrm>
          <a:prstGeom prst="ellipse">
            <a:avLst/>
          </a:prstGeom>
          <a:solidFill>
            <a:srgbClr val="0F6B64"/>
          </a:solidFill>
          <a:ln/>
        </p:spPr>
      </p:sp>
      <p:sp>
        <p:nvSpPr>
          <p:cNvPr id="12" name="Text 10"/>
          <p:cNvSpPr txBox="1"/>
          <p:nvPr/>
        </p:nvSpPr>
        <p:spPr>
          <a:xfrm>
            <a:off x="777240" y="248716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1325880" y="2304288"/>
            <a:ext cx="9966960" cy="749808"/>
          </a:xfrm>
          <a:prstGeom prst="rect">
            <a:avLst/>
          </a:prstGeom>
          <a:noFill/>
          <a:ln/>
        </p:spPr>
        <p:txBody>
          <a:bodyPr wrap="square" lIns="0" tIns="0" rIns="0" bIns="0" rtlCol="0" anchor="ctr"/>
          <a:lstStyle/>
          <a:p>
            <a:pPr marL="0" indent="0">
              <a:lnSpc>
                <a:spcPct val="120000"/>
              </a:lnSpc>
              <a:buNone/>
            </a:pPr>
            <a:r>
              <a:rPr lang="en-US" sz="1200" b="1" dirty="0">
                <a:solidFill>
                  <a:srgbClr val="0B3D3A"/>
                </a:solidFill>
                <a:latin typeface="Calibri" pitchFamily="34" charset="0"/>
                <a:ea typeface="Calibri" pitchFamily="34" charset="-122"/>
                <a:cs typeface="Calibri" pitchFamily="34" charset="-120"/>
              </a:rPr>
              <a:t>C implementation:  </a:t>
            </a:r>
            <a:r>
              <a:rPr lang="en-US" sz="1200" dirty="0">
                <a:solidFill>
                  <a:srgbClr val="1B2233"/>
                </a:solidFill>
                <a:latin typeface="Calibri" pitchFamily="34" charset="0"/>
                <a:ea typeface="Calibri" pitchFamily="34" charset="-122"/>
                <a:cs typeface="Calibri" pitchFamily="34" charset="-120"/>
              </a:rPr>
              <a:t>The Lomuto partition scheme with a single index i tracking the boundary, plus one final swap to fix the pivot.</a:t>
            </a:r>
            <a:endParaRPr lang="en-US" sz="1200" dirty="0"/>
          </a:p>
        </p:txBody>
      </p:sp>
      <p:sp>
        <p:nvSpPr>
          <p:cNvPr id="14" name="Shape 12"/>
          <p:cNvSpPr/>
          <p:nvPr/>
        </p:nvSpPr>
        <p:spPr>
          <a:xfrm>
            <a:off x="548640" y="3191256"/>
            <a:ext cx="11064240" cy="749808"/>
          </a:xfrm>
          <a:prstGeom prst="roundRect">
            <a:avLst>
              <a:gd name="adj" fmla="val 12195"/>
            </a:avLst>
          </a:prstGeom>
          <a:solidFill>
            <a:srgbClr val="E8F5F3"/>
          </a:solidFill>
          <a:ln w="12700">
            <a:solidFill>
              <a:srgbClr val="BFE3DE"/>
            </a:solidFill>
            <a:prstDash val="solid"/>
          </a:ln>
        </p:spPr>
      </p:sp>
      <p:sp>
        <p:nvSpPr>
          <p:cNvPr id="15" name="Shape 13"/>
          <p:cNvSpPr/>
          <p:nvPr/>
        </p:nvSpPr>
        <p:spPr>
          <a:xfrm>
            <a:off x="777240" y="3374136"/>
            <a:ext cx="384048" cy="384048"/>
          </a:xfrm>
          <a:prstGeom prst="ellipse">
            <a:avLst/>
          </a:prstGeom>
          <a:solidFill>
            <a:srgbClr val="0F6B64"/>
          </a:solidFill>
          <a:ln/>
        </p:spPr>
      </p:sp>
      <p:sp>
        <p:nvSpPr>
          <p:cNvPr id="16" name="Text 14"/>
          <p:cNvSpPr txBox="1"/>
          <p:nvPr/>
        </p:nvSpPr>
        <p:spPr>
          <a:xfrm>
            <a:off x="777240" y="33741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txBox="1"/>
          <p:nvPr/>
        </p:nvSpPr>
        <p:spPr>
          <a:xfrm>
            <a:off x="1325880" y="3191256"/>
            <a:ext cx="9966960" cy="749808"/>
          </a:xfrm>
          <a:prstGeom prst="rect">
            <a:avLst/>
          </a:prstGeom>
          <a:noFill/>
          <a:ln/>
        </p:spPr>
        <p:txBody>
          <a:bodyPr wrap="square" lIns="0" tIns="0" rIns="0" bIns="0" rtlCol="0" anchor="ctr"/>
          <a:lstStyle/>
          <a:p>
            <a:pPr marL="0" indent="0">
              <a:lnSpc>
                <a:spcPct val="120000"/>
              </a:lnSpc>
              <a:buNone/>
            </a:pPr>
            <a:r>
              <a:rPr lang="en-US" sz="1200" b="1" dirty="0">
                <a:solidFill>
                  <a:srgbClr val="0B3D3A"/>
                </a:solidFill>
                <a:latin typeface="Calibri" pitchFamily="34" charset="0"/>
                <a:ea typeface="Calibri" pitchFamily="34" charset="-122"/>
                <a:cs typeface="Calibri" pitchFamily="34" charset="-120"/>
              </a:rPr>
              <a:t>Complexity:  </a:t>
            </a:r>
            <a:r>
              <a:rPr lang="en-US" sz="1200" dirty="0">
                <a:solidFill>
                  <a:srgbClr val="1B2233"/>
                </a:solidFill>
                <a:latin typeface="Calibri" pitchFamily="34" charset="0"/>
                <a:ea typeface="Calibri" pitchFamily="34" charset="-122"/>
                <a:cs typeface="Calibri" pitchFamily="34" charset="-120"/>
              </a:rPr>
              <a:t>O(n log n) best/average via a balanced recurrence; O(n²) worst via a fully unbalanced one — the same partition cost (Θ(n)), different split quality.</a:t>
            </a:r>
            <a:endParaRPr lang="en-US" sz="1200" dirty="0"/>
          </a:p>
        </p:txBody>
      </p:sp>
      <p:sp>
        <p:nvSpPr>
          <p:cNvPr id="18" name="Shape 16"/>
          <p:cNvSpPr/>
          <p:nvPr/>
        </p:nvSpPr>
        <p:spPr>
          <a:xfrm>
            <a:off x="548640" y="4078224"/>
            <a:ext cx="11064240" cy="749808"/>
          </a:xfrm>
          <a:prstGeom prst="roundRect">
            <a:avLst>
              <a:gd name="adj" fmla="val 12195"/>
            </a:avLst>
          </a:prstGeom>
          <a:solidFill>
            <a:srgbClr val="E8F5F3"/>
          </a:solidFill>
          <a:ln w="12700">
            <a:solidFill>
              <a:srgbClr val="BFE3DE"/>
            </a:solidFill>
            <a:prstDash val="solid"/>
          </a:ln>
        </p:spPr>
      </p:sp>
      <p:sp>
        <p:nvSpPr>
          <p:cNvPr id="19" name="Shape 17"/>
          <p:cNvSpPr/>
          <p:nvPr/>
        </p:nvSpPr>
        <p:spPr>
          <a:xfrm>
            <a:off x="777240" y="4261104"/>
            <a:ext cx="384048" cy="384048"/>
          </a:xfrm>
          <a:prstGeom prst="ellipse">
            <a:avLst/>
          </a:prstGeom>
          <a:solidFill>
            <a:srgbClr val="0F6B64"/>
          </a:solidFill>
          <a:ln/>
        </p:spPr>
      </p:sp>
      <p:sp>
        <p:nvSpPr>
          <p:cNvPr id="20" name="Text 18"/>
          <p:cNvSpPr txBox="1"/>
          <p:nvPr/>
        </p:nvSpPr>
        <p:spPr>
          <a:xfrm>
            <a:off x="777240" y="42611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txBox="1"/>
          <p:nvPr/>
        </p:nvSpPr>
        <p:spPr>
          <a:xfrm>
            <a:off x="1325880" y="4078224"/>
            <a:ext cx="9966960" cy="749808"/>
          </a:xfrm>
          <a:prstGeom prst="rect">
            <a:avLst/>
          </a:prstGeom>
          <a:noFill/>
          <a:ln/>
        </p:spPr>
        <p:txBody>
          <a:bodyPr wrap="square" lIns="0" tIns="0" rIns="0" bIns="0" rtlCol="0" anchor="ctr"/>
          <a:lstStyle/>
          <a:p>
            <a:pPr marL="0" indent="0">
              <a:lnSpc>
                <a:spcPct val="120000"/>
              </a:lnSpc>
              <a:buNone/>
            </a:pPr>
            <a:r>
              <a:rPr lang="en-US" sz="1200" b="1" dirty="0">
                <a:solidFill>
                  <a:srgbClr val="0B3D3A"/>
                </a:solidFill>
                <a:latin typeface="Calibri" pitchFamily="34" charset="0"/>
                <a:ea typeface="Calibri" pitchFamily="34" charset="-122"/>
                <a:cs typeface="Calibri" pitchFamily="34" charset="-120"/>
              </a:rPr>
              <a:t>Where it's useful:  </a:t>
            </a:r>
            <a:r>
              <a:rPr lang="en-US" sz="1200" dirty="0">
                <a:solidFill>
                  <a:srgbClr val="1B2233"/>
                </a:solidFill>
                <a:latin typeface="Calibri" pitchFamily="34" charset="0"/>
                <a:ea typeface="Calibri" pitchFamily="34" charset="-122"/>
                <a:cs typeface="Calibri" pitchFamily="34" charset="-120"/>
              </a:rPr>
              <a:t>General-purpose, in-place sorting where average speed and low memory matter more than worst-case guarantees or stability.</a:t>
            </a:r>
            <a:endParaRPr lang="en-US" sz="1200" dirty="0"/>
          </a:p>
        </p:txBody>
      </p:sp>
      <p:sp>
        <p:nvSpPr>
          <p:cNvPr id="22" name="Shape 20"/>
          <p:cNvSpPr/>
          <p:nvPr/>
        </p:nvSpPr>
        <p:spPr>
          <a:xfrm>
            <a:off x="548640" y="5056632"/>
            <a:ext cx="11064240" cy="1051560"/>
          </a:xfrm>
          <a:prstGeom prst="roundRect">
            <a:avLst>
              <a:gd name="adj" fmla="val 8696"/>
            </a:avLst>
          </a:prstGeom>
          <a:solidFill>
            <a:srgbClr val="0B3D3A"/>
          </a:solidFill>
          <a:ln w="12700">
            <a:solidFill>
              <a:srgbClr val="0B3D3A"/>
            </a:solidFill>
            <a:prstDash val="solid"/>
          </a:ln>
        </p:spPr>
      </p:sp>
      <p:sp>
        <p:nvSpPr>
          <p:cNvPr id="23" name="Text 21"/>
          <p:cNvSpPr txBox="1"/>
          <p:nvPr/>
        </p:nvSpPr>
        <p:spPr>
          <a:xfrm>
            <a:off x="777240" y="5193792"/>
            <a:ext cx="3657600" cy="274320"/>
          </a:xfrm>
          <a:prstGeom prst="rect">
            <a:avLst/>
          </a:prstGeom>
          <a:noFill/>
          <a:ln/>
        </p:spPr>
        <p:txBody>
          <a:bodyPr wrap="square" lIns="0" tIns="0" rIns="0" bIns="0" rtlCol="0" anchor="ctr"/>
          <a:lstStyle/>
          <a:p>
            <a:pPr marL="0" indent="0">
              <a:buNone/>
            </a:pPr>
            <a:r>
              <a:rPr lang="en-US" sz="1100" b="1" kern="0" spc="150" dirty="0">
                <a:solidFill>
                  <a:srgbClr val="C98A1E"/>
                </a:solidFill>
                <a:latin typeface="Calibri" pitchFamily="34" charset="0"/>
                <a:ea typeface="Calibri" pitchFamily="34" charset="-122"/>
                <a:cs typeface="Calibri" pitchFamily="34" charset="-120"/>
              </a:rPr>
              <a:t>REFERENCES</a:t>
            </a:r>
            <a:endParaRPr lang="en-US" sz="1100" dirty="0"/>
          </a:p>
        </p:txBody>
      </p:sp>
      <p:sp>
        <p:nvSpPr>
          <p:cNvPr id="24" name="Text 22"/>
          <p:cNvSpPr txBox="1"/>
          <p:nvPr/>
        </p:nvSpPr>
        <p:spPr>
          <a:xfrm>
            <a:off x="777240" y="5468112"/>
            <a:ext cx="10607040" cy="548640"/>
          </a:xfrm>
          <a:prstGeom prst="rect">
            <a:avLst/>
          </a:prstGeom>
          <a:noFill/>
          <a:ln/>
        </p:spPr>
        <p:txBody>
          <a:bodyPr wrap="square" lIns="0" tIns="0" rIns="0" bIns="0" rtlCol="0" anchor="ctr"/>
          <a:lstStyle/>
          <a:p>
            <a:pPr marL="0" indent="0">
              <a:lnSpc>
                <a:spcPct val="120000"/>
              </a:lnSpc>
              <a:buNone/>
            </a:pPr>
            <a:r>
              <a:rPr lang="en-US" sz="1250" i="1" dirty="0">
                <a:solidFill>
                  <a:srgbClr val="D6EFEC"/>
                </a:solidFill>
                <a:latin typeface="Calibri" pitchFamily="34" charset="0"/>
                <a:ea typeface="Calibri" pitchFamily="34" charset="-122"/>
                <a:cs typeface="Calibri" pitchFamily="34" charset="-120"/>
              </a:rPr>
              <a:t>Tanenbaum, A. S., Langsam, Y., &amp; Augenstein, M. J. Data Structures Using C. Pearson / Prentice-Hall.</a:t>
            </a:r>
            <a:endParaRPr lang="en-US" sz="1250" dirty="0"/>
          </a:p>
        </p:txBody>
      </p:sp>
      <p:sp>
        <p:nvSpPr>
          <p:cNvPr id="25" name="Text 23"/>
          <p:cNvSpPr txBox="1"/>
          <p:nvPr/>
        </p:nvSpPr>
        <p:spPr>
          <a:xfrm>
            <a:off x="548640" y="6547104"/>
            <a:ext cx="6858000" cy="256032"/>
          </a:xfrm>
          <a:prstGeom prst="rect">
            <a:avLst/>
          </a:prstGeom>
          <a:noFill/>
          <a:ln/>
        </p:spPr>
        <p:txBody>
          <a:bodyPr wrap="square" lIns="0" tIns="0" rIns="0" bIns="0" rtlCol="0" anchor="ctr"/>
          <a:lstStyle/>
          <a:p>
            <a:pPr marL="0" indent="0">
              <a:buNone/>
            </a:pPr>
            <a:r>
              <a:rPr lang="en-US" sz="900" dirty="0">
                <a:solidFill>
                  <a:srgbClr val="5B6584"/>
                </a:solidFill>
                <a:latin typeface="Calibri" pitchFamily="34" charset="0"/>
                <a:ea typeface="Calibri" pitchFamily="34" charset="-122"/>
                <a:cs typeface="Calibri" pitchFamily="34" charset="-120"/>
              </a:rPr>
              <a:t>Quick Sort  |  Data Structures Using C</a:t>
            </a:r>
            <a:endParaRPr lang="en-US" sz="900" dirty="0"/>
          </a:p>
        </p:txBody>
      </p:sp>
      <p:sp>
        <p:nvSpPr>
          <p:cNvPr id="26" name="Text 2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900" dirty="0">
                <a:solidFill>
                  <a:srgbClr val="5B6584"/>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254</TotalTime>
  <Words>4582</Words>
  <Application>Microsoft Macintosh PowerPoint</Application>
  <PresentationFormat>Widescreen</PresentationFormat>
  <Paragraphs>501</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Cambria</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Anjali Tripathi</cp:lastModifiedBy>
  <cp:revision>4</cp:revision>
  <dcterms:created xsi:type="dcterms:W3CDTF">2026-09-21T07:05:11Z</dcterms:created>
  <dcterms:modified xsi:type="dcterms:W3CDTF">2026-09-21T11:23:40Z</dcterms:modified>
</cp:coreProperties>
</file>