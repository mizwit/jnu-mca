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62" r:id="rId2"/>
  </p:sldMasterIdLst>
  <p:notesMasterIdLst>
    <p:notesMasterId r:id="rId18"/>
  </p:notesMasterIdLst>
  <p:sldIdLst>
    <p:sldId id="28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Play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2c336d3563cf9ec8_3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h2c336d3563cf9ec8_3_2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h2c336d3563cf9ec8_3_2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2c336d3563cf9ec8_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h2c336d3563cf9ec8_3_6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h2c336d3563cf9ec8_3_6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2c336d3563cf9ec8_3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h2c336d3563cf9ec8_3_97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h2c336d3563cf9ec8_3_97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h2c336d3563cf9ec8_3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h2c336d3563cf9ec8_3_14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h2c336d3563cf9ec8_3_14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2c336d3563cf9ec8_3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h2c336d3563cf9ec8_3_16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h2c336d3563cf9ec8_3_16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2c336d3563cf9ec8_3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h2c336d3563cf9ec8_3_19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h2c336d3563cf9ec8_3_19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2c336d3563cf9ec8_3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h2c336d3563cf9ec8_3_21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h2c336d3563cf9ec8_3_21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h2c336d3563cf9ec8_3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h2c336d3563cf9ec8_3_34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h2c336d3563cf9ec8_3_34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h2c336d3563cf9ec8_3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h2c336d3563cf9ec8_3_404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h2c336d3563cf9ec8_3_404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h2c336d3563cf9ec8_3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h2c336d3563cf9ec8_3_429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h2c336d3563cf9ec8_3_429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h2c336d3563cf9ec8_3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h2c336d3563cf9ec8_3_459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h2c336d3563cf9ec8_3_459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h2c336d3563cf9ec8_3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h2c336d3563cf9ec8_3_514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h2c336d3563cf9ec8_3_514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h2c336d3563cf9ec8_3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h2c336d3563cf9ec8_3_54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h2c336d3563cf9ec8_3_54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h2c336d3563cf9ec8_3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0" name="Google Shape;650;h2c336d3563cf9ec8_3_585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h2c336d3563cf9ec8_3_585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">
  <p:cSld name="MASTER">
    <p:bg>
      <p:bgPr>
        <a:solidFill>
          <a:srgbClr val="F7F9FC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/>
          <p:nvPr/>
        </p:nvSpPr>
        <p:spPr>
          <a:xfrm>
            <a:off x="0" y="0"/>
            <a:ext cx="9143771" cy="75438"/>
          </a:xfrm>
          <a:prstGeom prst="rect">
            <a:avLst/>
          </a:prstGeom>
          <a:solidFill>
            <a:srgbClr val="0B3954"/>
          </a:solidFill>
          <a:ln w="1270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5"/>
          <p:cNvSpPr/>
          <p:nvPr/>
        </p:nvSpPr>
        <p:spPr>
          <a:xfrm>
            <a:off x="377190" y="4896612"/>
            <a:ext cx="356616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A89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rPr>
              <a:t>QUICKSORT • CLRS 3e, Chapter 7</a:t>
            </a: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5"/>
          <p:cNvSpPr txBox="1">
            <a:spLocks noGrp="1"/>
          </p:cNvSpPr>
          <p:nvPr>
            <p:ph type="sldNum" idx="12"/>
          </p:nvPr>
        </p:nvSpPr>
        <p:spPr>
          <a:xfrm>
            <a:off x="8798814" y="4882896"/>
            <a:ext cx="17145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798814" y="4882896"/>
            <a:ext cx="17145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-457200" y="229743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"/>
              <a:buNone/>
            </a:pPr>
            <a:r>
              <a:rPr lang="en" sz="3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QUICKSORT</a:t>
            </a:r>
            <a:endParaRPr sz="36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4542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425196" y="233172"/>
            <a:ext cx="82296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2000"/>
              <a:buFont typeface="Play"/>
              <a:buNone/>
            </a:pPr>
            <a:r>
              <a:rPr lang="en" sz="2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Roadmap: the Quicksort story</a:t>
            </a:r>
            <a:endParaRPr sz="20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441991" y="726994"/>
            <a:ext cx="819531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Understand the algorithm as a chain of ideas, not as isolated pseudocode.</a:t>
            </a:r>
            <a:endParaRPr sz="20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480060" y="1440180"/>
            <a:ext cx="377190" cy="377190"/>
          </a:xfrm>
          <a:prstGeom prst="ellipse">
            <a:avLst/>
          </a:prstGeom>
          <a:solidFill>
            <a:srgbClr val="087E8B"/>
          </a:solidFill>
          <a:ln w="12700" cap="flat" cmpd="sng">
            <a:solidFill>
              <a:srgbClr val="087E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569214" y="1515618"/>
            <a:ext cx="198882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200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</a:t>
            </a:r>
            <a:endParaRPr sz="1200"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946404" y="1460754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Partition</a:t>
            </a:r>
            <a:endParaRPr sz="16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926951" y="1671212"/>
            <a:ext cx="1343047" cy="495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Rearrange around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 pivot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82" name="Google Shape;82;p17"/>
          <p:cNvCxnSpPr>
            <a:cxnSpLocks/>
          </p:cNvCxnSpPr>
          <p:nvPr/>
        </p:nvCxnSpPr>
        <p:spPr>
          <a:xfrm>
            <a:off x="2074545" y="1618395"/>
            <a:ext cx="959000" cy="0"/>
          </a:xfrm>
          <a:prstGeom prst="straightConnector1">
            <a:avLst/>
          </a:prstGeom>
          <a:noFill/>
          <a:ln w="17775" cap="flat" cmpd="sng">
            <a:solidFill>
              <a:srgbClr val="A8B4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3" name="Google Shape;83;p17"/>
          <p:cNvSpPr/>
          <p:nvPr/>
        </p:nvSpPr>
        <p:spPr>
          <a:xfrm>
            <a:off x="1284221" y="2710249"/>
            <a:ext cx="377190" cy="377190"/>
          </a:xfrm>
          <a:prstGeom prst="ellipse">
            <a:avLst/>
          </a:prstGeom>
          <a:solidFill>
            <a:srgbClr val="087E8B"/>
          </a:solidFill>
          <a:ln w="12700" cap="flat" cmpd="sng">
            <a:solidFill>
              <a:srgbClr val="087E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1373375" y="2785687"/>
            <a:ext cx="198882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200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</a:t>
            </a:r>
            <a:endParaRPr sz="1200"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1750565" y="273082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Invariant</a:t>
            </a:r>
            <a:endParaRPr sz="16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1739492" y="2943421"/>
            <a:ext cx="1090946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Prove partition 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correctness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87" name="Google Shape;87;p17"/>
          <p:cNvCxnSpPr>
            <a:cxnSpLocks/>
          </p:cNvCxnSpPr>
          <p:nvPr/>
        </p:nvCxnSpPr>
        <p:spPr>
          <a:xfrm>
            <a:off x="2832414" y="2861125"/>
            <a:ext cx="648081" cy="0"/>
          </a:xfrm>
          <a:prstGeom prst="straightConnector1">
            <a:avLst/>
          </a:prstGeom>
          <a:noFill/>
          <a:ln w="17775" cap="flat" cmpd="sng">
            <a:solidFill>
              <a:srgbClr val="A8B4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8" name="Google Shape;88;p17"/>
          <p:cNvSpPr/>
          <p:nvPr/>
        </p:nvSpPr>
        <p:spPr>
          <a:xfrm>
            <a:off x="3291840" y="1440180"/>
            <a:ext cx="377190" cy="377190"/>
          </a:xfrm>
          <a:prstGeom prst="ellipse">
            <a:avLst/>
          </a:prstGeom>
          <a:solidFill>
            <a:srgbClr val="087E8B"/>
          </a:solidFill>
          <a:ln w="12700" cap="flat" cmpd="sng">
            <a:solidFill>
              <a:srgbClr val="087E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3380994" y="1515618"/>
            <a:ext cx="198882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200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</a:t>
            </a:r>
            <a:endParaRPr sz="1200"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3758184" y="1460753"/>
            <a:ext cx="1316736" cy="30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Recursion</a:t>
            </a:r>
            <a:endParaRPr sz="16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3758184" y="1673352"/>
            <a:ext cx="1316736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Sort the two sides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096001" y="2710249"/>
            <a:ext cx="377190" cy="37719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4185155" y="2785687"/>
            <a:ext cx="198882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200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4</a:t>
            </a:r>
            <a:endParaRPr sz="1200"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562344" y="2730822"/>
            <a:ext cx="1169027" cy="26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Recurrences</a:t>
            </a:r>
            <a:endParaRPr sz="16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4529638" y="3056090"/>
            <a:ext cx="1349443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Relate split quality to time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97" name="Google Shape;97;p17"/>
          <p:cNvCxnSpPr>
            <a:cxnSpLocks/>
          </p:cNvCxnSpPr>
          <p:nvPr/>
        </p:nvCxnSpPr>
        <p:spPr>
          <a:xfrm>
            <a:off x="5968235" y="2902273"/>
            <a:ext cx="613791" cy="0"/>
          </a:xfrm>
          <a:prstGeom prst="straightConnector1">
            <a:avLst/>
          </a:prstGeom>
          <a:noFill/>
          <a:ln w="17775" cap="flat" cmpd="sng">
            <a:solidFill>
              <a:srgbClr val="A8B4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8" name="Google Shape;98;p17"/>
          <p:cNvSpPr/>
          <p:nvPr/>
        </p:nvSpPr>
        <p:spPr>
          <a:xfrm>
            <a:off x="6103620" y="1440180"/>
            <a:ext cx="377190" cy="37719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6192774" y="1515618"/>
            <a:ext cx="198882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200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5</a:t>
            </a:r>
            <a:endParaRPr sz="1200"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6569964" y="1460753"/>
            <a:ext cx="1227582" cy="221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Randomize</a:t>
            </a:r>
            <a:endParaRPr sz="16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6569964" y="1764955"/>
            <a:ext cx="1625439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Break dependence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on input order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02" name="Google Shape;102;p17"/>
          <p:cNvCxnSpPr>
            <a:cxnSpLocks/>
          </p:cNvCxnSpPr>
          <p:nvPr/>
        </p:nvCxnSpPr>
        <p:spPr>
          <a:xfrm>
            <a:off x="7972518" y="1642958"/>
            <a:ext cx="445770" cy="0"/>
          </a:xfrm>
          <a:prstGeom prst="straightConnector1">
            <a:avLst/>
          </a:prstGeom>
          <a:noFill/>
          <a:ln w="17775" cap="flat" cmpd="sng">
            <a:solidFill>
              <a:srgbClr val="A8B4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3" name="Google Shape;103;p17"/>
          <p:cNvSpPr/>
          <p:nvPr/>
        </p:nvSpPr>
        <p:spPr>
          <a:xfrm>
            <a:off x="6691800" y="2707863"/>
            <a:ext cx="377190" cy="37719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6780954" y="2783301"/>
            <a:ext cx="198882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2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6</a:t>
            </a:r>
            <a:endParaRPr sz="12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7196608" y="2730740"/>
            <a:ext cx="1382750" cy="31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Expectation</a:t>
            </a:r>
            <a:endParaRPr sz="16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7068990" y="3102306"/>
            <a:ext cx="138275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Count comparisons probabilistically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589788" y="3737609"/>
            <a:ext cx="7989570" cy="887623"/>
          </a:xfrm>
          <a:prstGeom prst="roundRect">
            <a:avLst>
              <a:gd name="adj" fmla="val 6667"/>
            </a:avLst>
          </a:prstGeom>
          <a:solidFill>
            <a:srgbClr val="F0F7F8"/>
          </a:solidFill>
          <a:ln w="12700" cap="flat" cmpd="sng">
            <a:solidFill>
              <a:srgbClr val="B9DEE2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B8C4CE">
                <a:alpha val="1607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713232" y="3833622"/>
            <a:ext cx="774268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7E8B"/>
              </a:buClr>
              <a:buSzPts val="1100"/>
              <a:buFont typeface="Arial"/>
              <a:buNone/>
            </a:pPr>
            <a:r>
              <a:rPr lang="en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Central question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713232" y="4094225"/>
            <a:ext cx="7742682" cy="50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Why can a sorting algorithm with a Θ(n²) worst case still have Θ(n log n) expected time — and why does pivot choice explain the entire story?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Google Shape;82;p17">
            <a:extLst>
              <a:ext uri="{FF2B5EF4-FFF2-40B4-BE49-F238E27FC236}">
                <a16:creationId xmlns:a16="http://schemas.microsoft.com/office/drawing/2014/main" id="{5D3C46C7-B57B-1FC6-2B36-9F5622F4C28A}"/>
              </a:ext>
            </a:extLst>
          </p:cNvPr>
          <p:cNvCxnSpPr>
            <a:cxnSpLocks/>
          </p:cNvCxnSpPr>
          <p:nvPr/>
        </p:nvCxnSpPr>
        <p:spPr>
          <a:xfrm>
            <a:off x="5074920" y="1666494"/>
            <a:ext cx="959000" cy="0"/>
          </a:xfrm>
          <a:prstGeom prst="straightConnector1">
            <a:avLst/>
          </a:prstGeom>
          <a:noFill/>
          <a:ln w="17775" cap="flat" cmpd="sng">
            <a:solidFill>
              <a:srgbClr val="A8B4C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/>
          <p:nvPr/>
        </p:nvSpPr>
        <p:spPr>
          <a:xfrm>
            <a:off x="425196" y="233172"/>
            <a:ext cx="82296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2000"/>
              <a:buFont typeface="Play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Why Quicksort matters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438912" y="562356"/>
            <a:ext cx="819531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 deceptively simple algorithm whose performance is controlled by partition quality.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514350" y="994410"/>
            <a:ext cx="2537460" cy="1371600"/>
          </a:xfrm>
          <a:prstGeom prst="roundRect">
            <a:avLst>
              <a:gd name="adj" fmla="val 3500"/>
            </a:avLst>
          </a:prstGeom>
          <a:solidFill>
            <a:srgbClr val="F0F7F8"/>
          </a:solidFill>
          <a:ln w="12700" cap="flat" cmpd="sng">
            <a:solidFill>
              <a:srgbClr val="B9DEE2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B8C4CE">
                <a:alpha val="1607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637794" y="1090422"/>
            <a:ext cx="229057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7E8B"/>
              </a:buClr>
              <a:buSzPts val="1100"/>
              <a:buFont typeface="Arial"/>
              <a:buNone/>
            </a:pPr>
            <a:r>
              <a:rPr lang="en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Expected speed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637794" y="1351026"/>
            <a:ext cx="2290572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Expected running time is Θ(n log n), with small constant factors in practice.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3305556" y="994410"/>
            <a:ext cx="2537460" cy="1488186"/>
          </a:xfrm>
          <a:prstGeom prst="roundRect">
            <a:avLst>
              <a:gd name="adj" fmla="val 3500"/>
            </a:avLst>
          </a:prstGeom>
          <a:solidFill>
            <a:srgbClr val="F7F7F1"/>
          </a:solidFill>
          <a:ln w="12700" cap="flat" cmpd="sng">
            <a:solidFill>
              <a:srgbClr val="E7DFAE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B8C4CE">
                <a:alpha val="1607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3429000" y="1090422"/>
            <a:ext cx="229057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In-place behavior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3429000" y="1351026"/>
            <a:ext cx="2290572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 standard partitioning process rearranges elements within the input array instead of allocating a separate merge buffer.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6103620" y="994410"/>
            <a:ext cx="2537460" cy="1488186"/>
          </a:xfrm>
          <a:prstGeom prst="roundRect">
            <a:avLst>
              <a:gd name="adj" fmla="val 3500"/>
            </a:avLst>
          </a:prstGeom>
          <a:solidFill>
            <a:srgbClr val="FFF3F4"/>
          </a:solidFill>
          <a:ln w="12700" cap="flat" cmpd="sng">
            <a:solidFill>
              <a:srgbClr val="F2C9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B8C4CE">
                <a:alpha val="1607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6227064" y="1090422"/>
            <a:ext cx="229057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Worst-case warning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6227064" y="1351026"/>
            <a:ext cx="2290572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With maximally unbalanced partitions, running time grows to Θ(n²). Sorted input triggers this for the fixed-last-element pivot rule.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548640" y="2660904"/>
            <a:ext cx="84216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200"/>
              <a:buFont typeface="Arial"/>
              <a:buNone/>
            </a:pPr>
            <a:r>
              <a:rPr lang="en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 same algorithm can trace two radically different recursion trees: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822960" y="3051810"/>
            <a:ext cx="891540" cy="39776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0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857250" y="3086100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411480" y="3717036"/>
            <a:ext cx="857250" cy="342900"/>
          </a:xfrm>
          <a:prstGeom prst="roundRect">
            <a:avLst>
              <a:gd name="adj" fmla="val 10000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45770" y="3751326"/>
            <a:ext cx="78867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≈ n/2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1371600" y="3717036"/>
            <a:ext cx="857250" cy="342900"/>
          </a:xfrm>
          <a:prstGeom prst="roundRect">
            <a:avLst>
              <a:gd name="adj" fmla="val 10000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1405890" y="3751326"/>
            <a:ext cx="78867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≈ n/2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35" name="Google Shape;135;p18"/>
          <p:cNvCxnSpPr/>
          <p:nvPr/>
        </p:nvCxnSpPr>
        <p:spPr>
          <a:xfrm flipH="1">
            <a:off x="836676" y="3442716"/>
            <a:ext cx="363474" cy="260604"/>
          </a:xfrm>
          <a:prstGeom prst="straightConnector1">
            <a:avLst/>
          </a:prstGeom>
          <a:noFill/>
          <a:ln w="20300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1200150" y="3442716"/>
            <a:ext cx="596646" cy="260604"/>
          </a:xfrm>
          <a:prstGeom prst="straightConnector1">
            <a:avLst/>
          </a:prstGeom>
          <a:noFill/>
          <a:ln w="20300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7" name="Google Shape;137;p18"/>
          <p:cNvSpPr/>
          <p:nvPr/>
        </p:nvSpPr>
        <p:spPr>
          <a:xfrm>
            <a:off x="377190" y="4210812"/>
            <a:ext cx="226314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balanced → logarithmic depth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4800600" y="3051810"/>
            <a:ext cx="891540" cy="39776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0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4834890" y="3086100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5623560" y="3531870"/>
            <a:ext cx="788670" cy="342900"/>
          </a:xfrm>
          <a:prstGeom prst="roundRect">
            <a:avLst>
              <a:gd name="adj" fmla="val 10000"/>
            </a:avLst>
          </a:prstGeom>
          <a:solidFill>
            <a:srgbClr val="FFF1F1"/>
          </a:solidFill>
          <a:ln w="1650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5657850" y="3566160"/>
            <a:ext cx="7200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n−1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6377940" y="3991356"/>
            <a:ext cx="788670" cy="342900"/>
          </a:xfrm>
          <a:prstGeom prst="roundRect">
            <a:avLst>
              <a:gd name="adj" fmla="val 10000"/>
            </a:avLst>
          </a:prstGeom>
          <a:solidFill>
            <a:srgbClr val="FFF1F1"/>
          </a:solidFill>
          <a:ln w="1650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6412230" y="4025646"/>
            <a:ext cx="7200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n−2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44" name="Google Shape;144;p18"/>
          <p:cNvCxnSpPr>
            <a:cxnSpLocks/>
            <a:stCxn id="138" idx="3"/>
          </p:cNvCxnSpPr>
          <p:nvPr/>
        </p:nvCxnSpPr>
        <p:spPr>
          <a:xfrm>
            <a:off x="5692140" y="3250692"/>
            <a:ext cx="315468" cy="260604"/>
          </a:xfrm>
          <a:prstGeom prst="straightConnector1">
            <a:avLst/>
          </a:prstGeom>
          <a:noFill/>
          <a:ln w="20300" cap="flat" cmpd="sng">
            <a:solidFill>
              <a:srgbClr val="D1495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5" name="Google Shape;145;p18"/>
          <p:cNvCxnSpPr>
            <a:cxnSpLocks/>
            <a:endCxn id="142" idx="0"/>
          </p:cNvCxnSpPr>
          <p:nvPr/>
        </p:nvCxnSpPr>
        <p:spPr>
          <a:xfrm>
            <a:off x="6389370" y="3703320"/>
            <a:ext cx="382905" cy="288036"/>
          </a:xfrm>
          <a:prstGeom prst="straightConnector1">
            <a:avLst/>
          </a:prstGeom>
          <a:noFill/>
          <a:ln w="20300" cap="flat" cmpd="sng">
            <a:solidFill>
              <a:srgbClr val="D1495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6" name="Google Shape;146;p18"/>
          <p:cNvSpPr/>
          <p:nvPr/>
        </p:nvSpPr>
        <p:spPr>
          <a:xfrm>
            <a:off x="4903470" y="4416552"/>
            <a:ext cx="288036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unbalanced → linear depth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425196" y="233172"/>
            <a:ext cx="82296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2000"/>
              <a:buFont typeface="Play"/>
              <a:buNone/>
            </a:pPr>
            <a:r>
              <a:rPr lang="en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The divide-and-conquer anatomy of Quicksort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438912" y="562356"/>
            <a:ext cx="819531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For a subarray A[p…r], partition determines the pivot’s final position q.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582930" y="960120"/>
            <a:ext cx="150876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Before partition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754380" y="1371600"/>
            <a:ext cx="493776" cy="425196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1248156" y="1371600"/>
            <a:ext cx="493776" cy="425196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1741932" y="1371600"/>
            <a:ext cx="493776" cy="425196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2235708" y="1371600"/>
            <a:ext cx="493776" cy="425196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2729484" y="1371600"/>
            <a:ext cx="493776" cy="425196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3223260" y="1371600"/>
            <a:ext cx="493776" cy="425196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3717036" y="1371600"/>
            <a:ext cx="493776" cy="425196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4210812" y="1371600"/>
            <a:ext cx="493776" cy="425196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4704588" y="1371600"/>
            <a:ext cx="493776" cy="425196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5198364" y="1371600"/>
            <a:ext cx="493776" cy="425196"/>
          </a:xfrm>
          <a:prstGeom prst="rect">
            <a:avLst/>
          </a:prstGeom>
          <a:solidFill>
            <a:srgbClr val="FFF2D7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2606040" y="1481328"/>
            <a:ext cx="109728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A[p…r]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5143500" y="1083564"/>
            <a:ext cx="1371600" cy="17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pivot x = A[r]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69" name="Google Shape;169;p19"/>
          <p:cNvCxnSpPr/>
          <p:nvPr/>
        </p:nvCxnSpPr>
        <p:spPr>
          <a:xfrm flipH="1">
            <a:off x="5554980" y="1316736"/>
            <a:ext cx="514350" cy="82296"/>
          </a:xfrm>
          <a:prstGeom prst="straightConnector1">
            <a:avLst/>
          </a:prstGeom>
          <a:noFill/>
          <a:ln w="16500" cap="flat" cmpd="sng">
            <a:solidFill>
              <a:srgbClr val="8A6D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0" name="Google Shape;170;p19"/>
          <p:cNvSpPr/>
          <p:nvPr/>
        </p:nvSpPr>
        <p:spPr>
          <a:xfrm>
            <a:off x="3634740" y="2057400"/>
            <a:ext cx="18173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87E8B"/>
              </a:buClr>
              <a:buSzPts val="1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PARTITION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71" name="Google Shape;171;p19"/>
          <p:cNvCxnSpPr/>
          <p:nvPr/>
        </p:nvCxnSpPr>
        <p:spPr>
          <a:xfrm>
            <a:off x="4560570" y="1817370"/>
            <a:ext cx="0" cy="219456"/>
          </a:xfrm>
          <a:prstGeom prst="straightConnector1">
            <a:avLst/>
          </a:prstGeom>
          <a:noFill/>
          <a:ln w="27925" cap="flat" cmpd="sng">
            <a:solidFill>
              <a:srgbClr val="087E8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2" name="Google Shape;172;p19"/>
          <p:cNvSpPr/>
          <p:nvPr/>
        </p:nvSpPr>
        <p:spPr>
          <a:xfrm>
            <a:off x="582930" y="2571750"/>
            <a:ext cx="150876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After partition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754380" y="2983230"/>
            <a:ext cx="2537460" cy="493776"/>
          </a:xfrm>
          <a:prstGeom prst="roundRect">
            <a:avLst>
              <a:gd name="adj" fmla="val 16667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3339846" y="2983230"/>
            <a:ext cx="493776" cy="493776"/>
          </a:xfrm>
          <a:prstGeom prst="rect">
            <a:avLst/>
          </a:prstGeom>
          <a:solidFill>
            <a:srgbClr val="FFF2D7"/>
          </a:solidFill>
          <a:ln w="19050" cap="flat" cmpd="sng">
            <a:solidFill>
              <a:srgbClr val="A77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3881628" y="2983230"/>
            <a:ext cx="3771900" cy="493776"/>
          </a:xfrm>
          <a:prstGeom prst="roundRect">
            <a:avLst>
              <a:gd name="adj" fmla="val 16667"/>
            </a:avLst>
          </a:prstGeom>
          <a:solidFill>
            <a:srgbClr val="FFF3F4"/>
          </a:solidFill>
          <a:ln w="1650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857250" y="3120390"/>
            <a:ext cx="229743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A[p…q−1]  ≤  x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3463290" y="3106674"/>
            <a:ext cx="24003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4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x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4080510" y="3120390"/>
            <a:ext cx="336042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2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A[q+1…r]  &gt;  x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99516" y="3525012"/>
            <a:ext cx="13716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3394710" y="3525012"/>
            <a:ext cx="27432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7509510" y="3525012"/>
            <a:ext cx="13716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685800" y="3909060"/>
            <a:ext cx="2366010" cy="88687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 cap="flat" cmpd="sng">
            <a:solidFill>
              <a:srgbClr val="D7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809244" y="4005072"/>
            <a:ext cx="211912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Divide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809244" y="4265676"/>
            <a:ext cx="2119122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Create two subproblems around the pivot.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3394710" y="3909059"/>
            <a:ext cx="2366010" cy="886875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 cap="flat" cmpd="sng">
            <a:solidFill>
              <a:srgbClr val="D7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3518154" y="4005072"/>
            <a:ext cx="211912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Conquer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3518154" y="4265676"/>
            <a:ext cx="2119122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Recursively sort left and right sides.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6103620" y="3909060"/>
            <a:ext cx="2366010" cy="88687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 cap="flat" cmpd="sng">
            <a:solidFill>
              <a:srgbClr val="D7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227064" y="4005072"/>
            <a:ext cx="211912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Combine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227064" y="4265676"/>
            <a:ext cx="2119122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No explicit merge step is needed.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486400" y="4889754"/>
            <a:ext cx="3120390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793"/>
              </a:buClr>
              <a:buSzPts val="500"/>
              <a:buFont typeface="Arial"/>
              <a:buNone/>
            </a:pPr>
            <a:r>
              <a:rPr lang="en" sz="500" b="0" i="1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rPr>
              <a:t>CLRS 3e, §7.1, pp. 170–171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 txBox="1">
            <a:spLocks noGrp="1"/>
          </p:cNvSpPr>
          <p:nvPr>
            <p:ph type="sldNum" idx="4294967295"/>
          </p:nvPr>
        </p:nvSpPr>
        <p:spPr>
          <a:xfrm>
            <a:off x="8798814" y="4882896"/>
            <a:ext cx="17145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600" b="0" i="0" u="none" strike="noStrike" cap="none">
              <a:solidFill>
                <a:srgbClr val="6C7A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/>
          <p:nvPr/>
        </p:nvSpPr>
        <p:spPr>
          <a:xfrm>
            <a:off x="425196" y="233172"/>
            <a:ext cx="82296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2000"/>
              <a:buFont typeface="Play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Recursive structure: what Quicksort actually does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38912" y="562356"/>
            <a:ext cx="819531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 pivot is placed permanently; recursion never includes it again.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14350" y="925830"/>
            <a:ext cx="3771900" cy="3394710"/>
          </a:xfrm>
          <a:prstGeom prst="roundRect">
            <a:avLst>
              <a:gd name="adj" fmla="val 1414"/>
            </a:avLst>
          </a:prstGeom>
          <a:solidFill>
            <a:srgbClr val="FBFCFE"/>
          </a:solidFill>
          <a:ln w="12700" cap="flat" cmpd="sng">
            <a:solidFill>
              <a:srgbClr val="CAD6E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B8C4CE">
                <a:alpha val="1607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637794" y="1021842"/>
            <a:ext cx="342214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Equivalent pseudocode (rephrased from CLRS)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610363" y="1565304"/>
            <a:ext cx="3422142" cy="2955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QUICKSORT(A, p, r)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1. If p ≥ r, stop.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2. q ← PARTITION(A, p, r)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3. QUICKSORT(A, p, q−1)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4. QUICKSORT(A, q+1, r)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903470" y="1062990"/>
            <a:ext cx="2914650" cy="44577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650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937760" y="1097280"/>
            <a:ext cx="284607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Subarray A[p…r]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177790" y="1817370"/>
            <a:ext cx="2366010" cy="445770"/>
          </a:xfrm>
          <a:prstGeom prst="roundRect">
            <a:avLst>
              <a:gd name="adj" fmla="val 7692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5212080" y="1851660"/>
            <a:ext cx="229743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Partition → pivot at q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491990" y="2708910"/>
            <a:ext cx="1783080" cy="493776"/>
          </a:xfrm>
          <a:prstGeom prst="roundRect">
            <a:avLst>
              <a:gd name="adj" fmla="val 6944"/>
            </a:avLst>
          </a:prstGeom>
          <a:solidFill>
            <a:srgbClr val="EEF5FA"/>
          </a:solidFill>
          <a:ln w="16500" cap="flat" cmpd="sng">
            <a:solidFill>
              <a:srgbClr val="087E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4526280" y="2743200"/>
            <a:ext cx="1714500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Left: A[p…q−1]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6480810" y="2708910"/>
            <a:ext cx="1783080" cy="493776"/>
          </a:xfrm>
          <a:prstGeom prst="roundRect">
            <a:avLst>
              <a:gd name="adj" fmla="val 6944"/>
            </a:avLst>
          </a:prstGeom>
          <a:solidFill>
            <a:srgbClr val="FFF4EB"/>
          </a:solidFill>
          <a:ln w="165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6515100" y="2743200"/>
            <a:ext cx="1714500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Right: A[q+1…r]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11" name="Google Shape;211;p20"/>
          <p:cNvCxnSpPr/>
          <p:nvPr/>
        </p:nvCxnSpPr>
        <p:spPr>
          <a:xfrm>
            <a:off x="6343650" y="1508760"/>
            <a:ext cx="0" cy="288036"/>
          </a:xfrm>
          <a:prstGeom prst="straightConnector1">
            <a:avLst/>
          </a:prstGeom>
          <a:noFill/>
          <a:ln w="20300" cap="flat" cmpd="sng">
            <a:solidFill>
              <a:srgbClr val="5F6B7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2" name="Google Shape;212;p20"/>
          <p:cNvCxnSpPr/>
          <p:nvPr/>
        </p:nvCxnSpPr>
        <p:spPr>
          <a:xfrm flipH="1">
            <a:off x="5383530" y="2263140"/>
            <a:ext cx="548640" cy="425196"/>
          </a:xfrm>
          <a:prstGeom prst="straightConnector1">
            <a:avLst/>
          </a:prstGeom>
          <a:noFill/>
          <a:ln w="20300" cap="flat" cmpd="sng">
            <a:solidFill>
              <a:srgbClr val="087E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3" name="Google Shape;213;p20"/>
          <p:cNvCxnSpPr/>
          <p:nvPr/>
        </p:nvCxnSpPr>
        <p:spPr>
          <a:xfrm>
            <a:off x="6755130" y="2263140"/>
            <a:ext cx="617220" cy="425196"/>
          </a:xfrm>
          <a:prstGeom prst="straightConnector1">
            <a:avLst/>
          </a:prstGeom>
          <a:noFill/>
          <a:ln w="20300" cap="flat" cmpd="sng">
            <a:solidFill>
              <a:srgbClr val="F4A26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4" name="Google Shape;214;p20"/>
          <p:cNvSpPr/>
          <p:nvPr/>
        </p:nvSpPr>
        <p:spPr>
          <a:xfrm>
            <a:off x="5486400" y="3449574"/>
            <a:ext cx="1748790" cy="192024"/>
          </a:xfrm>
          <a:prstGeom prst="roundRect">
            <a:avLst>
              <a:gd name="adj" fmla="val 21429"/>
            </a:avLst>
          </a:prstGeom>
          <a:solidFill>
            <a:srgbClr val="0B3954"/>
          </a:solidFill>
          <a:ln w="1270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5506974" y="3480435"/>
            <a:ext cx="1707642" cy="10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b="1" i="0" u="none" strike="noStrike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pivot excluded forever</a:t>
            </a:r>
            <a:endParaRPr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4697730" y="3854196"/>
            <a:ext cx="339471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0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Base case: a subarray of length 0 or 1 is already sorted.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17" name="Google Shape;217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0" y="4217670"/>
            <a:ext cx="1920240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>
            <a:spLocks noGrp="1"/>
          </p:cNvSpPr>
          <p:nvPr>
            <p:ph type="sldNum" idx="4294967295"/>
          </p:nvPr>
        </p:nvSpPr>
        <p:spPr>
          <a:xfrm>
            <a:off x="8798814" y="4882896"/>
            <a:ext cx="17145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5</a:t>
            </a:fld>
            <a:endParaRPr sz="1400"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/>
          <p:nvPr/>
        </p:nvSpPr>
        <p:spPr>
          <a:xfrm>
            <a:off x="425196" y="233172"/>
            <a:ext cx="82296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2000"/>
              <a:buFont typeface="Play"/>
              <a:buNone/>
            </a:pPr>
            <a:r>
              <a:rPr lang="en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PARTITION: the engine inside Quicksort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25196" y="845376"/>
            <a:ext cx="819531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At every loop iteration, the array is divided into four logical regions.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82930" y="1773049"/>
            <a:ext cx="2057400" cy="493776"/>
          </a:xfrm>
          <a:prstGeom prst="roundRect">
            <a:avLst>
              <a:gd name="adj" fmla="val 16667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640330" y="1773049"/>
            <a:ext cx="1577340" cy="493776"/>
          </a:xfrm>
          <a:prstGeom prst="roundRect">
            <a:avLst>
              <a:gd name="adj" fmla="val 16667"/>
            </a:avLst>
          </a:prstGeom>
          <a:solidFill>
            <a:srgbClr val="FFF3F4"/>
          </a:solidFill>
          <a:ln w="1650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217670" y="1773049"/>
            <a:ext cx="2194560" cy="493776"/>
          </a:xfrm>
          <a:prstGeom prst="roundRect">
            <a:avLst>
              <a:gd name="adj" fmla="val 16667"/>
            </a:avLst>
          </a:prstGeom>
          <a:solidFill>
            <a:srgbClr val="F3F5F7"/>
          </a:solidFill>
          <a:ln w="16500" cap="flat" cmpd="sng">
            <a:solidFill>
              <a:srgbClr val="AAB5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6412230" y="1773049"/>
            <a:ext cx="493776" cy="493776"/>
          </a:xfrm>
          <a:prstGeom prst="rect">
            <a:avLst/>
          </a:prstGeom>
          <a:solidFill>
            <a:srgbClr val="FFF2D7"/>
          </a:solidFill>
          <a:ln w="19050" cap="flat" cmpd="sng">
            <a:solidFill>
              <a:srgbClr val="A77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1131570" y="1910209"/>
            <a:ext cx="82296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≤ x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3017520" y="1910209"/>
            <a:ext cx="82296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4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&gt; x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4697730" y="1910209"/>
            <a:ext cx="130302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2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unclassified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6542532" y="1903351"/>
            <a:ext cx="23317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4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x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548640" y="1553593"/>
            <a:ext cx="20574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2475738" y="1553593"/>
            <a:ext cx="20574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4053078" y="1553593"/>
            <a:ext cx="20574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j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6535674" y="1553593"/>
            <a:ext cx="20574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617220" y="2664589"/>
            <a:ext cx="4869180" cy="157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Char char="•"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 marks the end of the “≤ pivot” region.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Char char="•"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j scans left-to-right through the unclassified region.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Char char="•"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When A[j] ≤ x: increment i, then swap A[i] and A[j].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Char char="•"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When A[j] &gt; x: only advance j.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Char char="•"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Finally swap the pivot with A[i+1]; return q = i+1.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5726430" y="2596009"/>
            <a:ext cx="2640330" cy="1748790"/>
          </a:xfrm>
          <a:prstGeom prst="roundRect">
            <a:avLst>
              <a:gd name="adj" fmla="val 2745"/>
            </a:avLst>
          </a:prstGeom>
          <a:solidFill>
            <a:srgbClr val="F0F7F8"/>
          </a:solidFill>
          <a:ln w="12700" cap="flat" cmpd="sng">
            <a:solidFill>
              <a:srgbClr val="B9DEE2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B8C4CE">
                <a:alpha val="1607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5849874" y="2692021"/>
            <a:ext cx="239344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7E8B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Key cost fact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5849874" y="2952625"/>
            <a:ext cx="2393442" cy="1309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For a subarray of length n, the scan tests n−1 non-pivot elements. Therefore PARTITION is Θ(n).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5486400" y="4889754"/>
            <a:ext cx="3120390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793"/>
              </a:buClr>
              <a:buSzPts val="500"/>
              <a:buFont typeface="Arial"/>
              <a:buNone/>
            </a:pPr>
            <a:r>
              <a:rPr lang="en" sz="500" b="0" i="1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rPr>
              <a:t>CLRS 3e, Fig. 7.2 and §7.1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1"/>
          <p:cNvSpPr txBox="1">
            <a:spLocks noGrp="1"/>
          </p:cNvSpPr>
          <p:nvPr>
            <p:ph type="sldNum" idx="4294967295"/>
          </p:nvPr>
        </p:nvSpPr>
        <p:spPr>
          <a:xfrm>
            <a:off x="8798814" y="4882896"/>
            <a:ext cx="17145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600" b="0" i="0" u="none" strike="noStrike" cap="none">
              <a:solidFill>
                <a:srgbClr val="6C7A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/>
          <p:nvPr/>
        </p:nvSpPr>
        <p:spPr>
          <a:xfrm>
            <a:off x="425196" y="233172"/>
            <a:ext cx="82296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2000"/>
              <a:buFont typeface="Play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Correctness of PARTITION via a loop invariant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438912" y="562356"/>
            <a:ext cx="819531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 invariant is the proof mechanism that makes the diagram mathematically meaningful.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14350" y="925830"/>
            <a:ext cx="2743200" cy="3394710"/>
          </a:xfrm>
          <a:prstGeom prst="roundRect">
            <a:avLst>
              <a:gd name="adj" fmla="val 1750"/>
            </a:avLst>
          </a:prstGeom>
          <a:solidFill>
            <a:srgbClr val="FBFCFE"/>
          </a:solidFill>
          <a:ln w="12700" cap="flat" cmpd="sng">
            <a:solidFill>
              <a:srgbClr val="CAD6E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B8C4CE">
                <a:alpha val="1607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637794" y="1021842"/>
            <a:ext cx="249631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Invariant at the start of each scan step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637794" y="1282446"/>
            <a:ext cx="2496312" cy="2955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For pivot x = A[r]: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• A[p…i] ≤ x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• A[i+1…j−1] &gt; x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• A[r] = x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• A[j…r−1] is not yet classified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3669030" y="1028700"/>
            <a:ext cx="342900" cy="192024"/>
          </a:xfrm>
          <a:prstGeom prst="roundRect">
            <a:avLst>
              <a:gd name="adj" fmla="val 21429"/>
            </a:avLst>
          </a:prstGeom>
          <a:solidFill>
            <a:srgbClr val="087E8B"/>
          </a:solidFill>
          <a:ln w="12700" cap="flat" cmpd="sng">
            <a:solidFill>
              <a:srgbClr val="087E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3689604" y="1059561"/>
            <a:ext cx="301752" cy="10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4149090" y="994410"/>
            <a:ext cx="1543050" cy="17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2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Initialization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4149090" y="1255014"/>
            <a:ext cx="4114800" cy="56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 = p−1 and j = p. The two classified regions are empty, so the first two claims hold vacuously.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59" name="Google Shape;259;p22"/>
          <p:cNvCxnSpPr/>
          <p:nvPr/>
        </p:nvCxnSpPr>
        <p:spPr>
          <a:xfrm>
            <a:off x="3840480" y="1803654"/>
            <a:ext cx="0" cy="246888"/>
          </a:xfrm>
          <a:prstGeom prst="straightConnector1">
            <a:avLst/>
          </a:prstGeom>
          <a:noFill/>
          <a:ln w="15225" cap="flat" cmpd="sng">
            <a:solidFill>
              <a:srgbClr val="AAB5B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0" name="Google Shape;260;p22"/>
          <p:cNvSpPr/>
          <p:nvPr/>
        </p:nvSpPr>
        <p:spPr>
          <a:xfrm>
            <a:off x="3669030" y="2160270"/>
            <a:ext cx="342900" cy="192024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3689604" y="2191131"/>
            <a:ext cx="301752" cy="10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4149090" y="2125980"/>
            <a:ext cx="1543050" cy="17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2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Maintenance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4149090" y="2386584"/>
            <a:ext cx="4114800" cy="56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If A[j] &gt; x, only j moves. If A[j] ≤ x, increment i and swap; both classified regions remain valid.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64" name="Google Shape;264;p22"/>
          <p:cNvCxnSpPr/>
          <p:nvPr/>
        </p:nvCxnSpPr>
        <p:spPr>
          <a:xfrm>
            <a:off x="3840480" y="2935224"/>
            <a:ext cx="0" cy="246888"/>
          </a:xfrm>
          <a:prstGeom prst="straightConnector1">
            <a:avLst/>
          </a:prstGeom>
          <a:noFill/>
          <a:ln w="15225" cap="flat" cmpd="sng">
            <a:solidFill>
              <a:srgbClr val="AAB5B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5" name="Google Shape;265;p22"/>
          <p:cNvSpPr/>
          <p:nvPr/>
        </p:nvSpPr>
        <p:spPr>
          <a:xfrm>
            <a:off x="3669030" y="3291840"/>
            <a:ext cx="342900" cy="192024"/>
          </a:xfrm>
          <a:prstGeom prst="roundRect">
            <a:avLst>
              <a:gd name="adj" fmla="val 21429"/>
            </a:avLst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3689604" y="3322701"/>
            <a:ext cx="301752" cy="10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4149090" y="3257550"/>
            <a:ext cx="1543050" cy="17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2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Termination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4149090" y="3518154"/>
            <a:ext cx="4114800" cy="56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When j = r, every non-pivot item is classified. Swapping x with A[i+1] puts the pivot between the two regions.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69" name="Google Shape;269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6190" y="4279392"/>
            <a:ext cx="4251960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>
            <a:spLocks noGrp="1"/>
          </p:cNvSpPr>
          <p:nvPr>
            <p:ph type="sldNum" idx="4294967295"/>
          </p:nvPr>
        </p:nvSpPr>
        <p:spPr>
          <a:xfrm>
            <a:off x="8798814" y="4882896"/>
            <a:ext cx="17145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600" b="0" i="0" u="none" strike="noStrike" cap="none">
              <a:solidFill>
                <a:srgbClr val="6C7A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"/>
          <p:cNvSpPr/>
          <p:nvPr/>
        </p:nvSpPr>
        <p:spPr>
          <a:xfrm>
            <a:off x="425196" y="233172"/>
            <a:ext cx="82296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2000"/>
              <a:buFont typeface="Play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Worked partition example: A = ⟨2, 8, 7, 1, 3, 5, 6, 4⟩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38912" y="562356"/>
            <a:ext cx="819531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Pivot x = 4. Watch the boundary i move only when a value ≤ 4 is encountered.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62356" y="94640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Step 1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562356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562356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857250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857250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8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1152144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1152144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7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1447038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1447038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1741932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1741932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2036826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2036826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5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2331720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2331720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6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2626614" y="1255014"/>
            <a:ext cx="294894" cy="329184"/>
          </a:xfrm>
          <a:prstGeom prst="rect">
            <a:avLst/>
          </a:prstGeom>
          <a:solidFill>
            <a:srgbClr val="FFF2D7"/>
          </a:solidFill>
          <a:ln w="13950" cap="flat" cmpd="sng">
            <a:solidFill>
              <a:srgbClr val="A77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2626614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4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562356" y="1684735"/>
            <a:ext cx="294894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6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j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562356" y="1961388"/>
            <a:ext cx="236601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Start: no item classified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3429000" y="94640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Step 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3429000" y="1255014"/>
            <a:ext cx="294894" cy="329184"/>
          </a:xfrm>
          <a:prstGeom prst="rect">
            <a:avLst/>
          </a:prstGeom>
          <a:solidFill>
            <a:srgbClr val="EAF6F5"/>
          </a:solidFill>
          <a:ln w="139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3429000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3723894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3723894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8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4018788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4018788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7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4313682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4313682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4608576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4608576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4903470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4903470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5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5198364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5198364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6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5493258" y="1255014"/>
            <a:ext cx="294894" cy="329184"/>
          </a:xfrm>
          <a:prstGeom prst="rect">
            <a:avLst/>
          </a:prstGeom>
          <a:solidFill>
            <a:srgbClr val="FFF2D7"/>
          </a:solidFill>
          <a:ln w="13950" cap="flat" cmpd="sng">
            <a:solidFill>
              <a:srgbClr val="A77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5493258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4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3429000" y="1632204"/>
            <a:ext cx="294894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6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3723894" y="1652778"/>
            <a:ext cx="294894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600"/>
              <a:buFont typeface="Arial"/>
              <a:buNone/>
            </a:pPr>
            <a:r>
              <a:rPr lang="en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j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3429000" y="1961388"/>
            <a:ext cx="236601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 ≤ 4 → smaller region grows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6295644" y="94640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Step 3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6295644" y="1255014"/>
            <a:ext cx="294894" cy="329184"/>
          </a:xfrm>
          <a:prstGeom prst="rect">
            <a:avLst/>
          </a:prstGeom>
          <a:solidFill>
            <a:srgbClr val="EAF6F5"/>
          </a:solidFill>
          <a:ln w="139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6295644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6590538" y="1255014"/>
            <a:ext cx="294894" cy="329184"/>
          </a:xfrm>
          <a:prstGeom prst="rect">
            <a:avLst/>
          </a:prstGeom>
          <a:solidFill>
            <a:srgbClr val="FFF3F4"/>
          </a:solidFill>
          <a:ln w="1395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6590538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8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6885432" y="1255014"/>
            <a:ext cx="294894" cy="329184"/>
          </a:xfrm>
          <a:prstGeom prst="rect">
            <a:avLst/>
          </a:prstGeom>
          <a:solidFill>
            <a:srgbClr val="FFF3F4"/>
          </a:solidFill>
          <a:ln w="1395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6885432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7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7180326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7180326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27" name="Google Shape;327;p23"/>
          <p:cNvSpPr/>
          <p:nvPr/>
        </p:nvSpPr>
        <p:spPr>
          <a:xfrm>
            <a:off x="7475220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7475220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7770114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7770114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5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8065008" y="125501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8065008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6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8359902" y="1255014"/>
            <a:ext cx="294894" cy="329184"/>
          </a:xfrm>
          <a:prstGeom prst="rect">
            <a:avLst/>
          </a:prstGeom>
          <a:solidFill>
            <a:srgbClr val="FFF2D7"/>
          </a:solidFill>
          <a:ln w="13950" cap="flat" cmpd="sng">
            <a:solidFill>
              <a:srgbClr val="A77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8359902" y="130987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4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6295644" y="1632204"/>
            <a:ext cx="294894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6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7180326" y="1652778"/>
            <a:ext cx="294894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6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j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6295644" y="1961388"/>
            <a:ext cx="236601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8,7 &gt; 4 → j advances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562356" y="269519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Step 4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562356" y="3003804"/>
            <a:ext cx="294894" cy="329184"/>
          </a:xfrm>
          <a:prstGeom prst="rect">
            <a:avLst/>
          </a:prstGeom>
          <a:solidFill>
            <a:srgbClr val="EAF6F5"/>
          </a:solidFill>
          <a:ln w="139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562356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857250" y="3003804"/>
            <a:ext cx="294894" cy="329184"/>
          </a:xfrm>
          <a:prstGeom prst="rect">
            <a:avLst/>
          </a:prstGeom>
          <a:solidFill>
            <a:srgbClr val="EAF6F5"/>
          </a:solidFill>
          <a:ln w="139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857250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1152144" y="3003804"/>
            <a:ext cx="294894" cy="329184"/>
          </a:xfrm>
          <a:prstGeom prst="rect">
            <a:avLst/>
          </a:prstGeom>
          <a:solidFill>
            <a:srgbClr val="FFF3F4"/>
          </a:solidFill>
          <a:ln w="1395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1152144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7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1447038" y="3003804"/>
            <a:ext cx="294894" cy="329184"/>
          </a:xfrm>
          <a:prstGeom prst="rect">
            <a:avLst/>
          </a:prstGeom>
          <a:solidFill>
            <a:srgbClr val="FFF3F4"/>
          </a:solidFill>
          <a:ln w="1395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1447038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8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1741932" y="300380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1741932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2036826" y="300380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2036826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5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2331720" y="300380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2331720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6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2626614" y="3003804"/>
            <a:ext cx="294894" cy="329184"/>
          </a:xfrm>
          <a:prstGeom prst="rect">
            <a:avLst/>
          </a:prstGeom>
          <a:solidFill>
            <a:srgbClr val="FFF2D7"/>
          </a:solidFill>
          <a:ln w="13950" cap="flat" cmpd="sng">
            <a:solidFill>
              <a:srgbClr val="A77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2626614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4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857250" y="3380994"/>
            <a:ext cx="294894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6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1741932" y="3387852"/>
            <a:ext cx="294894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6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j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562356" y="3710178"/>
            <a:ext cx="236601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 ≤ 4 → swap with first “&gt;4” item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3429000" y="269519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Step 5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3429000" y="3003804"/>
            <a:ext cx="294894" cy="329184"/>
          </a:xfrm>
          <a:prstGeom prst="rect">
            <a:avLst/>
          </a:prstGeom>
          <a:solidFill>
            <a:srgbClr val="EAF6F5"/>
          </a:solidFill>
          <a:ln w="139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3429000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3723894" y="3003804"/>
            <a:ext cx="294894" cy="329184"/>
          </a:xfrm>
          <a:prstGeom prst="rect">
            <a:avLst/>
          </a:prstGeom>
          <a:solidFill>
            <a:srgbClr val="EAF6F5"/>
          </a:solidFill>
          <a:ln w="139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3723894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4018788" y="3003804"/>
            <a:ext cx="294894" cy="329184"/>
          </a:xfrm>
          <a:prstGeom prst="rect">
            <a:avLst/>
          </a:prstGeom>
          <a:solidFill>
            <a:srgbClr val="EAF6F5"/>
          </a:solidFill>
          <a:ln w="139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4018788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4313682" y="3003804"/>
            <a:ext cx="294894" cy="329184"/>
          </a:xfrm>
          <a:prstGeom prst="rect">
            <a:avLst/>
          </a:prstGeom>
          <a:solidFill>
            <a:srgbClr val="FFF3F4"/>
          </a:solidFill>
          <a:ln w="1395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4313682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8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4608576" y="3003804"/>
            <a:ext cx="294894" cy="329184"/>
          </a:xfrm>
          <a:prstGeom prst="rect">
            <a:avLst/>
          </a:prstGeom>
          <a:solidFill>
            <a:srgbClr val="FFF3F4"/>
          </a:solidFill>
          <a:ln w="1395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4608576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7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4903470" y="300380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4903470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5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5198364" y="3003804"/>
            <a:ext cx="294894" cy="329184"/>
          </a:xfrm>
          <a:prstGeom prst="rect">
            <a:avLst/>
          </a:prstGeom>
          <a:solidFill>
            <a:srgbClr val="FFFFFF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5198364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6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73" name="Google Shape;373;p23"/>
          <p:cNvSpPr/>
          <p:nvPr/>
        </p:nvSpPr>
        <p:spPr>
          <a:xfrm>
            <a:off x="5493258" y="3003804"/>
            <a:ext cx="294894" cy="329184"/>
          </a:xfrm>
          <a:prstGeom prst="rect">
            <a:avLst/>
          </a:prstGeom>
          <a:solidFill>
            <a:srgbClr val="FFF2D7"/>
          </a:solidFill>
          <a:ln w="13950" cap="flat" cmpd="sng">
            <a:solidFill>
              <a:srgbClr val="A77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5493258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4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4018788" y="3380994"/>
            <a:ext cx="294894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6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4903470" y="3332988"/>
            <a:ext cx="294894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600"/>
              <a:buFont typeface="Arial"/>
              <a:buNone/>
            </a:pPr>
            <a:r>
              <a:rPr lang="en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j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3429000" y="3710178"/>
            <a:ext cx="236601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 ≤ 4 → swap into smaller region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6295644" y="269519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Step 6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6295644" y="3003804"/>
            <a:ext cx="294894" cy="329184"/>
          </a:xfrm>
          <a:prstGeom prst="rect">
            <a:avLst/>
          </a:prstGeom>
          <a:solidFill>
            <a:srgbClr val="EAF6F5"/>
          </a:solidFill>
          <a:ln w="139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6295644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6590538" y="3003804"/>
            <a:ext cx="294894" cy="329184"/>
          </a:xfrm>
          <a:prstGeom prst="rect">
            <a:avLst/>
          </a:prstGeom>
          <a:solidFill>
            <a:srgbClr val="EAF6F5"/>
          </a:solidFill>
          <a:ln w="139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6590538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6885432" y="3003804"/>
            <a:ext cx="294894" cy="329184"/>
          </a:xfrm>
          <a:prstGeom prst="rect">
            <a:avLst/>
          </a:prstGeom>
          <a:solidFill>
            <a:srgbClr val="EAF6F5"/>
          </a:solidFill>
          <a:ln w="139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6885432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7180326" y="3003804"/>
            <a:ext cx="294894" cy="329184"/>
          </a:xfrm>
          <a:prstGeom prst="rect">
            <a:avLst/>
          </a:prstGeom>
          <a:solidFill>
            <a:srgbClr val="FFF2D7"/>
          </a:solidFill>
          <a:ln w="13950" cap="flat" cmpd="sng">
            <a:solidFill>
              <a:srgbClr val="A77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7180326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4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7475220" y="3003804"/>
            <a:ext cx="294894" cy="329184"/>
          </a:xfrm>
          <a:prstGeom prst="rect">
            <a:avLst/>
          </a:prstGeom>
          <a:solidFill>
            <a:srgbClr val="FFF3F4"/>
          </a:solidFill>
          <a:ln w="1395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7475220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7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7770114" y="3003804"/>
            <a:ext cx="294894" cy="329184"/>
          </a:xfrm>
          <a:prstGeom prst="rect">
            <a:avLst/>
          </a:prstGeom>
          <a:solidFill>
            <a:srgbClr val="FFF3F4"/>
          </a:solidFill>
          <a:ln w="1395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7770114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5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8065008" y="3003804"/>
            <a:ext cx="294894" cy="329184"/>
          </a:xfrm>
          <a:prstGeom prst="rect">
            <a:avLst/>
          </a:prstGeom>
          <a:solidFill>
            <a:srgbClr val="FFF3F4"/>
          </a:solidFill>
          <a:ln w="1395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8065008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6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8359902" y="3003804"/>
            <a:ext cx="294894" cy="329184"/>
          </a:xfrm>
          <a:prstGeom prst="rect">
            <a:avLst/>
          </a:prstGeom>
          <a:solidFill>
            <a:srgbClr val="FFF2D7"/>
          </a:solidFill>
          <a:ln w="13950" cap="flat" cmpd="sng">
            <a:solidFill>
              <a:srgbClr val="A77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8359902" y="3058668"/>
            <a:ext cx="29489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8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7180326" y="3380994"/>
            <a:ext cx="294894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6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8359902" y="3332988"/>
            <a:ext cx="294894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6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j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6295644" y="3710178"/>
            <a:ext cx="236601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Final pivot swap → q = 4th position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99" name="Google Shape;399;p23"/>
          <p:cNvSpPr txBox="1">
            <a:spLocks noGrp="1"/>
          </p:cNvSpPr>
          <p:nvPr>
            <p:ph type="sldNum" idx="4294967295"/>
          </p:nvPr>
        </p:nvSpPr>
        <p:spPr>
          <a:xfrm>
            <a:off x="8798814" y="4882896"/>
            <a:ext cx="17145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600" b="0" i="0" u="none" strike="noStrike" cap="none">
              <a:solidFill>
                <a:srgbClr val="6C7A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4"/>
          <p:cNvSpPr/>
          <p:nvPr/>
        </p:nvSpPr>
        <p:spPr>
          <a:xfrm>
            <a:off x="425196" y="233172"/>
            <a:ext cx="82296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2000"/>
              <a:buFont typeface="Play"/>
              <a:buNone/>
            </a:pPr>
            <a:r>
              <a:rPr lang="en" sz="2000" b="1" i="0" u="none" strike="noStrike" cap="none">
                <a:solidFill>
                  <a:srgbClr val="0B3954"/>
                </a:solidFill>
                <a:latin typeface="Play"/>
                <a:ea typeface="Play"/>
                <a:cs typeface="Play"/>
                <a:sym typeface="Play"/>
              </a:rPr>
              <a:t>From one partition to the full sort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4"/>
          <p:cNvSpPr/>
          <p:nvPr/>
        </p:nvSpPr>
        <p:spPr>
          <a:xfrm>
            <a:off x="438912" y="562356"/>
            <a:ext cx="819531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Each pivot locks into its final rank, splitting the remaining work.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3236976" y="857250"/>
            <a:ext cx="2708910" cy="411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0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4"/>
          <p:cNvSpPr/>
          <p:nvPr/>
        </p:nvSpPr>
        <p:spPr>
          <a:xfrm>
            <a:off x="3271266" y="891540"/>
            <a:ext cx="264033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[2, 8, 7, 1, 3, 5, 6, 4]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3291840" y="1543050"/>
            <a:ext cx="1131570" cy="377190"/>
          </a:xfrm>
          <a:prstGeom prst="roundRect">
            <a:avLst>
              <a:gd name="adj" fmla="val 9091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4"/>
          <p:cNvSpPr/>
          <p:nvPr/>
        </p:nvSpPr>
        <p:spPr>
          <a:xfrm>
            <a:off x="3326130" y="1577340"/>
            <a:ext cx="106299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[2,1,3]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4834890" y="1543050"/>
            <a:ext cx="1440180" cy="377190"/>
          </a:xfrm>
          <a:prstGeom prst="roundRect">
            <a:avLst>
              <a:gd name="adj" fmla="val 9091"/>
            </a:avLst>
          </a:prstGeom>
          <a:solidFill>
            <a:srgbClr val="FFF3F4"/>
          </a:solidFill>
          <a:ln w="1650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4"/>
          <p:cNvSpPr/>
          <p:nvPr/>
        </p:nvSpPr>
        <p:spPr>
          <a:xfrm>
            <a:off x="4869180" y="1577340"/>
            <a:ext cx="137160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[7,5,6,8]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4443984" y="1591056"/>
            <a:ext cx="651510" cy="192024"/>
          </a:xfrm>
          <a:prstGeom prst="roundRect">
            <a:avLst>
              <a:gd name="adj" fmla="val 21429"/>
            </a:avLst>
          </a:prstGeom>
          <a:solidFill>
            <a:srgbClr val="A77A00"/>
          </a:solidFill>
          <a:ln w="12700" cap="flat" cmpd="sng">
            <a:solidFill>
              <a:srgbClr val="A77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4"/>
          <p:cNvSpPr/>
          <p:nvPr/>
        </p:nvSpPr>
        <p:spPr>
          <a:xfrm>
            <a:off x="4464558" y="1621917"/>
            <a:ext cx="610362" cy="10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fixed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" name="Google Shape;415;p24"/>
          <p:cNvCxnSpPr/>
          <p:nvPr/>
        </p:nvCxnSpPr>
        <p:spPr>
          <a:xfrm flipH="1">
            <a:off x="3854196" y="1255014"/>
            <a:ext cx="637794" cy="267462"/>
          </a:xfrm>
          <a:prstGeom prst="straightConnector1">
            <a:avLst/>
          </a:prstGeom>
          <a:noFill/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6" name="Google Shape;416;p24"/>
          <p:cNvCxnSpPr/>
          <p:nvPr/>
        </p:nvCxnSpPr>
        <p:spPr>
          <a:xfrm>
            <a:off x="4718304" y="1255014"/>
            <a:ext cx="768096" cy="267462"/>
          </a:xfrm>
          <a:prstGeom prst="straightConnector1">
            <a:avLst/>
          </a:prstGeom>
          <a:noFill/>
          <a:ln w="16500" cap="flat" cmpd="sng">
            <a:solidFill>
              <a:srgbClr val="D1495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7" name="Google Shape;417;p24"/>
          <p:cNvSpPr/>
          <p:nvPr/>
        </p:nvSpPr>
        <p:spPr>
          <a:xfrm>
            <a:off x="3188970" y="2297430"/>
            <a:ext cx="720090" cy="342900"/>
          </a:xfrm>
          <a:prstGeom prst="roundRect">
            <a:avLst>
              <a:gd name="adj" fmla="val 10000"/>
            </a:avLst>
          </a:prstGeom>
          <a:solidFill>
            <a:srgbClr val="F0F7F8"/>
          </a:solidFill>
          <a:ln w="16500" cap="flat" cmpd="sng">
            <a:solidFill>
              <a:srgbClr val="087E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3223260" y="2331720"/>
            <a:ext cx="65151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[2,1]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4011930" y="2352294"/>
            <a:ext cx="582930" cy="192024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4032504" y="2383155"/>
            <a:ext cx="541782" cy="10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fixed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4821174" y="2297430"/>
            <a:ext cx="720090" cy="342900"/>
          </a:xfrm>
          <a:prstGeom prst="roundRect">
            <a:avLst>
              <a:gd name="adj" fmla="val 10000"/>
            </a:avLst>
          </a:prstGeom>
          <a:solidFill>
            <a:srgbClr val="FFF4EB"/>
          </a:solidFill>
          <a:ln w="165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4"/>
          <p:cNvSpPr/>
          <p:nvPr/>
        </p:nvSpPr>
        <p:spPr>
          <a:xfrm>
            <a:off x="4855464" y="2331720"/>
            <a:ext cx="65151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[5,6]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5623560" y="2352294"/>
            <a:ext cx="582930" cy="192024"/>
          </a:xfrm>
          <a:prstGeom prst="roundRect">
            <a:avLst>
              <a:gd name="adj" fmla="val 21429"/>
            </a:avLst>
          </a:prstGeom>
          <a:solidFill>
            <a:srgbClr val="D1495B"/>
          </a:solidFill>
          <a:ln w="1270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5644134" y="2383155"/>
            <a:ext cx="541782" cy="10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 fixed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6295644" y="2352294"/>
            <a:ext cx="582930" cy="192024"/>
          </a:xfrm>
          <a:prstGeom prst="roundRect">
            <a:avLst>
              <a:gd name="adj" fmla="val 21429"/>
            </a:avLst>
          </a:prstGeom>
          <a:solidFill>
            <a:srgbClr val="D1495B"/>
          </a:solidFill>
          <a:ln w="1270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6316218" y="2383155"/>
            <a:ext cx="541782" cy="10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 fixed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p24"/>
          <p:cNvCxnSpPr/>
          <p:nvPr/>
        </p:nvCxnSpPr>
        <p:spPr>
          <a:xfrm flipH="1">
            <a:off x="3552444" y="1920240"/>
            <a:ext cx="322326" cy="356616"/>
          </a:xfrm>
          <a:prstGeom prst="straightConnector1">
            <a:avLst/>
          </a:prstGeom>
          <a:noFill/>
          <a:ln w="15225" cap="flat" cmpd="sng">
            <a:solidFill>
              <a:srgbClr val="087E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8" name="Google Shape;428;p24"/>
          <p:cNvCxnSpPr/>
          <p:nvPr/>
        </p:nvCxnSpPr>
        <p:spPr>
          <a:xfrm flipH="1">
            <a:off x="5177790" y="1920240"/>
            <a:ext cx="342900" cy="356616"/>
          </a:xfrm>
          <a:prstGeom prst="straightConnector1">
            <a:avLst/>
          </a:prstGeom>
          <a:noFill/>
          <a:ln w="15225" cap="flat" cmpd="sng">
            <a:solidFill>
              <a:srgbClr val="F4A26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9" name="Google Shape;429;p24"/>
          <p:cNvSpPr/>
          <p:nvPr/>
        </p:nvSpPr>
        <p:spPr>
          <a:xfrm>
            <a:off x="2846070" y="3072384"/>
            <a:ext cx="562356" cy="192024"/>
          </a:xfrm>
          <a:prstGeom prst="roundRect">
            <a:avLst>
              <a:gd name="adj" fmla="val 21429"/>
            </a:avLst>
          </a:prstGeom>
          <a:solidFill>
            <a:srgbClr val="087E8B"/>
          </a:solidFill>
          <a:ln w="12700" cap="flat" cmpd="sng">
            <a:solidFill>
              <a:srgbClr val="087E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4"/>
          <p:cNvSpPr/>
          <p:nvPr/>
        </p:nvSpPr>
        <p:spPr>
          <a:xfrm>
            <a:off x="2866644" y="3103245"/>
            <a:ext cx="521208" cy="10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fixed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3497580" y="3072384"/>
            <a:ext cx="562356" cy="192024"/>
          </a:xfrm>
          <a:prstGeom prst="roundRect">
            <a:avLst>
              <a:gd name="adj" fmla="val 21429"/>
            </a:avLst>
          </a:prstGeom>
          <a:solidFill>
            <a:srgbClr val="087E8B"/>
          </a:solidFill>
          <a:ln w="12700" cap="flat" cmpd="sng">
            <a:solidFill>
              <a:srgbClr val="087E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4"/>
          <p:cNvSpPr/>
          <p:nvPr/>
        </p:nvSpPr>
        <p:spPr>
          <a:xfrm>
            <a:off x="3518154" y="3103245"/>
            <a:ext cx="521208" cy="10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fixed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4594860" y="3072384"/>
            <a:ext cx="562356" cy="192024"/>
          </a:xfrm>
          <a:prstGeom prst="roundRect">
            <a:avLst>
              <a:gd name="adj" fmla="val 21429"/>
            </a:avLst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4"/>
          <p:cNvSpPr/>
          <p:nvPr/>
        </p:nvSpPr>
        <p:spPr>
          <a:xfrm>
            <a:off x="4615434" y="3103245"/>
            <a:ext cx="521208" cy="10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fixed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5253228" y="3072384"/>
            <a:ext cx="562356" cy="192024"/>
          </a:xfrm>
          <a:prstGeom prst="roundRect">
            <a:avLst>
              <a:gd name="adj" fmla="val 21429"/>
            </a:avLst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/>
          <p:nvPr/>
        </p:nvSpPr>
        <p:spPr>
          <a:xfrm>
            <a:off x="5273802" y="3103245"/>
            <a:ext cx="521208" cy="10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 fixed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24"/>
          <p:cNvCxnSpPr/>
          <p:nvPr/>
        </p:nvCxnSpPr>
        <p:spPr>
          <a:xfrm flipH="1">
            <a:off x="3168396" y="2660904"/>
            <a:ext cx="384048" cy="390906"/>
          </a:xfrm>
          <a:prstGeom prst="straightConnector1">
            <a:avLst/>
          </a:prstGeom>
          <a:noFill/>
          <a:ln w="13950" cap="flat" cmpd="sng">
            <a:solidFill>
              <a:srgbClr val="087E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8" name="Google Shape;438;p24"/>
          <p:cNvCxnSpPr/>
          <p:nvPr/>
        </p:nvCxnSpPr>
        <p:spPr>
          <a:xfrm>
            <a:off x="3552444" y="2660904"/>
            <a:ext cx="205740" cy="390906"/>
          </a:xfrm>
          <a:prstGeom prst="straightConnector1">
            <a:avLst/>
          </a:prstGeom>
          <a:noFill/>
          <a:ln w="13950" cap="flat" cmpd="sng">
            <a:solidFill>
              <a:srgbClr val="087E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9" name="Google Shape;439;p24"/>
          <p:cNvCxnSpPr/>
          <p:nvPr/>
        </p:nvCxnSpPr>
        <p:spPr>
          <a:xfrm flipH="1">
            <a:off x="4869180" y="2660904"/>
            <a:ext cx="308610" cy="390906"/>
          </a:xfrm>
          <a:prstGeom prst="straightConnector1">
            <a:avLst/>
          </a:prstGeom>
          <a:noFill/>
          <a:ln w="13950" cap="flat" cmpd="sng">
            <a:solidFill>
              <a:srgbClr val="F4A26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0" name="Google Shape;440;p24"/>
          <p:cNvCxnSpPr/>
          <p:nvPr/>
        </p:nvCxnSpPr>
        <p:spPr>
          <a:xfrm>
            <a:off x="5177790" y="2660904"/>
            <a:ext cx="342900" cy="390906"/>
          </a:xfrm>
          <a:prstGeom prst="straightConnector1">
            <a:avLst/>
          </a:prstGeom>
          <a:noFill/>
          <a:ln w="13950" cap="flat" cmpd="sng">
            <a:solidFill>
              <a:srgbClr val="F4A26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1" name="Google Shape;441;p24"/>
          <p:cNvSpPr/>
          <p:nvPr/>
        </p:nvSpPr>
        <p:spPr>
          <a:xfrm>
            <a:off x="720090" y="3751326"/>
            <a:ext cx="7543800" cy="630936"/>
          </a:xfrm>
          <a:prstGeom prst="roundRect">
            <a:avLst>
              <a:gd name="adj" fmla="val 16667"/>
            </a:avLst>
          </a:prstGeom>
          <a:solidFill>
            <a:srgbClr val="F3F6F8"/>
          </a:solidFill>
          <a:ln w="12700" cap="flat" cmpd="sng">
            <a:solidFill>
              <a:srgbClr val="D2DB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4"/>
          <p:cNvSpPr/>
          <p:nvPr/>
        </p:nvSpPr>
        <p:spPr>
          <a:xfrm>
            <a:off x="925830" y="3950208"/>
            <a:ext cx="75438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Final order: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1748790" y="3874770"/>
            <a:ext cx="397764" cy="329184"/>
          </a:xfrm>
          <a:prstGeom prst="rect">
            <a:avLst/>
          </a:prstGeom>
          <a:solidFill>
            <a:srgbClr val="EAF6F5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4"/>
          <p:cNvSpPr/>
          <p:nvPr/>
        </p:nvSpPr>
        <p:spPr>
          <a:xfrm>
            <a:off x="1748790" y="3929634"/>
            <a:ext cx="39776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2146554" y="3874770"/>
            <a:ext cx="397764" cy="329184"/>
          </a:xfrm>
          <a:prstGeom prst="rect">
            <a:avLst/>
          </a:prstGeom>
          <a:solidFill>
            <a:srgbClr val="EAF6F5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4"/>
          <p:cNvSpPr/>
          <p:nvPr/>
        </p:nvSpPr>
        <p:spPr>
          <a:xfrm>
            <a:off x="2146554" y="3929634"/>
            <a:ext cx="39776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2544318" y="3874770"/>
            <a:ext cx="397764" cy="329184"/>
          </a:xfrm>
          <a:prstGeom prst="rect">
            <a:avLst/>
          </a:prstGeom>
          <a:solidFill>
            <a:srgbClr val="EAF6F5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4"/>
          <p:cNvSpPr/>
          <p:nvPr/>
        </p:nvSpPr>
        <p:spPr>
          <a:xfrm>
            <a:off x="2544318" y="3929634"/>
            <a:ext cx="39776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2942082" y="3874770"/>
            <a:ext cx="397764" cy="329184"/>
          </a:xfrm>
          <a:prstGeom prst="rect">
            <a:avLst/>
          </a:prstGeom>
          <a:solidFill>
            <a:srgbClr val="FFF2D7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24"/>
          <p:cNvSpPr/>
          <p:nvPr/>
        </p:nvSpPr>
        <p:spPr>
          <a:xfrm>
            <a:off x="2942082" y="3929634"/>
            <a:ext cx="39776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3339846" y="3874770"/>
            <a:ext cx="397764" cy="329184"/>
          </a:xfrm>
          <a:prstGeom prst="rect">
            <a:avLst/>
          </a:prstGeom>
          <a:solidFill>
            <a:srgbClr val="FFF4EB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24"/>
          <p:cNvSpPr/>
          <p:nvPr/>
        </p:nvSpPr>
        <p:spPr>
          <a:xfrm>
            <a:off x="3339846" y="3929634"/>
            <a:ext cx="39776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3737610" y="3874770"/>
            <a:ext cx="397764" cy="329184"/>
          </a:xfrm>
          <a:prstGeom prst="rect">
            <a:avLst/>
          </a:prstGeom>
          <a:solidFill>
            <a:srgbClr val="FFF4EB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4"/>
          <p:cNvSpPr/>
          <p:nvPr/>
        </p:nvSpPr>
        <p:spPr>
          <a:xfrm>
            <a:off x="3737610" y="3929634"/>
            <a:ext cx="39776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4135374" y="3874770"/>
            <a:ext cx="397764" cy="329184"/>
          </a:xfrm>
          <a:prstGeom prst="rect">
            <a:avLst/>
          </a:prstGeom>
          <a:solidFill>
            <a:srgbClr val="FFF3F4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4"/>
          <p:cNvSpPr/>
          <p:nvPr/>
        </p:nvSpPr>
        <p:spPr>
          <a:xfrm>
            <a:off x="4135374" y="3929634"/>
            <a:ext cx="39776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4533138" y="3874770"/>
            <a:ext cx="397764" cy="329184"/>
          </a:xfrm>
          <a:prstGeom prst="rect">
            <a:avLst/>
          </a:prstGeom>
          <a:solidFill>
            <a:srgbClr val="FFF3F4"/>
          </a:solidFill>
          <a:ln w="1395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4"/>
          <p:cNvSpPr/>
          <p:nvPr/>
        </p:nvSpPr>
        <p:spPr>
          <a:xfrm>
            <a:off x="4533138" y="3929634"/>
            <a:ext cx="39776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822960" y="4560570"/>
            <a:ext cx="747522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B3954"/>
                </a:solidFill>
                <a:latin typeface="Arial"/>
                <a:ea typeface="Arial"/>
                <a:cs typeface="Arial"/>
                <a:sym typeface="Arial"/>
              </a:rPr>
              <a:t>Insight: recursion is not “moving the pivot later”; it permanently settles one rank at every partition.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5486400" y="4889754"/>
            <a:ext cx="3120390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793"/>
              </a:buClr>
              <a:buSzPts val="500"/>
              <a:buFont typeface="Arial"/>
              <a:buNone/>
            </a:pPr>
            <a:r>
              <a:rPr lang="en" sz="500" b="0" i="1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rPr>
              <a:t>Conceptual recursion tree; CLRS §7.1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4"/>
          <p:cNvSpPr txBox="1">
            <a:spLocks noGrp="1"/>
          </p:cNvSpPr>
          <p:nvPr>
            <p:ph type="sldNum" idx="4294967295"/>
          </p:nvPr>
        </p:nvSpPr>
        <p:spPr>
          <a:xfrm>
            <a:off x="8798814" y="4882896"/>
            <a:ext cx="17145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600" b="0" i="0" u="none" strike="noStrike" cap="none">
              <a:solidFill>
                <a:srgbClr val="6C7A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5"/>
          <p:cNvSpPr/>
          <p:nvPr/>
        </p:nvSpPr>
        <p:spPr>
          <a:xfrm>
            <a:off x="425196" y="233172"/>
            <a:ext cx="82296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2000"/>
              <a:buFont typeface="Play"/>
              <a:buNone/>
            </a:pPr>
            <a:r>
              <a:rPr lang="en" sz="2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Cost</a:t>
            </a:r>
            <a:r>
              <a:rPr lang="en" sz="2000" b="1" i="0" u="none" strike="noStrike" cap="none" dirty="0">
                <a:solidFill>
                  <a:schemeClr val="tx1"/>
                </a:solidFill>
                <a:latin typeface="Play"/>
                <a:ea typeface="Play"/>
                <a:cs typeface="Play"/>
                <a:sym typeface="Play"/>
              </a:rPr>
              <a:t> model: partitioning dominates the running time</a:t>
            </a:r>
            <a:endParaRPr sz="2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438912" y="562356"/>
            <a:ext cx="819531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Quicksort complexity is the sum of linear partition costs across the recursion tree.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469" name="Google Shape;469;p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849" y="1317833"/>
            <a:ext cx="356616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589" y="2049936"/>
            <a:ext cx="356616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5"/>
          <p:cNvSpPr/>
          <p:nvPr/>
        </p:nvSpPr>
        <p:spPr>
          <a:xfrm>
            <a:off x="584843" y="2632866"/>
            <a:ext cx="3806190" cy="1360636"/>
          </a:xfrm>
          <a:prstGeom prst="roundRect">
            <a:avLst>
              <a:gd name="adj" fmla="val 2857"/>
            </a:avLst>
          </a:prstGeom>
          <a:solidFill>
            <a:srgbClr val="FBFCFE"/>
          </a:solidFill>
          <a:ln w="12700" cap="flat" cmpd="sng">
            <a:solidFill>
              <a:srgbClr val="CAD6E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B8C4CE">
                <a:alpha val="1607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708287" y="2728878"/>
            <a:ext cx="355930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Why Θ(n)?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708287" y="2989482"/>
            <a:ext cx="3559302" cy="124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 loop examines each of the n−1 non-pivot elements once. Swaps are O(1). The final pivot swap is O(1). Hence total work grows linearly with subarray length.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5213993" y="1396957"/>
            <a:ext cx="24003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200"/>
              <a:buFont typeface="Arial"/>
              <a:buNone/>
            </a:pPr>
            <a:r>
              <a:rPr lang="en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Recursion-tree viewpoint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5810639" y="1844196"/>
            <a:ext cx="822960" cy="342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0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5844929" y="1878486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4953389" y="2598576"/>
            <a:ext cx="822960" cy="329184"/>
          </a:xfrm>
          <a:prstGeom prst="roundRect">
            <a:avLst>
              <a:gd name="adj" fmla="val 10417"/>
            </a:avLst>
          </a:prstGeom>
          <a:solidFill>
            <a:srgbClr val="EEF5FA"/>
          </a:solidFill>
          <a:ln w="16500" cap="flat" cmpd="sng">
            <a:solidFill>
              <a:srgbClr val="087E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8" name="Google Shape;478;p25"/>
          <p:cNvSpPr/>
          <p:nvPr/>
        </p:nvSpPr>
        <p:spPr>
          <a:xfrm>
            <a:off x="4987679" y="2632866"/>
            <a:ext cx="7543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6702179" y="2598576"/>
            <a:ext cx="1028700" cy="329184"/>
          </a:xfrm>
          <a:prstGeom prst="roundRect">
            <a:avLst>
              <a:gd name="adj" fmla="val 10417"/>
            </a:avLst>
          </a:prstGeom>
          <a:solidFill>
            <a:srgbClr val="FFF4EB"/>
          </a:solidFill>
          <a:ln w="165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0" name="Google Shape;480;p25"/>
          <p:cNvSpPr/>
          <p:nvPr/>
        </p:nvSpPr>
        <p:spPr>
          <a:xfrm>
            <a:off x="6736469" y="2632866"/>
            <a:ext cx="9601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n−q−1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81" name="Google Shape;481;p25"/>
          <p:cNvCxnSpPr/>
          <p:nvPr/>
        </p:nvCxnSpPr>
        <p:spPr>
          <a:xfrm flipH="1">
            <a:off x="5399159" y="2200812"/>
            <a:ext cx="822960" cy="377190"/>
          </a:xfrm>
          <a:prstGeom prst="straightConnector1">
            <a:avLst/>
          </a:prstGeom>
          <a:noFill/>
          <a:ln w="16500" cap="flat" cmpd="sng">
            <a:solidFill>
              <a:srgbClr val="087E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2" name="Google Shape;482;p25"/>
          <p:cNvCxnSpPr/>
          <p:nvPr/>
        </p:nvCxnSpPr>
        <p:spPr>
          <a:xfrm>
            <a:off x="6324989" y="2200812"/>
            <a:ext cx="891540" cy="377190"/>
          </a:xfrm>
          <a:prstGeom prst="straightConnector1">
            <a:avLst/>
          </a:prstGeom>
          <a:noFill/>
          <a:ln w="16500" cap="flat" cmpd="sng">
            <a:solidFill>
              <a:srgbClr val="F4A26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3" name="Google Shape;483;p25"/>
          <p:cNvSpPr/>
          <p:nvPr/>
        </p:nvSpPr>
        <p:spPr>
          <a:xfrm>
            <a:off x="4781939" y="3112926"/>
            <a:ext cx="3188970" cy="301752"/>
          </a:xfrm>
          <a:prstGeom prst="bracePair">
            <a:avLst/>
          </a:prstGeom>
          <a:solidFill>
            <a:srgbClr val="FFFFFF">
              <a:alpha val="0"/>
            </a:srgbClr>
          </a:solidFill>
          <a:ln w="15225" cap="flat" cmpd="sng">
            <a:solidFill>
              <a:srgbClr val="5F6B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4" name="Google Shape;484;p25"/>
          <p:cNvSpPr/>
          <p:nvPr/>
        </p:nvSpPr>
        <p:spPr>
          <a:xfrm>
            <a:off x="5111123" y="3442110"/>
            <a:ext cx="260604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Total subproblem sizes on a level ≈ 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85" name="Google Shape;485;p25"/>
          <p:cNvSpPr/>
          <p:nvPr/>
        </p:nvSpPr>
        <p:spPr>
          <a:xfrm>
            <a:off x="4905383" y="4073046"/>
            <a:ext cx="29489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87E8B"/>
              </a:buClr>
              <a:buSzPts val="1100"/>
              <a:buFont typeface="Arial"/>
              <a:buNone/>
            </a:pPr>
            <a:r>
              <a:rPr lang="en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Therefore, the number of “useful levels” is the decisive factor.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87" name="Google Shape;487;p25"/>
          <p:cNvSpPr txBox="1">
            <a:spLocks noGrp="1"/>
          </p:cNvSpPr>
          <p:nvPr>
            <p:ph type="sldNum" idx="4294967295"/>
          </p:nvPr>
        </p:nvSpPr>
        <p:spPr>
          <a:xfrm>
            <a:off x="8798814" y="4882896"/>
            <a:ext cx="17145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600" b="0" i="0" u="none" strike="noStrike" cap="none">
              <a:solidFill>
                <a:srgbClr val="6C7A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6"/>
          <p:cNvSpPr/>
          <p:nvPr/>
        </p:nvSpPr>
        <p:spPr>
          <a:xfrm>
            <a:off x="425196" y="233172"/>
            <a:ext cx="82296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2000"/>
              <a:buFont typeface="Play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Worst case: every pivot is an extreme element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438912" y="562356"/>
            <a:ext cx="819531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One side has size n−1 and the other has size 0 at every recursive call.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495" name="Google Shape;495;p2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220" y="925830"/>
            <a:ext cx="294894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6"/>
          <p:cNvSpPr/>
          <p:nvPr/>
        </p:nvSpPr>
        <p:spPr>
          <a:xfrm>
            <a:off x="5109210" y="925830"/>
            <a:ext cx="685800" cy="329184"/>
          </a:xfrm>
          <a:prstGeom prst="roundRect">
            <a:avLst>
              <a:gd name="adj" fmla="val 10417"/>
            </a:avLst>
          </a:prstGeom>
          <a:solidFill>
            <a:srgbClr val="FFF3F4"/>
          </a:solidFill>
          <a:ln w="1650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7" name="Google Shape;497;p26"/>
          <p:cNvSpPr/>
          <p:nvPr/>
        </p:nvSpPr>
        <p:spPr>
          <a:xfrm>
            <a:off x="5143500" y="960120"/>
            <a:ext cx="6172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98" name="Google Shape;498;p26"/>
          <p:cNvCxnSpPr/>
          <p:nvPr/>
        </p:nvCxnSpPr>
        <p:spPr>
          <a:xfrm>
            <a:off x="5486400" y="1255014"/>
            <a:ext cx="500634" cy="288036"/>
          </a:xfrm>
          <a:prstGeom prst="straightConnector1">
            <a:avLst/>
          </a:prstGeom>
          <a:noFill/>
          <a:ln w="13950" cap="flat" cmpd="sng">
            <a:solidFill>
              <a:srgbClr val="D1495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9" name="Google Shape;499;p26"/>
          <p:cNvSpPr/>
          <p:nvPr/>
        </p:nvSpPr>
        <p:spPr>
          <a:xfrm>
            <a:off x="5644134" y="1543050"/>
            <a:ext cx="685800" cy="329184"/>
          </a:xfrm>
          <a:prstGeom prst="roundRect">
            <a:avLst>
              <a:gd name="adj" fmla="val 10417"/>
            </a:avLst>
          </a:prstGeom>
          <a:solidFill>
            <a:srgbClr val="FFF3F4"/>
          </a:solidFill>
          <a:ln w="1650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5678424" y="1577340"/>
            <a:ext cx="6172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n−1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01" name="Google Shape;501;p26"/>
          <p:cNvCxnSpPr/>
          <p:nvPr/>
        </p:nvCxnSpPr>
        <p:spPr>
          <a:xfrm>
            <a:off x="6021324" y="1872234"/>
            <a:ext cx="500634" cy="288036"/>
          </a:xfrm>
          <a:prstGeom prst="straightConnector1">
            <a:avLst/>
          </a:prstGeom>
          <a:noFill/>
          <a:ln w="13950" cap="flat" cmpd="sng">
            <a:solidFill>
              <a:srgbClr val="D1495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02" name="Google Shape;502;p26"/>
          <p:cNvSpPr/>
          <p:nvPr/>
        </p:nvSpPr>
        <p:spPr>
          <a:xfrm>
            <a:off x="6179058" y="2160270"/>
            <a:ext cx="685800" cy="329184"/>
          </a:xfrm>
          <a:prstGeom prst="roundRect">
            <a:avLst>
              <a:gd name="adj" fmla="val 10417"/>
            </a:avLst>
          </a:prstGeom>
          <a:solidFill>
            <a:srgbClr val="FFF3F4"/>
          </a:solidFill>
          <a:ln w="1650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6213348" y="2194560"/>
            <a:ext cx="6172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n−2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04" name="Google Shape;504;p26"/>
          <p:cNvCxnSpPr/>
          <p:nvPr/>
        </p:nvCxnSpPr>
        <p:spPr>
          <a:xfrm>
            <a:off x="6556248" y="2489454"/>
            <a:ext cx="500634" cy="288036"/>
          </a:xfrm>
          <a:prstGeom prst="straightConnector1">
            <a:avLst/>
          </a:prstGeom>
          <a:noFill/>
          <a:ln w="13950" cap="flat" cmpd="sng">
            <a:solidFill>
              <a:srgbClr val="D1495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05" name="Google Shape;505;p26"/>
          <p:cNvSpPr/>
          <p:nvPr/>
        </p:nvSpPr>
        <p:spPr>
          <a:xfrm>
            <a:off x="6713982" y="2777490"/>
            <a:ext cx="685800" cy="329184"/>
          </a:xfrm>
          <a:prstGeom prst="roundRect">
            <a:avLst>
              <a:gd name="adj" fmla="val 10417"/>
            </a:avLst>
          </a:prstGeom>
          <a:solidFill>
            <a:srgbClr val="F3F5F7"/>
          </a:solidFill>
          <a:ln w="1650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6748272" y="2811780"/>
            <a:ext cx="6172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⋮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07" name="Google Shape;507;p26"/>
          <p:cNvCxnSpPr/>
          <p:nvPr/>
        </p:nvCxnSpPr>
        <p:spPr>
          <a:xfrm>
            <a:off x="7091172" y="3106674"/>
            <a:ext cx="500634" cy="288036"/>
          </a:xfrm>
          <a:prstGeom prst="straightConnector1">
            <a:avLst/>
          </a:prstGeom>
          <a:noFill/>
          <a:ln w="13950" cap="flat" cmpd="sng">
            <a:solidFill>
              <a:srgbClr val="D1495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08" name="Google Shape;508;p26"/>
          <p:cNvSpPr/>
          <p:nvPr/>
        </p:nvSpPr>
        <p:spPr>
          <a:xfrm>
            <a:off x="7248906" y="3394710"/>
            <a:ext cx="685800" cy="329184"/>
          </a:xfrm>
          <a:prstGeom prst="roundRect">
            <a:avLst>
              <a:gd name="adj" fmla="val 10417"/>
            </a:avLst>
          </a:prstGeom>
          <a:solidFill>
            <a:srgbClr val="FFF3F4"/>
          </a:solidFill>
          <a:ln w="1650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9" name="Google Shape;509;p26"/>
          <p:cNvSpPr/>
          <p:nvPr/>
        </p:nvSpPr>
        <p:spPr>
          <a:xfrm>
            <a:off x="7283196" y="3429000"/>
            <a:ext cx="6172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10" name="Google Shape;510;p26"/>
          <p:cNvSpPr/>
          <p:nvPr/>
        </p:nvSpPr>
        <p:spPr>
          <a:xfrm>
            <a:off x="5486400" y="3909060"/>
            <a:ext cx="233172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0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recursion depth ≈ 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511" name="Google Shape;511;p2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510" y="1611630"/>
            <a:ext cx="3909060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6"/>
          <p:cNvSpPr/>
          <p:nvPr/>
        </p:nvSpPr>
        <p:spPr>
          <a:xfrm>
            <a:off x="617220" y="2434590"/>
            <a:ext cx="3806190" cy="1337310"/>
          </a:xfrm>
          <a:prstGeom prst="roundRect">
            <a:avLst>
              <a:gd name="adj" fmla="val 3590"/>
            </a:avLst>
          </a:prstGeom>
          <a:solidFill>
            <a:srgbClr val="FFF7F8"/>
          </a:solidFill>
          <a:ln w="12700" cap="flat" cmpd="sng">
            <a:solidFill>
              <a:srgbClr val="F2C9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B8C4CE">
                <a:alpha val="1607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3" name="Google Shape;513;p26"/>
          <p:cNvSpPr/>
          <p:nvPr/>
        </p:nvSpPr>
        <p:spPr>
          <a:xfrm>
            <a:off x="740664" y="2530602"/>
            <a:ext cx="355930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When can this happen?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14" name="Google Shape;514;p26"/>
          <p:cNvSpPr/>
          <p:nvPr/>
        </p:nvSpPr>
        <p:spPr>
          <a:xfrm>
            <a:off x="740664" y="2791206"/>
            <a:ext cx="3559302" cy="898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With the fixed-last-element pivot rule, already sorted or reverse-sorted distinct input produces an extreme pivot at every step.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15" name="Google Shape;515;p26"/>
          <p:cNvSpPr/>
          <p:nvPr/>
        </p:nvSpPr>
        <p:spPr>
          <a:xfrm>
            <a:off x="5280660" y="4306824"/>
            <a:ext cx="1543050" cy="192024"/>
          </a:xfrm>
          <a:prstGeom prst="roundRect">
            <a:avLst>
              <a:gd name="adj" fmla="val 21429"/>
            </a:avLst>
          </a:prstGeom>
          <a:solidFill>
            <a:srgbClr val="D1495B"/>
          </a:solidFill>
          <a:ln w="1270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6" name="Google Shape;516;p26"/>
          <p:cNvSpPr/>
          <p:nvPr/>
        </p:nvSpPr>
        <p:spPr>
          <a:xfrm>
            <a:off x="5301234" y="4337685"/>
            <a:ext cx="1501902" cy="10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Θ(n²) comparisons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18" name="Google Shape;518;p26"/>
          <p:cNvSpPr txBox="1">
            <a:spLocks noGrp="1"/>
          </p:cNvSpPr>
          <p:nvPr>
            <p:ph type="sldNum" idx="4294967295"/>
          </p:nvPr>
        </p:nvSpPr>
        <p:spPr>
          <a:xfrm>
            <a:off x="8798814" y="4882896"/>
            <a:ext cx="17145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600" b="0" i="0" u="none" strike="noStrike" cap="none">
              <a:solidFill>
                <a:srgbClr val="6C7A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7"/>
          <p:cNvSpPr/>
          <p:nvPr/>
        </p:nvSpPr>
        <p:spPr>
          <a:xfrm>
            <a:off x="425196" y="233172"/>
            <a:ext cx="82296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2000"/>
              <a:buFont typeface="Play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Best case: nearly equal halves at every split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438912" y="562356"/>
            <a:ext cx="819531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Balanced partitioning minimizes recursion depth.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526" name="Google Shape;526;p2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930" y="891540"/>
            <a:ext cx="301752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7"/>
          <p:cNvSpPr/>
          <p:nvPr/>
        </p:nvSpPr>
        <p:spPr>
          <a:xfrm>
            <a:off x="2234336" y="1371600"/>
            <a:ext cx="4652468" cy="28803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650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8" name="Google Shape;528;p27"/>
          <p:cNvSpPr/>
          <p:nvPr/>
        </p:nvSpPr>
        <p:spPr>
          <a:xfrm>
            <a:off x="2268626" y="1405890"/>
            <a:ext cx="458388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29" name="Google Shape;529;p27"/>
          <p:cNvSpPr/>
          <p:nvPr/>
        </p:nvSpPr>
        <p:spPr>
          <a:xfrm>
            <a:off x="1580083" y="2139696"/>
            <a:ext cx="2326234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0" name="Google Shape;530;p27"/>
          <p:cNvSpPr/>
          <p:nvPr/>
        </p:nvSpPr>
        <p:spPr>
          <a:xfrm>
            <a:off x="1614374" y="2173986"/>
            <a:ext cx="225765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n/2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31" name="Google Shape;531;p27"/>
          <p:cNvCxnSpPr/>
          <p:nvPr/>
        </p:nvCxnSpPr>
        <p:spPr>
          <a:xfrm flipH="1">
            <a:off x="2743200" y="1659636"/>
            <a:ext cx="1817370" cy="480060"/>
          </a:xfrm>
          <a:prstGeom prst="straightConnector1">
            <a:avLst/>
          </a:prstGeom>
          <a:noFill/>
          <a:ln w="114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32" name="Google Shape;532;p27"/>
          <p:cNvSpPr/>
          <p:nvPr/>
        </p:nvSpPr>
        <p:spPr>
          <a:xfrm>
            <a:off x="5214824" y="2139696"/>
            <a:ext cx="2326234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" name="Google Shape;533;p27"/>
          <p:cNvSpPr/>
          <p:nvPr/>
        </p:nvSpPr>
        <p:spPr>
          <a:xfrm>
            <a:off x="5249114" y="2173986"/>
            <a:ext cx="225765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n/2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34" name="Google Shape;534;p27"/>
          <p:cNvCxnSpPr/>
          <p:nvPr/>
        </p:nvCxnSpPr>
        <p:spPr>
          <a:xfrm>
            <a:off x="4560570" y="1659636"/>
            <a:ext cx="1817370" cy="480060"/>
          </a:xfrm>
          <a:prstGeom prst="straightConnector1">
            <a:avLst/>
          </a:prstGeom>
          <a:noFill/>
          <a:ln w="114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35" name="Google Shape;535;p27"/>
          <p:cNvSpPr/>
          <p:nvPr/>
        </p:nvSpPr>
        <p:spPr>
          <a:xfrm>
            <a:off x="1252957" y="2907792"/>
            <a:ext cx="1163116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6" name="Google Shape;536;p27"/>
          <p:cNvSpPr/>
          <p:nvPr/>
        </p:nvSpPr>
        <p:spPr>
          <a:xfrm>
            <a:off x="1287247" y="2942082"/>
            <a:ext cx="1094537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n/4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37" name="Google Shape;537;p27"/>
          <p:cNvCxnSpPr/>
          <p:nvPr/>
        </p:nvCxnSpPr>
        <p:spPr>
          <a:xfrm flipH="1">
            <a:off x="1834515" y="2427732"/>
            <a:ext cx="908685" cy="480060"/>
          </a:xfrm>
          <a:prstGeom prst="straightConnector1">
            <a:avLst/>
          </a:prstGeom>
          <a:noFill/>
          <a:ln w="114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38" name="Google Shape;538;p27"/>
          <p:cNvSpPr/>
          <p:nvPr/>
        </p:nvSpPr>
        <p:spPr>
          <a:xfrm>
            <a:off x="3070327" y="2907792"/>
            <a:ext cx="1163116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9" name="Google Shape;539;p27"/>
          <p:cNvSpPr/>
          <p:nvPr/>
        </p:nvSpPr>
        <p:spPr>
          <a:xfrm>
            <a:off x="3104617" y="2942082"/>
            <a:ext cx="1094537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n/4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40" name="Google Shape;540;p27"/>
          <p:cNvCxnSpPr/>
          <p:nvPr/>
        </p:nvCxnSpPr>
        <p:spPr>
          <a:xfrm>
            <a:off x="2743200" y="2427732"/>
            <a:ext cx="908685" cy="480060"/>
          </a:xfrm>
          <a:prstGeom prst="straightConnector1">
            <a:avLst/>
          </a:prstGeom>
          <a:noFill/>
          <a:ln w="114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1" name="Google Shape;541;p27"/>
          <p:cNvSpPr/>
          <p:nvPr/>
        </p:nvSpPr>
        <p:spPr>
          <a:xfrm>
            <a:off x="4887697" y="2907792"/>
            <a:ext cx="1163116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" name="Google Shape;542;p27"/>
          <p:cNvSpPr/>
          <p:nvPr/>
        </p:nvSpPr>
        <p:spPr>
          <a:xfrm>
            <a:off x="4921987" y="2942082"/>
            <a:ext cx="10945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n/4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43" name="Google Shape;543;p27"/>
          <p:cNvCxnSpPr/>
          <p:nvPr/>
        </p:nvCxnSpPr>
        <p:spPr>
          <a:xfrm flipH="1">
            <a:off x="5469255" y="2427732"/>
            <a:ext cx="908685" cy="480060"/>
          </a:xfrm>
          <a:prstGeom prst="straightConnector1">
            <a:avLst/>
          </a:prstGeom>
          <a:noFill/>
          <a:ln w="114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4" name="Google Shape;544;p27"/>
          <p:cNvSpPr/>
          <p:nvPr/>
        </p:nvSpPr>
        <p:spPr>
          <a:xfrm>
            <a:off x="6705067" y="2907792"/>
            <a:ext cx="1163116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6739357" y="2942082"/>
            <a:ext cx="1094537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n/4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46" name="Google Shape;546;p27"/>
          <p:cNvCxnSpPr/>
          <p:nvPr/>
        </p:nvCxnSpPr>
        <p:spPr>
          <a:xfrm>
            <a:off x="6377940" y="2427732"/>
            <a:ext cx="908685" cy="480060"/>
          </a:xfrm>
          <a:prstGeom prst="straightConnector1">
            <a:avLst/>
          </a:prstGeom>
          <a:noFill/>
          <a:ln w="114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7" name="Google Shape;547;p27"/>
          <p:cNvSpPr/>
          <p:nvPr/>
        </p:nvSpPr>
        <p:spPr>
          <a:xfrm>
            <a:off x="1089393" y="3675888"/>
            <a:ext cx="581558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8" name="Google Shape;548;p27"/>
          <p:cNvSpPr/>
          <p:nvPr/>
        </p:nvSpPr>
        <p:spPr>
          <a:xfrm>
            <a:off x="1123683" y="3710178"/>
            <a:ext cx="51297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n/8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49" name="Google Shape;549;p27"/>
          <p:cNvCxnSpPr/>
          <p:nvPr/>
        </p:nvCxnSpPr>
        <p:spPr>
          <a:xfrm flipH="1">
            <a:off x="1380173" y="3195828"/>
            <a:ext cx="454342" cy="480060"/>
          </a:xfrm>
          <a:prstGeom prst="straightConnector1">
            <a:avLst/>
          </a:prstGeom>
          <a:noFill/>
          <a:ln w="114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0" name="Google Shape;550;p27"/>
          <p:cNvSpPr/>
          <p:nvPr/>
        </p:nvSpPr>
        <p:spPr>
          <a:xfrm>
            <a:off x="1998078" y="3675888"/>
            <a:ext cx="581558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1" name="Google Shape;551;p27"/>
          <p:cNvSpPr/>
          <p:nvPr/>
        </p:nvSpPr>
        <p:spPr>
          <a:xfrm>
            <a:off x="2032368" y="3710178"/>
            <a:ext cx="51297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n/8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52" name="Google Shape;552;p27"/>
          <p:cNvCxnSpPr/>
          <p:nvPr/>
        </p:nvCxnSpPr>
        <p:spPr>
          <a:xfrm>
            <a:off x="1834515" y="3195828"/>
            <a:ext cx="454342" cy="480060"/>
          </a:xfrm>
          <a:prstGeom prst="straightConnector1">
            <a:avLst/>
          </a:prstGeom>
          <a:noFill/>
          <a:ln w="114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3" name="Google Shape;553;p27"/>
          <p:cNvSpPr/>
          <p:nvPr/>
        </p:nvSpPr>
        <p:spPr>
          <a:xfrm>
            <a:off x="2906763" y="3675888"/>
            <a:ext cx="581558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4" name="Google Shape;554;p27"/>
          <p:cNvSpPr/>
          <p:nvPr/>
        </p:nvSpPr>
        <p:spPr>
          <a:xfrm>
            <a:off x="2941053" y="3710178"/>
            <a:ext cx="51297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n/8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55" name="Google Shape;555;p27"/>
          <p:cNvCxnSpPr/>
          <p:nvPr/>
        </p:nvCxnSpPr>
        <p:spPr>
          <a:xfrm flipH="1">
            <a:off x="3197543" y="3195828"/>
            <a:ext cx="454342" cy="480060"/>
          </a:xfrm>
          <a:prstGeom prst="straightConnector1">
            <a:avLst/>
          </a:prstGeom>
          <a:noFill/>
          <a:ln w="114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6" name="Google Shape;556;p27"/>
          <p:cNvSpPr/>
          <p:nvPr/>
        </p:nvSpPr>
        <p:spPr>
          <a:xfrm>
            <a:off x="3815448" y="3675888"/>
            <a:ext cx="581558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7" name="Google Shape;557;p27"/>
          <p:cNvSpPr/>
          <p:nvPr/>
        </p:nvSpPr>
        <p:spPr>
          <a:xfrm>
            <a:off x="3849738" y="3710178"/>
            <a:ext cx="51297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n/8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58" name="Google Shape;558;p27"/>
          <p:cNvCxnSpPr/>
          <p:nvPr/>
        </p:nvCxnSpPr>
        <p:spPr>
          <a:xfrm>
            <a:off x="3651885" y="3195828"/>
            <a:ext cx="454343" cy="480060"/>
          </a:xfrm>
          <a:prstGeom prst="straightConnector1">
            <a:avLst/>
          </a:prstGeom>
          <a:noFill/>
          <a:ln w="114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9" name="Google Shape;559;p27"/>
          <p:cNvSpPr/>
          <p:nvPr/>
        </p:nvSpPr>
        <p:spPr>
          <a:xfrm>
            <a:off x="4724133" y="3675888"/>
            <a:ext cx="581558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0" name="Google Shape;560;p27"/>
          <p:cNvSpPr/>
          <p:nvPr/>
        </p:nvSpPr>
        <p:spPr>
          <a:xfrm>
            <a:off x="4758423" y="3710178"/>
            <a:ext cx="51297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n/8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61" name="Google Shape;561;p27"/>
          <p:cNvCxnSpPr/>
          <p:nvPr/>
        </p:nvCxnSpPr>
        <p:spPr>
          <a:xfrm flipH="1">
            <a:off x="5014912" y="3195828"/>
            <a:ext cx="454343" cy="480060"/>
          </a:xfrm>
          <a:prstGeom prst="straightConnector1">
            <a:avLst/>
          </a:prstGeom>
          <a:noFill/>
          <a:ln w="114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62" name="Google Shape;562;p27"/>
          <p:cNvSpPr/>
          <p:nvPr/>
        </p:nvSpPr>
        <p:spPr>
          <a:xfrm>
            <a:off x="5632818" y="3675888"/>
            <a:ext cx="581558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Google Shape;563;p27"/>
          <p:cNvSpPr/>
          <p:nvPr/>
        </p:nvSpPr>
        <p:spPr>
          <a:xfrm>
            <a:off x="5667108" y="3710178"/>
            <a:ext cx="51297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n/8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64" name="Google Shape;564;p27"/>
          <p:cNvCxnSpPr/>
          <p:nvPr/>
        </p:nvCxnSpPr>
        <p:spPr>
          <a:xfrm>
            <a:off x="5469255" y="3195828"/>
            <a:ext cx="454343" cy="480060"/>
          </a:xfrm>
          <a:prstGeom prst="straightConnector1">
            <a:avLst/>
          </a:prstGeom>
          <a:noFill/>
          <a:ln w="114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65" name="Google Shape;565;p27"/>
          <p:cNvSpPr/>
          <p:nvPr/>
        </p:nvSpPr>
        <p:spPr>
          <a:xfrm>
            <a:off x="6541503" y="3675888"/>
            <a:ext cx="581558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6" name="Google Shape;566;p27"/>
          <p:cNvSpPr/>
          <p:nvPr/>
        </p:nvSpPr>
        <p:spPr>
          <a:xfrm>
            <a:off x="6575793" y="3710178"/>
            <a:ext cx="51297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n/8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67" name="Google Shape;567;p27"/>
          <p:cNvCxnSpPr/>
          <p:nvPr/>
        </p:nvCxnSpPr>
        <p:spPr>
          <a:xfrm flipH="1">
            <a:off x="6832283" y="3195828"/>
            <a:ext cx="454343" cy="480060"/>
          </a:xfrm>
          <a:prstGeom prst="straightConnector1">
            <a:avLst/>
          </a:prstGeom>
          <a:noFill/>
          <a:ln w="114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68" name="Google Shape;568;p27"/>
          <p:cNvSpPr/>
          <p:nvPr/>
        </p:nvSpPr>
        <p:spPr>
          <a:xfrm>
            <a:off x="7450188" y="3675888"/>
            <a:ext cx="581558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9" name="Google Shape;569;p27"/>
          <p:cNvSpPr/>
          <p:nvPr/>
        </p:nvSpPr>
        <p:spPr>
          <a:xfrm>
            <a:off x="7484478" y="3710178"/>
            <a:ext cx="51297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n/8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70" name="Google Shape;570;p27"/>
          <p:cNvCxnSpPr/>
          <p:nvPr/>
        </p:nvCxnSpPr>
        <p:spPr>
          <a:xfrm>
            <a:off x="7286625" y="3195828"/>
            <a:ext cx="454343" cy="480060"/>
          </a:xfrm>
          <a:prstGeom prst="straightConnector1">
            <a:avLst/>
          </a:prstGeom>
          <a:noFill/>
          <a:ln w="114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1" name="Google Shape;571;p27"/>
          <p:cNvSpPr/>
          <p:nvPr/>
        </p:nvSpPr>
        <p:spPr>
          <a:xfrm>
            <a:off x="5726430" y="905256"/>
            <a:ext cx="24003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Each level performs Θ(n) total partition work.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572" name="Google Shape;572;p2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7790" y="4217670"/>
            <a:ext cx="298323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7"/>
          <p:cNvSpPr txBox="1">
            <a:spLocks noGrp="1"/>
          </p:cNvSpPr>
          <p:nvPr>
            <p:ph type="sldNum" idx="4294967295"/>
          </p:nvPr>
        </p:nvSpPr>
        <p:spPr>
          <a:xfrm>
            <a:off x="8798814" y="4882896"/>
            <a:ext cx="17145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 b="0" i="0" u="none" strike="noStrike" cap="none">
                <a:solidFill>
                  <a:srgbClr val="6C7A89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600" b="0" i="0" u="none" strike="noStrike" cap="none">
              <a:solidFill>
                <a:srgbClr val="6C7A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8"/>
          <p:cNvSpPr/>
          <p:nvPr/>
        </p:nvSpPr>
        <p:spPr>
          <a:xfrm>
            <a:off x="425196" y="233172"/>
            <a:ext cx="82296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2000"/>
              <a:buFont typeface="Play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A surprising result: 9:1 splits are still O(n log n)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81" name="Google Shape;581;p28"/>
          <p:cNvSpPr/>
          <p:nvPr/>
        </p:nvSpPr>
        <p:spPr>
          <a:xfrm>
            <a:off x="438912" y="562356"/>
            <a:ext cx="819531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Quicksort does not require perfect halves; any fixed proportional split keeps logarithmic depth.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582" name="Google Shape;582;p2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930" y="836676"/>
            <a:ext cx="336042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8"/>
          <p:cNvSpPr/>
          <p:nvPr/>
        </p:nvSpPr>
        <p:spPr>
          <a:xfrm>
            <a:off x="4903470" y="925830"/>
            <a:ext cx="788670" cy="30861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0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4" name="Google Shape;584;p28"/>
          <p:cNvSpPr/>
          <p:nvPr/>
        </p:nvSpPr>
        <p:spPr>
          <a:xfrm>
            <a:off x="4937760" y="960120"/>
            <a:ext cx="72009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85" name="Google Shape;585;p28"/>
          <p:cNvSpPr/>
          <p:nvPr/>
        </p:nvSpPr>
        <p:spPr>
          <a:xfrm>
            <a:off x="4011930" y="1611630"/>
            <a:ext cx="925830" cy="308610"/>
          </a:xfrm>
          <a:prstGeom prst="roundRect">
            <a:avLst>
              <a:gd name="adj" fmla="val 11111"/>
            </a:avLst>
          </a:prstGeom>
          <a:solidFill>
            <a:srgbClr val="EEF5FA"/>
          </a:solidFill>
          <a:ln w="16500" cap="flat" cmpd="sng">
            <a:solidFill>
              <a:srgbClr val="087E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6" name="Google Shape;586;p28"/>
          <p:cNvSpPr/>
          <p:nvPr/>
        </p:nvSpPr>
        <p:spPr>
          <a:xfrm>
            <a:off x="4046220" y="1645920"/>
            <a:ext cx="85725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0.1n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87" name="Google Shape;587;p28"/>
          <p:cNvSpPr/>
          <p:nvPr/>
        </p:nvSpPr>
        <p:spPr>
          <a:xfrm>
            <a:off x="6000750" y="1611630"/>
            <a:ext cx="925830" cy="308610"/>
          </a:xfrm>
          <a:prstGeom prst="roundRect">
            <a:avLst>
              <a:gd name="adj" fmla="val 11111"/>
            </a:avLst>
          </a:prstGeom>
          <a:solidFill>
            <a:srgbClr val="FFF4EB"/>
          </a:solidFill>
          <a:ln w="165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8" name="Google Shape;588;p28"/>
          <p:cNvSpPr/>
          <p:nvPr/>
        </p:nvSpPr>
        <p:spPr>
          <a:xfrm>
            <a:off x="6035040" y="1645920"/>
            <a:ext cx="85725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0.9n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89" name="Google Shape;589;p28"/>
          <p:cNvCxnSpPr/>
          <p:nvPr/>
        </p:nvCxnSpPr>
        <p:spPr>
          <a:xfrm flipH="1">
            <a:off x="4478274" y="1234440"/>
            <a:ext cx="802386" cy="356616"/>
          </a:xfrm>
          <a:prstGeom prst="straightConnector1">
            <a:avLst/>
          </a:prstGeom>
          <a:noFill/>
          <a:ln w="15225" cap="flat" cmpd="sng">
            <a:solidFill>
              <a:srgbClr val="087E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0" name="Google Shape;590;p28"/>
          <p:cNvCxnSpPr/>
          <p:nvPr/>
        </p:nvCxnSpPr>
        <p:spPr>
          <a:xfrm>
            <a:off x="5335524" y="1234440"/>
            <a:ext cx="1131570" cy="356616"/>
          </a:xfrm>
          <a:prstGeom prst="straightConnector1">
            <a:avLst/>
          </a:prstGeom>
          <a:noFill/>
          <a:ln w="15225" cap="flat" cmpd="sng">
            <a:solidFill>
              <a:srgbClr val="F4A26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1" name="Google Shape;591;p28"/>
          <p:cNvSpPr/>
          <p:nvPr/>
        </p:nvSpPr>
        <p:spPr>
          <a:xfrm>
            <a:off x="5314950" y="2345436"/>
            <a:ext cx="822960" cy="288036"/>
          </a:xfrm>
          <a:prstGeom prst="roundRect">
            <a:avLst>
              <a:gd name="adj" fmla="val 11905"/>
            </a:avLst>
          </a:prstGeom>
          <a:solidFill>
            <a:srgbClr val="EEF5FA"/>
          </a:solidFill>
          <a:ln w="16500" cap="flat" cmpd="sng">
            <a:solidFill>
              <a:srgbClr val="087E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2" name="Google Shape;592;p28"/>
          <p:cNvSpPr/>
          <p:nvPr/>
        </p:nvSpPr>
        <p:spPr>
          <a:xfrm>
            <a:off x="5349240" y="2379726"/>
            <a:ext cx="7543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0.09n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6617970" y="2345436"/>
            <a:ext cx="925830" cy="288036"/>
          </a:xfrm>
          <a:prstGeom prst="roundRect">
            <a:avLst>
              <a:gd name="adj" fmla="val 11905"/>
            </a:avLst>
          </a:prstGeom>
          <a:solidFill>
            <a:srgbClr val="FFF4EB"/>
          </a:solidFill>
          <a:ln w="165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" name="Google Shape;594;p28"/>
          <p:cNvSpPr/>
          <p:nvPr/>
        </p:nvSpPr>
        <p:spPr>
          <a:xfrm>
            <a:off x="6652260" y="2379726"/>
            <a:ext cx="85725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0.81n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95" name="Google Shape;595;p28"/>
          <p:cNvCxnSpPr/>
          <p:nvPr/>
        </p:nvCxnSpPr>
        <p:spPr>
          <a:xfrm flipH="1">
            <a:off x="5726430" y="1920240"/>
            <a:ext cx="733806" cy="411480"/>
          </a:xfrm>
          <a:prstGeom prst="straightConnector1">
            <a:avLst/>
          </a:prstGeom>
          <a:noFill/>
          <a:ln w="12700" cap="flat" cmpd="sng">
            <a:solidFill>
              <a:srgbClr val="087E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6" name="Google Shape;596;p28"/>
          <p:cNvCxnSpPr/>
          <p:nvPr/>
        </p:nvCxnSpPr>
        <p:spPr>
          <a:xfrm>
            <a:off x="6501384" y="1920240"/>
            <a:ext cx="576072" cy="411480"/>
          </a:xfrm>
          <a:prstGeom prst="straightConnector1">
            <a:avLst/>
          </a:prstGeom>
          <a:noFill/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7" name="Google Shape;597;p28"/>
          <p:cNvSpPr/>
          <p:nvPr/>
        </p:nvSpPr>
        <p:spPr>
          <a:xfrm>
            <a:off x="6789420" y="3072384"/>
            <a:ext cx="891540" cy="274320"/>
          </a:xfrm>
          <a:prstGeom prst="roundRect">
            <a:avLst>
              <a:gd name="adj" fmla="val 12500"/>
            </a:avLst>
          </a:prstGeom>
          <a:solidFill>
            <a:srgbClr val="FFF4EB"/>
          </a:solidFill>
          <a:ln w="165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8" name="Google Shape;598;p28"/>
          <p:cNvSpPr/>
          <p:nvPr/>
        </p:nvSpPr>
        <p:spPr>
          <a:xfrm>
            <a:off x="6823710" y="3106674"/>
            <a:ext cx="82296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0.729n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99" name="Google Shape;599;p28"/>
          <p:cNvCxnSpPr/>
          <p:nvPr/>
        </p:nvCxnSpPr>
        <p:spPr>
          <a:xfrm>
            <a:off x="7077456" y="2633472"/>
            <a:ext cx="157734" cy="425196"/>
          </a:xfrm>
          <a:prstGeom prst="straightConnector1">
            <a:avLst/>
          </a:prstGeom>
          <a:noFill/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0" name="Google Shape;600;p28"/>
          <p:cNvCxnSpPr/>
          <p:nvPr/>
        </p:nvCxnSpPr>
        <p:spPr>
          <a:xfrm>
            <a:off x="8332470" y="891540"/>
            <a:ext cx="0" cy="2811780"/>
          </a:xfrm>
          <a:prstGeom prst="straightConnector1">
            <a:avLst/>
          </a:prstGeom>
          <a:noFill/>
          <a:ln w="15225" cap="flat" cmpd="sng">
            <a:solidFill>
              <a:srgbClr val="5F6B7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1" name="Google Shape;601;p28"/>
          <p:cNvSpPr/>
          <p:nvPr/>
        </p:nvSpPr>
        <p:spPr>
          <a:xfrm>
            <a:off x="7440930" y="3806190"/>
            <a:ext cx="133731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deepest branch ≈ log₁₀⁄₉ 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02" name="Google Shape;602;p28"/>
          <p:cNvSpPr/>
          <p:nvPr/>
        </p:nvSpPr>
        <p:spPr>
          <a:xfrm>
            <a:off x="617220" y="1508760"/>
            <a:ext cx="3086100" cy="1611630"/>
          </a:xfrm>
          <a:prstGeom prst="roundRect">
            <a:avLst>
              <a:gd name="adj" fmla="val 2979"/>
            </a:avLst>
          </a:prstGeom>
          <a:solidFill>
            <a:srgbClr val="F0F7F8"/>
          </a:solidFill>
          <a:ln w="12700" cap="flat" cmpd="sng">
            <a:solidFill>
              <a:srgbClr val="B9DEE2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B8C4CE">
                <a:alpha val="1607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3" name="Google Shape;603;p28"/>
          <p:cNvSpPr/>
          <p:nvPr/>
        </p:nvSpPr>
        <p:spPr>
          <a:xfrm>
            <a:off x="740664" y="1604772"/>
            <a:ext cx="283921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7E8B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Why the total is still O(n log n)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04" name="Google Shape;604;p28"/>
          <p:cNvSpPr/>
          <p:nvPr/>
        </p:nvSpPr>
        <p:spPr>
          <a:xfrm>
            <a:off x="740664" y="1865376"/>
            <a:ext cx="2839212" cy="1172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At each active level, subproblem sizes sum to at most n, so the level costs O(n). The deepest branch is logarithmic because repeated multiplication by 0.9 reaches 1 after Θ(log n) steps.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605" name="Google Shape;605;p2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510" y="3463290"/>
            <a:ext cx="2983230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8"/>
          <p:cNvSpPr/>
          <p:nvPr/>
        </p:nvSpPr>
        <p:spPr>
          <a:xfrm>
            <a:off x="2715208" y="4135374"/>
            <a:ext cx="2496872" cy="445770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7" name="Google Shape;607;p28"/>
          <p:cNvSpPr/>
          <p:nvPr/>
        </p:nvSpPr>
        <p:spPr>
          <a:xfrm>
            <a:off x="2827176" y="4183380"/>
            <a:ext cx="2364330" cy="397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even 99:1 → O(n log n)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9"/>
          <p:cNvSpPr/>
          <p:nvPr/>
        </p:nvSpPr>
        <p:spPr>
          <a:xfrm>
            <a:off x="425196" y="233172"/>
            <a:ext cx="82296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2000"/>
              <a:buFont typeface="Play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Average-case intuition: “bad” splits can be absorbed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16" name="Google Shape;616;p29"/>
          <p:cNvSpPr/>
          <p:nvPr/>
        </p:nvSpPr>
        <p:spPr>
          <a:xfrm>
            <a:off x="438912" y="562356"/>
            <a:ext cx="819531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 bad split followed by a good split can make the same progress as one balanced level, up to constants.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17" name="Google Shape;617;p29"/>
          <p:cNvSpPr/>
          <p:nvPr/>
        </p:nvSpPr>
        <p:spPr>
          <a:xfrm>
            <a:off x="685800" y="857250"/>
            <a:ext cx="219456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Two consecutive levels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18" name="Google Shape;618;p29"/>
          <p:cNvSpPr/>
          <p:nvPr/>
        </p:nvSpPr>
        <p:spPr>
          <a:xfrm>
            <a:off x="1268730" y="1234440"/>
            <a:ext cx="788670" cy="31546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0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9" name="Google Shape;619;p29"/>
          <p:cNvSpPr/>
          <p:nvPr/>
        </p:nvSpPr>
        <p:spPr>
          <a:xfrm>
            <a:off x="1303020" y="1268730"/>
            <a:ext cx="72009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20" name="Google Shape;620;p29"/>
          <p:cNvSpPr/>
          <p:nvPr/>
        </p:nvSpPr>
        <p:spPr>
          <a:xfrm>
            <a:off x="651510" y="1933956"/>
            <a:ext cx="617220" cy="288036"/>
          </a:xfrm>
          <a:prstGeom prst="roundRect">
            <a:avLst>
              <a:gd name="adj" fmla="val 11905"/>
            </a:avLst>
          </a:prstGeom>
          <a:solidFill>
            <a:srgbClr val="F3F5F7"/>
          </a:solidFill>
          <a:ln w="16500" cap="flat" cmpd="sng">
            <a:solidFill>
              <a:srgbClr val="9CA8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1" name="Google Shape;621;p29"/>
          <p:cNvSpPr/>
          <p:nvPr/>
        </p:nvSpPr>
        <p:spPr>
          <a:xfrm>
            <a:off x="685800" y="1968246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0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22" name="Google Shape;622;p29"/>
          <p:cNvSpPr/>
          <p:nvPr/>
        </p:nvSpPr>
        <p:spPr>
          <a:xfrm>
            <a:off x="1954530" y="1933956"/>
            <a:ext cx="754380" cy="288036"/>
          </a:xfrm>
          <a:prstGeom prst="roundRect">
            <a:avLst>
              <a:gd name="adj" fmla="val 11905"/>
            </a:avLst>
          </a:prstGeom>
          <a:solidFill>
            <a:srgbClr val="FFF3F4"/>
          </a:solidFill>
          <a:ln w="16500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3" name="Google Shape;623;p29"/>
          <p:cNvSpPr/>
          <p:nvPr/>
        </p:nvSpPr>
        <p:spPr>
          <a:xfrm>
            <a:off x="1988820" y="1968246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n−1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624" name="Google Shape;624;p29"/>
          <p:cNvCxnSpPr/>
          <p:nvPr/>
        </p:nvCxnSpPr>
        <p:spPr>
          <a:xfrm flipH="1">
            <a:off x="960120" y="1543050"/>
            <a:ext cx="651510" cy="377190"/>
          </a:xfrm>
          <a:prstGeom prst="straightConnector1">
            <a:avLst/>
          </a:prstGeom>
          <a:noFill/>
          <a:ln w="12700" cap="flat" cmpd="sng">
            <a:solidFill>
              <a:srgbClr val="9CA8B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5" name="Google Shape;625;p29"/>
          <p:cNvCxnSpPr/>
          <p:nvPr/>
        </p:nvCxnSpPr>
        <p:spPr>
          <a:xfrm>
            <a:off x="1680210" y="1543050"/>
            <a:ext cx="651510" cy="377190"/>
          </a:xfrm>
          <a:prstGeom prst="straightConnector1">
            <a:avLst/>
          </a:prstGeom>
          <a:noFill/>
          <a:ln w="12700" cap="flat" cmpd="sng">
            <a:solidFill>
              <a:srgbClr val="D1495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26" name="Google Shape;626;p29"/>
          <p:cNvSpPr/>
          <p:nvPr/>
        </p:nvSpPr>
        <p:spPr>
          <a:xfrm>
            <a:off x="1474470" y="2688336"/>
            <a:ext cx="891540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7" name="Google Shape;627;p29"/>
          <p:cNvSpPr/>
          <p:nvPr/>
        </p:nvSpPr>
        <p:spPr>
          <a:xfrm>
            <a:off x="1508760" y="2722626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≈(n−1)/2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28" name="Google Shape;628;p29"/>
          <p:cNvSpPr/>
          <p:nvPr/>
        </p:nvSpPr>
        <p:spPr>
          <a:xfrm>
            <a:off x="2640330" y="2688336"/>
            <a:ext cx="891540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9" name="Google Shape;629;p29"/>
          <p:cNvSpPr/>
          <p:nvPr/>
        </p:nvSpPr>
        <p:spPr>
          <a:xfrm>
            <a:off x="2674620" y="2722626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7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≈(n−1)/2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630" name="Google Shape;630;p29"/>
          <p:cNvCxnSpPr/>
          <p:nvPr/>
        </p:nvCxnSpPr>
        <p:spPr>
          <a:xfrm flipH="1">
            <a:off x="1920240" y="2228850"/>
            <a:ext cx="411480" cy="445770"/>
          </a:xfrm>
          <a:prstGeom prst="straightConnector1">
            <a:avLst/>
          </a:prstGeom>
          <a:noFill/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1" name="Google Shape;631;p29"/>
          <p:cNvCxnSpPr/>
          <p:nvPr/>
        </p:nvCxnSpPr>
        <p:spPr>
          <a:xfrm>
            <a:off x="2366010" y="2228850"/>
            <a:ext cx="720090" cy="445770"/>
          </a:xfrm>
          <a:prstGeom prst="straightConnector1">
            <a:avLst/>
          </a:prstGeom>
          <a:noFill/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32" name="Google Shape;632;p29"/>
          <p:cNvSpPr/>
          <p:nvPr/>
        </p:nvSpPr>
        <p:spPr>
          <a:xfrm>
            <a:off x="685800" y="3236976"/>
            <a:ext cx="294894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cost ≈ n + (n−1) = Θ(n)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33" name="Google Shape;633;p29"/>
          <p:cNvSpPr/>
          <p:nvPr/>
        </p:nvSpPr>
        <p:spPr>
          <a:xfrm>
            <a:off x="5280660" y="857250"/>
            <a:ext cx="20574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Equivalent progress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34" name="Google Shape;634;p29"/>
          <p:cNvSpPr/>
          <p:nvPr/>
        </p:nvSpPr>
        <p:spPr>
          <a:xfrm>
            <a:off x="5863590" y="1508760"/>
            <a:ext cx="788670" cy="31546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0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5" name="Google Shape;635;p29"/>
          <p:cNvSpPr/>
          <p:nvPr/>
        </p:nvSpPr>
        <p:spPr>
          <a:xfrm>
            <a:off x="5897880" y="1543050"/>
            <a:ext cx="72009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36" name="Google Shape;636;p29"/>
          <p:cNvSpPr/>
          <p:nvPr/>
        </p:nvSpPr>
        <p:spPr>
          <a:xfrm>
            <a:off x="5177790" y="2345436"/>
            <a:ext cx="925830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7" name="Google Shape;637;p29"/>
          <p:cNvSpPr/>
          <p:nvPr/>
        </p:nvSpPr>
        <p:spPr>
          <a:xfrm>
            <a:off x="5212080" y="2379726"/>
            <a:ext cx="85725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≈n/2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38" name="Google Shape;638;p29"/>
          <p:cNvSpPr/>
          <p:nvPr/>
        </p:nvSpPr>
        <p:spPr>
          <a:xfrm>
            <a:off x="6480810" y="2345436"/>
            <a:ext cx="925830" cy="288036"/>
          </a:xfrm>
          <a:prstGeom prst="roundRect">
            <a:avLst>
              <a:gd name="adj" fmla="val 11905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9" name="Google Shape;639;p29"/>
          <p:cNvSpPr/>
          <p:nvPr/>
        </p:nvSpPr>
        <p:spPr>
          <a:xfrm>
            <a:off x="6515100" y="2379726"/>
            <a:ext cx="85725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8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≈n/2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640" name="Google Shape;640;p29"/>
          <p:cNvCxnSpPr/>
          <p:nvPr/>
        </p:nvCxnSpPr>
        <p:spPr>
          <a:xfrm flipH="1">
            <a:off x="5623560" y="1817370"/>
            <a:ext cx="617220" cy="514350"/>
          </a:xfrm>
          <a:prstGeom prst="straightConnector1">
            <a:avLst/>
          </a:prstGeom>
          <a:noFill/>
          <a:ln w="152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1" name="Google Shape;641;p29"/>
          <p:cNvCxnSpPr/>
          <p:nvPr/>
        </p:nvCxnSpPr>
        <p:spPr>
          <a:xfrm>
            <a:off x="6309360" y="1817370"/>
            <a:ext cx="617220" cy="514350"/>
          </a:xfrm>
          <a:prstGeom prst="straightConnector1">
            <a:avLst/>
          </a:prstGeom>
          <a:noFill/>
          <a:ln w="152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2" name="Google Shape;642;p29"/>
          <p:cNvSpPr/>
          <p:nvPr/>
        </p:nvSpPr>
        <p:spPr>
          <a:xfrm>
            <a:off x="5417820" y="2777490"/>
            <a:ext cx="192024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cost = Θ(n)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43" name="Google Shape;643;p29"/>
          <p:cNvSpPr/>
          <p:nvPr/>
        </p:nvSpPr>
        <p:spPr>
          <a:xfrm>
            <a:off x="1508760" y="3669030"/>
            <a:ext cx="6103620" cy="1145286"/>
          </a:xfrm>
          <a:prstGeom prst="roundRect">
            <a:avLst>
              <a:gd name="adj" fmla="val 6364"/>
            </a:avLst>
          </a:prstGeom>
          <a:solidFill>
            <a:srgbClr val="F7FAFC"/>
          </a:solidFill>
          <a:ln w="12700" cap="flat" cmpd="sng">
            <a:solidFill>
              <a:srgbClr val="D4DEE6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B8C4CE">
                <a:alpha val="1607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4" name="Google Shape;644;p29"/>
          <p:cNvSpPr/>
          <p:nvPr/>
        </p:nvSpPr>
        <p:spPr>
          <a:xfrm>
            <a:off x="1632204" y="3765042"/>
            <a:ext cx="585673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Core idea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45" name="Google Shape;645;p29"/>
          <p:cNvSpPr/>
          <p:nvPr/>
        </p:nvSpPr>
        <p:spPr>
          <a:xfrm>
            <a:off x="1632204" y="4025646"/>
            <a:ext cx="5856732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Random inputs produce a mixture of good and bad partitions. A few bad levels only change constants; sufficiently frequent constant-fraction splits keep total expected work near n log n.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0"/>
          <p:cNvSpPr/>
          <p:nvPr/>
        </p:nvSpPr>
        <p:spPr>
          <a:xfrm>
            <a:off x="425196" y="233172"/>
            <a:ext cx="82296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2000"/>
              <a:buFont typeface="Play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Randomized Quicksort: make pivot quality independent of input order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54" name="Google Shape;654;p30"/>
          <p:cNvSpPr/>
          <p:nvPr/>
        </p:nvSpPr>
        <p:spPr>
          <a:xfrm>
            <a:off x="438912" y="562356"/>
            <a:ext cx="819531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Instead of trusting the input distribution, inject randomness into pivot selection.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55" name="Google Shape;655;p30"/>
          <p:cNvSpPr/>
          <p:nvPr/>
        </p:nvSpPr>
        <p:spPr>
          <a:xfrm>
            <a:off x="617220" y="1131570"/>
            <a:ext cx="2125980" cy="44577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6500" cap="flat" cmpd="sng">
            <a:solidFill>
              <a:srgbClr val="0B39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6" name="Google Shape;656;p30"/>
          <p:cNvSpPr/>
          <p:nvPr/>
        </p:nvSpPr>
        <p:spPr>
          <a:xfrm>
            <a:off x="651510" y="1165860"/>
            <a:ext cx="205740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Subarray A[p…r]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57" name="Google Shape;657;p30"/>
          <p:cNvSpPr/>
          <p:nvPr/>
        </p:nvSpPr>
        <p:spPr>
          <a:xfrm>
            <a:off x="3463290" y="1131570"/>
            <a:ext cx="2125980" cy="445770"/>
          </a:xfrm>
          <a:prstGeom prst="roundRect">
            <a:avLst>
              <a:gd name="adj" fmla="val 7692"/>
            </a:avLst>
          </a:prstGeom>
          <a:solidFill>
            <a:srgbClr val="F0F7F8"/>
          </a:solidFill>
          <a:ln w="16500" cap="flat" cmpd="sng">
            <a:solidFill>
              <a:srgbClr val="087E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8" name="Google Shape;658;p30"/>
          <p:cNvSpPr/>
          <p:nvPr/>
        </p:nvSpPr>
        <p:spPr>
          <a:xfrm>
            <a:off x="3497580" y="1165860"/>
            <a:ext cx="205740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Choose i uniformly in [p,r]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59" name="Google Shape;659;p30"/>
          <p:cNvSpPr/>
          <p:nvPr/>
        </p:nvSpPr>
        <p:spPr>
          <a:xfrm>
            <a:off x="6309360" y="1131570"/>
            <a:ext cx="2125980" cy="445770"/>
          </a:xfrm>
          <a:prstGeom prst="roundRect">
            <a:avLst>
              <a:gd name="adj" fmla="val 7692"/>
            </a:avLst>
          </a:prstGeom>
          <a:solidFill>
            <a:srgbClr val="FFF4EB"/>
          </a:solidFill>
          <a:ln w="165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0" name="Google Shape;660;p30"/>
          <p:cNvSpPr/>
          <p:nvPr/>
        </p:nvSpPr>
        <p:spPr>
          <a:xfrm>
            <a:off x="6343650" y="1165860"/>
            <a:ext cx="205740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Swap A[i] ↔ A[r]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661" name="Google Shape;661;p30"/>
          <p:cNvCxnSpPr/>
          <p:nvPr/>
        </p:nvCxnSpPr>
        <p:spPr>
          <a:xfrm>
            <a:off x="2777490" y="1357884"/>
            <a:ext cx="651510" cy="0"/>
          </a:xfrm>
          <a:prstGeom prst="straightConnector1">
            <a:avLst/>
          </a:prstGeom>
          <a:noFill/>
          <a:ln w="22850" cap="flat" cmpd="sng">
            <a:solidFill>
              <a:srgbClr val="5F6B7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62" name="Google Shape;662;p30"/>
          <p:cNvCxnSpPr/>
          <p:nvPr/>
        </p:nvCxnSpPr>
        <p:spPr>
          <a:xfrm>
            <a:off x="5623560" y="1357884"/>
            <a:ext cx="651510" cy="0"/>
          </a:xfrm>
          <a:prstGeom prst="straightConnector1">
            <a:avLst/>
          </a:prstGeom>
          <a:noFill/>
          <a:ln w="22850" cap="flat" cmpd="sng">
            <a:solidFill>
              <a:srgbClr val="5F6B7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63" name="Google Shape;663;p30"/>
          <p:cNvSpPr/>
          <p:nvPr/>
        </p:nvSpPr>
        <p:spPr>
          <a:xfrm>
            <a:off x="3463290" y="2160270"/>
            <a:ext cx="2125980" cy="445770"/>
          </a:xfrm>
          <a:prstGeom prst="roundRect">
            <a:avLst>
              <a:gd name="adj" fmla="val 7692"/>
            </a:avLst>
          </a:prstGeom>
          <a:solidFill>
            <a:srgbClr val="EAF6F5"/>
          </a:solidFill>
          <a:ln w="165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3497580" y="2194560"/>
            <a:ext cx="205740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lang="en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Run ordinary PARTITION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665" name="Google Shape;665;p30"/>
          <p:cNvCxnSpPr/>
          <p:nvPr/>
        </p:nvCxnSpPr>
        <p:spPr>
          <a:xfrm flipH="1">
            <a:off x="4539996" y="1591056"/>
            <a:ext cx="2832354" cy="548640"/>
          </a:xfrm>
          <a:prstGeom prst="straightConnector1">
            <a:avLst/>
          </a:prstGeom>
          <a:noFill/>
          <a:ln w="22850" cap="flat" cmpd="sng">
            <a:solidFill>
              <a:srgbClr val="5F6B7A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666" name="Google Shape;666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6070" y="2914650"/>
            <a:ext cx="342900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30"/>
          <p:cNvSpPr/>
          <p:nvPr/>
        </p:nvSpPr>
        <p:spPr>
          <a:xfrm>
            <a:off x="651510" y="3566159"/>
            <a:ext cx="3497580" cy="1289301"/>
          </a:xfrm>
          <a:prstGeom prst="roundRect">
            <a:avLst>
              <a:gd name="adj" fmla="val 5600"/>
            </a:avLst>
          </a:prstGeom>
          <a:solidFill>
            <a:srgbClr val="FBFCFE"/>
          </a:solidFill>
          <a:ln w="12700" cap="flat" cmpd="sng">
            <a:solidFill>
              <a:srgbClr val="CAD6E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B8C4CE">
                <a:alpha val="1607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8" name="Google Shape;668;p30"/>
          <p:cNvSpPr/>
          <p:nvPr/>
        </p:nvSpPr>
        <p:spPr>
          <a:xfrm>
            <a:off x="774954" y="3662172"/>
            <a:ext cx="325069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954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What randomization changes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69" name="Google Shape;669;p30"/>
          <p:cNvSpPr/>
          <p:nvPr/>
        </p:nvSpPr>
        <p:spPr>
          <a:xfrm>
            <a:off x="774954" y="3922776"/>
            <a:ext cx="3250692" cy="41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No fixed input order can reliably force the same bad pivot pattern; the split distribution is controlled by the algorithm’s random choices.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70" name="Google Shape;670;p30"/>
          <p:cNvSpPr/>
          <p:nvPr/>
        </p:nvSpPr>
        <p:spPr>
          <a:xfrm>
            <a:off x="4903470" y="3566160"/>
            <a:ext cx="3497580" cy="1289304"/>
          </a:xfrm>
          <a:prstGeom prst="roundRect">
            <a:avLst>
              <a:gd name="adj" fmla="val 5600"/>
            </a:avLst>
          </a:prstGeom>
          <a:solidFill>
            <a:srgbClr val="FFF7F8"/>
          </a:solidFill>
          <a:ln w="12700" cap="flat" cmpd="sng">
            <a:solidFill>
              <a:srgbClr val="F2C9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B8C4CE">
                <a:alpha val="16078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5026914" y="3662172"/>
            <a:ext cx="3250692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100"/>
              <a:buFont typeface="Arial"/>
              <a:buNone/>
            </a:pPr>
            <a:r>
              <a:rPr lang="en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What it does NOT change</a:t>
            </a:r>
            <a:endParaRPr b="0" i="0" u="none" strike="noStrike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72" name="Google Shape;672;p30"/>
          <p:cNvSpPr/>
          <p:nvPr/>
        </p:nvSpPr>
        <p:spPr>
          <a:xfrm>
            <a:off x="5026914" y="3922776"/>
            <a:ext cx="3250692" cy="41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000"/>
              <a:buFont typeface="Arial"/>
              <a:buNone/>
            </a:pPr>
            <a:r>
              <a:rPr lang="en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Worst-case asymptotic time remains Θ(n²); the guarantee is on expected performance, not on an impossible elimination of bad random outcomes.</a:t>
            </a:r>
            <a:endParaRPr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</TotalTime>
  <Words>1584</Words>
  <Application>Microsoft Office PowerPoint</Application>
  <PresentationFormat>On-screen Show (16:9)</PresentationFormat>
  <Paragraphs>313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Times New Roman</vt:lpstr>
      <vt:lpstr>Play</vt:lpstr>
      <vt:lpstr>Arial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Rajeev Kumar</dc:creator>
  <cp:lastModifiedBy>Rajeev Kumar</cp:lastModifiedBy>
  <cp:revision>8</cp:revision>
  <dcterms:modified xsi:type="dcterms:W3CDTF">2026-10-09T06:14:29Z</dcterms:modified>
</cp:coreProperties>
</file>