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0" r:id="rId1"/>
  </p:sldMasterIdLst>
  <p:notesMasterIdLst>
    <p:notesMasterId r:id="rId38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DDD6F2-6D25-4F1F-8424-BA251BA45641}">
  <a:tblStyle styleId="{FDDDD6F2-6D25-4F1F-8424-BA251BA4564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1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4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" name="Google Shape;1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7" name="Google Shape;27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8" name="Google Shape;35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1" name="Google Shape;40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2" name="Google Shape;44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7" name="Google Shape;48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8" name="Google Shape;52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4" name="Google Shape;57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1" name="Google Shape;63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0" name="Google Shape;650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7" name="Google Shape;67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3" name="Google Shape;70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1" name="Google Shape;731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8" name="Google Shape;768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5" name="Google Shape;785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2" name="Google Shape;812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" name="Google Shape;813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5" name="Google Shape;835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6" name="Google Shape;836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1" name="Google Shape;861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8" name="Google Shape;888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9" name="Google Shape;889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3" name="Google Shape;923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4" name="Google Shape;924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3" name="Google Shape;953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4" name="Google Shape;954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2" name="Google Shape;982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3" name="Google Shape;983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2" name="Google Shape;1012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3" name="Google Shape;1013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9" name="Google Shape;1029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0" name="Google Shape;1030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5" name="Google Shape;1055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6" name="Google Shape;1056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8" name="Google Shape;1078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9" name="Google Shape;1079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7" name="Google Shape;1097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8" name="Google Shape;1098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4" name="Google Shape;1124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5" name="Google Shape;1125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4" name="Google Shape;1164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5" name="Google Shape;1165;p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4" name="Google Shape;1204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5" name="Google Shape;1205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">
  <p:cSld name="MASTER">
    <p:bg>
      <p:bgPr>
        <a:solidFill>
          <a:srgbClr val="F8FAF9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73F35"/>
          </a:solidFill>
          <a:ln w="12700" cap="flat" cmpd="sng">
            <a:solidFill>
              <a:srgbClr val="173F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" name="Google Shape;13;p2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w="1270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4;p2"/>
          <p:cNvSpPr/>
          <p:nvPr/>
        </p:nvSpPr>
        <p:spPr>
          <a:xfrm>
            <a:off x="530352" y="6565392"/>
            <a:ext cx="74066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10"/>
              <a:buFont typeface="Arial"/>
              <a:buNone/>
            </a:pPr>
            <a:r>
              <a:rPr lang="en-US" sz="81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Selection Sort • Tenenbaum-informed lecture • Data Structures Using C</a:t>
            </a:r>
            <a:endParaRPr sz="81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F35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173F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731520" y="960120"/>
            <a:ext cx="67665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lang="en-US" sz="3400" b="1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SELECTION SORT</a:t>
            </a:r>
            <a:endParaRPr sz="34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4"/>
          <p:cNvCxnSpPr/>
          <p:nvPr/>
        </p:nvCxnSpPr>
        <p:spPr>
          <a:xfrm>
            <a:off x="768096" y="2724912"/>
            <a:ext cx="2011680" cy="0"/>
          </a:xfrm>
          <a:prstGeom prst="straightConnector1">
            <a:avLst/>
          </a:prstGeom>
          <a:noFill/>
          <a:ln w="50800" cap="flat" cmpd="sng">
            <a:solidFill>
              <a:srgbClr val="D6A84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4"/>
          <p:cNvSpPr/>
          <p:nvPr/>
        </p:nvSpPr>
        <p:spPr>
          <a:xfrm>
            <a:off x="768096" y="2971800"/>
            <a:ext cx="6675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D8CF"/>
              </a:buClr>
              <a:buSzPts val="1430"/>
              <a:buFont typeface="Arial"/>
              <a:buNone/>
            </a:pPr>
            <a:r>
              <a:rPr lang="en-US" sz="143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Concept • Structured algorithm • C realization • Mathematical analysis • Correctness</a:t>
            </a:r>
            <a:endParaRPr sz="143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7726680" y="1463040"/>
            <a:ext cx="57150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7726680" y="1614465"/>
            <a:ext cx="571500" cy="230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 sz="16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8371332" y="1463040"/>
            <a:ext cx="57150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8371332" y="1614465"/>
            <a:ext cx="571500" cy="230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sz="16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9015984" y="1463040"/>
            <a:ext cx="57150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9015984" y="1614465"/>
            <a:ext cx="571500" cy="230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42</a:t>
            </a:r>
            <a:endParaRPr sz="16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9660636" y="1463040"/>
            <a:ext cx="57150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9660636" y="1614465"/>
            <a:ext cx="571500" cy="230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6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0305288" y="1463040"/>
            <a:ext cx="57150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0305288" y="1614465"/>
            <a:ext cx="571500" cy="230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16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0949940" y="1463040"/>
            <a:ext cx="57150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0949940" y="1614465"/>
            <a:ext cx="571500" cy="230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6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" name="Google Shape;39;p4"/>
          <p:cNvCxnSpPr/>
          <p:nvPr/>
        </p:nvCxnSpPr>
        <p:spPr>
          <a:xfrm>
            <a:off x="9646920" y="2359152"/>
            <a:ext cx="0" cy="566928"/>
          </a:xfrm>
          <a:prstGeom prst="straightConnector1">
            <a:avLst/>
          </a:prstGeom>
          <a:noFill/>
          <a:ln w="22850" cap="flat" cmpd="sng">
            <a:solidFill>
              <a:srgbClr val="D6A84B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0" name="Google Shape;40;p4"/>
          <p:cNvSpPr/>
          <p:nvPr/>
        </p:nvSpPr>
        <p:spPr>
          <a:xfrm>
            <a:off x="8961120" y="2459736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6A84B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select minimum</a:t>
            </a:r>
            <a:endParaRPr sz="10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7726680" y="3246120"/>
            <a:ext cx="571500" cy="658368"/>
          </a:xfrm>
          <a:prstGeom prst="roundRect">
            <a:avLst>
              <a:gd name="adj" fmla="val 4000"/>
            </a:avLst>
          </a:prstGeom>
          <a:solidFill>
            <a:srgbClr val="DCEFE8"/>
          </a:solidFill>
          <a:ln w="17775" cap="flat" cmpd="sng">
            <a:solidFill>
              <a:srgbClr val="2E7D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7726680" y="3397545"/>
            <a:ext cx="571500" cy="230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6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8371332" y="3246120"/>
            <a:ext cx="57150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8371332" y="3397545"/>
            <a:ext cx="571500" cy="230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sz="16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9015984" y="3246120"/>
            <a:ext cx="57150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9015984" y="3397545"/>
            <a:ext cx="571500" cy="230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42</a:t>
            </a:r>
            <a:endParaRPr sz="16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9660636" y="3246120"/>
            <a:ext cx="57150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9660636" y="3397545"/>
            <a:ext cx="571500" cy="230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 sz="16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0305288" y="3246120"/>
            <a:ext cx="57150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0305288" y="3397545"/>
            <a:ext cx="571500" cy="230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16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0949940" y="3246120"/>
            <a:ext cx="57150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0949940" y="3397545"/>
            <a:ext cx="571500" cy="230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6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7909560" y="4261104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8ECE5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one final position per pass</a:t>
            </a:r>
            <a:endParaRPr sz="12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"/>
          <p:cNvSpPr txBox="1">
            <a:spLocks noGrp="1"/>
          </p:cNvSpPr>
          <p:nvPr>
            <p:ph type="sldNum" idx="4294967295"/>
          </p:nvPr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/>
          <p:nvPr/>
        </p:nvSpPr>
        <p:spPr>
          <a:xfrm>
            <a:off x="566928" y="3657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2450"/>
              <a:buFont typeface="Arial"/>
              <a:buNone/>
            </a:pPr>
            <a:r>
              <a:rPr lang="en-US" sz="24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Where Selection Sort belongs in the sorting chapter</a:t>
            </a:r>
            <a:endParaRPr sz="2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585216" y="859536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0"/>
              <a:buFont typeface="Arial"/>
              <a:buNone/>
            </a:pPr>
            <a:r>
              <a:rPr lang="en-US" sz="11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Sorting is not one algorithm: it is a family of strategies with different cost trade-offs.</a:t>
            </a:r>
            <a:endParaRPr sz="11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9555480" y="384048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9601200" y="448056"/>
            <a:ext cx="1874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594A"/>
              </a:buClr>
              <a:buSzPts val="810"/>
              <a:buFont typeface="Arial"/>
              <a:buNone/>
            </a:pPr>
            <a:r>
              <a:rPr lang="en-US" sz="810" b="1" i="0" u="none" strike="noStrike" cap="none">
                <a:solidFill>
                  <a:srgbClr val="22594A"/>
                </a:solidFill>
                <a:latin typeface="Arial"/>
                <a:ea typeface="Arial"/>
                <a:cs typeface="Arial"/>
                <a:sym typeface="Arial"/>
              </a:rPr>
              <a:t>CHAPTER MAP</a:t>
            </a:r>
            <a:endParaRPr sz="81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685800" y="1417320"/>
            <a:ext cx="2487168" cy="2926080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850392" y="1572768"/>
            <a:ext cx="438912" cy="438912"/>
          </a:xfrm>
          <a:prstGeom prst="ellipse">
            <a:avLst/>
          </a:prstGeom>
          <a:solidFill>
            <a:srgbClr val="F7EACB"/>
          </a:solidFill>
          <a:ln w="12700" cap="flat" cmpd="sng">
            <a:solidFill>
              <a:srgbClr val="F7EA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850392" y="167335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1399032" y="1670881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1520"/>
              <a:buFont typeface="Arial"/>
              <a:buNone/>
            </a:pPr>
            <a:r>
              <a:rPr lang="en-US" sz="1520" b="1" i="0" u="none" strike="noStrike" cap="none" dirty="0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Selection methods</a:t>
            </a:r>
            <a:endParaRPr sz="152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886968" y="2249424"/>
            <a:ext cx="2084832" cy="1938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20"/>
              <a:buFont typeface="Arial"/>
              <a:buNone/>
            </a:pPr>
            <a:r>
              <a:rPr lang="en-US" sz="122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Choose an extreme item, place it, shrink the unsorted set.</a:t>
            </a:r>
            <a:endParaRPr sz="122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3502152" y="1417320"/>
            <a:ext cx="2487168" cy="2926080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3666744" y="1572768"/>
            <a:ext cx="438912" cy="438912"/>
          </a:xfrm>
          <a:prstGeom prst="ellipse">
            <a:avLst/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3666744" y="167335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4261104" y="1682496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 dirty="0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Insertion methods</a:t>
            </a:r>
            <a:endParaRPr sz="152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3703320" y="2258568"/>
            <a:ext cx="2084832" cy="1929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20"/>
              <a:buFont typeface="Arial"/>
              <a:buNone/>
            </a:pPr>
            <a:r>
              <a:rPr lang="en-US" sz="122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Grow a sorted region by inserting the next item.</a:t>
            </a:r>
            <a:endParaRPr sz="122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6318504" y="1417320"/>
            <a:ext cx="2487168" cy="2926080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6483096" y="1572768"/>
            <a:ext cx="438912" cy="438912"/>
          </a:xfrm>
          <a:prstGeom prst="ellipse">
            <a:avLst/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6483096" y="167335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7031736" y="1682496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 dirty="0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Exchange methods</a:t>
            </a:r>
            <a:endParaRPr sz="152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6519672" y="2249424"/>
            <a:ext cx="2084832" cy="1938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20"/>
              <a:buFont typeface="Arial"/>
              <a:buNone/>
            </a:pPr>
            <a:r>
              <a:rPr lang="en-US" sz="122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Improve order through pairwise exchanges.</a:t>
            </a:r>
            <a:endParaRPr sz="122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9134856" y="1417320"/>
            <a:ext cx="2487168" cy="2926080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9299448" y="1572768"/>
            <a:ext cx="438912" cy="438912"/>
          </a:xfrm>
          <a:prstGeom prst="ellipse">
            <a:avLst/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9299448" y="167335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9932196" y="1643449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 dirty="0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Divide / merge methods</a:t>
            </a:r>
            <a:endParaRPr sz="152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9336024" y="2295144"/>
            <a:ext cx="2084832" cy="1892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20"/>
              <a:buFont typeface="Arial"/>
              <a:buNone/>
            </a:pPr>
            <a:r>
              <a:rPr lang="en-US" sz="122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Exploit decomposition to reach O(n log n) behavior.</a:t>
            </a:r>
            <a:endParaRPr sz="122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731520" y="4736592"/>
            <a:ext cx="10927080" cy="804672"/>
          </a:xfrm>
          <a:prstGeom prst="roundRect">
            <a:avLst>
              <a:gd name="adj" fmla="val 4545"/>
            </a:avLst>
          </a:prstGeom>
          <a:solidFill>
            <a:srgbClr val="F7EACB"/>
          </a:solidFill>
          <a:ln w="12700" cap="flat" cmpd="sng">
            <a:solidFill>
              <a:srgbClr val="D6A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960120" y="4983480"/>
            <a:ext cx="10424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Selection Sort is the simplest “selection method”: repeatedly identify the smallest remaining key and put it into its final position.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6"/>
          <p:cNvSpPr txBox="1">
            <a:spLocks noGrp="1"/>
          </p:cNvSpPr>
          <p:nvPr>
            <p:ph type="sldNum" idx="4294967295"/>
          </p:nvPr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820" b="0" i="0" u="none" strike="noStrike" cap="none">
              <a:solidFill>
                <a:srgbClr val="68798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/>
          <p:nvPr/>
        </p:nvSpPr>
        <p:spPr>
          <a:xfrm>
            <a:off x="566928" y="3657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2450"/>
              <a:buFont typeface="Arial"/>
              <a:buNone/>
            </a:pPr>
            <a:r>
              <a:rPr lang="en-US" sz="24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Learning outcomes</a:t>
            </a:r>
            <a:endParaRPr sz="2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585216" y="859536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0"/>
              <a:buFont typeface="Arial"/>
              <a:buNone/>
            </a:pPr>
            <a:r>
              <a:rPr lang="en-US" sz="11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Students should leave able to explain, derive, implement and defend the algorithm.</a:t>
            </a:r>
            <a:endParaRPr sz="11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9555480" y="384048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9601200" y="448056"/>
            <a:ext cx="1874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594A"/>
              </a:buClr>
              <a:buSzPts val="810"/>
              <a:buFont typeface="Arial"/>
              <a:buNone/>
            </a:pPr>
            <a:r>
              <a:rPr lang="en-US" sz="810" b="1" i="0" u="none" strike="noStrike" cap="none">
                <a:solidFill>
                  <a:srgbClr val="22594A"/>
                </a:solidFill>
                <a:latin typeface="Arial"/>
                <a:ea typeface="Arial"/>
                <a:cs typeface="Arial"/>
                <a:sym typeface="Arial"/>
              </a:rPr>
              <a:t>OUTCOMES</a:t>
            </a:r>
            <a:endParaRPr sz="81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694944" y="1298448"/>
            <a:ext cx="5193792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859536" y="1453896"/>
            <a:ext cx="438912" cy="438912"/>
          </a:xfrm>
          <a:prstGeom prst="ellipse">
            <a:avLst/>
          </a:prstGeom>
          <a:solidFill>
            <a:srgbClr val="F7EACB"/>
          </a:solidFill>
          <a:ln w="12700" cap="flat" cmpd="sng">
            <a:solidFill>
              <a:srgbClr val="F7EA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859536" y="1554480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1408176" y="1463040"/>
            <a:ext cx="42793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Explain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1353310" y="2030463"/>
            <a:ext cx="4791456" cy="44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10"/>
              <a:buFont typeface="Arial"/>
              <a:buNone/>
            </a:pPr>
            <a:r>
              <a:rPr lang="en-US" sz="121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State the selection principle and the sorted/unsorted partition.</a:t>
            </a:r>
            <a:endParaRPr sz="121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6291072" y="1298448"/>
            <a:ext cx="5193792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6455664" y="1453896"/>
            <a:ext cx="438912" cy="438912"/>
          </a:xfrm>
          <a:prstGeom prst="ellipse">
            <a:avLst/>
          </a:prstGeom>
          <a:solidFill>
            <a:srgbClr val="F7EACB"/>
          </a:solidFill>
          <a:ln w="12700" cap="flat" cmpd="sng">
            <a:solidFill>
              <a:srgbClr val="F7EA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6455664" y="1554480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7004304" y="1463040"/>
            <a:ext cx="42793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Trace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6949438" y="2048751"/>
            <a:ext cx="4791456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10"/>
              <a:buFont typeface="Arial"/>
              <a:buNone/>
            </a:pPr>
            <a:r>
              <a:rPr lang="en-US" sz="121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Perform a complete dry run with </a:t>
            </a:r>
            <a:r>
              <a:rPr lang="en-US" sz="1210" b="0" i="0" u="none" strike="noStrike" cap="none" dirty="0" err="1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21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, j and </a:t>
            </a:r>
            <a:r>
              <a:rPr lang="en-US" sz="1210" b="0" i="0" u="none" strike="noStrike" cap="none" dirty="0" err="1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minIndex</a:t>
            </a:r>
            <a:r>
              <a:rPr lang="en-US" sz="121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1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694944" y="2871216"/>
            <a:ext cx="5193792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859536" y="3026664"/>
            <a:ext cx="438912" cy="438912"/>
          </a:xfrm>
          <a:prstGeom prst="ellipse">
            <a:avLst/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859536" y="3127248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1408176" y="3035808"/>
            <a:ext cx="42793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Implement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1655062" y="3615835"/>
            <a:ext cx="479145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10"/>
              <a:buFont typeface="Arial"/>
              <a:buNone/>
            </a:pPr>
            <a:r>
              <a:rPr lang="en-US" sz="121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Write structured Selection Sort in C.</a:t>
            </a:r>
            <a:endParaRPr sz="121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6291072" y="2871216"/>
            <a:ext cx="5193792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6455664" y="3026664"/>
            <a:ext cx="438912" cy="438912"/>
          </a:xfrm>
          <a:prstGeom prst="ellipse">
            <a:avLst/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6455664" y="3127248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7004304" y="3035808"/>
            <a:ext cx="42793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Derive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949438" y="3624979"/>
            <a:ext cx="479145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10"/>
              <a:buFont typeface="Arial"/>
              <a:buNone/>
            </a:pPr>
            <a:r>
              <a:rPr lang="en-US" sz="121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Obtain the exact comparison count n(n−1)/2.</a:t>
            </a:r>
            <a:endParaRPr sz="121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694944" y="4443984"/>
            <a:ext cx="5193792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859536" y="4599432"/>
            <a:ext cx="438912" cy="438912"/>
          </a:xfrm>
          <a:prstGeom prst="ellipse">
            <a:avLst/>
          </a:prstGeom>
          <a:solidFill>
            <a:srgbClr val="E7F0F7"/>
          </a:solidFill>
          <a:ln w="12700" cap="flat" cmpd="sng">
            <a:solidFill>
              <a:srgbClr val="E7F0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859536" y="4700016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6F9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2F6F9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1408176" y="4608576"/>
            <a:ext cx="42793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Prove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1353310" y="5150915"/>
            <a:ext cx="479145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10"/>
              <a:buFont typeface="Arial"/>
              <a:buNone/>
            </a:pPr>
            <a:r>
              <a:rPr lang="en-US" sz="121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Use a loop invariant to establish correctness.</a:t>
            </a:r>
            <a:endParaRPr sz="121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6291072" y="4443984"/>
            <a:ext cx="5193792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6455664" y="4599432"/>
            <a:ext cx="438912" cy="438912"/>
          </a:xfrm>
          <a:prstGeom prst="ellipse">
            <a:avLst/>
          </a:prstGeom>
          <a:solidFill>
            <a:srgbClr val="E7F0F7"/>
          </a:solidFill>
          <a:ln w="12700" cap="flat" cmpd="sng">
            <a:solidFill>
              <a:srgbClr val="E7F0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6455664" y="4700016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6F9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2F6F9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7004304" y="4608576"/>
            <a:ext cx="42793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6949438" y="5161418"/>
            <a:ext cx="479145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10"/>
              <a:buFont typeface="Arial"/>
              <a:buNone/>
            </a:pPr>
            <a:r>
              <a:rPr lang="en-US" sz="121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Discuss stability, adaptiveness, space and write cost.</a:t>
            </a:r>
            <a:endParaRPr sz="121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/>
          <p:cNvSpPr txBox="1">
            <a:spLocks noGrp="1"/>
          </p:cNvSpPr>
          <p:nvPr>
            <p:ph type="sldNum" idx="4294967295"/>
          </p:nvPr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820" b="0" i="0" u="none" strike="noStrike" cap="none">
              <a:solidFill>
                <a:srgbClr val="68798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/>
          <p:nvPr/>
        </p:nvSpPr>
        <p:spPr>
          <a:xfrm>
            <a:off x="566928" y="3657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2450"/>
              <a:buFont typeface="Arial"/>
              <a:buNone/>
            </a:pPr>
            <a:r>
              <a:rPr lang="en-US" sz="24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The sorting model: records, keys and order</a:t>
            </a:r>
            <a:endParaRPr sz="2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585216" y="859536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0"/>
              <a:buFont typeface="Arial"/>
              <a:buNone/>
            </a:pPr>
            <a:r>
              <a:rPr lang="en-US" sz="11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A sorting algorithm usually rearranges records according to a chosen key.</a:t>
            </a:r>
            <a:endParaRPr sz="11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9555480" y="384048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9601200" y="448056"/>
            <a:ext cx="1874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594A"/>
              </a:buClr>
              <a:buSzPts val="810"/>
              <a:buFont typeface="Arial"/>
              <a:buNone/>
            </a:pPr>
            <a:r>
              <a:rPr lang="en-US" sz="810" b="1" i="0" u="none" strike="noStrike" cap="none">
                <a:solidFill>
                  <a:srgbClr val="22594A"/>
                </a:solidFill>
                <a:latin typeface="Arial"/>
                <a:ea typeface="Arial"/>
                <a:cs typeface="Arial"/>
                <a:sym typeface="Arial"/>
              </a:rPr>
              <a:t>FOUNDATIONS</a:t>
            </a:r>
            <a:endParaRPr sz="81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731520" y="1371600"/>
            <a:ext cx="3337560" cy="406908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896112" y="1527048"/>
            <a:ext cx="438912" cy="438912"/>
          </a:xfrm>
          <a:prstGeom prst="ellipse">
            <a:avLst/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896112" y="162763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1476756" y="1603907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 dirty="0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Record</a:t>
            </a:r>
            <a:endParaRPr sz="152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932688" y="2384854"/>
            <a:ext cx="2935224" cy="2900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300"/>
              <a:buFont typeface="Arial"/>
              <a:buNone/>
            </a:pPr>
            <a:r>
              <a:rPr lang="en-US" sz="130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A complete data item: student, employee, transaction, node, etc.</a:t>
            </a: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4407408" y="1371600"/>
            <a:ext cx="3337560" cy="406908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4572000" y="1527048"/>
            <a:ext cx="438912" cy="438912"/>
          </a:xfrm>
          <a:prstGeom prst="ellipse">
            <a:avLst/>
          </a:prstGeom>
          <a:solidFill>
            <a:srgbClr val="F7EACB"/>
          </a:solidFill>
          <a:ln w="12700" cap="flat" cmpd="sng">
            <a:solidFill>
              <a:srgbClr val="F7EA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4572000" y="162763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5152644" y="1603907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 dirty="0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Key</a:t>
            </a:r>
            <a:endParaRPr sz="152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4608576" y="2384854"/>
            <a:ext cx="2935224" cy="2900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300"/>
              <a:buFont typeface="Arial"/>
              <a:buNone/>
            </a:pPr>
            <a:r>
              <a:rPr lang="en-US" sz="130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The field used to establish order: roll number, salary, timestamp, weight, name, …</a:t>
            </a: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8083296" y="1371600"/>
            <a:ext cx="3337560" cy="406908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8247888" y="1527048"/>
            <a:ext cx="438912" cy="438912"/>
          </a:xfrm>
          <a:prstGeom prst="ellipse">
            <a:avLst/>
          </a:prstGeom>
          <a:solidFill>
            <a:srgbClr val="E7F0F7"/>
          </a:solidFill>
          <a:ln w="12700" cap="flat" cmpd="sng">
            <a:solidFill>
              <a:srgbClr val="E7F0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8247888" y="162763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6F9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2F6F9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8851392" y="1647156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 dirty="0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Ordering relation</a:t>
            </a:r>
            <a:endParaRPr sz="152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8284464" y="2384854"/>
            <a:ext cx="2935224" cy="2900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300"/>
              <a:buFont typeface="Arial"/>
              <a:buNone/>
            </a:pPr>
            <a:r>
              <a:rPr lang="en-US" sz="130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A rule such as ascending numeric order or lexicographic order.</a:t>
            </a: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2011680" y="5705856"/>
            <a:ext cx="8138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450"/>
              <a:buFont typeface="Arial"/>
              <a:buNone/>
            </a:pPr>
            <a:r>
              <a:rPr lang="en-US" sz="14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Selection Sort only requires a consistent comparison operation on keys.</a:t>
            </a:r>
            <a:endParaRPr sz="1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8"/>
          <p:cNvSpPr txBox="1">
            <a:spLocks noGrp="1"/>
          </p:cNvSpPr>
          <p:nvPr>
            <p:ph type="sldNum" idx="4294967295"/>
          </p:nvPr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820" b="0" i="0" u="none" strike="noStrike" cap="none">
              <a:solidFill>
                <a:srgbClr val="68798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/>
          <p:nvPr/>
        </p:nvSpPr>
        <p:spPr>
          <a:xfrm>
            <a:off x="566928" y="3657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2450"/>
              <a:buFont typeface="Arial"/>
              <a:buNone/>
            </a:pPr>
            <a:r>
              <a:rPr lang="en-US" sz="24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Core strategy: SELECT → PLACE → SHRINK</a:t>
            </a:r>
            <a:endParaRPr sz="2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585216" y="859536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0"/>
              <a:buFont typeface="Arial"/>
              <a:buNone/>
            </a:pPr>
            <a:r>
              <a:rPr lang="en-US" sz="11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The algorithm is easiest to understand as a repeated commitment of one final position.</a:t>
            </a:r>
            <a:endParaRPr sz="11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9555480" y="384048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9601200" y="448056"/>
            <a:ext cx="1874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594A"/>
              </a:buClr>
              <a:buSzPts val="810"/>
              <a:buFont typeface="Arial"/>
              <a:buNone/>
            </a:pPr>
            <a:r>
              <a:rPr lang="en-US" sz="810" b="1" i="0" u="none" strike="noStrike" cap="none">
                <a:solidFill>
                  <a:srgbClr val="22594A"/>
                </a:solidFill>
                <a:latin typeface="Arial"/>
                <a:ea typeface="Arial"/>
                <a:cs typeface="Arial"/>
                <a:sym typeface="Arial"/>
              </a:rPr>
              <a:t>CORE IDEA</a:t>
            </a:r>
            <a:endParaRPr sz="81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777240" y="1508760"/>
            <a:ext cx="315468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941832" y="1664208"/>
            <a:ext cx="438912" cy="438912"/>
          </a:xfrm>
          <a:prstGeom prst="ellipse">
            <a:avLst/>
          </a:prstGeom>
          <a:solidFill>
            <a:srgbClr val="F7EACB"/>
          </a:solidFill>
          <a:ln w="12700" cap="flat" cmpd="sng">
            <a:solidFill>
              <a:srgbClr val="F7EA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941832" y="176479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1490472" y="1673352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1. SELECT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978408" y="2066544"/>
            <a:ext cx="2752344" cy="129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320"/>
              <a:buFont typeface="Arial"/>
              <a:buNone/>
            </a:pPr>
            <a:r>
              <a:rPr lang="en-US" sz="132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Find the smallest key in the current unsorted suffix.</a:t>
            </a:r>
            <a:endParaRPr sz="13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" name="Google Shape;196;p9"/>
          <p:cNvCxnSpPr/>
          <p:nvPr/>
        </p:nvCxnSpPr>
        <p:spPr>
          <a:xfrm>
            <a:off x="4114800" y="2468880"/>
            <a:ext cx="548640" cy="0"/>
          </a:xfrm>
          <a:prstGeom prst="straightConnector1">
            <a:avLst/>
          </a:prstGeom>
          <a:noFill/>
          <a:ln w="22850" cap="flat" cmpd="sng">
            <a:solidFill>
              <a:srgbClr val="D6A84B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97" name="Google Shape;197;p9"/>
          <p:cNvSpPr/>
          <p:nvPr/>
        </p:nvSpPr>
        <p:spPr>
          <a:xfrm>
            <a:off x="4690872" y="1508760"/>
            <a:ext cx="315468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4855464" y="1664208"/>
            <a:ext cx="438912" cy="438912"/>
          </a:xfrm>
          <a:prstGeom prst="ellipse">
            <a:avLst/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4855464" y="176479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5404104" y="1673352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2. PLACE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4892040" y="2066544"/>
            <a:ext cx="2752344" cy="129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320"/>
              <a:buFont typeface="Arial"/>
              <a:buNone/>
            </a:pPr>
            <a:r>
              <a:rPr lang="en-US" sz="132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Exchange it with the first position of that suffix.</a:t>
            </a:r>
            <a:endParaRPr sz="13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" name="Google Shape;202;p9"/>
          <p:cNvCxnSpPr/>
          <p:nvPr/>
        </p:nvCxnSpPr>
        <p:spPr>
          <a:xfrm>
            <a:off x="8028432" y="2468880"/>
            <a:ext cx="548640" cy="0"/>
          </a:xfrm>
          <a:prstGeom prst="straightConnector1">
            <a:avLst/>
          </a:prstGeom>
          <a:noFill/>
          <a:ln w="22850" cap="flat" cmpd="sng">
            <a:solidFill>
              <a:srgbClr val="D6A84B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03" name="Google Shape;203;p9"/>
          <p:cNvSpPr/>
          <p:nvPr/>
        </p:nvSpPr>
        <p:spPr>
          <a:xfrm>
            <a:off x="8595360" y="1508760"/>
            <a:ext cx="274320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8759952" y="1664208"/>
            <a:ext cx="438912" cy="438912"/>
          </a:xfrm>
          <a:prstGeom prst="ellipse">
            <a:avLst/>
          </a:prstGeom>
          <a:solidFill>
            <a:srgbClr val="E7F0F7"/>
          </a:solidFill>
          <a:ln w="12700" cap="flat" cmpd="sng">
            <a:solidFill>
              <a:srgbClr val="E7F0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8759952" y="176479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6F9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2F6F9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9308592" y="16733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3. SHRINK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8796528" y="2066544"/>
            <a:ext cx="2340864" cy="129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320"/>
              <a:buFont typeface="Arial"/>
              <a:buNone/>
            </a:pPr>
            <a:r>
              <a:rPr lang="en-US" sz="132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Move the boundary one cell to the right.</a:t>
            </a:r>
            <a:endParaRPr sz="13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1051560" y="4297680"/>
            <a:ext cx="1615440" cy="7772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1051560" y="4476445"/>
            <a:ext cx="1615440" cy="272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1051560" y="5138928"/>
            <a:ext cx="16154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2740152" y="4297680"/>
            <a:ext cx="1615440" cy="7772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2740152" y="4476445"/>
            <a:ext cx="1615440" cy="272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2740152" y="5138928"/>
            <a:ext cx="16154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4428744" y="4297680"/>
            <a:ext cx="1615440" cy="7772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4428744" y="4476445"/>
            <a:ext cx="1615440" cy="272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4428744" y="5138928"/>
            <a:ext cx="16154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6117336" y="4297680"/>
            <a:ext cx="1615440" cy="7772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6117336" y="4476445"/>
            <a:ext cx="1615440" cy="272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37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6117336" y="5138928"/>
            <a:ext cx="16154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7805928" y="4297680"/>
            <a:ext cx="1615440" cy="7772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7805928" y="4476445"/>
            <a:ext cx="1615440" cy="272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7805928" y="5138928"/>
            <a:ext cx="16154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9494520" y="4297680"/>
            <a:ext cx="1615440" cy="777240"/>
          </a:xfrm>
          <a:prstGeom prst="roundRect">
            <a:avLst>
              <a:gd name="adj" fmla="val 2941"/>
            </a:avLst>
          </a:prstGeom>
          <a:solidFill>
            <a:srgbClr val="F7EACB"/>
          </a:solidFill>
          <a:ln w="17775" cap="flat" cmpd="sng">
            <a:solidFill>
              <a:srgbClr val="D6A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9494520" y="4476445"/>
            <a:ext cx="1615440" cy="272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9494520" y="5138928"/>
            <a:ext cx="16154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8823960" y="3749040"/>
            <a:ext cx="1417320" cy="283464"/>
          </a:xfrm>
          <a:prstGeom prst="roundRect">
            <a:avLst>
              <a:gd name="adj" fmla="val 12903"/>
            </a:avLst>
          </a:prstGeom>
          <a:solidFill>
            <a:srgbClr val="F7EACB"/>
          </a:solidFill>
          <a:ln w="12700" cap="flat" cmpd="sng">
            <a:solidFill>
              <a:srgbClr val="F7EA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8869680" y="3813048"/>
            <a:ext cx="132588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860"/>
              <a:buFont typeface="Arial"/>
              <a:buNone/>
            </a:pPr>
            <a:r>
              <a:rPr lang="en-US" sz="86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current minimum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8" name="Google Shape;228;p9"/>
          <p:cNvCxnSpPr/>
          <p:nvPr/>
        </p:nvCxnSpPr>
        <p:spPr>
          <a:xfrm>
            <a:off x="9509760" y="4041648"/>
            <a:ext cx="0" cy="210312"/>
          </a:xfrm>
          <a:prstGeom prst="straightConnector1">
            <a:avLst/>
          </a:prstGeom>
          <a:noFill/>
          <a:ln w="22850" cap="flat" cmpd="sng">
            <a:solidFill>
              <a:srgbClr val="B85C3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29" name="Google Shape;229;p9"/>
          <p:cNvSpPr/>
          <p:nvPr/>
        </p:nvSpPr>
        <p:spPr>
          <a:xfrm>
            <a:off x="3200400" y="5486400"/>
            <a:ext cx="5852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After placement, the chosen element will never move again.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9"/>
          <p:cNvSpPr txBox="1">
            <a:spLocks noGrp="1"/>
          </p:cNvSpPr>
          <p:nvPr>
            <p:ph type="sldNum" idx="4294967295"/>
          </p:nvPr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820" b="0" i="0" u="none" strike="noStrike" cap="none">
              <a:solidFill>
                <a:srgbClr val="68798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"/>
          <p:cNvSpPr/>
          <p:nvPr/>
        </p:nvSpPr>
        <p:spPr>
          <a:xfrm>
            <a:off x="566928" y="3657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2450"/>
              <a:buFont typeface="Arial"/>
              <a:buNone/>
            </a:pPr>
            <a:r>
              <a:rPr lang="en-US" sz="24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Partition model: finalized prefix + unsorted suffix</a:t>
            </a:r>
            <a:endParaRPr sz="2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585216" y="859536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0"/>
              <a:buFont typeface="Arial"/>
              <a:buNone/>
            </a:pPr>
            <a:r>
              <a:rPr lang="en-US" sz="11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This boundary view is the central mental model for both tracing and proof.</a:t>
            </a:r>
            <a:endParaRPr sz="11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9555480" y="384048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9601200" y="448056"/>
            <a:ext cx="1874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594A"/>
              </a:buClr>
              <a:buSzPts val="810"/>
              <a:buFont typeface="Arial"/>
              <a:buNone/>
            </a:pPr>
            <a:r>
              <a:rPr lang="en-US" sz="810" b="1" i="0" u="none" strike="noStrike" cap="none">
                <a:solidFill>
                  <a:srgbClr val="22594A"/>
                </a:solidFill>
                <a:latin typeface="Arial"/>
                <a:ea typeface="Arial"/>
                <a:cs typeface="Arial"/>
                <a:sym typeface="Arial"/>
              </a:rPr>
              <a:t>INVARIANT</a:t>
            </a:r>
            <a:endParaRPr sz="81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822960" y="1828800"/>
            <a:ext cx="1691640" cy="822960"/>
          </a:xfrm>
          <a:prstGeom prst="roundRect">
            <a:avLst>
              <a:gd name="adj" fmla="val 2778"/>
            </a:avLst>
          </a:prstGeom>
          <a:solidFill>
            <a:srgbClr val="DCEFE8"/>
          </a:solidFill>
          <a:ln w="17775" cap="flat" cmpd="sng">
            <a:solidFill>
              <a:srgbClr val="2E7D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822960" y="2018081"/>
            <a:ext cx="169164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822960" y="2715768"/>
            <a:ext cx="16916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2587752" y="1828800"/>
            <a:ext cx="1691640" cy="822960"/>
          </a:xfrm>
          <a:prstGeom prst="roundRect">
            <a:avLst>
              <a:gd name="adj" fmla="val 2778"/>
            </a:avLst>
          </a:prstGeom>
          <a:solidFill>
            <a:srgbClr val="DCEFE8"/>
          </a:solidFill>
          <a:ln w="17775" cap="flat" cmpd="sng">
            <a:solidFill>
              <a:srgbClr val="2E7D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2587752" y="2018081"/>
            <a:ext cx="169164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2587752" y="2715768"/>
            <a:ext cx="16916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4352544" y="1828800"/>
            <a:ext cx="1691640" cy="822960"/>
          </a:xfrm>
          <a:prstGeom prst="roundRect">
            <a:avLst>
              <a:gd name="adj" fmla="val 2778"/>
            </a:avLst>
          </a:prstGeom>
          <a:solidFill>
            <a:srgbClr val="DCEFE8"/>
          </a:solidFill>
          <a:ln w="17775" cap="flat" cmpd="sng">
            <a:solidFill>
              <a:srgbClr val="2E7D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4352544" y="2018081"/>
            <a:ext cx="169164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4352544" y="2715768"/>
            <a:ext cx="16916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6117336" y="1828800"/>
            <a:ext cx="1691640" cy="82296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6117336" y="2018081"/>
            <a:ext cx="169164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6117336" y="2715768"/>
            <a:ext cx="16916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7882128" y="1828800"/>
            <a:ext cx="1691640" cy="82296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7882128" y="2018081"/>
            <a:ext cx="169164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7882128" y="2715768"/>
            <a:ext cx="16916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9646920" y="1828800"/>
            <a:ext cx="1691640" cy="82296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9646920" y="2018081"/>
            <a:ext cx="169164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37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9646920" y="2715768"/>
            <a:ext cx="16916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8" name="Google Shape;258;p10"/>
          <p:cNvCxnSpPr/>
          <p:nvPr/>
        </p:nvCxnSpPr>
        <p:spPr>
          <a:xfrm>
            <a:off x="822960" y="1691640"/>
            <a:ext cx="5221224" cy="0"/>
          </a:xfrm>
          <a:prstGeom prst="straightConnector1">
            <a:avLst/>
          </a:prstGeom>
          <a:noFill/>
          <a:ln w="29200" cap="flat" cmpd="sng">
            <a:solidFill>
              <a:srgbClr val="2E7D5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9" name="Google Shape;259;p10"/>
          <p:cNvSpPr/>
          <p:nvPr/>
        </p:nvSpPr>
        <p:spPr>
          <a:xfrm>
            <a:off x="822960" y="1435608"/>
            <a:ext cx="52212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2E7D5B"/>
                </a:solidFill>
                <a:latin typeface="Arial"/>
                <a:ea typeface="Arial"/>
                <a:cs typeface="Arial"/>
                <a:sym typeface="Arial"/>
              </a:rPr>
              <a:t>finalized prefix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0" name="Google Shape;260;p10"/>
          <p:cNvCxnSpPr/>
          <p:nvPr/>
        </p:nvCxnSpPr>
        <p:spPr>
          <a:xfrm>
            <a:off x="6007608" y="1554480"/>
            <a:ext cx="0" cy="1417320"/>
          </a:xfrm>
          <a:prstGeom prst="straightConnector1">
            <a:avLst/>
          </a:prstGeom>
          <a:noFill/>
          <a:ln w="29200" cap="flat" cmpd="sng">
            <a:solidFill>
              <a:srgbClr val="B85C3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1" name="Google Shape;261;p10"/>
          <p:cNvSpPr/>
          <p:nvPr/>
        </p:nvSpPr>
        <p:spPr>
          <a:xfrm>
            <a:off x="5138928" y="1188720"/>
            <a:ext cx="1737360" cy="283464"/>
          </a:xfrm>
          <a:prstGeom prst="roundRect">
            <a:avLst>
              <a:gd name="adj" fmla="val 12903"/>
            </a:avLst>
          </a:prstGeom>
          <a:solidFill>
            <a:srgbClr val="F8E5DE"/>
          </a:solidFill>
          <a:ln w="12700" cap="flat" cmpd="sng">
            <a:solidFill>
              <a:srgbClr val="F8E5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5184648" y="1252728"/>
            <a:ext cx="16459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860"/>
              <a:buFont typeface="Arial"/>
              <a:buNone/>
            </a:pPr>
            <a:r>
              <a:rPr lang="en-US" sz="86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boundary i = 3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944880" y="3486335"/>
            <a:ext cx="475488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1078992" y="3584448"/>
            <a:ext cx="438912" cy="438912"/>
          </a:xfrm>
          <a:prstGeom prst="ellipse">
            <a:avLst/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0"/>
          <p:cNvSpPr/>
          <p:nvPr/>
        </p:nvSpPr>
        <p:spPr>
          <a:xfrm>
            <a:off x="1078992" y="368503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2E7D5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1627632" y="359359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Left of i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1298448" y="4231077"/>
            <a:ext cx="4352544" cy="88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50"/>
              <a:buFont typeface="Arial"/>
              <a:buNone/>
            </a:pPr>
            <a:r>
              <a:rPr lang="en-US" sz="125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Already in final ascending order. These positions will never be considered again.</a:t>
            </a:r>
            <a:endParaRPr sz="125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6492240" y="3429000"/>
            <a:ext cx="475488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6656832" y="3584448"/>
            <a:ext cx="438912" cy="438912"/>
          </a:xfrm>
          <a:prstGeom prst="ellipse">
            <a:avLst/>
          </a:prstGeom>
          <a:solidFill>
            <a:srgbClr val="F7EACB"/>
          </a:solidFill>
          <a:ln w="12700" cap="flat" cmpd="sng">
            <a:solidFill>
              <a:srgbClr val="F7EA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6656832" y="368503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7205472" y="359359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From i onward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6803136" y="4219955"/>
            <a:ext cx="4352544" cy="88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50"/>
              <a:buFont typeface="Arial"/>
              <a:buNone/>
            </a:pPr>
            <a:r>
              <a:rPr lang="en-US" sz="125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Still unsorted. The next pass searches this suffix for its minimum.</a:t>
            </a:r>
            <a:endParaRPr sz="125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1554480" y="5532120"/>
            <a:ext cx="9052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450"/>
              <a:buFont typeface="Arial"/>
              <a:buNone/>
            </a:pPr>
            <a:r>
              <a:rPr lang="en-US" sz="1450" b="1" i="0" u="none" strike="noStrike" cap="none" dirty="0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The algorithm does not “sort the whole array at once”; it certifies one position per pass.</a:t>
            </a:r>
            <a:endParaRPr sz="145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0"/>
          <p:cNvSpPr txBox="1">
            <a:spLocks noGrp="1"/>
          </p:cNvSpPr>
          <p:nvPr>
            <p:ph type="sldNum" idx="4294967295"/>
          </p:nvPr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820" b="0" i="0" u="none" strike="noStrike" cap="none">
              <a:solidFill>
                <a:srgbClr val="68798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1"/>
          <p:cNvSpPr/>
          <p:nvPr/>
        </p:nvSpPr>
        <p:spPr>
          <a:xfrm>
            <a:off x="566928" y="3657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2450"/>
              <a:buFont typeface="Arial"/>
              <a:buNone/>
            </a:pPr>
            <a:r>
              <a:rPr lang="en-US" sz="24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Structured algorithm specification</a:t>
            </a:r>
            <a:endParaRPr sz="2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585216" y="859536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0"/>
              <a:buFont typeface="Arial"/>
              <a:buNone/>
            </a:pPr>
            <a:r>
              <a:rPr lang="en-US" sz="11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A textbook-style formulation separates control structure from implementation details.</a:t>
            </a:r>
            <a:endParaRPr sz="11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9555480" y="384048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9601200" y="448056"/>
            <a:ext cx="1874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594A"/>
              </a:buClr>
              <a:buSzPts val="810"/>
              <a:buFont typeface="Arial"/>
              <a:buNone/>
            </a:pPr>
            <a:r>
              <a:rPr lang="en-US" sz="810" b="1" i="0" u="none" strike="noStrike" cap="none">
                <a:solidFill>
                  <a:srgbClr val="22594A"/>
                </a:solidFill>
                <a:latin typeface="Arial"/>
                <a:ea typeface="Arial"/>
                <a:cs typeface="Arial"/>
                <a:sym typeface="Arial"/>
              </a:rPr>
              <a:t>ALGORITHM</a:t>
            </a:r>
            <a:endParaRPr sz="81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731520" y="1307592"/>
            <a:ext cx="5623560" cy="4526280"/>
          </a:xfrm>
          <a:prstGeom prst="roundRect">
            <a:avLst>
              <a:gd name="adj" fmla="val 707"/>
            </a:avLst>
          </a:prstGeom>
          <a:solidFill>
            <a:schemeClr val="bg1"/>
          </a:solidFill>
          <a:ln w="12700" cap="flat" cmpd="sng">
            <a:solidFill>
              <a:srgbClr val="101A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5" name="Google Shape;285;p11"/>
          <p:cNvSpPr/>
          <p:nvPr/>
        </p:nvSpPr>
        <p:spPr>
          <a:xfrm>
            <a:off x="877824" y="1435608"/>
            <a:ext cx="5330952" cy="429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SELECTION_SORT(A, n)</a:t>
            </a:r>
            <a:endParaRPr sz="15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= 0 to n - 2</a:t>
            </a:r>
            <a:endParaRPr sz="15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minIndex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15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for j =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+ 1 to n - 1</a:t>
            </a:r>
            <a:endParaRPr sz="15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    if A[j] &lt; A[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minIndex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15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minIndex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= j</a:t>
            </a:r>
            <a:endParaRPr sz="15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if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minIndex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!=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15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    exchange A[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] and A[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minIndex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15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6720840" y="1501840"/>
            <a:ext cx="46634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1"/>
          <p:cNvSpPr/>
          <p:nvPr/>
        </p:nvSpPr>
        <p:spPr>
          <a:xfrm>
            <a:off x="6839712" y="1572768"/>
            <a:ext cx="438912" cy="438912"/>
          </a:xfrm>
          <a:prstGeom prst="ellipse">
            <a:avLst/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1"/>
          <p:cNvSpPr/>
          <p:nvPr/>
        </p:nvSpPr>
        <p:spPr>
          <a:xfrm>
            <a:off x="6839712" y="167335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7456932" y="165617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 dirty="0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Outer loop</a:t>
            </a:r>
            <a:endParaRPr sz="152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7260336" y="2158849"/>
            <a:ext cx="4261104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40"/>
              <a:buFont typeface="Arial"/>
              <a:buNone/>
            </a:pPr>
            <a:r>
              <a:rPr lang="en-US" sz="124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Chooses which array position is being finalized.</a:t>
            </a:r>
            <a:endParaRPr sz="124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6675120" y="2866644"/>
            <a:ext cx="46634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1"/>
          <p:cNvSpPr/>
          <p:nvPr/>
        </p:nvSpPr>
        <p:spPr>
          <a:xfrm>
            <a:off x="6839712" y="2971800"/>
            <a:ext cx="438912" cy="438912"/>
          </a:xfrm>
          <a:prstGeom prst="ellipse">
            <a:avLst/>
          </a:prstGeom>
          <a:solidFill>
            <a:srgbClr val="E7F0F7"/>
          </a:solidFill>
          <a:ln w="12700" cap="flat" cmpd="sng">
            <a:solidFill>
              <a:srgbClr val="E7F0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1"/>
          <p:cNvSpPr/>
          <p:nvPr/>
        </p:nvSpPr>
        <p:spPr>
          <a:xfrm>
            <a:off x="6839712" y="3072384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6F9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2F6F9F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7387611" y="307819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 dirty="0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Inner loop</a:t>
            </a:r>
            <a:endParaRPr sz="152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6894576" y="3571968"/>
            <a:ext cx="4261104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40"/>
              <a:buFont typeface="Arial"/>
              <a:buNone/>
            </a:pPr>
            <a:r>
              <a:rPr lang="en-US" sz="124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Performs a minimum search within the unsorted suffix.</a:t>
            </a:r>
            <a:endParaRPr sz="124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6675120" y="4215384"/>
            <a:ext cx="46634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1"/>
          <p:cNvSpPr/>
          <p:nvPr/>
        </p:nvSpPr>
        <p:spPr>
          <a:xfrm>
            <a:off x="6839712" y="4370832"/>
            <a:ext cx="438912" cy="438912"/>
          </a:xfrm>
          <a:prstGeom prst="ellipse">
            <a:avLst/>
          </a:prstGeom>
          <a:solidFill>
            <a:srgbClr val="F7EACB"/>
          </a:solidFill>
          <a:ln w="12700" cap="flat" cmpd="sng">
            <a:solidFill>
              <a:srgbClr val="F7EA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6839712" y="4471416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↔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7387611" y="446573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 dirty="0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Exchange</a:t>
            </a:r>
            <a:endParaRPr sz="152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6922008" y="4944680"/>
            <a:ext cx="4261104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40"/>
              <a:buFont typeface="Arial"/>
              <a:buNone/>
            </a:pPr>
            <a:r>
              <a:rPr lang="en-US" sz="124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Commits the selected minimum to its final position.</a:t>
            </a:r>
            <a:endParaRPr sz="124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1"/>
          <p:cNvSpPr txBox="1">
            <a:spLocks noGrp="1"/>
          </p:cNvSpPr>
          <p:nvPr>
            <p:ph type="sldNum" idx="4294967295"/>
          </p:nvPr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820" b="0" i="0" u="none" strike="noStrike" cap="none">
              <a:solidFill>
                <a:srgbClr val="68798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2"/>
          <p:cNvSpPr/>
          <p:nvPr/>
        </p:nvSpPr>
        <p:spPr>
          <a:xfrm>
            <a:off x="566928" y="3657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2450"/>
              <a:buFont typeface="Arial"/>
              <a:buNone/>
            </a:pPr>
            <a:r>
              <a:rPr lang="en-US" sz="24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The three indices students must distinguish</a:t>
            </a:r>
            <a:endParaRPr sz="2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585216" y="859536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0"/>
              <a:buFont typeface="Arial"/>
              <a:buNone/>
            </a:pPr>
            <a:r>
              <a:rPr lang="en-US" sz="11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Most dry-run mistakes come from confusing the target, scanner and remembered minimum.</a:t>
            </a:r>
            <a:endParaRPr sz="11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9555480" y="384048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2"/>
          <p:cNvSpPr/>
          <p:nvPr/>
        </p:nvSpPr>
        <p:spPr>
          <a:xfrm>
            <a:off x="9601200" y="448056"/>
            <a:ext cx="1874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594A"/>
              </a:buClr>
              <a:buSzPts val="810"/>
              <a:buFont typeface="Arial"/>
              <a:buNone/>
            </a:pPr>
            <a:r>
              <a:rPr lang="en-US" sz="810" b="1" i="0" u="none" strike="noStrike" cap="none">
                <a:solidFill>
                  <a:srgbClr val="22594A"/>
                </a:solidFill>
                <a:latin typeface="Arial"/>
                <a:ea typeface="Arial"/>
                <a:cs typeface="Arial"/>
                <a:sym typeface="Arial"/>
              </a:rPr>
              <a:t>TRACE</a:t>
            </a:r>
            <a:endParaRPr sz="81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822960" y="1965960"/>
            <a:ext cx="1691640" cy="786384"/>
          </a:xfrm>
          <a:prstGeom prst="roundRect">
            <a:avLst>
              <a:gd name="adj" fmla="val 2907"/>
            </a:avLst>
          </a:prstGeom>
          <a:solidFill>
            <a:srgbClr val="DCEFE8"/>
          </a:solidFill>
          <a:ln w="17775" cap="flat" cmpd="sng">
            <a:solidFill>
              <a:srgbClr val="2E7D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2"/>
          <p:cNvSpPr/>
          <p:nvPr/>
        </p:nvSpPr>
        <p:spPr>
          <a:xfrm>
            <a:off x="822960" y="2146828"/>
            <a:ext cx="1691640" cy="27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822960" y="2816352"/>
            <a:ext cx="16916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2587752" y="1965960"/>
            <a:ext cx="1691640" cy="786384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2"/>
          <p:cNvSpPr/>
          <p:nvPr/>
        </p:nvSpPr>
        <p:spPr>
          <a:xfrm>
            <a:off x="2587752" y="2146828"/>
            <a:ext cx="1691640" cy="27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2587752" y="2816352"/>
            <a:ext cx="16916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4352544" y="1965960"/>
            <a:ext cx="1691640" cy="786384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2"/>
          <p:cNvSpPr/>
          <p:nvPr/>
        </p:nvSpPr>
        <p:spPr>
          <a:xfrm>
            <a:off x="4352544" y="2146828"/>
            <a:ext cx="1691640" cy="27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4352544" y="2816352"/>
            <a:ext cx="16916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6117336" y="1965960"/>
            <a:ext cx="1691640" cy="786384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2"/>
          <p:cNvSpPr/>
          <p:nvPr/>
        </p:nvSpPr>
        <p:spPr>
          <a:xfrm>
            <a:off x="6117336" y="2146828"/>
            <a:ext cx="1691640" cy="27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37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6117336" y="2816352"/>
            <a:ext cx="16916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7882128" y="1965960"/>
            <a:ext cx="1691640" cy="786384"/>
          </a:xfrm>
          <a:prstGeom prst="roundRect">
            <a:avLst>
              <a:gd name="adj" fmla="val 2907"/>
            </a:avLst>
          </a:prstGeom>
          <a:solidFill>
            <a:srgbClr val="F7EACB"/>
          </a:solidFill>
          <a:ln w="17775" cap="flat" cmpd="sng">
            <a:solidFill>
              <a:srgbClr val="D6A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2"/>
          <p:cNvSpPr/>
          <p:nvPr/>
        </p:nvSpPr>
        <p:spPr>
          <a:xfrm>
            <a:off x="7882128" y="2146828"/>
            <a:ext cx="1691640" cy="27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7882128" y="2816352"/>
            <a:ext cx="16916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9646920" y="1965960"/>
            <a:ext cx="1691640" cy="786384"/>
          </a:xfrm>
          <a:prstGeom prst="roundRect">
            <a:avLst>
              <a:gd name="adj" fmla="val 2907"/>
            </a:avLst>
          </a:prstGeom>
          <a:solidFill>
            <a:srgbClr val="E7F0F7"/>
          </a:solidFill>
          <a:ln w="17775" cap="flat" cmpd="sng">
            <a:solidFill>
              <a:srgbClr val="2F6F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2"/>
          <p:cNvSpPr/>
          <p:nvPr/>
        </p:nvSpPr>
        <p:spPr>
          <a:xfrm>
            <a:off x="9646920" y="2146828"/>
            <a:ext cx="1691640" cy="27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9646920" y="2816352"/>
            <a:ext cx="16916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9" name="Google Shape;329;p12"/>
          <p:cNvCxnSpPr/>
          <p:nvPr/>
        </p:nvCxnSpPr>
        <p:spPr>
          <a:xfrm>
            <a:off x="822960" y="1828800"/>
            <a:ext cx="1691640" cy="0"/>
          </a:xfrm>
          <a:prstGeom prst="straightConnector1">
            <a:avLst/>
          </a:prstGeom>
          <a:noFill/>
          <a:ln w="29200" cap="flat" cmpd="sng">
            <a:solidFill>
              <a:srgbClr val="2E7D5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0" name="Google Shape;330;p12"/>
          <p:cNvSpPr/>
          <p:nvPr/>
        </p:nvSpPr>
        <p:spPr>
          <a:xfrm>
            <a:off x="822960" y="1572768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2E7D5B"/>
                </a:solidFill>
                <a:latin typeface="Arial"/>
                <a:ea typeface="Arial"/>
                <a:cs typeface="Arial"/>
                <a:sym typeface="Arial"/>
              </a:rPr>
              <a:t>finalized prefix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2240280" y="1325880"/>
            <a:ext cx="1143000" cy="283464"/>
          </a:xfrm>
          <a:prstGeom prst="roundRect">
            <a:avLst>
              <a:gd name="adj" fmla="val 12903"/>
            </a:avLst>
          </a:prstGeom>
          <a:solidFill>
            <a:srgbClr val="F8E5DE"/>
          </a:solidFill>
          <a:ln w="12700" cap="flat" cmpd="sng">
            <a:solidFill>
              <a:srgbClr val="F8E5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2"/>
          <p:cNvSpPr/>
          <p:nvPr/>
        </p:nvSpPr>
        <p:spPr>
          <a:xfrm>
            <a:off x="2286000" y="1389888"/>
            <a:ext cx="105156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860"/>
              <a:buFont typeface="Arial"/>
              <a:buNone/>
            </a:pPr>
            <a:r>
              <a:rPr lang="en-US" sz="86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i = 1: target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3" name="Google Shape;333;p12"/>
          <p:cNvCxnSpPr/>
          <p:nvPr/>
        </p:nvCxnSpPr>
        <p:spPr>
          <a:xfrm>
            <a:off x="2788920" y="1636776"/>
            <a:ext cx="0" cy="274320"/>
          </a:xfrm>
          <a:prstGeom prst="straightConnector1">
            <a:avLst/>
          </a:prstGeom>
          <a:noFill/>
          <a:ln w="22850" cap="flat" cmpd="sng">
            <a:solidFill>
              <a:srgbClr val="B85C3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4" name="Google Shape;334;p12"/>
          <p:cNvSpPr/>
          <p:nvPr/>
        </p:nvSpPr>
        <p:spPr>
          <a:xfrm>
            <a:off x="6766560" y="1325880"/>
            <a:ext cx="1828800" cy="283464"/>
          </a:xfrm>
          <a:prstGeom prst="roundRect">
            <a:avLst>
              <a:gd name="adj" fmla="val 12903"/>
            </a:avLst>
          </a:prstGeom>
          <a:solidFill>
            <a:srgbClr val="F7EACB"/>
          </a:solidFill>
          <a:ln w="12700" cap="flat" cmpd="sng">
            <a:solidFill>
              <a:srgbClr val="F7EA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2"/>
          <p:cNvSpPr/>
          <p:nvPr/>
        </p:nvSpPr>
        <p:spPr>
          <a:xfrm>
            <a:off x="6812280" y="1389888"/>
            <a:ext cx="173736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6A84B"/>
              </a:buClr>
              <a:buSzPts val="860"/>
              <a:buFont typeface="Arial"/>
              <a:buNone/>
            </a:pPr>
            <a:r>
              <a:rPr lang="en-US" sz="860" b="1" i="0" u="none" strike="noStrike" cap="none">
                <a:solidFill>
                  <a:srgbClr val="D6A84B"/>
                </a:solidFill>
                <a:latin typeface="Arial"/>
                <a:ea typeface="Arial"/>
                <a:cs typeface="Arial"/>
                <a:sym typeface="Arial"/>
              </a:rPr>
              <a:t>minIndex = 4: best seen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6" name="Google Shape;336;p12"/>
          <p:cNvCxnSpPr/>
          <p:nvPr/>
        </p:nvCxnSpPr>
        <p:spPr>
          <a:xfrm>
            <a:off x="7680960" y="1636776"/>
            <a:ext cx="0" cy="274320"/>
          </a:xfrm>
          <a:prstGeom prst="straightConnector1">
            <a:avLst/>
          </a:prstGeom>
          <a:noFill/>
          <a:ln w="22850" cap="flat" cmpd="sng">
            <a:solidFill>
              <a:srgbClr val="D6A84B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7" name="Google Shape;337;p12"/>
          <p:cNvSpPr/>
          <p:nvPr/>
        </p:nvSpPr>
        <p:spPr>
          <a:xfrm>
            <a:off x="8823960" y="3063240"/>
            <a:ext cx="1645920" cy="283464"/>
          </a:xfrm>
          <a:prstGeom prst="roundRect">
            <a:avLst>
              <a:gd name="adj" fmla="val 12903"/>
            </a:avLst>
          </a:prstGeom>
          <a:solidFill>
            <a:srgbClr val="E7F0F7"/>
          </a:solidFill>
          <a:ln w="12700" cap="flat" cmpd="sng">
            <a:solidFill>
              <a:srgbClr val="E7F0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2"/>
          <p:cNvSpPr/>
          <p:nvPr/>
        </p:nvSpPr>
        <p:spPr>
          <a:xfrm>
            <a:off x="8869680" y="3127248"/>
            <a:ext cx="155448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6F9F"/>
              </a:buClr>
              <a:buSzPts val="860"/>
              <a:buFont typeface="Arial"/>
              <a:buNone/>
            </a:pPr>
            <a:r>
              <a:rPr lang="en-US" sz="860" b="1" i="0" u="none" strike="noStrike" cap="none">
                <a:solidFill>
                  <a:srgbClr val="2F6F9F"/>
                </a:solidFill>
                <a:latin typeface="Arial"/>
                <a:ea typeface="Arial"/>
                <a:cs typeface="Arial"/>
                <a:sym typeface="Arial"/>
              </a:rPr>
              <a:t>j = 5: current candidate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9" name="Google Shape;339;p12"/>
          <p:cNvCxnSpPr/>
          <p:nvPr/>
        </p:nvCxnSpPr>
        <p:spPr>
          <a:xfrm rot="10800000">
            <a:off x="9601200" y="2743200"/>
            <a:ext cx="0" cy="228600"/>
          </a:xfrm>
          <a:prstGeom prst="straightConnector1">
            <a:avLst/>
          </a:prstGeom>
          <a:noFill/>
          <a:ln w="22850" cap="flat" cmpd="sng">
            <a:solidFill>
              <a:srgbClr val="2F6F9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40" name="Google Shape;340;p12"/>
          <p:cNvSpPr/>
          <p:nvPr/>
        </p:nvSpPr>
        <p:spPr>
          <a:xfrm>
            <a:off x="868680" y="3794760"/>
            <a:ext cx="315468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2"/>
          <p:cNvSpPr/>
          <p:nvPr/>
        </p:nvSpPr>
        <p:spPr>
          <a:xfrm>
            <a:off x="1033272" y="3950208"/>
            <a:ext cx="438912" cy="438912"/>
          </a:xfrm>
          <a:prstGeom prst="ellipse">
            <a:avLst/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2"/>
          <p:cNvSpPr/>
          <p:nvPr/>
        </p:nvSpPr>
        <p:spPr>
          <a:xfrm>
            <a:off x="1033272" y="405079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1581912" y="3959352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1138428" y="4626864"/>
            <a:ext cx="2752344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30"/>
              <a:buFont typeface="Arial"/>
              <a:buNone/>
            </a:pPr>
            <a:r>
              <a:rPr lang="en-US" sz="123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First position in the unsorted suffix; the destination for the next minimum.</a:t>
            </a:r>
            <a:endParaRPr sz="123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4526280" y="3794760"/>
            <a:ext cx="315468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2"/>
          <p:cNvSpPr/>
          <p:nvPr/>
        </p:nvSpPr>
        <p:spPr>
          <a:xfrm>
            <a:off x="4690872" y="3950208"/>
            <a:ext cx="438912" cy="438912"/>
          </a:xfrm>
          <a:prstGeom prst="ellipse">
            <a:avLst/>
          </a:prstGeom>
          <a:solidFill>
            <a:srgbClr val="E7F0F7"/>
          </a:solidFill>
          <a:ln w="12700" cap="flat" cmpd="sng">
            <a:solidFill>
              <a:srgbClr val="E7F0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2"/>
          <p:cNvSpPr/>
          <p:nvPr/>
        </p:nvSpPr>
        <p:spPr>
          <a:xfrm>
            <a:off x="4690872" y="405079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6F9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2F6F9F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5239512" y="3959352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4873752" y="4553712"/>
            <a:ext cx="2752344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30"/>
              <a:buFont typeface="Arial"/>
              <a:buNone/>
            </a:pPr>
            <a:r>
              <a:rPr lang="en-US" sz="123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Moves through the suffix one item at a time.</a:t>
            </a:r>
            <a:endParaRPr sz="123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8183880" y="3794760"/>
            <a:ext cx="315468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2"/>
          <p:cNvSpPr/>
          <p:nvPr/>
        </p:nvSpPr>
        <p:spPr>
          <a:xfrm>
            <a:off x="8348472" y="3950208"/>
            <a:ext cx="438912" cy="438912"/>
          </a:xfrm>
          <a:prstGeom prst="ellipse">
            <a:avLst/>
          </a:prstGeom>
          <a:solidFill>
            <a:srgbClr val="F7EACB"/>
          </a:solidFill>
          <a:ln w="12700" cap="flat" cmpd="sng">
            <a:solidFill>
              <a:srgbClr val="F7EA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2"/>
          <p:cNvSpPr/>
          <p:nvPr/>
        </p:nvSpPr>
        <p:spPr>
          <a:xfrm>
            <a:off x="8348472" y="405079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8897112" y="3959352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minIndex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8343900" y="4526032"/>
            <a:ext cx="2752344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30"/>
              <a:buFont typeface="Arial"/>
              <a:buNone/>
            </a:pPr>
            <a:r>
              <a:rPr lang="en-US" sz="123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Stores the index of the smallest key encountered so far.</a:t>
            </a:r>
            <a:endParaRPr sz="123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2"/>
          <p:cNvSpPr txBox="1">
            <a:spLocks noGrp="1"/>
          </p:cNvSpPr>
          <p:nvPr>
            <p:ph type="sldNum" idx="4294967295"/>
          </p:nvPr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820" b="0" i="0" u="none" strike="noStrike" cap="none">
              <a:solidFill>
                <a:srgbClr val="68798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3"/>
          <p:cNvSpPr/>
          <p:nvPr/>
        </p:nvSpPr>
        <p:spPr>
          <a:xfrm>
            <a:off x="566928" y="3657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2450"/>
              <a:buFont typeface="Arial"/>
              <a:buNone/>
            </a:pPr>
            <a:r>
              <a:rPr lang="en-US" sz="24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Worked example: complete textbook-style dry run</a:t>
            </a:r>
            <a:endParaRPr sz="2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585216" y="859536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0"/>
              <a:buFont typeface="Arial"/>
              <a:buNone/>
            </a:pPr>
            <a:r>
              <a:rPr lang="en-US" sz="11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Example created for this lecture: [29, 10, 14, 37, 13, 5]</a:t>
            </a:r>
            <a:endParaRPr sz="11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3"/>
          <p:cNvSpPr/>
          <p:nvPr/>
        </p:nvSpPr>
        <p:spPr>
          <a:xfrm>
            <a:off x="9555480" y="384048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3"/>
          <p:cNvSpPr/>
          <p:nvPr/>
        </p:nvSpPr>
        <p:spPr>
          <a:xfrm>
            <a:off x="9601200" y="448056"/>
            <a:ext cx="1874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594A"/>
              </a:buClr>
              <a:buSzPts val="810"/>
              <a:buFont typeface="Arial"/>
              <a:buNone/>
            </a:pPr>
            <a:r>
              <a:rPr lang="en-US" sz="810" b="1" i="0" u="none" strike="noStrike" cap="none">
                <a:solidFill>
                  <a:srgbClr val="22594A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sz="81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1051560" y="1874520"/>
            <a:ext cx="1615440" cy="8686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3"/>
          <p:cNvSpPr/>
          <p:nvPr/>
        </p:nvSpPr>
        <p:spPr>
          <a:xfrm>
            <a:off x="1051560" y="2074316"/>
            <a:ext cx="1615440" cy="30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sz="2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1051560" y="2807208"/>
            <a:ext cx="16154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2740152" y="1874520"/>
            <a:ext cx="1615440" cy="8686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13"/>
          <p:cNvSpPr/>
          <p:nvPr/>
        </p:nvSpPr>
        <p:spPr>
          <a:xfrm>
            <a:off x="2740152" y="2074316"/>
            <a:ext cx="1615440" cy="30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2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2740152" y="2807208"/>
            <a:ext cx="16154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4428744" y="1874520"/>
            <a:ext cx="1615440" cy="8686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3"/>
          <p:cNvSpPr/>
          <p:nvPr/>
        </p:nvSpPr>
        <p:spPr>
          <a:xfrm>
            <a:off x="4428744" y="2074316"/>
            <a:ext cx="1615440" cy="30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2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3"/>
          <p:cNvSpPr/>
          <p:nvPr/>
        </p:nvSpPr>
        <p:spPr>
          <a:xfrm>
            <a:off x="4428744" y="2807208"/>
            <a:ext cx="16154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3"/>
          <p:cNvSpPr/>
          <p:nvPr/>
        </p:nvSpPr>
        <p:spPr>
          <a:xfrm>
            <a:off x="6117336" y="1874520"/>
            <a:ext cx="1615440" cy="8686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3"/>
          <p:cNvSpPr/>
          <p:nvPr/>
        </p:nvSpPr>
        <p:spPr>
          <a:xfrm>
            <a:off x="6117336" y="2074316"/>
            <a:ext cx="1615440" cy="30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37</a:t>
            </a:r>
            <a:endParaRPr sz="2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6117336" y="2807208"/>
            <a:ext cx="16154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7805928" y="1874520"/>
            <a:ext cx="1615440" cy="8686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3"/>
          <p:cNvSpPr/>
          <p:nvPr/>
        </p:nvSpPr>
        <p:spPr>
          <a:xfrm>
            <a:off x="7805928" y="2074316"/>
            <a:ext cx="1615440" cy="30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2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7805928" y="2807208"/>
            <a:ext cx="16154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3"/>
          <p:cNvSpPr/>
          <p:nvPr/>
        </p:nvSpPr>
        <p:spPr>
          <a:xfrm>
            <a:off x="9494520" y="1874520"/>
            <a:ext cx="1615440" cy="8686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3"/>
          <p:cNvSpPr/>
          <p:nvPr/>
        </p:nvSpPr>
        <p:spPr>
          <a:xfrm>
            <a:off x="9494520" y="2074316"/>
            <a:ext cx="1615440" cy="30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3"/>
          <p:cNvSpPr/>
          <p:nvPr/>
        </p:nvSpPr>
        <p:spPr>
          <a:xfrm>
            <a:off x="9494520" y="2807208"/>
            <a:ext cx="16154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914400" y="3429000"/>
            <a:ext cx="3063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3"/>
          <p:cNvSpPr/>
          <p:nvPr/>
        </p:nvSpPr>
        <p:spPr>
          <a:xfrm>
            <a:off x="1078992" y="3584448"/>
            <a:ext cx="438912" cy="438912"/>
          </a:xfrm>
          <a:prstGeom prst="ellipse">
            <a:avLst/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3"/>
          <p:cNvSpPr/>
          <p:nvPr/>
        </p:nvSpPr>
        <p:spPr>
          <a:xfrm>
            <a:off x="1078992" y="368503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3"/>
          <p:cNvSpPr/>
          <p:nvPr/>
        </p:nvSpPr>
        <p:spPr>
          <a:xfrm>
            <a:off x="1650616" y="3694176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 dirty="0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Question</a:t>
            </a:r>
            <a:endParaRPr sz="152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3"/>
          <p:cNvSpPr/>
          <p:nvPr/>
        </p:nvSpPr>
        <p:spPr>
          <a:xfrm>
            <a:off x="1115568" y="4223614"/>
            <a:ext cx="266090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300"/>
              <a:buFont typeface="Arial"/>
              <a:buNone/>
            </a:pPr>
            <a:r>
              <a:rPr lang="en-US" sz="130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Which element belongs at index 0?</a:t>
            </a: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3"/>
          <p:cNvSpPr/>
          <p:nvPr/>
        </p:nvSpPr>
        <p:spPr>
          <a:xfrm>
            <a:off x="4526280" y="3429000"/>
            <a:ext cx="3063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3"/>
          <p:cNvSpPr/>
          <p:nvPr/>
        </p:nvSpPr>
        <p:spPr>
          <a:xfrm>
            <a:off x="4690872" y="3584448"/>
            <a:ext cx="438912" cy="438912"/>
          </a:xfrm>
          <a:prstGeom prst="ellipse">
            <a:avLst/>
          </a:prstGeom>
          <a:solidFill>
            <a:srgbClr val="E7F0F7"/>
          </a:solidFill>
          <a:ln w="12700" cap="flat" cmpd="sng">
            <a:solidFill>
              <a:srgbClr val="E7F0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3"/>
          <p:cNvSpPr/>
          <p:nvPr/>
        </p:nvSpPr>
        <p:spPr>
          <a:xfrm>
            <a:off x="4690872" y="368503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6F9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2F6F9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3"/>
          <p:cNvSpPr/>
          <p:nvPr/>
        </p:nvSpPr>
        <p:spPr>
          <a:xfrm>
            <a:off x="5239512" y="3705977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 dirty="0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 sz="152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3"/>
          <p:cNvSpPr/>
          <p:nvPr/>
        </p:nvSpPr>
        <p:spPr>
          <a:xfrm>
            <a:off x="4727448" y="4150635"/>
            <a:ext cx="266090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300"/>
              <a:buFont typeface="Arial"/>
              <a:buNone/>
            </a:pPr>
            <a:r>
              <a:rPr lang="en-US" sz="130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Scan all six values and remember the smallest.</a:t>
            </a: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3"/>
          <p:cNvSpPr/>
          <p:nvPr/>
        </p:nvSpPr>
        <p:spPr>
          <a:xfrm>
            <a:off x="8138160" y="3429000"/>
            <a:ext cx="3063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3"/>
          <p:cNvSpPr/>
          <p:nvPr/>
        </p:nvSpPr>
        <p:spPr>
          <a:xfrm>
            <a:off x="8302752" y="3584448"/>
            <a:ext cx="438912" cy="438912"/>
          </a:xfrm>
          <a:prstGeom prst="ellipse">
            <a:avLst/>
          </a:prstGeom>
          <a:solidFill>
            <a:srgbClr val="F7EACB"/>
          </a:solidFill>
          <a:ln w="12700" cap="flat" cmpd="sng">
            <a:solidFill>
              <a:srgbClr val="F7EA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3"/>
          <p:cNvSpPr/>
          <p:nvPr/>
        </p:nvSpPr>
        <p:spPr>
          <a:xfrm>
            <a:off x="8302752" y="368503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3"/>
          <p:cNvSpPr/>
          <p:nvPr/>
        </p:nvSpPr>
        <p:spPr>
          <a:xfrm>
            <a:off x="8897112" y="3705977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 dirty="0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Answer</a:t>
            </a:r>
            <a:endParaRPr sz="152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8449056" y="4209576"/>
            <a:ext cx="266090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300"/>
              <a:buFont typeface="Arial"/>
              <a:buNone/>
            </a:pPr>
            <a:r>
              <a:rPr lang="en-US" sz="130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5 is minimum, so 5 must be placed at index 0.</a:t>
            </a: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3"/>
          <p:cNvSpPr txBox="1">
            <a:spLocks noGrp="1"/>
          </p:cNvSpPr>
          <p:nvPr>
            <p:ph type="sldNum" idx="4294967295"/>
          </p:nvPr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820" b="0" i="0" u="none" strike="noStrike" cap="none">
              <a:solidFill>
                <a:srgbClr val="68798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4"/>
          <p:cNvSpPr/>
          <p:nvPr/>
        </p:nvSpPr>
        <p:spPr>
          <a:xfrm>
            <a:off x="566928" y="3657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2450"/>
              <a:buFont typeface="Arial"/>
              <a:buNone/>
            </a:pPr>
            <a:r>
              <a:rPr lang="en-US" sz="24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Pass 1: minimum search</a:t>
            </a:r>
            <a:endParaRPr sz="2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4"/>
          <p:cNvSpPr/>
          <p:nvPr/>
        </p:nvSpPr>
        <p:spPr>
          <a:xfrm>
            <a:off x="585216" y="859536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0"/>
              <a:buFont typeface="Arial"/>
              <a:buNone/>
            </a:pPr>
            <a:r>
              <a:rPr lang="en-US" sz="11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At i = 0, the unsorted suffix is the entire array.</a:t>
            </a:r>
            <a:endParaRPr sz="11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4"/>
          <p:cNvSpPr/>
          <p:nvPr/>
        </p:nvSpPr>
        <p:spPr>
          <a:xfrm>
            <a:off x="9555480" y="384048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4"/>
          <p:cNvSpPr/>
          <p:nvPr/>
        </p:nvSpPr>
        <p:spPr>
          <a:xfrm>
            <a:off x="9601200" y="448056"/>
            <a:ext cx="1874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594A"/>
              </a:buClr>
              <a:buSzPts val="810"/>
              <a:buFont typeface="Arial"/>
              <a:buNone/>
            </a:pPr>
            <a:r>
              <a:rPr lang="en-US" sz="810" b="1" i="0" u="none" strike="noStrike" cap="none">
                <a:solidFill>
                  <a:srgbClr val="22594A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sz="81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4"/>
          <p:cNvSpPr/>
          <p:nvPr/>
        </p:nvSpPr>
        <p:spPr>
          <a:xfrm>
            <a:off x="1051560" y="1783080"/>
            <a:ext cx="1615440" cy="804672"/>
          </a:xfrm>
          <a:prstGeom prst="roundRect">
            <a:avLst>
              <a:gd name="adj" fmla="val 2841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14"/>
          <p:cNvSpPr/>
          <p:nvPr/>
        </p:nvSpPr>
        <p:spPr>
          <a:xfrm>
            <a:off x="1051560" y="1968155"/>
            <a:ext cx="1615440" cy="28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4"/>
          <p:cNvSpPr/>
          <p:nvPr/>
        </p:nvSpPr>
        <p:spPr>
          <a:xfrm>
            <a:off x="1051560" y="2651760"/>
            <a:ext cx="16154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2740152" y="1783080"/>
            <a:ext cx="1615440" cy="804672"/>
          </a:xfrm>
          <a:prstGeom prst="roundRect">
            <a:avLst>
              <a:gd name="adj" fmla="val 2841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4"/>
          <p:cNvSpPr/>
          <p:nvPr/>
        </p:nvSpPr>
        <p:spPr>
          <a:xfrm>
            <a:off x="2740152" y="1968155"/>
            <a:ext cx="1615440" cy="28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4"/>
          <p:cNvSpPr/>
          <p:nvPr/>
        </p:nvSpPr>
        <p:spPr>
          <a:xfrm>
            <a:off x="2740152" y="2651760"/>
            <a:ext cx="16154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4"/>
          <p:cNvSpPr/>
          <p:nvPr/>
        </p:nvSpPr>
        <p:spPr>
          <a:xfrm>
            <a:off x="4428744" y="1783080"/>
            <a:ext cx="1615440" cy="804672"/>
          </a:xfrm>
          <a:prstGeom prst="roundRect">
            <a:avLst>
              <a:gd name="adj" fmla="val 2841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4"/>
          <p:cNvSpPr/>
          <p:nvPr/>
        </p:nvSpPr>
        <p:spPr>
          <a:xfrm>
            <a:off x="4428744" y="1968155"/>
            <a:ext cx="1615440" cy="28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4"/>
          <p:cNvSpPr/>
          <p:nvPr/>
        </p:nvSpPr>
        <p:spPr>
          <a:xfrm>
            <a:off x="4428744" y="2651760"/>
            <a:ext cx="16154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6117336" y="1783080"/>
            <a:ext cx="1615440" cy="804672"/>
          </a:xfrm>
          <a:prstGeom prst="roundRect">
            <a:avLst>
              <a:gd name="adj" fmla="val 2841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14"/>
          <p:cNvSpPr/>
          <p:nvPr/>
        </p:nvSpPr>
        <p:spPr>
          <a:xfrm>
            <a:off x="6117336" y="1968155"/>
            <a:ext cx="1615440" cy="28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37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4"/>
          <p:cNvSpPr/>
          <p:nvPr/>
        </p:nvSpPr>
        <p:spPr>
          <a:xfrm>
            <a:off x="6117336" y="2651760"/>
            <a:ext cx="16154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4"/>
          <p:cNvSpPr/>
          <p:nvPr/>
        </p:nvSpPr>
        <p:spPr>
          <a:xfrm>
            <a:off x="7805928" y="1783080"/>
            <a:ext cx="1615440" cy="804672"/>
          </a:xfrm>
          <a:prstGeom prst="roundRect">
            <a:avLst>
              <a:gd name="adj" fmla="val 2841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14"/>
          <p:cNvSpPr/>
          <p:nvPr/>
        </p:nvSpPr>
        <p:spPr>
          <a:xfrm>
            <a:off x="7805928" y="1968155"/>
            <a:ext cx="1615440" cy="28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4"/>
          <p:cNvSpPr/>
          <p:nvPr/>
        </p:nvSpPr>
        <p:spPr>
          <a:xfrm>
            <a:off x="7805928" y="2651760"/>
            <a:ext cx="16154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4"/>
          <p:cNvSpPr/>
          <p:nvPr/>
        </p:nvSpPr>
        <p:spPr>
          <a:xfrm>
            <a:off x="9494520" y="1783080"/>
            <a:ext cx="1615440" cy="804672"/>
          </a:xfrm>
          <a:prstGeom prst="roundRect">
            <a:avLst>
              <a:gd name="adj" fmla="val 2841"/>
            </a:avLst>
          </a:prstGeom>
          <a:solidFill>
            <a:srgbClr val="F7EACB"/>
          </a:solidFill>
          <a:ln w="17775" cap="flat" cmpd="sng">
            <a:solidFill>
              <a:srgbClr val="D6A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14"/>
          <p:cNvSpPr/>
          <p:nvPr/>
        </p:nvSpPr>
        <p:spPr>
          <a:xfrm>
            <a:off x="9494520" y="1968155"/>
            <a:ext cx="1615440" cy="28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4"/>
          <p:cNvSpPr/>
          <p:nvPr/>
        </p:nvSpPr>
        <p:spPr>
          <a:xfrm>
            <a:off x="9494520" y="2651760"/>
            <a:ext cx="16154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4"/>
          <p:cNvSpPr/>
          <p:nvPr/>
        </p:nvSpPr>
        <p:spPr>
          <a:xfrm>
            <a:off x="868680" y="306324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Comparisons made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4"/>
          <p:cNvSpPr/>
          <p:nvPr/>
        </p:nvSpPr>
        <p:spPr>
          <a:xfrm>
            <a:off x="868680" y="3520440"/>
            <a:ext cx="1993392" cy="658368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270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14"/>
          <p:cNvSpPr/>
          <p:nvPr/>
        </p:nvSpPr>
        <p:spPr>
          <a:xfrm>
            <a:off x="941832" y="3739896"/>
            <a:ext cx="184708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060"/>
              <a:buFont typeface="Arial"/>
              <a:buNone/>
            </a:pPr>
            <a:r>
              <a:rPr lang="en-US" sz="106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10 &lt; 29 → yes</a:t>
            </a:r>
            <a:endParaRPr sz="10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4"/>
          <p:cNvSpPr/>
          <p:nvPr/>
        </p:nvSpPr>
        <p:spPr>
          <a:xfrm>
            <a:off x="3063240" y="3520440"/>
            <a:ext cx="1993392" cy="658368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270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14"/>
          <p:cNvSpPr/>
          <p:nvPr/>
        </p:nvSpPr>
        <p:spPr>
          <a:xfrm>
            <a:off x="3136392" y="3739896"/>
            <a:ext cx="184708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060"/>
              <a:buFont typeface="Arial"/>
              <a:buNone/>
            </a:pPr>
            <a:r>
              <a:rPr lang="en-US" sz="106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14 &lt; 10 → no</a:t>
            </a:r>
            <a:endParaRPr sz="10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5257800" y="3520440"/>
            <a:ext cx="1993392" cy="658368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270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4"/>
          <p:cNvSpPr/>
          <p:nvPr/>
        </p:nvSpPr>
        <p:spPr>
          <a:xfrm>
            <a:off x="5330952" y="3739896"/>
            <a:ext cx="184708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060"/>
              <a:buFont typeface="Arial"/>
              <a:buNone/>
            </a:pPr>
            <a:r>
              <a:rPr lang="en-US" sz="106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37 &lt; 10 → no</a:t>
            </a:r>
            <a:endParaRPr sz="10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4"/>
          <p:cNvSpPr/>
          <p:nvPr/>
        </p:nvSpPr>
        <p:spPr>
          <a:xfrm>
            <a:off x="7452360" y="3520440"/>
            <a:ext cx="1993392" cy="658368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270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4"/>
          <p:cNvSpPr/>
          <p:nvPr/>
        </p:nvSpPr>
        <p:spPr>
          <a:xfrm>
            <a:off x="7525512" y="3739896"/>
            <a:ext cx="184708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060"/>
              <a:buFont typeface="Arial"/>
              <a:buNone/>
            </a:pPr>
            <a:r>
              <a:rPr lang="en-US" sz="106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13 &lt; 10 → no</a:t>
            </a:r>
            <a:endParaRPr sz="10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9646920" y="3520440"/>
            <a:ext cx="1993392" cy="658368"/>
          </a:xfrm>
          <a:prstGeom prst="roundRect">
            <a:avLst>
              <a:gd name="adj" fmla="val 4861"/>
            </a:avLst>
          </a:prstGeom>
          <a:solidFill>
            <a:srgbClr val="F7EACB"/>
          </a:solidFill>
          <a:ln w="12700" cap="flat" cmpd="sng">
            <a:solidFill>
              <a:srgbClr val="D6A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14"/>
          <p:cNvSpPr/>
          <p:nvPr/>
        </p:nvSpPr>
        <p:spPr>
          <a:xfrm>
            <a:off x="9720072" y="3739896"/>
            <a:ext cx="184708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1060"/>
              <a:buFont typeface="Arial"/>
              <a:buNone/>
            </a:pPr>
            <a:r>
              <a:rPr lang="en-US" sz="106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5 &lt; 10 → yes</a:t>
            </a:r>
            <a:endParaRPr sz="10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4"/>
          <p:cNvSpPr/>
          <p:nvPr/>
        </p:nvSpPr>
        <p:spPr>
          <a:xfrm>
            <a:off x="4206240" y="4736592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1450"/>
              <a:buFont typeface="Arial"/>
              <a:buNone/>
            </a:pPr>
            <a:r>
              <a:rPr lang="en-US" sz="145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minIndex = 5 (value 5)</a:t>
            </a:r>
            <a:endParaRPr sz="1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4"/>
          <p:cNvSpPr/>
          <p:nvPr/>
        </p:nvSpPr>
        <p:spPr>
          <a:xfrm>
            <a:off x="4389120" y="5285232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220"/>
              <a:buFont typeface="Arial"/>
              <a:buNone/>
            </a:pPr>
            <a:r>
              <a:rPr lang="en-US" sz="12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5 comparisons = n − 1</a:t>
            </a:r>
            <a:endParaRPr sz="12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4"/>
          <p:cNvSpPr txBox="1">
            <a:spLocks noGrp="1"/>
          </p:cNvSpPr>
          <p:nvPr>
            <p:ph type="sldNum" idx="4294967295"/>
          </p:nvPr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820" b="0" i="0" u="none" strike="noStrike" cap="none">
              <a:solidFill>
                <a:srgbClr val="68798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5"/>
          <p:cNvSpPr/>
          <p:nvPr/>
        </p:nvSpPr>
        <p:spPr>
          <a:xfrm>
            <a:off x="566928" y="3657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2450"/>
              <a:buFont typeface="Arial"/>
              <a:buNone/>
            </a:pPr>
            <a:r>
              <a:rPr lang="en-US" sz="24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Pass 1: place the selected minimum</a:t>
            </a:r>
            <a:endParaRPr sz="2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5"/>
          <p:cNvSpPr/>
          <p:nvPr/>
        </p:nvSpPr>
        <p:spPr>
          <a:xfrm>
            <a:off x="585216" y="859536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0"/>
              <a:buFont typeface="Arial"/>
              <a:buNone/>
            </a:pPr>
            <a:r>
              <a:rPr lang="en-US" sz="11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Exchange A[0] with A[5].</a:t>
            </a:r>
            <a:endParaRPr sz="11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5"/>
          <p:cNvSpPr/>
          <p:nvPr/>
        </p:nvSpPr>
        <p:spPr>
          <a:xfrm>
            <a:off x="9555480" y="384048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5"/>
          <p:cNvSpPr/>
          <p:nvPr/>
        </p:nvSpPr>
        <p:spPr>
          <a:xfrm>
            <a:off x="9601200" y="448056"/>
            <a:ext cx="1874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594A"/>
              </a:buClr>
              <a:buSzPts val="810"/>
              <a:buFont typeface="Arial"/>
              <a:buNone/>
            </a:pPr>
            <a:r>
              <a:rPr lang="en-US" sz="810" b="1" i="0" u="none" strike="noStrike" cap="none">
                <a:solidFill>
                  <a:srgbClr val="22594A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sz="81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5"/>
          <p:cNvSpPr/>
          <p:nvPr/>
        </p:nvSpPr>
        <p:spPr>
          <a:xfrm>
            <a:off x="1051560" y="1554480"/>
            <a:ext cx="1615440" cy="786384"/>
          </a:xfrm>
          <a:prstGeom prst="roundRect">
            <a:avLst>
              <a:gd name="adj" fmla="val 2907"/>
            </a:avLst>
          </a:prstGeom>
          <a:solidFill>
            <a:srgbClr val="F8E5DE"/>
          </a:solidFill>
          <a:ln w="17775" cap="flat" cmpd="sng">
            <a:solidFill>
              <a:srgbClr val="B85C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15"/>
          <p:cNvSpPr/>
          <p:nvPr/>
        </p:nvSpPr>
        <p:spPr>
          <a:xfrm>
            <a:off x="1051560" y="1735348"/>
            <a:ext cx="1615440" cy="27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5"/>
          <p:cNvSpPr/>
          <p:nvPr/>
        </p:nvSpPr>
        <p:spPr>
          <a:xfrm>
            <a:off x="1051560" y="2404872"/>
            <a:ext cx="16154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5"/>
          <p:cNvSpPr/>
          <p:nvPr/>
        </p:nvSpPr>
        <p:spPr>
          <a:xfrm>
            <a:off x="2740152" y="1554480"/>
            <a:ext cx="1615440" cy="786384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5"/>
          <p:cNvSpPr/>
          <p:nvPr/>
        </p:nvSpPr>
        <p:spPr>
          <a:xfrm>
            <a:off x="2740152" y="1735348"/>
            <a:ext cx="1615440" cy="27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5"/>
          <p:cNvSpPr/>
          <p:nvPr/>
        </p:nvSpPr>
        <p:spPr>
          <a:xfrm>
            <a:off x="2740152" y="2404872"/>
            <a:ext cx="16154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5"/>
          <p:cNvSpPr/>
          <p:nvPr/>
        </p:nvSpPr>
        <p:spPr>
          <a:xfrm>
            <a:off x="4428744" y="1554480"/>
            <a:ext cx="1615440" cy="786384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15"/>
          <p:cNvSpPr/>
          <p:nvPr/>
        </p:nvSpPr>
        <p:spPr>
          <a:xfrm>
            <a:off x="4428744" y="1735348"/>
            <a:ext cx="1615440" cy="27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5"/>
          <p:cNvSpPr/>
          <p:nvPr/>
        </p:nvSpPr>
        <p:spPr>
          <a:xfrm>
            <a:off x="4428744" y="2404872"/>
            <a:ext cx="16154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5"/>
          <p:cNvSpPr/>
          <p:nvPr/>
        </p:nvSpPr>
        <p:spPr>
          <a:xfrm>
            <a:off x="6117336" y="1554480"/>
            <a:ext cx="1615440" cy="786384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15"/>
          <p:cNvSpPr/>
          <p:nvPr/>
        </p:nvSpPr>
        <p:spPr>
          <a:xfrm>
            <a:off x="6117336" y="1735348"/>
            <a:ext cx="1615440" cy="27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37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5"/>
          <p:cNvSpPr/>
          <p:nvPr/>
        </p:nvSpPr>
        <p:spPr>
          <a:xfrm>
            <a:off x="6117336" y="2404872"/>
            <a:ext cx="16154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5"/>
          <p:cNvSpPr/>
          <p:nvPr/>
        </p:nvSpPr>
        <p:spPr>
          <a:xfrm>
            <a:off x="7805928" y="1554480"/>
            <a:ext cx="1615440" cy="786384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5"/>
          <p:cNvSpPr/>
          <p:nvPr/>
        </p:nvSpPr>
        <p:spPr>
          <a:xfrm>
            <a:off x="7805928" y="1735348"/>
            <a:ext cx="1615440" cy="27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5"/>
          <p:cNvSpPr/>
          <p:nvPr/>
        </p:nvSpPr>
        <p:spPr>
          <a:xfrm>
            <a:off x="7805928" y="2404872"/>
            <a:ext cx="16154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5"/>
          <p:cNvSpPr/>
          <p:nvPr/>
        </p:nvSpPr>
        <p:spPr>
          <a:xfrm>
            <a:off x="9494520" y="1554480"/>
            <a:ext cx="1615440" cy="786384"/>
          </a:xfrm>
          <a:prstGeom prst="roundRect">
            <a:avLst>
              <a:gd name="adj" fmla="val 2907"/>
            </a:avLst>
          </a:prstGeom>
          <a:solidFill>
            <a:srgbClr val="F8E5DE"/>
          </a:solidFill>
          <a:ln w="17775" cap="flat" cmpd="sng">
            <a:solidFill>
              <a:srgbClr val="B85C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15"/>
          <p:cNvSpPr/>
          <p:nvPr/>
        </p:nvSpPr>
        <p:spPr>
          <a:xfrm>
            <a:off x="9494520" y="1735348"/>
            <a:ext cx="1615440" cy="27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5"/>
          <p:cNvSpPr/>
          <p:nvPr/>
        </p:nvSpPr>
        <p:spPr>
          <a:xfrm>
            <a:off x="9494520" y="2404872"/>
            <a:ext cx="16154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7" name="Google Shape;467;p15"/>
          <p:cNvCxnSpPr/>
          <p:nvPr/>
        </p:nvCxnSpPr>
        <p:spPr>
          <a:xfrm>
            <a:off x="2743200" y="2697480"/>
            <a:ext cx="6583680" cy="0"/>
          </a:xfrm>
          <a:prstGeom prst="straightConnector1">
            <a:avLst/>
          </a:prstGeom>
          <a:noFill/>
          <a:ln w="22850" cap="flat" cmpd="sng">
            <a:solidFill>
              <a:srgbClr val="B85C3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68" name="Google Shape;468;p15"/>
          <p:cNvSpPr/>
          <p:nvPr/>
        </p:nvSpPr>
        <p:spPr>
          <a:xfrm>
            <a:off x="4572000" y="2816352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swap 29 ↔ 5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5"/>
          <p:cNvSpPr/>
          <p:nvPr/>
        </p:nvSpPr>
        <p:spPr>
          <a:xfrm>
            <a:off x="1051560" y="3703320"/>
            <a:ext cx="1615440" cy="786384"/>
          </a:xfrm>
          <a:prstGeom prst="roundRect">
            <a:avLst>
              <a:gd name="adj" fmla="val 2907"/>
            </a:avLst>
          </a:prstGeom>
          <a:solidFill>
            <a:srgbClr val="F8E5DE"/>
          </a:solidFill>
          <a:ln w="17775" cap="flat" cmpd="sng">
            <a:solidFill>
              <a:srgbClr val="B85C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15"/>
          <p:cNvSpPr/>
          <p:nvPr/>
        </p:nvSpPr>
        <p:spPr>
          <a:xfrm>
            <a:off x="1051560" y="3884188"/>
            <a:ext cx="1615440" cy="27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5"/>
          <p:cNvSpPr/>
          <p:nvPr/>
        </p:nvSpPr>
        <p:spPr>
          <a:xfrm>
            <a:off x="2740152" y="3703320"/>
            <a:ext cx="1615440" cy="786384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15"/>
          <p:cNvSpPr/>
          <p:nvPr/>
        </p:nvSpPr>
        <p:spPr>
          <a:xfrm>
            <a:off x="2740152" y="3884188"/>
            <a:ext cx="1615440" cy="27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5"/>
          <p:cNvSpPr/>
          <p:nvPr/>
        </p:nvSpPr>
        <p:spPr>
          <a:xfrm>
            <a:off x="4428744" y="3703320"/>
            <a:ext cx="1615440" cy="786384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5"/>
          <p:cNvSpPr/>
          <p:nvPr/>
        </p:nvSpPr>
        <p:spPr>
          <a:xfrm>
            <a:off x="4428744" y="3884188"/>
            <a:ext cx="1615440" cy="27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5"/>
          <p:cNvSpPr/>
          <p:nvPr/>
        </p:nvSpPr>
        <p:spPr>
          <a:xfrm>
            <a:off x="6117336" y="3703320"/>
            <a:ext cx="1615440" cy="786384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15"/>
          <p:cNvSpPr/>
          <p:nvPr/>
        </p:nvSpPr>
        <p:spPr>
          <a:xfrm>
            <a:off x="6117336" y="3884188"/>
            <a:ext cx="1615440" cy="27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37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5"/>
          <p:cNvSpPr/>
          <p:nvPr/>
        </p:nvSpPr>
        <p:spPr>
          <a:xfrm>
            <a:off x="7805928" y="3703320"/>
            <a:ext cx="1615440" cy="786384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15"/>
          <p:cNvSpPr/>
          <p:nvPr/>
        </p:nvSpPr>
        <p:spPr>
          <a:xfrm>
            <a:off x="7805928" y="3884188"/>
            <a:ext cx="1615440" cy="27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5"/>
          <p:cNvSpPr/>
          <p:nvPr/>
        </p:nvSpPr>
        <p:spPr>
          <a:xfrm>
            <a:off x="9494520" y="3703320"/>
            <a:ext cx="1615440" cy="786384"/>
          </a:xfrm>
          <a:prstGeom prst="roundRect">
            <a:avLst>
              <a:gd name="adj" fmla="val 2907"/>
            </a:avLst>
          </a:prstGeom>
          <a:solidFill>
            <a:srgbClr val="F8E5DE"/>
          </a:solidFill>
          <a:ln w="17775" cap="flat" cmpd="sng">
            <a:solidFill>
              <a:srgbClr val="B85C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5"/>
          <p:cNvSpPr/>
          <p:nvPr/>
        </p:nvSpPr>
        <p:spPr>
          <a:xfrm>
            <a:off x="9494520" y="3884188"/>
            <a:ext cx="1615440" cy="27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1" name="Google Shape;481;p15"/>
          <p:cNvCxnSpPr/>
          <p:nvPr/>
        </p:nvCxnSpPr>
        <p:spPr>
          <a:xfrm>
            <a:off x="1051560" y="3566160"/>
            <a:ext cx="1615440" cy="0"/>
          </a:xfrm>
          <a:prstGeom prst="straightConnector1">
            <a:avLst/>
          </a:prstGeom>
          <a:noFill/>
          <a:ln w="29200" cap="flat" cmpd="sng">
            <a:solidFill>
              <a:srgbClr val="2E7D5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2" name="Google Shape;482;p15"/>
          <p:cNvSpPr/>
          <p:nvPr/>
        </p:nvSpPr>
        <p:spPr>
          <a:xfrm>
            <a:off x="1051560" y="3310128"/>
            <a:ext cx="16154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2E7D5B"/>
                </a:solidFill>
                <a:latin typeface="Arial"/>
                <a:ea typeface="Arial"/>
                <a:cs typeface="Arial"/>
                <a:sym typeface="Arial"/>
              </a:rPr>
              <a:t>finalized prefix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5"/>
          <p:cNvSpPr/>
          <p:nvPr/>
        </p:nvSpPr>
        <p:spPr>
          <a:xfrm>
            <a:off x="1417320" y="5166360"/>
            <a:ext cx="9326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Invariant established for one position: A[0] is now the smallest value of the full array.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5"/>
          <p:cNvSpPr txBox="1">
            <a:spLocks noGrp="1"/>
          </p:cNvSpPr>
          <p:nvPr>
            <p:ph type="sldNum" idx="4294967295"/>
          </p:nvPr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820" b="0" i="0" u="none" strike="noStrike" cap="none">
              <a:solidFill>
                <a:srgbClr val="68798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6"/>
          <p:cNvSpPr/>
          <p:nvPr/>
        </p:nvSpPr>
        <p:spPr>
          <a:xfrm>
            <a:off x="566928" y="3657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2450"/>
              <a:buFont typeface="Arial"/>
              <a:buNone/>
            </a:pPr>
            <a:r>
              <a:rPr lang="en-US" sz="24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Pass 2: repeat only on the suffix</a:t>
            </a:r>
            <a:endParaRPr sz="2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6"/>
          <p:cNvSpPr/>
          <p:nvPr/>
        </p:nvSpPr>
        <p:spPr>
          <a:xfrm>
            <a:off x="585216" y="859536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0"/>
              <a:buFont typeface="Arial"/>
              <a:buNone/>
            </a:pPr>
            <a:r>
              <a:rPr lang="en-US" sz="11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At i = 1, search positions 1 … 5.</a:t>
            </a:r>
            <a:endParaRPr sz="11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6"/>
          <p:cNvSpPr/>
          <p:nvPr/>
        </p:nvSpPr>
        <p:spPr>
          <a:xfrm>
            <a:off x="9555480" y="384048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16"/>
          <p:cNvSpPr/>
          <p:nvPr/>
        </p:nvSpPr>
        <p:spPr>
          <a:xfrm>
            <a:off x="9601200" y="448056"/>
            <a:ext cx="1874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594A"/>
              </a:buClr>
              <a:buSzPts val="810"/>
              <a:buFont typeface="Arial"/>
              <a:buNone/>
            </a:pPr>
            <a:r>
              <a:rPr lang="en-US" sz="810" b="1" i="0" u="none" strike="noStrike" cap="none">
                <a:solidFill>
                  <a:srgbClr val="22594A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sz="81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6"/>
          <p:cNvSpPr/>
          <p:nvPr/>
        </p:nvSpPr>
        <p:spPr>
          <a:xfrm>
            <a:off x="1051560" y="1691640"/>
            <a:ext cx="1615440" cy="786384"/>
          </a:xfrm>
          <a:prstGeom prst="roundRect">
            <a:avLst>
              <a:gd name="adj" fmla="val 2907"/>
            </a:avLst>
          </a:prstGeom>
          <a:solidFill>
            <a:srgbClr val="DCEFE8"/>
          </a:solidFill>
          <a:ln w="17775" cap="flat" cmpd="sng">
            <a:solidFill>
              <a:srgbClr val="2E7D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16"/>
          <p:cNvSpPr/>
          <p:nvPr/>
        </p:nvSpPr>
        <p:spPr>
          <a:xfrm>
            <a:off x="1051560" y="1872508"/>
            <a:ext cx="1615440" cy="27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6"/>
          <p:cNvSpPr/>
          <p:nvPr/>
        </p:nvSpPr>
        <p:spPr>
          <a:xfrm>
            <a:off x="1051560" y="2542032"/>
            <a:ext cx="16154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6"/>
          <p:cNvSpPr/>
          <p:nvPr/>
        </p:nvSpPr>
        <p:spPr>
          <a:xfrm>
            <a:off x="2740152" y="1691640"/>
            <a:ext cx="1615440" cy="786384"/>
          </a:xfrm>
          <a:prstGeom prst="roundRect">
            <a:avLst>
              <a:gd name="adj" fmla="val 2907"/>
            </a:avLst>
          </a:prstGeom>
          <a:solidFill>
            <a:srgbClr val="F7EACB"/>
          </a:solidFill>
          <a:ln w="17775" cap="flat" cmpd="sng">
            <a:solidFill>
              <a:srgbClr val="D6A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16"/>
          <p:cNvSpPr/>
          <p:nvPr/>
        </p:nvSpPr>
        <p:spPr>
          <a:xfrm>
            <a:off x="2740152" y="1872508"/>
            <a:ext cx="1615440" cy="27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6"/>
          <p:cNvSpPr/>
          <p:nvPr/>
        </p:nvSpPr>
        <p:spPr>
          <a:xfrm>
            <a:off x="2740152" y="2542032"/>
            <a:ext cx="16154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6"/>
          <p:cNvSpPr/>
          <p:nvPr/>
        </p:nvSpPr>
        <p:spPr>
          <a:xfrm>
            <a:off x="4428744" y="1691640"/>
            <a:ext cx="1615440" cy="786384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16"/>
          <p:cNvSpPr/>
          <p:nvPr/>
        </p:nvSpPr>
        <p:spPr>
          <a:xfrm>
            <a:off x="4428744" y="1872508"/>
            <a:ext cx="1615440" cy="27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6"/>
          <p:cNvSpPr/>
          <p:nvPr/>
        </p:nvSpPr>
        <p:spPr>
          <a:xfrm>
            <a:off x="4428744" y="2542032"/>
            <a:ext cx="16154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6"/>
          <p:cNvSpPr/>
          <p:nvPr/>
        </p:nvSpPr>
        <p:spPr>
          <a:xfrm>
            <a:off x="6117336" y="1691640"/>
            <a:ext cx="1615440" cy="786384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16"/>
          <p:cNvSpPr/>
          <p:nvPr/>
        </p:nvSpPr>
        <p:spPr>
          <a:xfrm>
            <a:off x="6117336" y="1872508"/>
            <a:ext cx="1615440" cy="27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37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6"/>
          <p:cNvSpPr/>
          <p:nvPr/>
        </p:nvSpPr>
        <p:spPr>
          <a:xfrm>
            <a:off x="6117336" y="2542032"/>
            <a:ext cx="16154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6"/>
          <p:cNvSpPr/>
          <p:nvPr/>
        </p:nvSpPr>
        <p:spPr>
          <a:xfrm>
            <a:off x="7805928" y="1691640"/>
            <a:ext cx="1615440" cy="786384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16"/>
          <p:cNvSpPr/>
          <p:nvPr/>
        </p:nvSpPr>
        <p:spPr>
          <a:xfrm>
            <a:off x="7805928" y="1872508"/>
            <a:ext cx="1615440" cy="27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6"/>
          <p:cNvSpPr/>
          <p:nvPr/>
        </p:nvSpPr>
        <p:spPr>
          <a:xfrm>
            <a:off x="7805928" y="2542032"/>
            <a:ext cx="16154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6"/>
          <p:cNvSpPr/>
          <p:nvPr/>
        </p:nvSpPr>
        <p:spPr>
          <a:xfrm>
            <a:off x="9494520" y="1691640"/>
            <a:ext cx="1615440" cy="786384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16"/>
          <p:cNvSpPr/>
          <p:nvPr/>
        </p:nvSpPr>
        <p:spPr>
          <a:xfrm>
            <a:off x="9494520" y="1872508"/>
            <a:ext cx="1615440" cy="27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6"/>
          <p:cNvSpPr/>
          <p:nvPr/>
        </p:nvSpPr>
        <p:spPr>
          <a:xfrm>
            <a:off x="9494520" y="2542032"/>
            <a:ext cx="16154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2" name="Google Shape;512;p16"/>
          <p:cNvCxnSpPr/>
          <p:nvPr/>
        </p:nvCxnSpPr>
        <p:spPr>
          <a:xfrm>
            <a:off x="1051560" y="1554480"/>
            <a:ext cx="1615440" cy="0"/>
          </a:xfrm>
          <a:prstGeom prst="straightConnector1">
            <a:avLst/>
          </a:prstGeom>
          <a:noFill/>
          <a:ln w="29200" cap="flat" cmpd="sng">
            <a:solidFill>
              <a:srgbClr val="2E7D5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3" name="Google Shape;513;p16"/>
          <p:cNvSpPr/>
          <p:nvPr/>
        </p:nvSpPr>
        <p:spPr>
          <a:xfrm>
            <a:off x="1051560" y="1298448"/>
            <a:ext cx="16154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2E7D5B"/>
                </a:solidFill>
                <a:latin typeface="Arial"/>
                <a:ea typeface="Arial"/>
                <a:cs typeface="Arial"/>
                <a:sym typeface="Arial"/>
              </a:rPr>
              <a:t>finalized prefix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6"/>
          <p:cNvSpPr/>
          <p:nvPr/>
        </p:nvSpPr>
        <p:spPr>
          <a:xfrm>
            <a:off x="1417320" y="2926080"/>
            <a:ext cx="9326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The minimum of [10, 14, 37, 13, 29] is already 10 at index 1.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6"/>
          <p:cNvSpPr/>
          <p:nvPr/>
        </p:nvSpPr>
        <p:spPr>
          <a:xfrm>
            <a:off x="1828800" y="3749040"/>
            <a:ext cx="38404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16"/>
          <p:cNvSpPr/>
          <p:nvPr/>
        </p:nvSpPr>
        <p:spPr>
          <a:xfrm>
            <a:off x="1993392" y="3904488"/>
            <a:ext cx="438912" cy="438912"/>
          </a:xfrm>
          <a:prstGeom prst="ellipse">
            <a:avLst/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"/>
          <p:cNvSpPr/>
          <p:nvPr/>
        </p:nvSpPr>
        <p:spPr>
          <a:xfrm>
            <a:off x="1993392" y="400507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6"/>
          <p:cNvSpPr/>
          <p:nvPr/>
        </p:nvSpPr>
        <p:spPr>
          <a:xfrm>
            <a:off x="2542032" y="391363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Comparisons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6"/>
          <p:cNvSpPr/>
          <p:nvPr/>
        </p:nvSpPr>
        <p:spPr>
          <a:xfrm>
            <a:off x="2029968" y="4494276"/>
            <a:ext cx="3438144" cy="70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50"/>
              <a:buFont typeface="Arial"/>
              <a:buNone/>
            </a:pPr>
            <a:r>
              <a:rPr lang="en-US" sz="125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4 comparisons are still required; standard Selection Sort does not stop early.</a:t>
            </a:r>
            <a:endParaRPr sz="125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6"/>
          <p:cNvSpPr/>
          <p:nvPr/>
        </p:nvSpPr>
        <p:spPr>
          <a:xfrm>
            <a:off x="6537960" y="3749040"/>
            <a:ext cx="38404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16"/>
          <p:cNvSpPr/>
          <p:nvPr/>
        </p:nvSpPr>
        <p:spPr>
          <a:xfrm>
            <a:off x="6702552" y="3904488"/>
            <a:ext cx="438912" cy="438912"/>
          </a:xfrm>
          <a:prstGeom prst="ellipse">
            <a:avLst/>
          </a:prstGeom>
          <a:solidFill>
            <a:srgbClr val="F7EACB"/>
          </a:solidFill>
          <a:ln w="12700" cap="flat" cmpd="sng">
            <a:solidFill>
              <a:srgbClr val="F7EA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16"/>
          <p:cNvSpPr/>
          <p:nvPr/>
        </p:nvSpPr>
        <p:spPr>
          <a:xfrm>
            <a:off x="6702552" y="400507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6"/>
          <p:cNvSpPr/>
          <p:nvPr/>
        </p:nvSpPr>
        <p:spPr>
          <a:xfrm>
            <a:off x="7251192" y="391363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Swap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6"/>
          <p:cNvSpPr/>
          <p:nvPr/>
        </p:nvSpPr>
        <p:spPr>
          <a:xfrm>
            <a:off x="6739128" y="4493164"/>
            <a:ext cx="3438144" cy="70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50"/>
              <a:buFont typeface="Arial"/>
              <a:buNone/>
            </a:pPr>
            <a:r>
              <a:rPr lang="en-US" sz="125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No physical swap is needed if the implementation checks </a:t>
            </a:r>
            <a:r>
              <a:rPr lang="en-US" sz="1250" b="0" i="0" u="none" strike="noStrike" cap="none" dirty="0" err="1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minIndex</a:t>
            </a:r>
            <a:r>
              <a:rPr lang="en-US" sz="125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 != </a:t>
            </a:r>
            <a:r>
              <a:rPr lang="en-US" sz="1250" b="0" i="0" u="none" strike="noStrike" cap="none" dirty="0" err="1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25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5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6"/>
          <p:cNvSpPr txBox="1">
            <a:spLocks noGrp="1"/>
          </p:cNvSpPr>
          <p:nvPr>
            <p:ph type="sldNum" idx="4294967295"/>
          </p:nvPr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820" b="0" i="0" u="none" strike="noStrike" cap="none">
              <a:solidFill>
                <a:srgbClr val="68798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7"/>
          <p:cNvSpPr/>
          <p:nvPr/>
        </p:nvSpPr>
        <p:spPr>
          <a:xfrm>
            <a:off x="566928" y="3657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2450"/>
              <a:buFont typeface="Arial"/>
              <a:buNone/>
            </a:pPr>
            <a:r>
              <a:rPr lang="en-US" sz="24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Pass 3: finalize index 2</a:t>
            </a:r>
            <a:endParaRPr sz="2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7"/>
          <p:cNvSpPr/>
          <p:nvPr/>
        </p:nvSpPr>
        <p:spPr>
          <a:xfrm>
            <a:off x="585216" y="859536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0"/>
              <a:buFont typeface="Arial"/>
              <a:buNone/>
            </a:pPr>
            <a:r>
              <a:rPr lang="en-US" sz="11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At i = 2, search [14, 37, 13, 29].</a:t>
            </a:r>
            <a:endParaRPr sz="11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7"/>
          <p:cNvSpPr/>
          <p:nvPr/>
        </p:nvSpPr>
        <p:spPr>
          <a:xfrm>
            <a:off x="9555480" y="384048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17"/>
          <p:cNvSpPr/>
          <p:nvPr/>
        </p:nvSpPr>
        <p:spPr>
          <a:xfrm>
            <a:off x="9601200" y="448056"/>
            <a:ext cx="1874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594A"/>
              </a:buClr>
              <a:buSzPts val="810"/>
              <a:buFont typeface="Arial"/>
              <a:buNone/>
            </a:pPr>
            <a:r>
              <a:rPr lang="en-US" sz="810" b="1" i="0" u="none" strike="noStrike" cap="none">
                <a:solidFill>
                  <a:srgbClr val="22594A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sz="81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7"/>
          <p:cNvSpPr/>
          <p:nvPr/>
        </p:nvSpPr>
        <p:spPr>
          <a:xfrm>
            <a:off x="1051560" y="1691640"/>
            <a:ext cx="1615440" cy="786384"/>
          </a:xfrm>
          <a:prstGeom prst="roundRect">
            <a:avLst>
              <a:gd name="adj" fmla="val 2907"/>
            </a:avLst>
          </a:prstGeom>
          <a:solidFill>
            <a:srgbClr val="DCEFE8"/>
          </a:solidFill>
          <a:ln w="17775" cap="flat" cmpd="sng">
            <a:solidFill>
              <a:srgbClr val="2E7D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17"/>
          <p:cNvSpPr/>
          <p:nvPr/>
        </p:nvSpPr>
        <p:spPr>
          <a:xfrm>
            <a:off x="1051560" y="1872508"/>
            <a:ext cx="1615440" cy="27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7"/>
          <p:cNvSpPr/>
          <p:nvPr/>
        </p:nvSpPr>
        <p:spPr>
          <a:xfrm>
            <a:off x="1051560" y="2542032"/>
            <a:ext cx="16154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7"/>
          <p:cNvSpPr/>
          <p:nvPr/>
        </p:nvSpPr>
        <p:spPr>
          <a:xfrm>
            <a:off x="2740152" y="1691640"/>
            <a:ext cx="1615440" cy="786384"/>
          </a:xfrm>
          <a:prstGeom prst="roundRect">
            <a:avLst>
              <a:gd name="adj" fmla="val 2907"/>
            </a:avLst>
          </a:prstGeom>
          <a:solidFill>
            <a:srgbClr val="DCEFE8"/>
          </a:solidFill>
          <a:ln w="17775" cap="flat" cmpd="sng">
            <a:solidFill>
              <a:srgbClr val="2E7D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17"/>
          <p:cNvSpPr/>
          <p:nvPr/>
        </p:nvSpPr>
        <p:spPr>
          <a:xfrm>
            <a:off x="2740152" y="1872508"/>
            <a:ext cx="1615440" cy="27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7"/>
          <p:cNvSpPr/>
          <p:nvPr/>
        </p:nvSpPr>
        <p:spPr>
          <a:xfrm>
            <a:off x="2740152" y="2542032"/>
            <a:ext cx="16154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7"/>
          <p:cNvSpPr/>
          <p:nvPr/>
        </p:nvSpPr>
        <p:spPr>
          <a:xfrm>
            <a:off x="4428744" y="1691640"/>
            <a:ext cx="1615440" cy="786384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17"/>
          <p:cNvSpPr/>
          <p:nvPr/>
        </p:nvSpPr>
        <p:spPr>
          <a:xfrm>
            <a:off x="4428744" y="1872508"/>
            <a:ext cx="1615440" cy="27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7"/>
          <p:cNvSpPr/>
          <p:nvPr/>
        </p:nvSpPr>
        <p:spPr>
          <a:xfrm>
            <a:off x="4428744" y="2542032"/>
            <a:ext cx="16154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7"/>
          <p:cNvSpPr/>
          <p:nvPr/>
        </p:nvSpPr>
        <p:spPr>
          <a:xfrm>
            <a:off x="6117336" y="1691640"/>
            <a:ext cx="1615440" cy="786384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17"/>
          <p:cNvSpPr/>
          <p:nvPr/>
        </p:nvSpPr>
        <p:spPr>
          <a:xfrm>
            <a:off x="6117336" y="1872508"/>
            <a:ext cx="1615440" cy="27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37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7"/>
          <p:cNvSpPr/>
          <p:nvPr/>
        </p:nvSpPr>
        <p:spPr>
          <a:xfrm>
            <a:off x="6117336" y="2542032"/>
            <a:ext cx="16154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7"/>
          <p:cNvSpPr/>
          <p:nvPr/>
        </p:nvSpPr>
        <p:spPr>
          <a:xfrm>
            <a:off x="7805928" y="1691640"/>
            <a:ext cx="1615440" cy="786384"/>
          </a:xfrm>
          <a:prstGeom prst="roundRect">
            <a:avLst>
              <a:gd name="adj" fmla="val 2907"/>
            </a:avLst>
          </a:prstGeom>
          <a:solidFill>
            <a:srgbClr val="F7EACB"/>
          </a:solidFill>
          <a:ln w="17775" cap="flat" cmpd="sng">
            <a:solidFill>
              <a:srgbClr val="D6A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17"/>
          <p:cNvSpPr/>
          <p:nvPr/>
        </p:nvSpPr>
        <p:spPr>
          <a:xfrm>
            <a:off x="7805928" y="1872508"/>
            <a:ext cx="1615440" cy="27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7"/>
          <p:cNvSpPr/>
          <p:nvPr/>
        </p:nvSpPr>
        <p:spPr>
          <a:xfrm>
            <a:off x="7805928" y="2542032"/>
            <a:ext cx="16154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17"/>
          <p:cNvSpPr/>
          <p:nvPr/>
        </p:nvSpPr>
        <p:spPr>
          <a:xfrm>
            <a:off x="9494520" y="1691640"/>
            <a:ext cx="1615440" cy="786384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17"/>
          <p:cNvSpPr/>
          <p:nvPr/>
        </p:nvSpPr>
        <p:spPr>
          <a:xfrm>
            <a:off x="9494520" y="1872508"/>
            <a:ext cx="1615440" cy="27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17"/>
          <p:cNvSpPr/>
          <p:nvPr/>
        </p:nvSpPr>
        <p:spPr>
          <a:xfrm>
            <a:off x="9494520" y="2542032"/>
            <a:ext cx="16154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3" name="Google Shape;553;p17"/>
          <p:cNvCxnSpPr/>
          <p:nvPr/>
        </p:nvCxnSpPr>
        <p:spPr>
          <a:xfrm>
            <a:off x="1051560" y="1554480"/>
            <a:ext cx="3304032" cy="0"/>
          </a:xfrm>
          <a:prstGeom prst="straightConnector1">
            <a:avLst/>
          </a:prstGeom>
          <a:noFill/>
          <a:ln w="29200" cap="flat" cmpd="sng">
            <a:solidFill>
              <a:srgbClr val="2E7D5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4" name="Google Shape;554;p17"/>
          <p:cNvSpPr/>
          <p:nvPr/>
        </p:nvSpPr>
        <p:spPr>
          <a:xfrm>
            <a:off x="1051560" y="1298448"/>
            <a:ext cx="330403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2E7D5B"/>
                </a:solidFill>
                <a:latin typeface="Arial"/>
                <a:ea typeface="Arial"/>
                <a:cs typeface="Arial"/>
                <a:sym typeface="Arial"/>
              </a:rPr>
              <a:t>finalized prefix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7"/>
          <p:cNvSpPr/>
          <p:nvPr/>
        </p:nvSpPr>
        <p:spPr>
          <a:xfrm>
            <a:off x="1417320" y="2880360"/>
            <a:ext cx="9326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Minimum is 13 at index 4 → exchange A[2] and A[4].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17"/>
          <p:cNvSpPr/>
          <p:nvPr/>
        </p:nvSpPr>
        <p:spPr>
          <a:xfrm>
            <a:off x="1051560" y="3794760"/>
            <a:ext cx="1615440" cy="786384"/>
          </a:xfrm>
          <a:prstGeom prst="roundRect">
            <a:avLst>
              <a:gd name="adj" fmla="val 2907"/>
            </a:avLst>
          </a:prstGeom>
          <a:solidFill>
            <a:srgbClr val="DCEFE8"/>
          </a:solidFill>
          <a:ln w="17775" cap="flat" cmpd="sng">
            <a:solidFill>
              <a:srgbClr val="2E7D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17"/>
          <p:cNvSpPr/>
          <p:nvPr/>
        </p:nvSpPr>
        <p:spPr>
          <a:xfrm>
            <a:off x="1051560" y="3975628"/>
            <a:ext cx="1615440" cy="27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17"/>
          <p:cNvSpPr/>
          <p:nvPr/>
        </p:nvSpPr>
        <p:spPr>
          <a:xfrm>
            <a:off x="2740152" y="3794760"/>
            <a:ext cx="1615440" cy="786384"/>
          </a:xfrm>
          <a:prstGeom prst="roundRect">
            <a:avLst>
              <a:gd name="adj" fmla="val 2907"/>
            </a:avLst>
          </a:prstGeom>
          <a:solidFill>
            <a:srgbClr val="DCEFE8"/>
          </a:solidFill>
          <a:ln w="17775" cap="flat" cmpd="sng">
            <a:solidFill>
              <a:srgbClr val="2E7D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17"/>
          <p:cNvSpPr/>
          <p:nvPr/>
        </p:nvSpPr>
        <p:spPr>
          <a:xfrm>
            <a:off x="2740152" y="3975628"/>
            <a:ext cx="1615440" cy="27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7"/>
          <p:cNvSpPr/>
          <p:nvPr/>
        </p:nvSpPr>
        <p:spPr>
          <a:xfrm>
            <a:off x="4428744" y="3794760"/>
            <a:ext cx="1615440" cy="786384"/>
          </a:xfrm>
          <a:prstGeom prst="roundRect">
            <a:avLst>
              <a:gd name="adj" fmla="val 2907"/>
            </a:avLst>
          </a:prstGeom>
          <a:solidFill>
            <a:srgbClr val="F8E5DE"/>
          </a:solidFill>
          <a:ln w="17775" cap="flat" cmpd="sng">
            <a:solidFill>
              <a:srgbClr val="B85C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17"/>
          <p:cNvSpPr/>
          <p:nvPr/>
        </p:nvSpPr>
        <p:spPr>
          <a:xfrm>
            <a:off x="4428744" y="3975628"/>
            <a:ext cx="1615440" cy="27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7"/>
          <p:cNvSpPr/>
          <p:nvPr/>
        </p:nvSpPr>
        <p:spPr>
          <a:xfrm>
            <a:off x="6117336" y="3794760"/>
            <a:ext cx="1615440" cy="786384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17"/>
          <p:cNvSpPr/>
          <p:nvPr/>
        </p:nvSpPr>
        <p:spPr>
          <a:xfrm>
            <a:off x="6117336" y="3975628"/>
            <a:ext cx="1615440" cy="27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37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17"/>
          <p:cNvSpPr/>
          <p:nvPr/>
        </p:nvSpPr>
        <p:spPr>
          <a:xfrm>
            <a:off x="7805928" y="3794760"/>
            <a:ext cx="1615440" cy="786384"/>
          </a:xfrm>
          <a:prstGeom prst="roundRect">
            <a:avLst>
              <a:gd name="adj" fmla="val 2907"/>
            </a:avLst>
          </a:prstGeom>
          <a:solidFill>
            <a:srgbClr val="F8E5DE"/>
          </a:solidFill>
          <a:ln w="17775" cap="flat" cmpd="sng">
            <a:solidFill>
              <a:srgbClr val="B85C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17"/>
          <p:cNvSpPr/>
          <p:nvPr/>
        </p:nvSpPr>
        <p:spPr>
          <a:xfrm>
            <a:off x="7805928" y="3975628"/>
            <a:ext cx="1615440" cy="27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17"/>
          <p:cNvSpPr/>
          <p:nvPr/>
        </p:nvSpPr>
        <p:spPr>
          <a:xfrm>
            <a:off x="9494520" y="3794760"/>
            <a:ext cx="1615440" cy="786384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17"/>
          <p:cNvSpPr/>
          <p:nvPr/>
        </p:nvSpPr>
        <p:spPr>
          <a:xfrm>
            <a:off x="9494520" y="3975628"/>
            <a:ext cx="1615440" cy="27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8" name="Google Shape;568;p17"/>
          <p:cNvCxnSpPr/>
          <p:nvPr/>
        </p:nvCxnSpPr>
        <p:spPr>
          <a:xfrm>
            <a:off x="1051560" y="3657600"/>
            <a:ext cx="4992624" cy="0"/>
          </a:xfrm>
          <a:prstGeom prst="straightConnector1">
            <a:avLst/>
          </a:prstGeom>
          <a:noFill/>
          <a:ln w="29200" cap="flat" cmpd="sng">
            <a:solidFill>
              <a:srgbClr val="2E7D5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69" name="Google Shape;569;p17"/>
          <p:cNvSpPr/>
          <p:nvPr/>
        </p:nvSpPr>
        <p:spPr>
          <a:xfrm>
            <a:off x="1051560" y="3401568"/>
            <a:ext cx="4992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2E7D5B"/>
                </a:solidFill>
                <a:latin typeface="Arial"/>
                <a:ea typeface="Arial"/>
                <a:cs typeface="Arial"/>
                <a:sym typeface="Arial"/>
              </a:rPr>
              <a:t>finalized prefix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17"/>
          <p:cNvSpPr/>
          <p:nvPr/>
        </p:nvSpPr>
        <p:spPr>
          <a:xfrm>
            <a:off x="4480560" y="510235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250"/>
              <a:buFont typeface="Arial"/>
              <a:buNone/>
            </a:pPr>
            <a:r>
              <a:rPr lang="en-US" sz="125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3 comparisons in this pass.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17"/>
          <p:cNvSpPr txBox="1">
            <a:spLocks noGrp="1"/>
          </p:cNvSpPr>
          <p:nvPr>
            <p:ph type="sldNum" idx="4294967295"/>
          </p:nvPr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820" b="0" i="0" u="none" strike="noStrike" cap="none">
              <a:solidFill>
                <a:srgbClr val="68798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8"/>
          <p:cNvSpPr/>
          <p:nvPr/>
        </p:nvSpPr>
        <p:spPr>
          <a:xfrm>
            <a:off x="566928" y="3657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2450"/>
              <a:buFont typeface="Arial"/>
              <a:buNone/>
            </a:pPr>
            <a:r>
              <a:rPr lang="en-US" sz="24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Remaining passes and final array</a:t>
            </a:r>
            <a:endParaRPr sz="2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18"/>
          <p:cNvSpPr/>
          <p:nvPr/>
        </p:nvSpPr>
        <p:spPr>
          <a:xfrm>
            <a:off x="585216" y="859536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0"/>
              <a:buFont typeface="Arial"/>
              <a:buNone/>
            </a:pPr>
            <a:r>
              <a:rPr lang="en-US" sz="11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Every pass reduces the unsorted suffix by exactly one position.</a:t>
            </a:r>
            <a:endParaRPr sz="11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18"/>
          <p:cNvSpPr/>
          <p:nvPr/>
        </p:nvSpPr>
        <p:spPr>
          <a:xfrm>
            <a:off x="9555480" y="384048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18"/>
          <p:cNvSpPr/>
          <p:nvPr/>
        </p:nvSpPr>
        <p:spPr>
          <a:xfrm>
            <a:off x="9601200" y="448056"/>
            <a:ext cx="1874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594A"/>
              </a:buClr>
              <a:buSzPts val="810"/>
              <a:buFont typeface="Arial"/>
              <a:buNone/>
            </a:pPr>
            <a:r>
              <a:rPr lang="en-US" sz="810" b="1" i="0" u="none" strike="noStrike" cap="none">
                <a:solidFill>
                  <a:srgbClr val="22594A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sz="81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18"/>
          <p:cNvSpPr/>
          <p:nvPr/>
        </p:nvSpPr>
        <p:spPr>
          <a:xfrm>
            <a:off x="822960" y="138988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After pass 3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18"/>
          <p:cNvSpPr/>
          <p:nvPr/>
        </p:nvSpPr>
        <p:spPr>
          <a:xfrm>
            <a:off x="2148840" y="1234440"/>
            <a:ext cx="1219200" cy="621792"/>
          </a:xfrm>
          <a:prstGeom prst="roundRect">
            <a:avLst>
              <a:gd name="adj" fmla="val 3676"/>
            </a:avLst>
          </a:prstGeom>
          <a:solidFill>
            <a:srgbClr val="DCEFE8"/>
          </a:solidFill>
          <a:ln w="17775" cap="flat" cmpd="sng">
            <a:solidFill>
              <a:srgbClr val="2E7D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18"/>
          <p:cNvSpPr/>
          <p:nvPr/>
        </p:nvSpPr>
        <p:spPr>
          <a:xfrm>
            <a:off x="2148840" y="1377452"/>
            <a:ext cx="1219200" cy="217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18"/>
          <p:cNvSpPr/>
          <p:nvPr/>
        </p:nvSpPr>
        <p:spPr>
          <a:xfrm>
            <a:off x="3441192" y="1234440"/>
            <a:ext cx="1219200" cy="621792"/>
          </a:xfrm>
          <a:prstGeom prst="roundRect">
            <a:avLst>
              <a:gd name="adj" fmla="val 3676"/>
            </a:avLst>
          </a:prstGeom>
          <a:solidFill>
            <a:srgbClr val="DCEFE8"/>
          </a:solidFill>
          <a:ln w="17775" cap="flat" cmpd="sng">
            <a:solidFill>
              <a:srgbClr val="2E7D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18"/>
          <p:cNvSpPr/>
          <p:nvPr/>
        </p:nvSpPr>
        <p:spPr>
          <a:xfrm>
            <a:off x="3441192" y="1377452"/>
            <a:ext cx="1219200" cy="217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18"/>
          <p:cNvSpPr/>
          <p:nvPr/>
        </p:nvSpPr>
        <p:spPr>
          <a:xfrm>
            <a:off x="4733544" y="1234440"/>
            <a:ext cx="1219200" cy="621792"/>
          </a:xfrm>
          <a:prstGeom prst="roundRect">
            <a:avLst>
              <a:gd name="adj" fmla="val 3676"/>
            </a:avLst>
          </a:prstGeom>
          <a:solidFill>
            <a:srgbClr val="DCEFE8"/>
          </a:solidFill>
          <a:ln w="17775" cap="flat" cmpd="sng">
            <a:solidFill>
              <a:srgbClr val="2E7D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18"/>
          <p:cNvSpPr/>
          <p:nvPr/>
        </p:nvSpPr>
        <p:spPr>
          <a:xfrm>
            <a:off x="4733544" y="1377452"/>
            <a:ext cx="1219200" cy="217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18"/>
          <p:cNvSpPr/>
          <p:nvPr/>
        </p:nvSpPr>
        <p:spPr>
          <a:xfrm>
            <a:off x="6025896" y="1234440"/>
            <a:ext cx="1219200" cy="621792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18"/>
          <p:cNvSpPr/>
          <p:nvPr/>
        </p:nvSpPr>
        <p:spPr>
          <a:xfrm>
            <a:off x="6025896" y="1377452"/>
            <a:ext cx="1219200" cy="217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37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18"/>
          <p:cNvSpPr/>
          <p:nvPr/>
        </p:nvSpPr>
        <p:spPr>
          <a:xfrm>
            <a:off x="7318248" y="1234440"/>
            <a:ext cx="1219200" cy="621792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18"/>
          <p:cNvSpPr/>
          <p:nvPr/>
        </p:nvSpPr>
        <p:spPr>
          <a:xfrm>
            <a:off x="7318248" y="1377452"/>
            <a:ext cx="1219200" cy="217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18"/>
          <p:cNvSpPr/>
          <p:nvPr/>
        </p:nvSpPr>
        <p:spPr>
          <a:xfrm>
            <a:off x="8610600" y="1234440"/>
            <a:ext cx="1219200" cy="621792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18"/>
          <p:cNvSpPr/>
          <p:nvPr/>
        </p:nvSpPr>
        <p:spPr>
          <a:xfrm>
            <a:off x="8610600" y="1377452"/>
            <a:ext cx="1219200" cy="217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18"/>
          <p:cNvSpPr/>
          <p:nvPr/>
        </p:nvSpPr>
        <p:spPr>
          <a:xfrm>
            <a:off x="10058400" y="1380744"/>
            <a:ext cx="1005840" cy="283464"/>
          </a:xfrm>
          <a:prstGeom prst="roundRect">
            <a:avLst>
              <a:gd name="adj" fmla="val 12903"/>
            </a:avLst>
          </a:prstGeom>
          <a:solidFill>
            <a:srgbClr val="E7F0F7"/>
          </a:solidFill>
          <a:ln w="12700" cap="flat" cmpd="sng">
            <a:solidFill>
              <a:srgbClr val="E7F0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18"/>
          <p:cNvSpPr/>
          <p:nvPr/>
        </p:nvSpPr>
        <p:spPr>
          <a:xfrm>
            <a:off x="10104120" y="1444752"/>
            <a:ext cx="9144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6F9F"/>
              </a:buClr>
              <a:buSzPts val="860"/>
              <a:buFont typeface="Arial"/>
              <a:buNone/>
            </a:pPr>
            <a:r>
              <a:rPr lang="en-US" sz="860" b="1" i="0" u="none" strike="noStrike" cap="none">
                <a:solidFill>
                  <a:srgbClr val="2F6F9F"/>
                </a:solidFill>
                <a:latin typeface="Arial"/>
                <a:ea typeface="Arial"/>
                <a:cs typeface="Arial"/>
                <a:sym typeface="Arial"/>
              </a:rPr>
              <a:t>3 comps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18"/>
          <p:cNvSpPr/>
          <p:nvPr/>
        </p:nvSpPr>
        <p:spPr>
          <a:xfrm>
            <a:off x="822960" y="280720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After pass 4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18"/>
          <p:cNvSpPr/>
          <p:nvPr/>
        </p:nvSpPr>
        <p:spPr>
          <a:xfrm>
            <a:off x="2148840" y="2651760"/>
            <a:ext cx="1219200" cy="621792"/>
          </a:xfrm>
          <a:prstGeom prst="roundRect">
            <a:avLst>
              <a:gd name="adj" fmla="val 3676"/>
            </a:avLst>
          </a:prstGeom>
          <a:solidFill>
            <a:srgbClr val="DCEFE8"/>
          </a:solidFill>
          <a:ln w="17775" cap="flat" cmpd="sng">
            <a:solidFill>
              <a:srgbClr val="2E7D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18"/>
          <p:cNvSpPr/>
          <p:nvPr/>
        </p:nvSpPr>
        <p:spPr>
          <a:xfrm>
            <a:off x="2148840" y="2794772"/>
            <a:ext cx="1219200" cy="217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18"/>
          <p:cNvSpPr/>
          <p:nvPr/>
        </p:nvSpPr>
        <p:spPr>
          <a:xfrm>
            <a:off x="3441192" y="2651760"/>
            <a:ext cx="1219200" cy="621792"/>
          </a:xfrm>
          <a:prstGeom prst="roundRect">
            <a:avLst>
              <a:gd name="adj" fmla="val 3676"/>
            </a:avLst>
          </a:prstGeom>
          <a:solidFill>
            <a:srgbClr val="DCEFE8"/>
          </a:solidFill>
          <a:ln w="17775" cap="flat" cmpd="sng">
            <a:solidFill>
              <a:srgbClr val="2E7D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18"/>
          <p:cNvSpPr/>
          <p:nvPr/>
        </p:nvSpPr>
        <p:spPr>
          <a:xfrm>
            <a:off x="3441192" y="2794772"/>
            <a:ext cx="1219200" cy="217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18"/>
          <p:cNvSpPr/>
          <p:nvPr/>
        </p:nvSpPr>
        <p:spPr>
          <a:xfrm>
            <a:off x="4733544" y="2651760"/>
            <a:ext cx="1219200" cy="621792"/>
          </a:xfrm>
          <a:prstGeom prst="roundRect">
            <a:avLst>
              <a:gd name="adj" fmla="val 3676"/>
            </a:avLst>
          </a:prstGeom>
          <a:solidFill>
            <a:srgbClr val="DCEFE8"/>
          </a:solidFill>
          <a:ln w="17775" cap="flat" cmpd="sng">
            <a:solidFill>
              <a:srgbClr val="2E7D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18"/>
          <p:cNvSpPr/>
          <p:nvPr/>
        </p:nvSpPr>
        <p:spPr>
          <a:xfrm>
            <a:off x="4733544" y="2794772"/>
            <a:ext cx="1219200" cy="217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18"/>
          <p:cNvSpPr/>
          <p:nvPr/>
        </p:nvSpPr>
        <p:spPr>
          <a:xfrm>
            <a:off x="6025896" y="2651760"/>
            <a:ext cx="1219200" cy="621792"/>
          </a:xfrm>
          <a:prstGeom prst="roundRect">
            <a:avLst>
              <a:gd name="adj" fmla="val 3676"/>
            </a:avLst>
          </a:prstGeom>
          <a:solidFill>
            <a:srgbClr val="DCEFE8"/>
          </a:solidFill>
          <a:ln w="17775" cap="flat" cmpd="sng">
            <a:solidFill>
              <a:srgbClr val="2E7D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18"/>
          <p:cNvSpPr/>
          <p:nvPr/>
        </p:nvSpPr>
        <p:spPr>
          <a:xfrm>
            <a:off x="6025896" y="2794772"/>
            <a:ext cx="1219200" cy="217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18"/>
          <p:cNvSpPr/>
          <p:nvPr/>
        </p:nvSpPr>
        <p:spPr>
          <a:xfrm>
            <a:off x="7318248" y="2651760"/>
            <a:ext cx="1219200" cy="621792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18"/>
          <p:cNvSpPr/>
          <p:nvPr/>
        </p:nvSpPr>
        <p:spPr>
          <a:xfrm>
            <a:off x="7318248" y="2794772"/>
            <a:ext cx="1219200" cy="217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37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18"/>
          <p:cNvSpPr/>
          <p:nvPr/>
        </p:nvSpPr>
        <p:spPr>
          <a:xfrm>
            <a:off x="8610600" y="2651760"/>
            <a:ext cx="1219200" cy="621792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18"/>
          <p:cNvSpPr/>
          <p:nvPr/>
        </p:nvSpPr>
        <p:spPr>
          <a:xfrm>
            <a:off x="8610600" y="2794772"/>
            <a:ext cx="1219200" cy="217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18"/>
          <p:cNvSpPr/>
          <p:nvPr/>
        </p:nvSpPr>
        <p:spPr>
          <a:xfrm>
            <a:off x="10058400" y="2798064"/>
            <a:ext cx="1005840" cy="283464"/>
          </a:xfrm>
          <a:prstGeom prst="roundRect">
            <a:avLst>
              <a:gd name="adj" fmla="val 12903"/>
            </a:avLst>
          </a:prstGeom>
          <a:solidFill>
            <a:srgbClr val="E7F0F7"/>
          </a:solidFill>
          <a:ln w="12700" cap="flat" cmpd="sng">
            <a:solidFill>
              <a:srgbClr val="E7F0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18"/>
          <p:cNvSpPr/>
          <p:nvPr/>
        </p:nvSpPr>
        <p:spPr>
          <a:xfrm>
            <a:off x="10104120" y="2862072"/>
            <a:ext cx="9144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6F9F"/>
              </a:buClr>
              <a:buSzPts val="860"/>
              <a:buFont typeface="Arial"/>
              <a:buNone/>
            </a:pPr>
            <a:r>
              <a:rPr lang="en-US" sz="860" b="1" i="0" u="none" strike="noStrike" cap="none">
                <a:solidFill>
                  <a:srgbClr val="2F6F9F"/>
                </a:solidFill>
                <a:latin typeface="Arial"/>
                <a:ea typeface="Arial"/>
                <a:cs typeface="Arial"/>
                <a:sym typeface="Arial"/>
              </a:rPr>
              <a:t>2 comps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18"/>
          <p:cNvSpPr/>
          <p:nvPr/>
        </p:nvSpPr>
        <p:spPr>
          <a:xfrm>
            <a:off x="822960" y="422452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After pass 5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18"/>
          <p:cNvSpPr/>
          <p:nvPr/>
        </p:nvSpPr>
        <p:spPr>
          <a:xfrm>
            <a:off x="2148840" y="4069080"/>
            <a:ext cx="1219200" cy="621792"/>
          </a:xfrm>
          <a:prstGeom prst="roundRect">
            <a:avLst>
              <a:gd name="adj" fmla="val 3676"/>
            </a:avLst>
          </a:prstGeom>
          <a:solidFill>
            <a:srgbClr val="DCEFE8"/>
          </a:solidFill>
          <a:ln w="17775" cap="flat" cmpd="sng">
            <a:solidFill>
              <a:srgbClr val="2E7D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8"/>
          <p:cNvSpPr/>
          <p:nvPr/>
        </p:nvSpPr>
        <p:spPr>
          <a:xfrm>
            <a:off x="2148840" y="4212092"/>
            <a:ext cx="1219200" cy="217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18"/>
          <p:cNvSpPr/>
          <p:nvPr/>
        </p:nvSpPr>
        <p:spPr>
          <a:xfrm>
            <a:off x="3441192" y="4069080"/>
            <a:ext cx="1219200" cy="621792"/>
          </a:xfrm>
          <a:prstGeom prst="roundRect">
            <a:avLst>
              <a:gd name="adj" fmla="val 3676"/>
            </a:avLst>
          </a:prstGeom>
          <a:solidFill>
            <a:srgbClr val="DCEFE8"/>
          </a:solidFill>
          <a:ln w="17775" cap="flat" cmpd="sng">
            <a:solidFill>
              <a:srgbClr val="2E7D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18"/>
          <p:cNvSpPr/>
          <p:nvPr/>
        </p:nvSpPr>
        <p:spPr>
          <a:xfrm>
            <a:off x="3441192" y="4212092"/>
            <a:ext cx="1219200" cy="217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18"/>
          <p:cNvSpPr/>
          <p:nvPr/>
        </p:nvSpPr>
        <p:spPr>
          <a:xfrm>
            <a:off x="4733544" y="4069080"/>
            <a:ext cx="1219200" cy="621792"/>
          </a:xfrm>
          <a:prstGeom prst="roundRect">
            <a:avLst>
              <a:gd name="adj" fmla="val 3676"/>
            </a:avLst>
          </a:prstGeom>
          <a:solidFill>
            <a:srgbClr val="DCEFE8"/>
          </a:solidFill>
          <a:ln w="17775" cap="flat" cmpd="sng">
            <a:solidFill>
              <a:srgbClr val="2E7D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18"/>
          <p:cNvSpPr/>
          <p:nvPr/>
        </p:nvSpPr>
        <p:spPr>
          <a:xfrm>
            <a:off x="4733544" y="4212092"/>
            <a:ext cx="1219200" cy="217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18"/>
          <p:cNvSpPr/>
          <p:nvPr/>
        </p:nvSpPr>
        <p:spPr>
          <a:xfrm>
            <a:off x="6025896" y="4069080"/>
            <a:ext cx="1219200" cy="621792"/>
          </a:xfrm>
          <a:prstGeom prst="roundRect">
            <a:avLst>
              <a:gd name="adj" fmla="val 3676"/>
            </a:avLst>
          </a:prstGeom>
          <a:solidFill>
            <a:srgbClr val="DCEFE8"/>
          </a:solidFill>
          <a:ln w="17775" cap="flat" cmpd="sng">
            <a:solidFill>
              <a:srgbClr val="2E7D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18"/>
          <p:cNvSpPr/>
          <p:nvPr/>
        </p:nvSpPr>
        <p:spPr>
          <a:xfrm>
            <a:off x="6025896" y="4212092"/>
            <a:ext cx="1219200" cy="217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18"/>
          <p:cNvSpPr/>
          <p:nvPr/>
        </p:nvSpPr>
        <p:spPr>
          <a:xfrm>
            <a:off x="7318248" y="4069080"/>
            <a:ext cx="1219200" cy="621792"/>
          </a:xfrm>
          <a:prstGeom prst="roundRect">
            <a:avLst>
              <a:gd name="adj" fmla="val 3676"/>
            </a:avLst>
          </a:prstGeom>
          <a:solidFill>
            <a:srgbClr val="DCEFE8"/>
          </a:solidFill>
          <a:ln w="17775" cap="flat" cmpd="sng">
            <a:solidFill>
              <a:srgbClr val="2E7D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18"/>
          <p:cNvSpPr/>
          <p:nvPr/>
        </p:nvSpPr>
        <p:spPr>
          <a:xfrm>
            <a:off x="7318248" y="4212092"/>
            <a:ext cx="1219200" cy="217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18"/>
          <p:cNvSpPr/>
          <p:nvPr/>
        </p:nvSpPr>
        <p:spPr>
          <a:xfrm>
            <a:off x="8610600" y="4069080"/>
            <a:ext cx="1219200" cy="621792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18"/>
          <p:cNvSpPr/>
          <p:nvPr/>
        </p:nvSpPr>
        <p:spPr>
          <a:xfrm>
            <a:off x="8610600" y="4212092"/>
            <a:ext cx="1219200" cy="217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37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18"/>
          <p:cNvSpPr/>
          <p:nvPr/>
        </p:nvSpPr>
        <p:spPr>
          <a:xfrm>
            <a:off x="10058400" y="4215384"/>
            <a:ext cx="1005840" cy="283464"/>
          </a:xfrm>
          <a:prstGeom prst="roundRect">
            <a:avLst>
              <a:gd name="adj" fmla="val 12903"/>
            </a:avLst>
          </a:prstGeom>
          <a:solidFill>
            <a:srgbClr val="E7F0F7"/>
          </a:solidFill>
          <a:ln w="12700" cap="flat" cmpd="sng">
            <a:solidFill>
              <a:srgbClr val="E7F0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18"/>
          <p:cNvSpPr/>
          <p:nvPr/>
        </p:nvSpPr>
        <p:spPr>
          <a:xfrm>
            <a:off x="10104120" y="4279392"/>
            <a:ext cx="9144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6F9F"/>
              </a:buClr>
              <a:buSzPts val="860"/>
              <a:buFont typeface="Arial"/>
              <a:buNone/>
            </a:pPr>
            <a:r>
              <a:rPr lang="en-US" sz="860" b="1" i="0" u="none" strike="noStrike" cap="none">
                <a:solidFill>
                  <a:srgbClr val="2F6F9F"/>
                </a:solidFill>
                <a:latin typeface="Arial"/>
                <a:ea typeface="Arial"/>
                <a:cs typeface="Arial"/>
                <a:sym typeface="Arial"/>
              </a:rPr>
              <a:t>1 comp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18"/>
          <p:cNvSpPr/>
          <p:nvPr/>
        </p:nvSpPr>
        <p:spPr>
          <a:xfrm>
            <a:off x="2011680" y="5486400"/>
            <a:ext cx="8138160" cy="566928"/>
          </a:xfrm>
          <a:prstGeom prst="roundRect">
            <a:avLst>
              <a:gd name="adj" fmla="val 6452"/>
            </a:avLst>
          </a:prstGeom>
          <a:solidFill>
            <a:srgbClr val="DCEFE8"/>
          </a:solidFill>
          <a:ln w="12700" cap="flat" cmpd="sng">
            <a:solidFill>
              <a:srgbClr val="2E7D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18"/>
          <p:cNvSpPr/>
          <p:nvPr/>
        </p:nvSpPr>
        <p:spPr>
          <a:xfrm>
            <a:off x="2148840" y="5660136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Sorted result: [5, 10, 13, 14, 29, 37]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18"/>
          <p:cNvSpPr txBox="1">
            <a:spLocks noGrp="1"/>
          </p:cNvSpPr>
          <p:nvPr>
            <p:ph type="sldNum" idx="4294967295"/>
          </p:nvPr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820" b="0" i="0" u="none" strike="noStrike" cap="none">
              <a:solidFill>
                <a:srgbClr val="68798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9"/>
          <p:cNvSpPr/>
          <p:nvPr/>
        </p:nvSpPr>
        <p:spPr>
          <a:xfrm>
            <a:off x="566928" y="3657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2450"/>
              <a:buFont typeface="Arial"/>
              <a:buNone/>
            </a:pPr>
            <a:r>
              <a:rPr lang="en-US" sz="24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Complete trace table</a:t>
            </a:r>
            <a:endParaRPr sz="2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19"/>
          <p:cNvSpPr/>
          <p:nvPr/>
        </p:nvSpPr>
        <p:spPr>
          <a:xfrm>
            <a:off x="585216" y="859536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0"/>
              <a:buFont typeface="Arial"/>
              <a:buNone/>
            </a:pPr>
            <a:r>
              <a:rPr lang="en-US" sz="11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A compact representation of the entire algorithm execution.</a:t>
            </a:r>
            <a:endParaRPr sz="11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19"/>
          <p:cNvSpPr/>
          <p:nvPr/>
        </p:nvSpPr>
        <p:spPr>
          <a:xfrm>
            <a:off x="9555480" y="384048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19"/>
          <p:cNvSpPr/>
          <p:nvPr/>
        </p:nvSpPr>
        <p:spPr>
          <a:xfrm>
            <a:off x="9601200" y="448056"/>
            <a:ext cx="1874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594A"/>
              </a:buClr>
              <a:buSzPts val="810"/>
              <a:buFont typeface="Arial"/>
              <a:buNone/>
            </a:pPr>
            <a:r>
              <a:rPr lang="en-US" sz="810" b="1" i="0" u="none" strike="noStrike" cap="none">
                <a:solidFill>
                  <a:srgbClr val="22594A"/>
                </a:solidFill>
                <a:latin typeface="Arial"/>
                <a:ea typeface="Arial"/>
                <a:cs typeface="Arial"/>
                <a:sym typeface="Arial"/>
              </a:rPr>
              <a:t>TRACE TABLE</a:t>
            </a:r>
            <a:endParaRPr sz="81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38" name="Google Shape;638;p19"/>
          <p:cNvGraphicFramePr/>
          <p:nvPr/>
        </p:nvGraphicFramePr>
        <p:xfrm>
          <a:off x="594360" y="1298448"/>
          <a:ext cx="10607050" cy="3566100"/>
        </p:xfrm>
        <a:graphic>
          <a:graphicData uri="http://schemas.openxmlformats.org/drawingml/2006/table">
            <a:tbl>
              <a:tblPr>
                <a:noFill/>
                <a:tableStyleId>{FDDDD6F2-6D25-4F1F-8424-BA251BA45641}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031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Pass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031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031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Suffix searched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031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Selected minimum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031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Action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031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Array after pass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031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031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031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0…5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031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 @ index 5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031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swap 0↔5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031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5  10  14  37  13  29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031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031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031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1…5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031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@ index 1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031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swap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031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5  10  14  37  13  29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031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031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031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2…5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031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 @ index 4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031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swap 2↔4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031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5  10  13  37  14  29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031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031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031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3…5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031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 @ index 4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031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swap 3↔4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031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5  10  13  14  37  29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031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031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031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4…5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031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29 @ index 5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031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swap 4↔5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2031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5  10  13  14  29  37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39" name="Google Shape;639;p19"/>
          <p:cNvSpPr/>
          <p:nvPr/>
        </p:nvSpPr>
        <p:spPr>
          <a:xfrm>
            <a:off x="594360" y="1298448"/>
            <a:ext cx="10972800" cy="594360"/>
          </a:xfrm>
          <a:prstGeom prst="rect">
            <a:avLst/>
          </a:prstGeom>
          <a:solidFill>
            <a:srgbClr val="173F35"/>
          </a:solidFill>
          <a:ln w="12700" cap="flat" cmpd="sng">
            <a:solidFill>
              <a:srgbClr val="173F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19"/>
          <p:cNvSpPr/>
          <p:nvPr/>
        </p:nvSpPr>
        <p:spPr>
          <a:xfrm>
            <a:off x="594360" y="1508760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Pass</a:t>
            </a:r>
            <a:endParaRPr sz="10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19"/>
          <p:cNvSpPr/>
          <p:nvPr/>
        </p:nvSpPr>
        <p:spPr>
          <a:xfrm>
            <a:off x="1280160" y="1508760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10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19"/>
          <p:cNvSpPr/>
          <p:nvPr/>
        </p:nvSpPr>
        <p:spPr>
          <a:xfrm>
            <a:off x="1783080" y="1508760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Suffix searched</a:t>
            </a:r>
            <a:endParaRPr sz="10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19"/>
          <p:cNvSpPr/>
          <p:nvPr/>
        </p:nvSpPr>
        <p:spPr>
          <a:xfrm>
            <a:off x="3291840" y="1508760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Selected minimum</a:t>
            </a:r>
            <a:endParaRPr sz="10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19"/>
          <p:cNvSpPr/>
          <p:nvPr/>
        </p:nvSpPr>
        <p:spPr>
          <a:xfrm>
            <a:off x="5212080" y="1508760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 sz="10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19"/>
          <p:cNvSpPr/>
          <p:nvPr/>
        </p:nvSpPr>
        <p:spPr>
          <a:xfrm>
            <a:off x="6629400" y="1508760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Array after pass</a:t>
            </a:r>
            <a:endParaRPr sz="10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19"/>
          <p:cNvSpPr/>
          <p:nvPr/>
        </p:nvSpPr>
        <p:spPr>
          <a:xfrm>
            <a:off x="1828800" y="5897880"/>
            <a:ext cx="8595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320"/>
              <a:buFont typeface="Arial"/>
              <a:buNone/>
            </a:pPr>
            <a:r>
              <a:rPr lang="en-US" sz="13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Observation: comparison count decreases 5, 4, 3, 2, 1 — a triangular pattern.</a:t>
            </a:r>
            <a:endParaRPr sz="13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19"/>
          <p:cNvSpPr txBox="1">
            <a:spLocks noGrp="1"/>
          </p:cNvSpPr>
          <p:nvPr>
            <p:ph type="sldNum" idx="4294967295"/>
          </p:nvPr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820" b="0" i="0" u="none" strike="noStrike" cap="none">
              <a:solidFill>
                <a:srgbClr val="68798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20"/>
          <p:cNvSpPr/>
          <p:nvPr/>
        </p:nvSpPr>
        <p:spPr>
          <a:xfrm>
            <a:off x="566928" y="3657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2450"/>
              <a:buFont typeface="Arial"/>
              <a:buNone/>
            </a:pPr>
            <a:r>
              <a:rPr lang="en-US" sz="24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C implementation: clean structured version</a:t>
            </a:r>
            <a:endParaRPr sz="2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20"/>
          <p:cNvSpPr/>
          <p:nvPr/>
        </p:nvSpPr>
        <p:spPr>
          <a:xfrm>
            <a:off x="585216" y="859536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0"/>
              <a:buFont typeface="Arial"/>
              <a:buNone/>
            </a:pPr>
            <a:r>
              <a:rPr lang="en-US" sz="11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The code mirrors the algorithm specification almost line for line.</a:t>
            </a:r>
            <a:endParaRPr sz="11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20"/>
          <p:cNvSpPr/>
          <p:nvPr/>
        </p:nvSpPr>
        <p:spPr>
          <a:xfrm>
            <a:off x="9555480" y="384048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20"/>
          <p:cNvSpPr/>
          <p:nvPr/>
        </p:nvSpPr>
        <p:spPr>
          <a:xfrm>
            <a:off x="9601200" y="448056"/>
            <a:ext cx="1874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594A"/>
              </a:buClr>
              <a:buSzPts val="810"/>
              <a:buFont typeface="Arial"/>
              <a:buNone/>
            </a:pPr>
            <a:r>
              <a:rPr lang="en-US" sz="810" b="1" i="0" u="none" strike="noStrike" cap="none">
                <a:solidFill>
                  <a:srgbClr val="22594A"/>
                </a:solidFill>
                <a:latin typeface="Arial"/>
                <a:ea typeface="Arial"/>
                <a:cs typeface="Arial"/>
                <a:sym typeface="Arial"/>
              </a:rPr>
              <a:t>C LANGUAGE</a:t>
            </a:r>
            <a:endParaRPr sz="81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20"/>
          <p:cNvSpPr/>
          <p:nvPr/>
        </p:nvSpPr>
        <p:spPr>
          <a:xfrm>
            <a:off x="731520" y="1243584"/>
            <a:ext cx="4310037" cy="5074920"/>
          </a:xfrm>
          <a:prstGeom prst="roundRect">
            <a:avLst>
              <a:gd name="adj" fmla="val 631"/>
            </a:avLst>
          </a:prstGeom>
          <a:solidFill>
            <a:schemeClr val="bg1"/>
          </a:solidFill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58" name="Google Shape;658;p20"/>
          <p:cNvSpPr/>
          <p:nvPr/>
        </p:nvSpPr>
        <p:spPr>
          <a:xfrm>
            <a:off x="877824" y="1371600"/>
            <a:ext cx="6245352" cy="484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32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void </a:t>
            </a:r>
            <a:r>
              <a:rPr lang="en-US" sz="18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selectionSort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(int a[], int n)</a:t>
            </a:r>
            <a:endParaRPr sz="18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32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sz="18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32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for (int </a:t>
            </a:r>
            <a:r>
              <a:rPr lang="en-US" sz="18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= 0; </a:t>
            </a:r>
            <a:r>
              <a:rPr lang="en-US" sz="18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&lt; n - 1; ++</a:t>
            </a:r>
            <a:r>
              <a:rPr lang="en-US" sz="18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) {</a:t>
            </a:r>
            <a:endParaRPr sz="18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32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    int </a:t>
            </a:r>
            <a:r>
              <a:rPr lang="en-US" sz="18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minIndex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-US" sz="18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8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32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    for (int j = </a:t>
            </a:r>
            <a:r>
              <a:rPr lang="en-US" sz="18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+ 1; j &lt; n; ++j) {</a:t>
            </a:r>
            <a:endParaRPr sz="18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32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        if (a[j] &lt; a[</a:t>
            </a:r>
            <a:r>
              <a:rPr lang="en-US" sz="18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minIndex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])</a:t>
            </a:r>
            <a:endParaRPr sz="18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32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            </a:t>
            </a:r>
            <a:r>
              <a:rPr lang="en-US" sz="18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minIndex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= j;</a:t>
            </a:r>
            <a:endParaRPr sz="18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32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    }</a:t>
            </a:r>
            <a:endParaRPr sz="18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32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    if (</a:t>
            </a:r>
            <a:r>
              <a:rPr lang="en-US" sz="18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minIndex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!= </a:t>
            </a:r>
            <a:r>
              <a:rPr lang="en-US" sz="18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) {</a:t>
            </a:r>
            <a:endParaRPr sz="18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32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        int temp = a[</a:t>
            </a:r>
            <a:r>
              <a:rPr lang="en-US" sz="18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];</a:t>
            </a:r>
            <a:endParaRPr sz="18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32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        a[</a:t>
            </a:r>
            <a:r>
              <a:rPr lang="en-US" sz="18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] = a[</a:t>
            </a:r>
            <a:r>
              <a:rPr lang="en-US" sz="18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minIndex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];</a:t>
            </a:r>
            <a:endParaRPr sz="18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32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        a[</a:t>
            </a:r>
            <a:r>
              <a:rPr lang="en-US" sz="18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minIndex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] = temp;</a:t>
            </a:r>
            <a:endParaRPr sz="18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32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    }</a:t>
            </a:r>
            <a:endParaRPr sz="18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32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18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32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8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20"/>
          <p:cNvSpPr/>
          <p:nvPr/>
        </p:nvSpPr>
        <p:spPr>
          <a:xfrm>
            <a:off x="7635240" y="1444752"/>
            <a:ext cx="379476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20"/>
          <p:cNvSpPr/>
          <p:nvPr/>
        </p:nvSpPr>
        <p:spPr>
          <a:xfrm>
            <a:off x="7799832" y="1600200"/>
            <a:ext cx="438912" cy="438912"/>
          </a:xfrm>
          <a:prstGeom prst="ellipse">
            <a:avLst/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0"/>
          <p:cNvSpPr/>
          <p:nvPr/>
        </p:nvSpPr>
        <p:spPr>
          <a:xfrm>
            <a:off x="7799832" y="1700784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20"/>
          <p:cNvSpPr/>
          <p:nvPr/>
        </p:nvSpPr>
        <p:spPr>
          <a:xfrm>
            <a:off x="8348472" y="1609344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Structured loops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20"/>
          <p:cNvSpPr/>
          <p:nvPr/>
        </p:nvSpPr>
        <p:spPr>
          <a:xfrm>
            <a:off x="7836408" y="2189864"/>
            <a:ext cx="33924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20"/>
              <a:buFont typeface="Arial"/>
              <a:buNone/>
            </a:pPr>
            <a:r>
              <a:rPr lang="en-US" sz="122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Outer loop controls placement; inner loop performs selection.</a:t>
            </a:r>
            <a:endParaRPr sz="122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20"/>
          <p:cNvSpPr/>
          <p:nvPr/>
        </p:nvSpPr>
        <p:spPr>
          <a:xfrm>
            <a:off x="7635240" y="2944368"/>
            <a:ext cx="379476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20"/>
          <p:cNvSpPr/>
          <p:nvPr/>
        </p:nvSpPr>
        <p:spPr>
          <a:xfrm>
            <a:off x="7799832" y="3099816"/>
            <a:ext cx="438912" cy="438912"/>
          </a:xfrm>
          <a:prstGeom prst="ellipse">
            <a:avLst/>
          </a:prstGeom>
          <a:solidFill>
            <a:srgbClr val="E7F0F7"/>
          </a:solidFill>
          <a:ln w="12700" cap="flat" cmpd="sng">
            <a:solidFill>
              <a:srgbClr val="E7F0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20"/>
          <p:cNvSpPr/>
          <p:nvPr/>
        </p:nvSpPr>
        <p:spPr>
          <a:xfrm>
            <a:off x="7799832" y="3200400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6F9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2F6F9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20"/>
          <p:cNvSpPr/>
          <p:nvPr/>
        </p:nvSpPr>
        <p:spPr>
          <a:xfrm>
            <a:off x="8348472" y="3108960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Index, not copy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20"/>
          <p:cNvSpPr/>
          <p:nvPr/>
        </p:nvSpPr>
        <p:spPr>
          <a:xfrm>
            <a:off x="7836408" y="3699860"/>
            <a:ext cx="33924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20"/>
              <a:buFont typeface="Arial"/>
              <a:buNone/>
            </a:pPr>
            <a:r>
              <a:rPr lang="en-US" sz="1220" b="0" i="0" u="none" strike="noStrike" cap="none" dirty="0" err="1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minIndex</a:t>
            </a:r>
            <a:r>
              <a:rPr lang="en-US" sz="122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 stores location so the final exchange is O(1).</a:t>
            </a:r>
            <a:endParaRPr sz="122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20"/>
          <p:cNvSpPr/>
          <p:nvPr/>
        </p:nvSpPr>
        <p:spPr>
          <a:xfrm>
            <a:off x="7635240" y="4443984"/>
            <a:ext cx="379476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20"/>
          <p:cNvSpPr/>
          <p:nvPr/>
        </p:nvSpPr>
        <p:spPr>
          <a:xfrm>
            <a:off x="7799832" y="4599432"/>
            <a:ext cx="438912" cy="438912"/>
          </a:xfrm>
          <a:prstGeom prst="ellipse">
            <a:avLst/>
          </a:prstGeom>
          <a:solidFill>
            <a:srgbClr val="F7EACB"/>
          </a:solidFill>
          <a:ln w="12700" cap="flat" cmpd="sng">
            <a:solidFill>
              <a:srgbClr val="F7EA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20"/>
          <p:cNvSpPr/>
          <p:nvPr/>
        </p:nvSpPr>
        <p:spPr>
          <a:xfrm>
            <a:off x="7799832" y="4700016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20"/>
          <p:cNvSpPr/>
          <p:nvPr/>
        </p:nvSpPr>
        <p:spPr>
          <a:xfrm>
            <a:off x="8348472" y="4608576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Avoid self-swap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20"/>
          <p:cNvSpPr/>
          <p:nvPr/>
        </p:nvSpPr>
        <p:spPr>
          <a:xfrm>
            <a:off x="7836408" y="5157216"/>
            <a:ext cx="33924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20"/>
              <a:buFont typeface="Arial"/>
              <a:buNone/>
            </a:pPr>
            <a:r>
              <a:rPr lang="en-US" sz="122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The conditional exchange reduces unnecessary writes.</a:t>
            </a:r>
            <a:endParaRPr sz="122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20"/>
          <p:cNvSpPr txBox="1">
            <a:spLocks noGrp="1"/>
          </p:cNvSpPr>
          <p:nvPr>
            <p:ph type="sldNum" idx="4294967295"/>
          </p:nvPr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820" b="0" i="0" u="none" strike="noStrike" cap="none">
              <a:solidFill>
                <a:srgbClr val="68798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21"/>
          <p:cNvSpPr/>
          <p:nvPr/>
        </p:nvSpPr>
        <p:spPr>
          <a:xfrm>
            <a:off x="566928" y="3657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2450"/>
              <a:buFont typeface="Arial"/>
              <a:buNone/>
            </a:pPr>
            <a:r>
              <a:rPr lang="en-US" sz="24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Function contract and assumptions</a:t>
            </a:r>
            <a:endParaRPr sz="2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21"/>
          <p:cNvSpPr/>
          <p:nvPr/>
        </p:nvSpPr>
        <p:spPr>
          <a:xfrm>
            <a:off x="585216" y="859536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0"/>
              <a:buFont typeface="Arial"/>
              <a:buNone/>
            </a:pPr>
            <a:r>
              <a:rPr lang="en-US" sz="11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A senior-level implementation should state what the function expects and guarantees.</a:t>
            </a:r>
            <a:endParaRPr sz="11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21"/>
          <p:cNvSpPr/>
          <p:nvPr/>
        </p:nvSpPr>
        <p:spPr>
          <a:xfrm>
            <a:off x="9555480" y="384048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21"/>
          <p:cNvSpPr/>
          <p:nvPr/>
        </p:nvSpPr>
        <p:spPr>
          <a:xfrm>
            <a:off x="9601200" y="448056"/>
            <a:ext cx="1874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594A"/>
              </a:buClr>
              <a:buSzPts val="810"/>
              <a:buFont typeface="Arial"/>
              <a:buNone/>
            </a:pPr>
            <a:r>
              <a:rPr lang="en-US" sz="810" b="1" i="0" u="none" strike="noStrike" cap="none">
                <a:solidFill>
                  <a:srgbClr val="22594A"/>
                </a:solidFill>
                <a:latin typeface="Arial"/>
                <a:ea typeface="Arial"/>
                <a:cs typeface="Arial"/>
                <a:sym typeface="Arial"/>
              </a:rPr>
              <a:t>C LANGUAGE</a:t>
            </a:r>
            <a:endParaRPr sz="81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21"/>
          <p:cNvSpPr/>
          <p:nvPr/>
        </p:nvSpPr>
        <p:spPr>
          <a:xfrm>
            <a:off x="731520" y="1353312"/>
            <a:ext cx="3401568" cy="4206240"/>
          </a:xfrm>
          <a:prstGeom prst="roundRect">
            <a:avLst>
              <a:gd name="adj" fmla="val 1344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21"/>
          <p:cNvSpPr/>
          <p:nvPr/>
        </p:nvSpPr>
        <p:spPr>
          <a:xfrm>
            <a:off x="896112" y="1508760"/>
            <a:ext cx="438912" cy="438912"/>
          </a:xfrm>
          <a:prstGeom prst="ellipse">
            <a:avLst/>
          </a:prstGeom>
          <a:solidFill>
            <a:srgbClr val="E7F0F7"/>
          </a:solidFill>
          <a:ln w="12700" cap="flat" cmpd="sng">
            <a:solidFill>
              <a:srgbClr val="E7F0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21"/>
          <p:cNvSpPr/>
          <p:nvPr/>
        </p:nvSpPr>
        <p:spPr>
          <a:xfrm>
            <a:off x="896112" y="1609344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6F9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2F6F9F"/>
                </a:solidFill>
                <a:latin typeface="Arial"/>
                <a:ea typeface="Arial"/>
                <a:cs typeface="Arial"/>
                <a:sym typeface="Arial"/>
              </a:rPr>
              <a:t>PRE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21"/>
          <p:cNvSpPr/>
          <p:nvPr/>
        </p:nvSpPr>
        <p:spPr>
          <a:xfrm>
            <a:off x="1444752" y="1604403"/>
            <a:ext cx="24871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 dirty="0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Preconditions</a:t>
            </a:r>
            <a:endParaRPr sz="152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21"/>
          <p:cNvSpPr/>
          <p:nvPr/>
        </p:nvSpPr>
        <p:spPr>
          <a:xfrm>
            <a:off x="932688" y="2170593"/>
            <a:ext cx="2999232" cy="3493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• a points to storage for at least n integers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• n ≥ 0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• integer comparisons have a total order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21"/>
          <p:cNvSpPr/>
          <p:nvPr/>
        </p:nvSpPr>
        <p:spPr>
          <a:xfrm>
            <a:off x="4389120" y="1353312"/>
            <a:ext cx="3401568" cy="4206240"/>
          </a:xfrm>
          <a:prstGeom prst="roundRect">
            <a:avLst>
              <a:gd name="adj" fmla="val 1344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21"/>
          <p:cNvSpPr/>
          <p:nvPr/>
        </p:nvSpPr>
        <p:spPr>
          <a:xfrm>
            <a:off x="4553712" y="1508760"/>
            <a:ext cx="438912" cy="438912"/>
          </a:xfrm>
          <a:prstGeom prst="ellipse">
            <a:avLst/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21"/>
          <p:cNvSpPr/>
          <p:nvPr/>
        </p:nvSpPr>
        <p:spPr>
          <a:xfrm>
            <a:off x="4553712" y="1609344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POST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21"/>
          <p:cNvSpPr/>
          <p:nvPr/>
        </p:nvSpPr>
        <p:spPr>
          <a:xfrm>
            <a:off x="5102352" y="1604403"/>
            <a:ext cx="24871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 dirty="0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Postcondition</a:t>
            </a:r>
            <a:endParaRPr sz="152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21"/>
          <p:cNvSpPr/>
          <p:nvPr/>
        </p:nvSpPr>
        <p:spPr>
          <a:xfrm>
            <a:off x="4590288" y="2170593"/>
            <a:ext cx="2999232" cy="3493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The same elements remain, but arranged so that a[0] ≤ a[1] ≤ … ≤ a[n−1].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21"/>
          <p:cNvSpPr/>
          <p:nvPr/>
        </p:nvSpPr>
        <p:spPr>
          <a:xfrm>
            <a:off x="8046720" y="1353312"/>
            <a:ext cx="3401568" cy="4206240"/>
          </a:xfrm>
          <a:prstGeom prst="roundRect">
            <a:avLst>
              <a:gd name="adj" fmla="val 1344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21"/>
          <p:cNvSpPr/>
          <p:nvPr/>
        </p:nvSpPr>
        <p:spPr>
          <a:xfrm>
            <a:off x="8211312" y="1508760"/>
            <a:ext cx="438912" cy="438912"/>
          </a:xfrm>
          <a:prstGeom prst="ellipse">
            <a:avLst/>
          </a:prstGeom>
          <a:solidFill>
            <a:srgbClr val="F7EACB"/>
          </a:solidFill>
          <a:ln w="12700" cap="flat" cmpd="sng">
            <a:solidFill>
              <a:srgbClr val="F7EA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21"/>
          <p:cNvSpPr/>
          <p:nvPr/>
        </p:nvSpPr>
        <p:spPr>
          <a:xfrm>
            <a:off x="8211312" y="1609344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MEM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21"/>
          <p:cNvSpPr/>
          <p:nvPr/>
        </p:nvSpPr>
        <p:spPr>
          <a:xfrm>
            <a:off x="8759952" y="1604403"/>
            <a:ext cx="24871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 dirty="0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Side effects</a:t>
            </a:r>
            <a:endParaRPr sz="152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21"/>
          <p:cNvSpPr/>
          <p:nvPr/>
        </p:nvSpPr>
        <p:spPr>
          <a:xfrm>
            <a:off x="8247888" y="2170593"/>
            <a:ext cx="2999232" cy="3493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The array is modified in-place; no auxiliary array is allocated.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21"/>
          <p:cNvSpPr/>
          <p:nvPr/>
        </p:nvSpPr>
        <p:spPr>
          <a:xfrm>
            <a:off x="1508760" y="5806440"/>
            <a:ext cx="92354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Permutation property + ordering property = a complete functional specification of sorting.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21"/>
          <p:cNvSpPr txBox="1">
            <a:spLocks noGrp="1"/>
          </p:cNvSpPr>
          <p:nvPr>
            <p:ph type="sldNum" idx="4294967295"/>
          </p:nvPr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820" b="0" i="0" u="none" strike="noStrike" cap="none">
              <a:solidFill>
                <a:srgbClr val="68798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22"/>
          <p:cNvSpPr/>
          <p:nvPr/>
        </p:nvSpPr>
        <p:spPr>
          <a:xfrm>
            <a:off x="566928" y="3657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2450"/>
              <a:buFont typeface="Arial"/>
              <a:buNone/>
            </a:pPr>
            <a:r>
              <a:rPr lang="en-US" sz="24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Exact number of comparisons</a:t>
            </a:r>
            <a:endParaRPr sz="2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22"/>
          <p:cNvSpPr/>
          <p:nvPr/>
        </p:nvSpPr>
        <p:spPr>
          <a:xfrm>
            <a:off x="585216" y="859536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0"/>
              <a:buFont typeface="Arial"/>
              <a:buNone/>
            </a:pPr>
            <a:r>
              <a:rPr lang="en-US" sz="11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Unlike many algorithms, standard Selection Sort performs a fixed number of key comparisons.</a:t>
            </a:r>
            <a:endParaRPr sz="11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22"/>
          <p:cNvSpPr/>
          <p:nvPr/>
        </p:nvSpPr>
        <p:spPr>
          <a:xfrm>
            <a:off x="9555480" y="384048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22"/>
          <p:cNvSpPr/>
          <p:nvPr/>
        </p:nvSpPr>
        <p:spPr>
          <a:xfrm>
            <a:off x="9601200" y="448056"/>
            <a:ext cx="1874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594A"/>
              </a:buClr>
              <a:buSzPts val="810"/>
              <a:buFont typeface="Arial"/>
              <a:buNone/>
            </a:pPr>
            <a:r>
              <a:rPr lang="en-US" sz="810" b="1" i="0" u="none" strike="noStrike" cap="none">
                <a:solidFill>
                  <a:srgbClr val="22594A"/>
                </a:solidFill>
                <a:latin typeface="Arial"/>
                <a:ea typeface="Arial"/>
                <a:cs typeface="Arial"/>
                <a:sym typeface="Arial"/>
              </a:rPr>
              <a:t>MATHEMATICS</a:t>
            </a:r>
            <a:endParaRPr sz="81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22"/>
          <p:cNvSpPr/>
          <p:nvPr/>
        </p:nvSpPr>
        <p:spPr>
          <a:xfrm>
            <a:off x="868680" y="135331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Pass-by-pass count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22"/>
          <p:cNvSpPr/>
          <p:nvPr/>
        </p:nvSpPr>
        <p:spPr>
          <a:xfrm>
            <a:off x="914400" y="1828800"/>
            <a:ext cx="1234440" cy="731520"/>
          </a:xfrm>
          <a:prstGeom prst="roundRect">
            <a:avLst>
              <a:gd name="adj" fmla="val 5000"/>
            </a:avLst>
          </a:prstGeom>
          <a:solidFill>
            <a:srgbClr val="DCEFE8"/>
          </a:solidFill>
          <a:ln w="1270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22"/>
          <p:cNvSpPr/>
          <p:nvPr/>
        </p:nvSpPr>
        <p:spPr>
          <a:xfrm>
            <a:off x="914400" y="2066544"/>
            <a:ext cx="12344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n−1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22"/>
          <p:cNvSpPr/>
          <p:nvPr/>
        </p:nvSpPr>
        <p:spPr>
          <a:xfrm>
            <a:off x="2423160" y="1828800"/>
            <a:ext cx="1234440" cy="731520"/>
          </a:xfrm>
          <a:prstGeom prst="roundRect">
            <a:avLst>
              <a:gd name="adj" fmla="val 5000"/>
            </a:avLst>
          </a:prstGeom>
          <a:solidFill>
            <a:srgbClr val="DCEFE8"/>
          </a:solidFill>
          <a:ln w="1270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22"/>
          <p:cNvSpPr/>
          <p:nvPr/>
        </p:nvSpPr>
        <p:spPr>
          <a:xfrm>
            <a:off x="2423160" y="2066544"/>
            <a:ext cx="12344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n−2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22"/>
          <p:cNvSpPr/>
          <p:nvPr/>
        </p:nvSpPr>
        <p:spPr>
          <a:xfrm>
            <a:off x="3931920" y="1828800"/>
            <a:ext cx="1234440" cy="731520"/>
          </a:xfrm>
          <a:prstGeom prst="roundRect">
            <a:avLst>
              <a:gd name="adj" fmla="val 5000"/>
            </a:avLst>
          </a:prstGeom>
          <a:solidFill>
            <a:srgbClr val="DCEFE8"/>
          </a:solidFill>
          <a:ln w="1270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" name="Google Shape;716;p22"/>
          <p:cNvSpPr/>
          <p:nvPr/>
        </p:nvSpPr>
        <p:spPr>
          <a:xfrm>
            <a:off x="3931920" y="2066544"/>
            <a:ext cx="12344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n−3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22"/>
          <p:cNvSpPr/>
          <p:nvPr/>
        </p:nvSpPr>
        <p:spPr>
          <a:xfrm>
            <a:off x="5440680" y="1828800"/>
            <a:ext cx="123444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22"/>
          <p:cNvSpPr/>
          <p:nvPr/>
        </p:nvSpPr>
        <p:spPr>
          <a:xfrm>
            <a:off x="5440680" y="2066544"/>
            <a:ext cx="12344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22"/>
          <p:cNvSpPr/>
          <p:nvPr/>
        </p:nvSpPr>
        <p:spPr>
          <a:xfrm>
            <a:off x="6949440" y="1828800"/>
            <a:ext cx="123444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22"/>
          <p:cNvSpPr/>
          <p:nvPr/>
        </p:nvSpPr>
        <p:spPr>
          <a:xfrm>
            <a:off x="6949440" y="2066544"/>
            <a:ext cx="12344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22"/>
          <p:cNvSpPr/>
          <p:nvPr/>
        </p:nvSpPr>
        <p:spPr>
          <a:xfrm>
            <a:off x="8458200" y="1828800"/>
            <a:ext cx="123444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2" name="Google Shape;722;p22"/>
          <p:cNvSpPr/>
          <p:nvPr/>
        </p:nvSpPr>
        <p:spPr>
          <a:xfrm>
            <a:off x="8458200" y="2066544"/>
            <a:ext cx="12344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3" name="Google Shape;723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11680" y="3063240"/>
            <a:ext cx="2609747" cy="7315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4" name="Google Shape;724;p22"/>
          <p:cNvCxnSpPr/>
          <p:nvPr/>
        </p:nvCxnSpPr>
        <p:spPr>
          <a:xfrm>
            <a:off x="5989320" y="3438144"/>
            <a:ext cx="731520" cy="0"/>
          </a:xfrm>
          <a:prstGeom prst="straightConnector1">
            <a:avLst/>
          </a:prstGeom>
          <a:noFill/>
          <a:ln w="22850" cap="flat" cmpd="sng">
            <a:solidFill>
              <a:srgbClr val="D6A84B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725" name="Google Shape;725;p2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20680" y="3063240"/>
            <a:ext cx="3234999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22"/>
          <p:cNvSpPr/>
          <p:nvPr/>
        </p:nvSpPr>
        <p:spPr>
          <a:xfrm>
            <a:off x="1965960" y="4663440"/>
            <a:ext cx="8275320" cy="868680"/>
          </a:xfrm>
          <a:prstGeom prst="roundRect">
            <a:avLst>
              <a:gd name="adj" fmla="val 5263"/>
            </a:avLst>
          </a:prstGeom>
          <a:solidFill>
            <a:srgbClr val="F7EACB"/>
          </a:solidFill>
          <a:ln w="12700" cap="flat" cmpd="sng">
            <a:solidFill>
              <a:srgbClr val="D6A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22"/>
          <p:cNvSpPr/>
          <p:nvPr/>
        </p:nvSpPr>
        <p:spPr>
          <a:xfrm>
            <a:off x="2148840" y="4956048"/>
            <a:ext cx="7909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For n = 6: 5 + 4 + 3 + 2 + 1 = 15 comparisons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22"/>
          <p:cNvSpPr txBox="1">
            <a:spLocks noGrp="1"/>
          </p:cNvSpPr>
          <p:nvPr>
            <p:ph type="sldNum" idx="4294967295"/>
          </p:nvPr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820" b="0" i="0" u="none" strike="noStrike" cap="none">
              <a:solidFill>
                <a:srgbClr val="68798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23"/>
          <p:cNvSpPr/>
          <p:nvPr/>
        </p:nvSpPr>
        <p:spPr>
          <a:xfrm>
            <a:off x="566928" y="3657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2450"/>
              <a:buFont typeface="Arial"/>
              <a:buNone/>
            </a:pPr>
            <a:r>
              <a:rPr lang="en-US" sz="24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Why the comparison sum is triangular</a:t>
            </a:r>
            <a:endParaRPr sz="2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23"/>
          <p:cNvSpPr/>
          <p:nvPr/>
        </p:nvSpPr>
        <p:spPr>
          <a:xfrm>
            <a:off x="585216" y="859536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0"/>
              <a:buFont typeface="Arial"/>
              <a:buNone/>
            </a:pPr>
            <a:r>
              <a:rPr lang="en-US" sz="11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Each pass contributes one shorter row of comparisons.</a:t>
            </a:r>
            <a:endParaRPr sz="11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23"/>
          <p:cNvSpPr/>
          <p:nvPr/>
        </p:nvSpPr>
        <p:spPr>
          <a:xfrm>
            <a:off x="9555480" y="384048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23"/>
          <p:cNvSpPr/>
          <p:nvPr/>
        </p:nvSpPr>
        <p:spPr>
          <a:xfrm>
            <a:off x="9601200" y="448056"/>
            <a:ext cx="1874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594A"/>
              </a:buClr>
              <a:buSzPts val="810"/>
              <a:buFont typeface="Arial"/>
              <a:buNone/>
            </a:pPr>
            <a:r>
              <a:rPr lang="en-US" sz="810" b="1" i="0" u="none" strike="noStrike" cap="none">
                <a:solidFill>
                  <a:srgbClr val="22594A"/>
                </a:solidFill>
                <a:latin typeface="Arial"/>
                <a:ea typeface="Arial"/>
                <a:cs typeface="Arial"/>
                <a:sym typeface="Arial"/>
              </a:rPr>
              <a:t>MATHEMATICS</a:t>
            </a:r>
            <a:endParaRPr sz="81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23"/>
          <p:cNvSpPr/>
          <p:nvPr/>
        </p:nvSpPr>
        <p:spPr>
          <a:xfrm>
            <a:off x="731520" y="158191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pass 1</a:t>
            </a:r>
            <a:endParaRPr sz="9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23"/>
          <p:cNvSpPr/>
          <p:nvPr/>
        </p:nvSpPr>
        <p:spPr>
          <a:xfrm>
            <a:off x="1828800" y="1463040"/>
            <a:ext cx="438912" cy="438912"/>
          </a:xfrm>
          <a:prstGeom prst="roundRect">
            <a:avLst>
              <a:gd name="adj" fmla="val 4167"/>
            </a:avLst>
          </a:prstGeom>
          <a:solidFill>
            <a:srgbClr val="DCEFE8"/>
          </a:solidFill>
          <a:ln w="1270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0" name="Google Shape;740;p23"/>
          <p:cNvSpPr/>
          <p:nvPr/>
        </p:nvSpPr>
        <p:spPr>
          <a:xfrm>
            <a:off x="2350008" y="1463040"/>
            <a:ext cx="438912" cy="438912"/>
          </a:xfrm>
          <a:prstGeom prst="roundRect">
            <a:avLst>
              <a:gd name="adj" fmla="val 4167"/>
            </a:avLst>
          </a:prstGeom>
          <a:solidFill>
            <a:srgbClr val="DCEFE8"/>
          </a:solidFill>
          <a:ln w="1270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p23"/>
          <p:cNvSpPr/>
          <p:nvPr/>
        </p:nvSpPr>
        <p:spPr>
          <a:xfrm>
            <a:off x="2871216" y="1463040"/>
            <a:ext cx="438912" cy="438912"/>
          </a:xfrm>
          <a:prstGeom prst="roundRect">
            <a:avLst>
              <a:gd name="adj" fmla="val 4167"/>
            </a:avLst>
          </a:prstGeom>
          <a:solidFill>
            <a:srgbClr val="DCEFE8"/>
          </a:solidFill>
          <a:ln w="1270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23"/>
          <p:cNvSpPr/>
          <p:nvPr/>
        </p:nvSpPr>
        <p:spPr>
          <a:xfrm>
            <a:off x="3392424" y="1463040"/>
            <a:ext cx="438912" cy="438912"/>
          </a:xfrm>
          <a:prstGeom prst="roundRect">
            <a:avLst>
              <a:gd name="adj" fmla="val 4167"/>
            </a:avLst>
          </a:prstGeom>
          <a:solidFill>
            <a:srgbClr val="DCEFE8"/>
          </a:solidFill>
          <a:ln w="1270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23"/>
          <p:cNvSpPr/>
          <p:nvPr/>
        </p:nvSpPr>
        <p:spPr>
          <a:xfrm>
            <a:off x="3913632" y="1463040"/>
            <a:ext cx="438912" cy="438912"/>
          </a:xfrm>
          <a:prstGeom prst="roundRect">
            <a:avLst>
              <a:gd name="adj" fmla="val 4167"/>
            </a:avLst>
          </a:prstGeom>
          <a:solidFill>
            <a:srgbClr val="DCEFE8"/>
          </a:solidFill>
          <a:ln w="1270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23"/>
          <p:cNvSpPr/>
          <p:nvPr/>
        </p:nvSpPr>
        <p:spPr>
          <a:xfrm>
            <a:off x="731520" y="2249424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pass 2</a:t>
            </a:r>
            <a:endParaRPr sz="9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23"/>
          <p:cNvSpPr/>
          <p:nvPr/>
        </p:nvSpPr>
        <p:spPr>
          <a:xfrm>
            <a:off x="1828800" y="2130552"/>
            <a:ext cx="438912" cy="438912"/>
          </a:xfrm>
          <a:prstGeom prst="roundRect">
            <a:avLst>
              <a:gd name="adj" fmla="val 4167"/>
            </a:avLst>
          </a:prstGeom>
          <a:solidFill>
            <a:srgbClr val="E7F0F7"/>
          </a:solidFill>
          <a:ln w="1270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23"/>
          <p:cNvSpPr/>
          <p:nvPr/>
        </p:nvSpPr>
        <p:spPr>
          <a:xfrm>
            <a:off x="2350008" y="2130552"/>
            <a:ext cx="438912" cy="438912"/>
          </a:xfrm>
          <a:prstGeom prst="roundRect">
            <a:avLst>
              <a:gd name="adj" fmla="val 4167"/>
            </a:avLst>
          </a:prstGeom>
          <a:solidFill>
            <a:srgbClr val="E7F0F7"/>
          </a:solidFill>
          <a:ln w="1270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23"/>
          <p:cNvSpPr/>
          <p:nvPr/>
        </p:nvSpPr>
        <p:spPr>
          <a:xfrm>
            <a:off x="2871216" y="2130552"/>
            <a:ext cx="438912" cy="438912"/>
          </a:xfrm>
          <a:prstGeom prst="roundRect">
            <a:avLst>
              <a:gd name="adj" fmla="val 4167"/>
            </a:avLst>
          </a:prstGeom>
          <a:solidFill>
            <a:srgbClr val="E7F0F7"/>
          </a:solidFill>
          <a:ln w="1270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23"/>
          <p:cNvSpPr/>
          <p:nvPr/>
        </p:nvSpPr>
        <p:spPr>
          <a:xfrm>
            <a:off x="3392424" y="2130552"/>
            <a:ext cx="438912" cy="438912"/>
          </a:xfrm>
          <a:prstGeom prst="roundRect">
            <a:avLst>
              <a:gd name="adj" fmla="val 4167"/>
            </a:avLst>
          </a:prstGeom>
          <a:solidFill>
            <a:srgbClr val="E7F0F7"/>
          </a:solidFill>
          <a:ln w="1270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23"/>
          <p:cNvSpPr/>
          <p:nvPr/>
        </p:nvSpPr>
        <p:spPr>
          <a:xfrm>
            <a:off x="731520" y="291693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pass 3</a:t>
            </a:r>
            <a:endParaRPr sz="9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23"/>
          <p:cNvSpPr/>
          <p:nvPr/>
        </p:nvSpPr>
        <p:spPr>
          <a:xfrm>
            <a:off x="1828800" y="2798064"/>
            <a:ext cx="438912" cy="438912"/>
          </a:xfrm>
          <a:prstGeom prst="roundRect">
            <a:avLst>
              <a:gd name="adj" fmla="val 4167"/>
            </a:avLst>
          </a:prstGeom>
          <a:solidFill>
            <a:srgbClr val="DCEFE8"/>
          </a:solidFill>
          <a:ln w="1270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23"/>
          <p:cNvSpPr/>
          <p:nvPr/>
        </p:nvSpPr>
        <p:spPr>
          <a:xfrm>
            <a:off x="2350008" y="2798064"/>
            <a:ext cx="438912" cy="438912"/>
          </a:xfrm>
          <a:prstGeom prst="roundRect">
            <a:avLst>
              <a:gd name="adj" fmla="val 4167"/>
            </a:avLst>
          </a:prstGeom>
          <a:solidFill>
            <a:srgbClr val="DCEFE8"/>
          </a:solidFill>
          <a:ln w="1270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23"/>
          <p:cNvSpPr/>
          <p:nvPr/>
        </p:nvSpPr>
        <p:spPr>
          <a:xfrm>
            <a:off x="2871216" y="2798064"/>
            <a:ext cx="438912" cy="438912"/>
          </a:xfrm>
          <a:prstGeom prst="roundRect">
            <a:avLst>
              <a:gd name="adj" fmla="val 4167"/>
            </a:avLst>
          </a:prstGeom>
          <a:solidFill>
            <a:srgbClr val="DCEFE8"/>
          </a:solidFill>
          <a:ln w="1270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23"/>
          <p:cNvSpPr/>
          <p:nvPr/>
        </p:nvSpPr>
        <p:spPr>
          <a:xfrm>
            <a:off x="731520" y="3584448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pass 4</a:t>
            </a:r>
            <a:endParaRPr sz="9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23"/>
          <p:cNvSpPr/>
          <p:nvPr/>
        </p:nvSpPr>
        <p:spPr>
          <a:xfrm>
            <a:off x="1828800" y="3465576"/>
            <a:ext cx="438912" cy="438912"/>
          </a:xfrm>
          <a:prstGeom prst="roundRect">
            <a:avLst>
              <a:gd name="adj" fmla="val 4167"/>
            </a:avLst>
          </a:prstGeom>
          <a:solidFill>
            <a:srgbClr val="E7F0F7"/>
          </a:solidFill>
          <a:ln w="1270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23"/>
          <p:cNvSpPr/>
          <p:nvPr/>
        </p:nvSpPr>
        <p:spPr>
          <a:xfrm>
            <a:off x="2350008" y="3465576"/>
            <a:ext cx="438912" cy="438912"/>
          </a:xfrm>
          <a:prstGeom prst="roundRect">
            <a:avLst>
              <a:gd name="adj" fmla="val 4167"/>
            </a:avLst>
          </a:prstGeom>
          <a:solidFill>
            <a:srgbClr val="E7F0F7"/>
          </a:solidFill>
          <a:ln w="1270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23"/>
          <p:cNvSpPr/>
          <p:nvPr/>
        </p:nvSpPr>
        <p:spPr>
          <a:xfrm>
            <a:off x="731520" y="425196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pass 5</a:t>
            </a:r>
            <a:endParaRPr sz="9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23"/>
          <p:cNvSpPr/>
          <p:nvPr/>
        </p:nvSpPr>
        <p:spPr>
          <a:xfrm>
            <a:off x="1828800" y="4133088"/>
            <a:ext cx="438912" cy="438912"/>
          </a:xfrm>
          <a:prstGeom prst="roundRect">
            <a:avLst>
              <a:gd name="adj" fmla="val 4167"/>
            </a:avLst>
          </a:prstGeom>
          <a:solidFill>
            <a:srgbClr val="DCEFE8"/>
          </a:solidFill>
          <a:ln w="1270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23"/>
          <p:cNvSpPr/>
          <p:nvPr/>
        </p:nvSpPr>
        <p:spPr>
          <a:xfrm>
            <a:off x="1645920" y="507492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5 + 4 + 3 + 2 + 1 = 15 cells</a:t>
            </a:r>
            <a:endParaRPr sz="13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9" name="Google Shape;759;p2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0" y="1874520"/>
            <a:ext cx="411480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23"/>
          <p:cNvSpPr/>
          <p:nvPr/>
        </p:nvSpPr>
        <p:spPr>
          <a:xfrm>
            <a:off x="6583680" y="3246120"/>
            <a:ext cx="406908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23"/>
          <p:cNvSpPr/>
          <p:nvPr/>
        </p:nvSpPr>
        <p:spPr>
          <a:xfrm>
            <a:off x="6748272" y="3401568"/>
            <a:ext cx="438912" cy="438912"/>
          </a:xfrm>
          <a:prstGeom prst="ellipse">
            <a:avLst/>
          </a:prstGeom>
          <a:solidFill>
            <a:srgbClr val="F7EACB"/>
          </a:solidFill>
          <a:ln w="12700" cap="flat" cmpd="sng">
            <a:solidFill>
              <a:srgbClr val="F7EA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p23"/>
          <p:cNvSpPr/>
          <p:nvPr/>
        </p:nvSpPr>
        <p:spPr>
          <a:xfrm>
            <a:off x="6748272" y="350215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△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23"/>
          <p:cNvSpPr/>
          <p:nvPr/>
        </p:nvSpPr>
        <p:spPr>
          <a:xfrm>
            <a:off x="7296912" y="3410712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Geometric interpretation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23"/>
          <p:cNvSpPr/>
          <p:nvPr/>
        </p:nvSpPr>
        <p:spPr>
          <a:xfrm>
            <a:off x="6784848" y="3803904"/>
            <a:ext cx="3666744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40"/>
              <a:buFont typeface="Arial"/>
              <a:buNone/>
            </a:pPr>
            <a:r>
              <a:rPr lang="en-US" sz="124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The inner-loop work fills half of an n × n comparison grid, up to lower-order terms.</a:t>
            </a:r>
            <a:endParaRPr sz="124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23"/>
          <p:cNvSpPr txBox="1">
            <a:spLocks noGrp="1"/>
          </p:cNvSpPr>
          <p:nvPr>
            <p:ph type="sldNum" idx="4294967295"/>
          </p:nvPr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820" b="0" i="0" u="none" strike="noStrike" cap="none">
              <a:solidFill>
                <a:srgbClr val="68798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24"/>
          <p:cNvSpPr/>
          <p:nvPr/>
        </p:nvSpPr>
        <p:spPr>
          <a:xfrm>
            <a:off x="566928" y="3657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2450"/>
              <a:buFont typeface="Arial"/>
              <a:buNone/>
            </a:pPr>
            <a:r>
              <a:rPr lang="en-US" sz="24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Best, average and worst case are all quadratic</a:t>
            </a:r>
            <a:endParaRPr sz="2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24"/>
          <p:cNvSpPr/>
          <p:nvPr/>
        </p:nvSpPr>
        <p:spPr>
          <a:xfrm>
            <a:off x="585216" y="859536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0"/>
              <a:buFont typeface="Arial"/>
              <a:buNone/>
            </a:pPr>
            <a:r>
              <a:rPr lang="en-US" sz="11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Input order changes swap behavior, but not the number of comparisons.</a:t>
            </a:r>
            <a:endParaRPr sz="11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24"/>
          <p:cNvSpPr/>
          <p:nvPr/>
        </p:nvSpPr>
        <p:spPr>
          <a:xfrm>
            <a:off x="9555480" y="384048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24"/>
          <p:cNvSpPr/>
          <p:nvPr/>
        </p:nvSpPr>
        <p:spPr>
          <a:xfrm>
            <a:off x="9601200" y="448056"/>
            <a:ext cx="1874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594A"/>
              </a:buClr>
              <a:buSzPts val="810"/>
              <a:buFont typeface="Arial"/>
              <a:buNone/>
            </a:pPr>
            <a:r>
              <a:rPr lang="en-US" sz="810" b="1" i="0" u="none" strike="noStrike" cap="none">
                <a:solidFill>
                  <a:srgbClr val="22594A"/>
                </a:solidFill>
                <a:latin typeface="Arial"/>
                <a:ea typeface="Arial"/>
                <a:cs typeface="Arial"/>
                <a:sym typeface="Arial"/>
              </a:rPr>
              <a:t>COMPLEXITY</a:t>
            </a:r>
            <a:endParaRPr sz="81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75" name="Google Shape;775;p24"/>
          <p:cNvGraphicFramePr/>
          <p:nvPr/>
        </p:nvGraphicFramePr>
        <p:xfrm>
          <a:off x="914400" y="1417320"/>
          <a:ext cx="9326900" cy="2633500"/>
        </p:xfrm>
        <a:graphic>
          <a:graphicData uri="http://schemas.openxmlformats.org/drawingml/2006/table">
            <a:tbl>
              <a:tblPr>
                <a:noFill/>
                <a:tableStyleId>{FDDDD6F2-6D25-4F1F-8424-BA251BA45641}</a:tableStyleId>
              </a:tblPr>
              <a:tblGrid>
                <a:gridCol w="146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strike="noStrike" cap="none">
                          <a:solidFill>
                            <a:srgbClr val="20313B"/>
                          </a:solidFill>
                        </a:rPr>
                        <a:t>Case</a:t>
                      </a:r>
                      <a:endParaRPr sz="1250" u="none" strike="noStrike" cap="none"/>
                    </a:p>
                  </a:txBody>
                  <a:tcPr marL="91450" marR="91450" marT="91450" marB="914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strike="noStrike" cap="none">
                          <a:solidFill>
                            <a:srgbClr val="20313B"/>
                          </a:solidFill>
                        </a:rPr>
                        <a:t>Input pattern</a:t>
                      </a:r>
                      <a:endParaRPr sz="1250" u="none" strike="noStrike" cap="none"/>
                    </a:p>
                  </a:txBody>
                  <a:tcPr marL="91450" marR="91450" marT="91450" marB="914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strike="noStrike" cap="none">
                          <a:solidFill>
                            <a:srgbClr val="20313B"/>
                          </a:solidFill>
                        </a:rPr>
                        <a:t>Comparisons</a:t>
                      </a:r>
                      <a:endParaRPr sz="1250" u="none" strike="noStrike" cap="none"/>
                    </a:p>
                  </a:txBody>
                  <a:tcPr marL="91450" marR="91450" marT="91450" marB="914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strike="noStrike" cap="none">
                          <a:solidFill>
                            <a:srgbClr val="20313B"/>
                          </a:solidFill>
                        </a:rPr>
                        <a:t>Asymptotic time</a:t>
                      </a:r>
                      <a:endParaRPr sz="1250" u="none" strike="noStrike" cap="none"/>
                    </a:p>
                  </a:txBody>
                  <a:tcPr marL="91450" marR="91450" marT="91450" marB="914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strike="noStrike" cap="none">
                          <a:solidFill>
                            <a:srgbClr val="20313B"/>
                          </a:solidFill>
                        </a:rPr>
                        <a:t>Best</a:t>
                      </a:r>
                      <a:endParaRPr sz="1250" u="none" strike="noStrike" cap="none"/>
                    </a:p>
                  </a:txBody>
                  <a:tcPr marL="91450" marR="91450" marT="91450" marB="914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strike="noStrike" cap="none">
                          <a:solidFill>
                            <a:srgbClr val="20313B"/>
                          </a:solidFill>
                        </a:rPr>
                        <a:t>already sorted</a:t>
                      </a:r>
                      <a:endParaRPr sz="1250" u="none" strike="noStrike" cap="none"/>
                    </a:p>
                  </a:txBody>
                  <a:tcPr marL="91450" marR="91450" marT="91450" marB="914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strike="noStrike" cap="none">
                          <a:solidFill>
                            <a:srgbClr val="20313B"/>
                          </a:solidFill>
                        </a:rPr>
                        <a:t>n(n−1)/2</a:t>
                      </a:r>
                      <a:endParaRPr sz="1250" u="none" strike="noStrike" cap="none"/>
                    </a:p>
                  </a:txBody>
                  <a:tcPr marL="91450" marR="91450" marT="91450" marB="914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strike="noStrike" cap="none">
                          <a:solidFill>
                            <a:srgbClr val="20313B"/>
                          </a:solidFill>
                        </a:rPr>
                        <a:t>Θ(n²)</a:t>
                      </a:r>
                      <a:endParaRPr sz="1250" u="none" strike="noStrike" cap="none"/>
                    </a:p>
                  </a:txBody>
                  <a:tcPr marL="91450" marR="91450" marT="91450" marB="914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strike="noStrike" cap="none">
                          <a:solidFill>
                            <a:srgbClr val="20313B"/>
                          </a:solidFill>
                        </a:rPr>
                        <a:t>Average</a:t>
                      </a:r>
                      <a:endParaRPr sz="1250" u="none" strike="noStrike" cap="none"/>
                    </a:p>
                  </a:txBody>
                  <a:tcPr marL="91450" marR="91450" marT="91450" marB="914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strike="noStrike" cap="none">
                          <a:solidFill>
                            <a:srgbClr val="20313B"/>
                          </a:solidFill>
                        </a:rPr>
                        <a:t>random order</a:t>
                      </a:r>
                      <a:endParaRPr sz="1250" u="none" strike="noStrike" cap="none"/>
                    </a:p>
                  </a:txBody>
                  <a:tcPr marL="91450" marR="91450" marT="91450" marB="914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strike="noStrike" cap="none">
                          <a:solidFill>
                            <a:srgbClr val="20313B"/>
                          </a:solidFill>
                        </a:rPr>
                        <a:t>n(n−1)/2</a:t>
                      </a:r>
                      <a:endParaRPr sz="1250" u="none" strike="noStrike" cap="none"/>
                    </a:p>
                  </a:txBody>
                  <a:tcPr marL="91450" marR="91450" marT="91450" marB="914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strike="noStrike" cap="none">
                          <a:solidFill>
                            <a:srgbClr val="20313B"/>
                          </a:solidFill>
                        </a:rPr>
                        <a:t>Θ(n²)</a:t>
                      </a:r>
                      <a:endParaRPr sz="1250" u="none" strike="noStrike" cap="none"/>
                    </a:p>
                  </a:txBody>
                  <a:tcPr marL="91450" marR="91450" marT="91450" marB="914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strike="noStrike" cap="none">
                          <a:solidFill>
                            <a:srgbClr val="20313B"/>
                          </a:solidFill>
                        </a:rPr>
                        <a:t>Worst</a:t>
                      </a:r>
                      <a:endParaRPr sz="1250" u="none" strike="noStrike" cap="none"/>
                    </a:p>
                  </a:txBody>
                  <a:tcPr marL="91450" marR="91450" marT="91450" marB="914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strike="noStrike" cap="none">
                          <a:solidFill>
                            <a:srgbClr val="20313B"/>
                          </a:solidFill>
                        </a:rPr>
                        <a:t>any difficult order</a:t>
                      </a:r>
                      <a:endParaRPr sz="1250" u="none" strike="noStrike" cap="none"/>
                    </a:p>
                  </a:txBody>
                  <a:tcPr marL="91450" marR="91450" marT="91450" marB="914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strike="noStrike" cap="none">
                          <a:solidFill>
                            <a:srgbClr val="20313B"/>
                          </a:solidFill>
                        </a:rPr>
                        <a:t>n(n−1)/2</a:t>
                      </a:r>
                      <a:endParaRPr sz="1250" u="none" strike="noStrike" cap="none"/>
                    </a:p>
                  </a:txBody>
                  <a:tcPr marL="91450" marR="91450" marT="91450" marB="914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strike="noStrike" cap="none">
                          <a:solidFill>
                            <a:srgbClr val="20313B"/>
                          </a:solidFill>
                        </a:rPr>
                        <a:t>Θ(n²)</a:t>
                      </a:r>
                      <a:endParaRPr sz="1250" u="none" strike="noStrike" cap="none"/>
                    </a:p>
                  </a:txBody>
                  <a:tcPr marL="91450" marR="91450" marT="91450" marB="914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76" name="Google Shape;776;p24"/>
          <p:cNvSpPr/>
          <p:nvPr/>
        </p:nvSpPr>
        <p:spPr>
          <a:xfrm>
            <a:off x="914400" y="1417320"/>
            <a:ext cx="10332720" cy="658368"/>
          </a:xfrm>
          <a:prstGeom prst="rect">
            <a:avLst/>
          </a:prstGeom>
          <a:solidFill>
            <a:srgbClr val="173F35"/>
          </a:solidFill>
          <a:ln w="12700" cap="flat" cmpd="sng">
            <a:solidFill>
              <a:srgbClr val="173F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24"/>
          <p:cNvSpPr/>
          <p:nvPr/>
        </p:nvSpPr>
        <p:spPr>
          <a:xfrm>
            <a:off x="914400" y="164592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Case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24"/>
          <p:cNvSpPr/>
          <p:nvPr/>
        </p:nvSpPr>
        <p:spPr>
          <a:xfrm>
            <a:off x="2377440" y="1645920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Input pattern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24"/>
          <p:cNvSpPr/>
          <p:nvPr/>
        </p:nvSpPr>
        <p:spPr>
          <a:xfrm>
            <a:off x="5120640" y="1645920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Comparisons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24"/>
          <p:cNvSpPr/>
          <p:nvPr/>
        </p:nvSpPr>
        <p:spPr>
          <a:xfrm>
            <a:off x="7863840" y="1645920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Asymptotic time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24"/>
          <p:cNvSpPr/>
          <p:nvPr/>
        </p:nvSpPr>
        <p:spPr>
          <a:xfrm>
            <a:off x="1325880" y="4937760"/>
            <a:ext cx="9509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1450"/>
              <a:buFont typeface="Arial"/>
              <a:buNone/>
            </a:pPr>
            <a:r>
              <a:rPr lang="en-US" sz="145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Key reason: the inner loop never uses “already sorted” as an early-stop condition.</a:t>
            </a:r>
            <a:endParaRPr sz="1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24"/>
          <p:cNvSpPr txBox="1">
            <a:spLocks noGrp="1"/>
          </p:cNvSpPr>
          <p:nvPr>
            <p:ph type="sldNum" idx="4294967295"/>
          </p:nvPr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820" b="0" i="0" u="none" strike="noStrike" cap="none">
              <a:solidFill>
                <a:srgbClr val="68798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25"/>
          <p:cNvSpPr/>
          <p:nvPr/>
        </p:nvSpPr>
        <p:spPr>
          <a:xfrm>
            <a:off x="566928" y="3657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2450"/>
              <a:buFont typeface="Arial"/>
              <a:buNone/>
            </a:pPr>
            <a:r>
              <a:rPr lang="en-US" sz="24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Swap analysis: Selection Sort moves data sparingly</a:t>
            </a:r>
            <a:endParaRPr sz="2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25"/>
          <p:cNvSpPr/>
          <p:nvPr/>
        </p:nvSpPr>
        <p:spPr>
          <a:xfrm>
            <a:off x="585216" y="859536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0"/>
              <a:buFont typeface="Arial"/>
              <a:buNone/>
            </a:pPr>
            <a:r>
              <a:rPr lang="en-US" sz="11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This is the algorithm’s most distinctive practical advantage.</a:t>
            </a:r>
            <a:endParaRPr sz="11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25"/>
          <p:cNvSpPr/>
          <p:nvPr/>
        </p:nvSpPr>
        <p:spPr>
          <a:xfrm>
            <a:off x="9555480" y="384048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1" name="Google Shape;791;p25"/>
          <p:cNvSpPr/>
          <p:nvPr/>
        </p:nvSpPr>
        <p:spPr>
          <a:xfrm>
            <a:off x="9601200" y="448056"/>
            <a:ext cx="1874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594A"/>
              </a:buClr>
              <a:buSzPts val="810"/>
              <a:buFont typeface="Arial"/>
              <a:buNone/>
            </a:pPr>
            <a:r>
              <a:rPr lang="en-US" sz="810" b="1" i="0" u="none" strike="noStrike" cap="none">
                <a:solidFill>
                  <a:srgbClr val="22594A"/>
                </a:solidFill>
                <a:latin typeface="Arial"/>
                <a:ea typeface="Arial"/>
                <a:cs typeface="Arial"/>
                <a:sym typeface="Arial"/>
              </a:rPr>
              <a:t>COST MODEL</a:t>
            </a:r>
            <a:endParaRPr sz="81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2" name="Google Shape;792;p2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1508760"/>
            <a:ext cx="2607276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25"/>
          <p:cNvSpPr/>
          <p:nvPr/>
        </p:nvSpPr>
        <p:spPr>
          <a:xfrm>
            <a:off x="822960" y="2606040"/>
            <a:ext cx="320040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4" name="Google Shape;794;p25"/>
          <p:cNvSpPr/>
          <p:nvPr/>
        </p:nvSpPr>
        <p:spPr>
          <a:xfrm>
            <a:off x="987552" y="2761488"/>
            <a:ext cx="438912" cy="438912"/>
          </a:xfrm>
          <a:prstGeom prst="ellipse">
            <a:avLst/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25"/>
          <p:cNvSpPr/>
          <p:nvPr/>
        </p:nvSpPr>
        <p:spPr>
          <a:xfrm>
            <a:off x="987552" y="286207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2E7D5B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25"/>
          <p:cNvSpPr/>
          <p:nvPr/>
        </p:nvSpPr>
        <p:spPr>
          <a:xfrm>
            <a:off x="1536192" y="2845063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Best swap count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25"/>
          <p:cNvSpPr/>
          <p:nvPr/>
        </p:nvSpPr>
        <p:spPr>
          <a:xfrm>
            <a:off x="1024128" y="3355847"/>
            <a:ext cx="2798064" cy="1043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70"/>
              <a:buFont typeface="Arial"/>
              <a:buNone/>
            </a:pPr>
            <a:r>
              <a:rPr lang="en-US" sz="127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0 swaps if the array is already sorted and self-swaps are skipped.</a:t>
            </a:r>
            <a:endParaRPr sz="127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25"/>
          <p:cNvSpPr/>
          <p:nvPr/>
        </p:nvSpPr>
        <p:spPr>
          <a:xfrm>
            <a:off x="4480560" y="2606040"/>
            <a:ext cx="320040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25"/>
          <p:cNvSpPr/>
          <p:nvPr/>
        </p:nvSpPr>
        <p:spPr>
          <a:xfrm>
            <a:off x="4645152" y="2761488"/>
            <a:ext cx="438912" cy="438912"/>
          </a:xfrm>
          <a:prstGeom prst="ellipse">
            <a:avLst/>
          </a:prstGeom>
          <a:solidFill>
            <a:srgbClr val="F7EACB"/>
          </a:solidFill>
          <a:ln w="12700" cap="flat" cmpd="sng">
            <a:solidFill>
              <a:srgbClr val="F7EA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25"/>
          <p:cNvSpPr/>
          <p:nvPr/>
        </p:nvSpPr>
        <p:spPr>
          <a:xfrm>
            <a:off x="4645152" y="286207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n−1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25"/>
          <p:cNvSpPr/>
          <p:nvPr/>
        </p:nvSpPr>
        <p:spPr>
          <a:xfrm>
            <a:off x="5193792" y="2845063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Maximum swaps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25"/>
          <p:cNvSpPr/>
          <p:nvPr/>
        </p:nvSpPr>
        <p:spPr>
          <a:xfrm>
            <a:off x="4681728" y="3355847"/>
            <a:ext cx="2798064" cy="104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70"/>
              <a:buFont typeface="Arial"/>
              <a:buNone/>
            </a:pPr>
            <a:r>
              <a:rPr lang="en-US" sz="127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At most one exchange per outer pass → n − 1 exchanges.</a:t>
            </a:r>
            <a:endParaRPr sz="127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25"/>
          <p:cNvSpPr/>
          <p:nvPr/>
        </p:nvSpPr>
        <p:spPr>
          <a:xfrm>
            <a:off x="8138160" y="2606040"/>
            <a:ext cx="320040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4" name="Google Shape;804;p25"/>
          <p:cNvSpPr/>
          <p:nvPr/>
        </p:nvSpPr>
        <p:spPr>
          <a:xfrm>
            <a:off x="8302752" y="2761488"/>
            <a:ext cx="438912" cy="438912"/>
          </a:xfrm>
          <a:prstGeom prst="ellipse">
            <a:avLst/>
          </a:prstGeom>
          <a:solidFill>
            <a:srgbClr val="E7F0F7"/>
          </a:solidFill>
          <a:ln w="12700" cap="flat" cmpd="sng">
            <a:solidFill>
              <a:srgbClr val="E7F0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25"/>
          <p:cNvSpPr/>
          <p:nvPr/>
        </p:nvSpPr>
        <p:spPr>
          <a:xfrm>
            <a:off x="8302752" y="286207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6F9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2F6F9F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25"/>
          <p:cNvSpPr/>
          <p:nvPr/>
        </p:nvSpPr>
        <p:spPr>
          <a:xfrm>
            <a:off x="8851392" y="2845063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Why it matters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25"/>
          <p:cNvSpPr/>
          <p:nvPr/>
        </p:nvSpPr>
        <p:spPr>
          <a:xfrm>
            <a:off x="8339328" y="3355847"/>
            <a:ext cx="2798064" cy="1043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70"/>
              <a:buFont typeface="Arial"/>
              <a:buNone/>
            </a:pPr>
            <a:r>
              <a:rPr lang="en-US" sz="127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If writing a record is expensive, minimizing data movement can outweigh extra comparisons.</a:t>
            </a:r>
            <a:endParaRPr sz="127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25"/>
          <p:cNvSpPr/>
          <p:nvPr/>
        </p:nvSpPr>
        <p:spPr>
          <a:xfrm>
            <a:off x="1143000" y="516636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For large records, implementations often sort references/pointers rather than copying whole records.</a:t>
            </a:r>
            <a:endParaRPr sz="13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25"/>
          <p:cNvSpPr txBox="1">
            <a:spLocks noGrp="1"/>
          </p:cNvSpPr>
          <p:nvPr>
            <p:ph type="sldNum" idx="4294967295"/>
          </p:nvPr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820" b="0" i="0" u="none" strike="noStrike" cap="none">
              <a:solidFill>
                <a:srgbClr val="68798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26"/>
          <p:cNvSpPr/>
          <p:nvPr/>
        </p:nvSpPr>
        <p:spPr>
          <a:xfrm>
            <a:off x="566928" y="3657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2450"/>
              <a:buFont typeface="Arial"/>
              <a:buNone/>
            </a:pPr>
            <a:r>
              <a:rPr lang="en-US" sz="24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A finer cost model: comparisons vs data writes</a:t>
            </a:r>
            <a:endParaRPr sz="2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26"/>
          <p:cNvSpPr/>
          <p:nvPr/>
        </p:nvSpPr>
        <p:spPr>
          <a:xfrm>
            <a:off x="585216" y="859536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0"/>
              <a:buFont typeface="Arial"/>
              <a:buNone/>
            </a:pPr>
            <a:r>
              <a:rPr lang="en-US" sz="11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Big-O alone hides the fact that different primitive operations may have very different costs.</a:t>
            </a:r>
            <a:endParaRPr sz="11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26"/>
          <p:cNvSpPr/>
          <p:nvPr/>
        </p:nvSpPr>
        <p:spPr>
          <a:xfrm>
            <a:off x="9555480" y="384048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8" name="Google Shape;818;p26"/>
          <p:cNvSpPr/>
          <p:nvPr/>
        </p:nvSpPr>
        <p:spPr>
          <a:xfrm>
            <a:off x="9601200" y="448056"/>
            <a:ext cx="1874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594A"/>
              </a:buClr>
              <a:buSzPts val="810"/>
              <a:buFont typeface="Arial"/>
              <a:buNone/>
            </a:pPr>
            <a:r>
              <a:rPr lang="en-US" sz="810" b="1" i="0" u="none" strike="noStrike" cap="none">
                <a:solidFill>
                  <a:srgbClr val="22594A"/>
                </a:solidFill>
                <a:latin typeface="Arial"/>
                <a:ea typeface="Arial"/>
                <a:cs typeface="Arial"/>
                <a:sym typeface="Arial"/>
              </a:rPr>
              <a:t>COST MODEL</a:t>
            </a:r>
            <a:endParaRPr sz="81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26"/>
          <p:cNvSpPr/>
          <p:nvPr/>
        </p:nvSpPr>
        <p:spPr>
          <a:xfrm>
            <a:off x="822960" y="1417320"/>
            <a:ext cx="4937760" cy="4160520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0" name="Google Shape;820;p26"/>
          <p:cNvSpPr/>
          <p:nvPr/>
        </p:nvSpPr>
        <p:spPr>
          <a:xfrm>
            <a:off x="987552" y="1572768"/>
            <a:ext cx="438912" cy="438912"/>
          </a:xfrm>
          <a:prstGeom prst="ellipse">
            <a:avLst/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1" name="Google Shape;821;p26"/>
          <p:cNvSpPr/>
          <p:nvPr/>
        </p:nvSpPr>
        <p:spPr>
          <a:xfrm>
            <a:off x="987552" y="167335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26"/>
          <p:cNvSpPr/>
          <p:nvPr/>
        </p:nvSpPr>
        <p:spPr>
          <a:xfrm>
            <a:off x="1536192" y="1581912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Comparisons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26"/>
          <p:cNvSpPr/>
          <p:nvPr/>
        </p:nvSpPr>
        <p:spPr>
          <a:xfrm>
            <a:off x="1024128" y="1975104"/>
            <a:ext cx="4535424" cy="3447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320"/>
              <a:buFont typeface="Arial"/>
              <a:buNone/>
            </a:pPr>
            <a:endParaRPr lang="en-US" sz="1320" b="0" i="0" u="none" strike="noStrike" cap="none" dirty="0">
              <a:solidFill>
                <a:srgbClr val="2031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320"/>
              <a:buFont typeface="Arial"/>
              <a:buNone/>
            </a:pPr>
            <a:r>
              <a:rPr lang="en-US" sz="132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Exactly n(n−1)/2 key comparisons. This dominates CPU work for large n.</a:t>
            </a:r>
            <a:endParaRPr sz="132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26"/>
          <p:cNvSpPr/>
          <p:nvPr/>
        </p:nvSpPr>
        <p:spPr>
          <a:xfrm>
            <a:off x="6400800" y="1417320"/>
            <a:ext cx="4937760" cy="4160520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26"/>
          <p:cNvSpPr/>
          <p:nvPr/>
        </p:nvSpPr>
        <p:spPr>
          <a:xfrm>
            <a:off x="6565392" y="1572768"/>
            <a:ext cx="438912" cy="438912"/>
          </a:xfrm>
          <a:prstGeom prst="ellipse">
            <a:avLst/>
          </a:prstGeom>
          <a:solidFill>
            <a:srgbClr val="F7EACB"/>
          </a:solidFill>
          <a:ln w="12700" cap="flat" cmpd="sng">
            <a:solidFill>
              <a:srgbClr val="F7EA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26"/>
          <p:cNvSpPr/>
          <p:nvPr/>
        </p:nvSpPr>
        <p:spPr>
          <a:xfrm>
            <a:off x="6565392" y="167335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26"/>
          <p:cNvSpPr/>
          <p:nvPr/>
        </p:nvSpPr>
        <p:spPr>
          <a:xfrm>
            <a:off x="7114032" y="1581912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Writes / assignments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26"/>
          <p:cNvSpPr/>
          <p:nvPr/>
        </p:nvSpPr>
        <p:spPr>
          <a:xfrm>
            <a:off x="6601968" y="1975104"/>
            <a:ext cx="4535424" cy="3447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320"/>
              <a:buFont typeface="Arial"/>
              <a:buNone/>
            </a:pPr>
            <a:endParaRPr lang="en-US" sz="1320" b="0" i="0" u="none" strike="noStrike" cap="none" dirty="0">
              <a:solidFill>
                <a:srgbClr val="2031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320"/>
              <a:buFont typeface="Arial"/>
              <a:buNone/>
            </a:pPr>
            <a:r>
              <a:rPr lang="en-US" sz="132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A conventional three-assignment swap costs roughly 3 writes, and there are at most n−1 swaps.</a:t>
            </a:r>
            <a:endParaRPr sz="132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9" name="Google Shape;829;p2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8437" y="3886200"/>
            <a:ext cx="3802203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2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14032" y="3886200"/>
            <a:ext cx="3355848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26"/>
          <p:cNvSpPr/>
          <p:nvPr/>
        </p:nvSpPr>
        <p:spPr>
          <a:xfrm>
            <a:off x="1417320" y="5797296"/>
            <a:ext cx="9326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This asymmetry explains why Selection Sort is sometimes discussed when write cost is constrained.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26"/>
          <p:cNvSpPr txBox="1">
            <a:spLocks noGrp="1"/>
          </p:cNvSpPr>
          <p:nvPr>
            <p:ph type="sldNum" idx="4294967295"/>
          </p:nvPr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820" b="0" i="0" u="none" strike="noStrike" cap="none">
              <a:solidFill>
                <a:srgbClr val="68798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27"/>
          <p:cNvSpPr/>
          <p:nvPr/>
        </p:nvSpPr>
        <p:spPr>
          <a:xfrm>
            <a:off x="566928" y="3657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2450"/>
              <a:buFont typeface="Arial"/>
              <a:buNone/>
            </a:pPr>
            <a:r>
              <a:rPr lang="en-US" sz="24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Space complexity and in-place behavior</a:t>
            </a:r>
            <a:endParaRPr sz="2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27"/>
          <p:cNvSpPr/>
          <p:nvPr/>
        </p:nvSpPr>
        <p:spPr>
          <a:xfrm>
            <a:off x="585216" y="859536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0"/>
              <a:buFont typeface="Arial"/>
              <a:buNone/>
            </a:pPr>
            <a:r>
              <a:rPr lang="en-US" sz="11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The algorithm rearranges elements inside the original array.</a:t>
            </a:r>
            <a:endParaRPr sz="11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27"/>
          <p:cNvSpPr/>
          <p:nvPr/>
        </p:nvSpPr>
        <p:spPr>
          <a:xfrm>
            <a:off x="9555480" y="384048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27"/>
          <p:cNvSpPr/>
          <p:nvPr/>
        </p:nvSpPr>
        <p:spPr>
          <a:xfrm>
            <a:off x="9601200" y="448056"/>
            <a:ext cx="1874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594A"/>
              </a:buClr>
              <a:buSzPts val="810"/>
              <a:buFont typeface="Arial"/>
              <a:buNone/>
            </a:pPr>
            <a:r>
              <a:rPr lang="en-US" sz="810" b="1" i="0" u="none" strike="noStrike" cap="none">
                <a:solidFill>
                  <a:srgbClr val="22594A"/>
                </a:solidFill>
                <a:latin typeface="Arial"/>
                <a:ea typeface="Arial"/>
                <a:cs typeface="Arial"/>
                <a:sym typeface="Arial"/>
              </a:rPr>
              <a:t>MEMORY</a:t>
            </a:r>
            <a:endParaRPr sz="81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2" name="Google Shape;842;p2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94760" y="1508760"/>
            <a:ext cx="457200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27"/>
          <p:cNvSpPr/>
          <p:nvPr/>
        </p:nvSpPr>
        <p:spPr>
          <a:xfrm>
            <a:off x="1005840" y="2834640"/>
            <a:ext cx="301752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4" name="Google Shape;844;p27"/>
          <p:cNvSpPr/>
          <p:nvPr/>
        </p:nvSpPr>
        <p:spPr>
          <a:xfrm>
            <a:off x="1170432" y="2990088"/>
            <a:ext cx="438912" cy="438912"/>
          </a:xfrm>
          <a:prstGeom prst="ellipse">
            <a:avLst/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5" name="Google Shape;845;p27"/>
          <p:cNvSpPr/>
          <p:nvPr/>
        </p:nvSpPr>
        <p:spPr>
          <a:xfrm>
            <a:off x="1170432" y="309067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27"/>
          <p:cNvSpPr/>
          <p:nvPr/>
        </p:nvSpPr>
        <p:spPr>
          <a:xfrm>
            <a:off x="1719072" y="299923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Stored state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27"/>
          <p:cNvSpPr/>
          <p:nvPr/>
        </p:nvSpPr>
        <p:spPr>
          <a:xfrm>
            <a:off x="1207008" y="3392424"/>
            <a:ext cx="2615184" cy="111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i, j, minIndex and one temporary variable.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27"/>
          <p:cNvSpPr/>
          <p:nvPr/>
        </p:nvSpPr>
        <p:spPr>
          <a:xfrm>
            <a:off x="4572000" y="2834640"/>
            <a:ext cx="301752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9" name="Google Shape;849;p27"/>
          <p:cNvSpPr/>
          <p:nvPr/>
        </p:nvSpPr>
        <p:spPr>
          <a:xfrm>
            <a:off x="4736592" y="2990088"/>
            <a:ext cx="438912" cy="438912"/>
          </a:xfrm>
          <a:prstGeom prst="ellipse">
            <a:avLst/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0" name="Google Shape;850;p27"/>
          <p:cNvSpPr/>
          <p:nvPr/>
        </p:nvSpPr>
        <p:spPr>
          <a:xfrm>
            <a:off x="4736592" y="309067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2E7D5B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27"/>
          <p:cNvSpPr/>
          <p:nvPr/>
        </p:nvSpPr>
        <p:spPr>
          <a:xfrm>
            <a:off x="5285232" y="299923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No second array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27"/>
          <p:cNvSpPr/>
          <p:nvPr/>
        </p:nvSpPr>
        <p:spPr>
          <a:xfrm>
            <a:off x="4773168" y="3392424"/>
            <a:ext cx="2615184" cy="111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The input array itself is the workspace.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27"/>
          <p:cNvSpPr/>
          <p:nvPr/>
        </p:nvSpPr>
        <p:spPr>
          <a:xfrm>
            <a:off x="8138160" y="2834640"/>
            <a:ext cx="301752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27"/>
          <p:cNvSpPr/>
          <p:nvPr/>
        </p:nvSpPr>
        <p:spPr>
          <a:xfrm>
            <a:off x="8302752" y="2990088"/>
            <a:ext cx="438912" cy="438912"/>
          </a:xfrm>
          <a:prstGeom prst="ellipse">
            <a:avLst/>
          </a:prstGeom>
          <a:solidFill>
            <a:srgbClr val="F7EACB"/>
          </a:solidFill>
          <a:ln w="12700" cap="flat" cmpd="sng">
            <a:solidFill>
              <a:srgbClr val="F7EA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5" name="Google Shape;855;p27"/>
          <p:cNvSpPr/>
          <p:nvPr/>
        </p:nvSpPr>
        <p:spPr>
          <a:xfrm>
            <a:off x="8302752" y="309067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O(1)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27"/>
          <p:cNvSpPr/>
          <p:nvPr/>
        </p:nvSpPr>
        <p:spPr>
          <a:xfrm>
            <a:off x="8851392" y="299923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Meaning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27"/>
          <p:cNvSpPr/>
          <p:nvPr/>
        </p:nvSpPr>
        <p:spPr>
          <a:xfrm>
            <a:off x="8339328" y="3392424"/>
            <a:ext cx="2615184" cy="111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Memory use does not grow with n.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27"/>
          <p:cNvSpPr txBox="1">
            <a:spLocks noGrp="1"/>
          </p:cNvSpPr>
          <p:nvPr>
            <p:ph type="sldNum" idx="4294967295"/>
          </p:nvPr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820" b="0" i="0" u="none" strike="noStrike" cap="none">
              <a:solidFill>
                <a:srgbClr val="68798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28"/>
          <p:cNvSpPr/>
          <p:nvPr/>
        </p:nvSpPr>
        <p:spPr>
          <a:xfrm>
            <a:off x="566928" y="3657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2450"/>
              <a:buFont typeface="Arial"/>
              <a:buNone/>
            </a:pPr>
            <a:r>
              <a:rPr lang="en-US" sz="24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Correctness proof: loop invariant</a:t>
            </a:r>
            <a:endParaRPr sz="2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28"/>
          <p:cNvSpPr/>
          <p:nvPr/>
        </p:nvSpPr>
        <p:spPr>
          <a:xfrm>
            <a:off x="585216" y="859536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0"/>
              <a:buFont typeface="Arial"/>
              <a:buNone/>
            </a:pPr>
            <a:r>
              <a:rPr lang="en-US" sz="11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A formal proof explains why every completed pass is safe and permanent.</a:t>
            </a:r>
            <a:endParaRPr sz="11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28"/>
          <p:cNvSpPr/>
          <p:nvPr/>
        </p:nvSpPr>
        <p:spPr>
          <a:xfrm>
            <a:off x="9555480" y="384048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7" name="Google Shape;867;p28"/>
          <p:cNvSpPr/>
          <p:nvPr/>
        </p:nvSpPr>
        <p:spPr>
          <a:xfrm>
            <a:off x="9601200" y="448056"/>
            <a:ext cx="1874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594A"/>
              </a:buClr>
              <a:buSzPts val="810"/>
              <a:buFont typeface="Arial"/>
              <a:buNone/>
            </a:pPr>
            <a:r>
              <a:rPr lang="en-US" sz="810" b="1" i="0" u="none" strike="noStrike" cap="none">
                <a:solidFill>
                  <a:srgbClr val="22594A"/>
                </a:solidFill>
                <a:latin typeface="Arial"/>
                <a:ea typeface="Arial"/>
                <a:cs typeface="Arial"/>
                <a:sym typeface="Arial"/>
              </a:rPr>
              <a:t>PROOF</a:t>
            </a:r>
            <a:endParaRPr sz="81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28"/>
          <p:cNvSpPr/>
          <p:nvPr/>
        </p:nvSpPr>
        <p:spPr>
          <a:xfrm>
            <a:off x="1005840" y="1417320"/>
            <a:ext cx="10149840" cy="868680"/>
          </a:xfrm>
          <a:prstGeom prst="roundRect">
            <a:avLst>
              <a:gd name="adj" fmla="val 5263"/>
            </a:avLst>
          </a:prstGeom>
          <a:solidFill>
            <a:srgbClr val="F7EACB"/>
          </a:solidFill>
          <a:ln w="12700" cap="flat" cmpd="sng">
            <a:solidFill>
              <a:srgbClr val="D6A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p28"/>
          <p:cNvSpPr/>
          <p:nvPr/>
        </p:nvSpPr>
        <p:spPr>
          <a:xfrm>
            <a:off x="1234440" y="1700784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430"/>
              <a:buFont typeface="Arial"/>
              <a:buNone/>
            </a:pPr>
            <a:r>
              <a:rPr lang="en-US" sz="143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Invariant before pass i: A[0 … i−1] contains the i smallest elements of the original array, in sorted order.</a:t>
            </a:r>
            <a:endParaRPr sz="14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28"/>
          <p:cNvSpPr/>
          <p:nvPr/>
        </p:nvSpPr>
        <p:spPr>
          <a:xfrm>
            <a:off x="822960" y="2788920"/>
            <a:ext cx="342900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1" name="Google Shape;871;p28"/>
          <p:cNvSpPr/>
          <p:nvPr/>
        </p:nvSpPr>
        <p:spPr>
          <a:xfrm>
            <a:off x="987552" y="2944368"/>
            <a:ext cx="438912" cy="438912"/>
          </a:xfrm>
          <a:prstGeom prst="ellipse">
            <a:avLst/>
          </a:prstGeom>
          <a:solidFill>
            <a:srgbClr val="E7F0F7"/>
          </a:solidFill>
          <a:ln w="12700" cap="flat" cmpd="sng">
            <a:solidFill>
              <a:srgbClr val="E7F0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2" name="Google Shape;872;p28"/>
          <p:cNvSpPr/>
          <p:nvPr/>
        </p:nvSpPr>
        <p:spPr>
          <a:xfrm>
            <a:off x="987552" y="304495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6F9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2F6F9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28"/>
          <p:cNvSpPr/>
          <p:nvPr/>
        </p:nvSpPr>
        <p:spPr>
          <a:xfrm>
            <a:off x="1536192" y="2953512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Initialization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28"/>
          <p:cNvSpPr/>
          <p:nvPr/>
        </p:nvSpPr>
        <p:spPr>
          <a:xfrm>
            <a:off x="1024128" y="3346704"/>
            <a:ext cx="3026664" cy="1618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30"/>
              <a:buFont typeface="Arial"/>
              <a:buNone/>
            </a:pPr>
            <a:endParaRPr lang="en-US" sz="1230" b="0" i="0" u="none" strike="noStrike" cap="none" dirty="0">
              <a:solidFill>
                <a:srgbClr val="2031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30"/>
              <a:buFont typeface="Arial"/>
              <a:buNone/>
            </a:pPr>
            <a:r>
              <a:rPr lang="en-US" sz="123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Before </a:t>
            </a:r>
            <a:r>
              <a:rPr lang="en-US" sz="1230" b="0" i="0" u="none" strike="noStrike" cap="none" dirty="0" err="1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23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 = 0, the prefix is empty. The claim is trivially true.</a:t>
            </a:r>
            <a:endParaRPr sz="123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28"/>
          <p:cNvSpPr/>
          <p:nvPr/>
        </p:nvSpPr>
        <p:spPr>
          <a:xfrm>
            <a:off x="4617720" y="2788920"/>
            <a:ext cx="342900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6" name="Google Shape;876;p28"/>
          <p:cNvSpPr/>
          <p:nvPr/>
        </p:nvSpPr>
        <p:spPr>
          <a:xfrm>
            <a:off x="4782312" y="2944368"/>
            <a:ext cx="438912" cy="438912"/>
          </a:xfrm>
          <a:prstGeom prst="ellipse">
            <a:avLst/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7" name="Google Shape;877;p28"/>
          <p:cNvSpPr/>
          <p:nvPr/>
        </p:nvSpPr>
        <p:spPr>
          <a:xfrm>
            <a:off x="4782312" y="304495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2E7D5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28"/>
          <p:cNvSpPr/>
          <p:nvPr/>
        </p:nvSpPr>
        <p:spPr>
          <a:xfrm>
            <a:off x="5330952" y="2953512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Maintenance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28"/>
          <p:cNvSpPr/>
          <p:nvPr/>
        </p:nvSpPr>
        <p:spPr>
          <a:xfrm>
            <a:off x="4818888" y="3346704"/>
            <a:ext cx="3026664" cy="1618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30"/>
              <a:buFont typeface="Arial"/>
              <a:buNone/>
            </a:pPr>
            <a:endParaRPr lang="en-US" sz="1230" b="0" i="0" u="none" strike="noStrike" cap="none" dirty="0">
              <a:solidFill>
                <a:srgbClr val="2031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30"/>
              <a:buFont typeface="Arial"/>
              <a:buNone/>
            </a:pPr>
            <a:r>
              <a:rPr lang="en-US" sz="123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The inner loop finds the minimum of A[</a:t>
            </a:r>
            <a:r>
              <a:rPr lang="en-US" sz="1230" b="0" i="0" u="none" strike="noStrike" cap="none" dirty="0" err="1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23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 … n−1]. Placing it at A[</a:t>
            </a:r>
            <a:r>
              <a:rPr lang="en-US" sz="1230" b="0" i="0" u="none" strike="noStrike" cap="none" dirty="0" err="1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23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] extends the correct prefix by one.</a:t>
            </a:r>
            <a:endParaRPr sz="123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28"/>
          <p:cNvSpPr/>
          <p:nvPr/>
        </p:nvSpPr>
        <p:spPr>
          <a:xfrm>
            <a:off x="8412480" y="2788920"/>
            <a:ext cx="342900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1" name="Google Shape;881;p28"/>
          <p:cNvSpPr/>
          <p:nvPr/>
        </p:nvSpPr>
        <p:spPr>
          <a:xfrm>
            <a:off x="8577072" y="2944368"/>
            <a:ext cx="438912" cy="438912"/>
          </a:xfrm>
          <a:prstGeom prst="ellipse">
            <a:avLst/>
          </a:prstGeom>
          <a:solidFill>
            <a:srgbClr val="E7F0F7"/>
          </a:solidFill>
          <a:ln w="12700" cap="flat" cmpd="sng">
            <a:solidFill>
              <a:srgbClr val="E7F0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2" name="Google Shape;882;p28"/>
          <p:cNvSpPr/>
          <p:nvPr/>
        </p:nvSpPr>
        <p:spPr>
          <a:xfrm>
            <a:off x="8577072" y="304495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6F9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2F6F9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28"/>
          <p:cNvSpPr/>
          <p:nvPr/>
        </p:nvSpPr>
        <p:spPr>
          <a:xfrm>
            <a:off x="9125712" y="2953512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Termination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28"/>
          <p:cNvSpPr/>
          <p:nvPr/>
        </p:nvSpPr>
        <p:spPr>
          <a:xfrm>
            <a:off x="8613648" y="3346704"/>
            <a:ext cx="3026664" cy="1618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30"/>
              <a:buFont typeface="Arial"/>
              <a:buNone/>
            </a:pPr>
            <a:endParaRPr lang="en-US" sz="1230" b="0" i="0" u="none" strike="noStrike" cap="none" dirty="0">
              <a:solidFill>
                <a:srgbClr val="2031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30"/>
              <a:buFont typeface="Arial"/>
              <a:buNone/>
            </a:pPr>
            <a:r>
              <a:rPr lang="en-US" sz="123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When </a:t>
            </a:r>
            <a:r>
              <a:rPr lang="en-US" sz="1230" b="0" i="0" u="none" strike="noStrike" cap="none" dirty="0" err="1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23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 reaches n−1, the first n−1 elements are the n−1 smallest in order; the last element must also be correct.</a:t>
            </a:r>
            <a:endParaRPr sz="123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28"/>
          <p:cNvSpPr txBox="1">
            <a:spLocks noGrp="1"/>
          </p:cNvSpPr>
          <p:nvPr>
            <p:ph type="sldNum" idx="4294967295"/>
          </p:nvPr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820" b="0" i="0" u="none" strike="noStrike" cap="none">
              <a:solidFill>
                <a:srgbClr val="68798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29"/>
          <p:cNvSpPr/>
          <p:nvPr/>
        </p:nvSpPr>
        <p:spPr>
          <a:xfrm>
            <a:off x="566928" y="3657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2450"/>
              <a:buFont typeface="Arial"/>
              <a:buNone/>
            </a:pPr>
            <a:r>
              <a:rPr lang="en-US" sz="24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Invariant visualized: why the next placement is final</a:t>
            </a:r>
            <a:endParaRPr sz="2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29"/>
          <p:cNvSpPr/>
          <p:nvPr/>
        </p:nvSpPr>
        <p:spPr>
          <a:xfrm>
            <a:off x="585216" y="859536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0"/>
              <a:buFont typeface="Arial"/>
              <a:buNone/>
            </a:pPr>
            <a:r>
              <a:rPr lang="en-US" sz="11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At the moment of exchange, the chosen minimum cannot belong anywhere to the right of i.</a:t>
            </a:r>
            <a:endParaRPr sz="11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29"/>
          <p:cNvSpPr/>
          <p:nvPr/>
        </p:nvSpPr>
        <p:spPr>
          <a:xfrm>
            <a:off x="9555480" y="384048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4" name="Google Shape;894;p29"/>
          <p:cNvSpPr/>
          <p:nvPr/>
        </p:nvSpPr>
        <p:spPr>
          <a:xfrm>
            <a:off x="9601200" y="448056"/>
            <a:ext cx="1874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594A"/>
              </a:buClr>
              <a:buSzPts val="810"/>
              <a:buFont typeface="Arial"/>
              <a:buNone/>
            </a:pPr>
            <a:r>
              <a:rPr lang="en-US" sz="810" b="1" i="0" u="none" strike="noStrike" cap="none">
                <a:solidFill>
                  <a:srgbClr val="22594A"/>
                </a:solidFill>
                <a:latin typeface="Arial"/>
                <a:ea typeface="Arial"/>
                <a:cs typeface="Arial"/>
                <a:sym typeface="Arial"/>
              </a:rPr>
              <a:t>PROOF</a:t>
            </a:r>
            <a:endParaRPr sz="81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29"/>
          <p:cNvSpPr/>
          <p:nvPr/>
        </p:nvSpPr>
        <p:spPr>
          <a:xfrm>
            <a:off x="868680" y="1920240"/>
            <a:ext cx="1668780" cy="786384"/>
          </a:xfrm>
          <a:prstGeom prst="roundRect">
            <a:avLst>
              <a:gd name="adj" fmla="val 2907"/>
            </a:avLst>
          </a:prstGeom>
          <a:solidFill>
            <a:srgbClr val="DCEFE8"/>
          </a:solidFill>
          <a:ln w="17775" cap="flat" cmpd="sng">
            <a:solidFill>
              <a:srgbClr val="2E7D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6" name="Google Shape;896;p29"/>
          <p:cNvSpPr/>
          <p:nvPr/>
        </p:nvSpPr>
        <p:spPr>
          <a:xfrm>
            <a:off x="868680" y="2101108"/>
            <a:ext cx="1668780" cy="27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29"/>
          <p:cNvSpPr/>
          <p:nvPr/>
        </p:nvSpPr>
        <p:spPr>
          <a:xfrm>
            <a:off x="868680" y="2770632"/>
            <a:ext cx="166878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29"/>
          <p:cNvSpPr/>
          <p:nvPr/>
        </p:nvSpPr>
        <p:spPr>
          <a:xfrm>
            <a:off x="2610612" y="1920240"/>
            <a:ext cx="1668780" cy="786384"/>
          </a:xfrm>
          <a:prstGeom prst="roundRect">
            <a:avLst>
              <a:gd name="adj" fmla="val 2907"/>
            </a:avLst>
          </a:prstGeom>
          <a:solidFill>
            <a:srgbClr val="DCEFE8"/>
          </a:solidFill>
          <a:ln w="17775" cap="flat" cmpd="sng">
            <a:solidFill>
              <a:srgbClr val="2E7D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9" name="Google Shape;899;p29"/>
          <p:cNvSpPr/>
          <p:nvPr/>
        </p:nvSpPr>
        <p:spPr>
          <a:xfrm>
            <a:off x="2610612" y="2101108"/>
            <a:ext cx="1668780" cy="27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29"/>
          <p:cNvSpPr/>
          <p:nvPr/>
        </p:nvSpPr>
        <p:spPr>
          <a:xfrm>
            <a:off x="2610612" y="2770632"/>
            <a:ext cx="166878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29"/>
          <p:cNvSpPr/>
          <p:nvPr/>
        </p:nvSpPr>
        <p:spPr>
          <a:xfrm>
            <a:off x="4352544" y="1920240"/>
            <a:ext cx="1668780" cy="786384"/>
          </a:xfrm>
          <a:prstGeom prst="roundRect">
            <a:avLst>
              <a:gd name="adj" fmla="val 2907"/>
            </a:avLst>
          </a:prstGeom>
          <a:solidFill>
            <a:srgbClr val="DCEFE8"/>
          </a:solidFill>
          <a:ln w="17775" cap="flat" cmpd="sng">
            <a:solidFill>
              <a:srgbClr val="2E7D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29"/>
          <p:cNvSpPr/>
          <p:nvPr/>
        </p:nvSpPr>
        <p:spPr>
          <a:xfrm>
            <a:off x="4352544" y="2101108"/>
            <a:ext cx="1668780" cy="27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29"/>
          <p:cNvSpPr/>
          <p:nvPr/>
        </p:nvSpPr>
        <p:spPr>
          <a:xfrm>
            <a:off x="4352544" y="2770632"/>
            <a:ext cx="166878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29"/>
          <p:cNvSpPr/>
          <p:nvPr/>
        </p:nvSpPr>
        <p:spPr>
          <a:xfrm>
            <a:off x="6094476" y="1920240"/>
            <a:ext cx="1668780" cy="786384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29"/>
          <p:cNvSpPr/>
          <p:nvPr/>
        </p:nvSpPr>
        <p:spPr>
          <a:xfrm>
            <a:off x="6094476" y="2101108"/>
            <a:ext cx="1668780" cy="27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37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29"/>
          <p:cNvSpPr/>
          <p:nvPr/>
        </p:nvSpPr>
        <p:spPr>
          <a:xfrm>
            <a:off x="6094476" y="2770632"/>
            <a:ext cx="166878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29"/>
          <p:cNvSpPr/>
          <p:nvPr/>
        </p:nvSpPr>
        <p:spPr>
          <a:xfrm>
            <a:off x="7836408" y="1920240"/>
            <a:ext cx="1668780" cy="786384"/>
          </a:xfrm>
          <a:prstGeom prst="roundRect">
            <a:avLst>
              <a:gd name="adj" fmla="val 2907"/>
            </a:avLst>
          </a:prstGeom>
          <a:solidFill>
            <a:srgbClr val="F7EACB"/>
          </a:solidFill>
          <a:ln w="17775" cap="flat" cmpd="sng">
            <a:solidFill>
              <a:srgbClr val="D6A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29"/>
          <p:cNvSpPr/>
          <p:nvPr/>
        </p:nvSpPr>
        <p:spPr>
          <a:xfrm>
            <a:off x="7836408" y="2101108"/>
            <a:ext cx="1668780" cy="27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29"/>
          <p:cNvSpPr/>
          <p:nvPr/>
        </p:nvSpPr>
        <p:spPr>
          <a:xfrm>
            <a:off x="7836408" y="2770632"/>
            <a:ext cx="166878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29"/>
          <p:cNvSpPr/>
          <p:nvPr/>
        </p:nvSpPr>
        <p:spPr>
          <a:xfrm>
            <a:off x="9578340" y="1920240"/>
            <a:ext cx="1668780" cy="786384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" name="Google Shape;911;p29"/>
          <p:cNvSpPr/>
          <p:nvPr/>
        </p:nvSpPr>
        <p:spPr>
          <a:xfrm>
            <a:off x="9578340" y="2101108"/>
            <a:ext cx="1668780" cy="27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29"/>
          <p:cNvSpPr/>
          <p:nvPr/>
        </p:nvSpPr>
        <p:spPr>
          <a:xfrm>
            <a:off x="9578340" y="2770632"/>
            <a:ext cx="166878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3" name="Google Shape;913;p29"/>
          <p:cNvCxnSpPr/>
          <p:nvPr/>
        </p:nvCxnSpPr>
        <p:spPr>
          <a:xfrm>
            <a:off x="868680" y="1783080"/>
            <a:ext cx="5152644" cy="0"/>
          </a:xfrm>
          <a:prstGeom prst="straightConnector1">
            <a:avLst/>
          </a:prstGeom>
          <a:noFill/>
          <a:ln w="29200" cap="flat" cmpd="sng">
            <a:solidFill>
              <a:srgbClr val="2E7D5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14" name="Google Shape;914;p29"/>
          <p:cNvSpPr/>
          <p:nvPr/>
        </p:nvSpPr>
        <p:spPr>
          <a:xfrm>
            <a:off x="868680" y="1527048"/>
            <a:ext cx="515264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2E7D5B"/>
                </a:solidFill>
                <a:latin typeface="Arial"/>
                <a:ea typeface="Arial"/>
                <a:cs typeface="Arial"/>
                <a:sym typeface="Arial"/>
              </a:rPr>
              <a:t>finalized prefix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29"/>
          <p:cNvSpPr/>
          <p:nvPr/>
        </p:nvSpPr>
        <p:spPr>
          <a:xfrm>
            <a:off x="868680" y="309067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230"/>
              <a:buFont typeface="Arial"/>
              <a:buNone/>
            </a:pPr>
            <a:r>
              <a:rPr lang="en-US" sz="1230" b="1" i="0" u="none" strike="noStrike" cap="none">
                <a:solidFill>
                  <a:srgbClr val="2E7D5B"/>
                </a:solidFill>
                <a:latin typeface="Arial"/>
                <a:ea typeface="Arial"/>
                <a:cs typeface="Arial"/>
                <a:sym typeface="Arial"/>
              </a:rPr>
              <a:t>Prefix contains the 3 smallest values</a:t>
            </a:r>
            <a:endParaRPr sz="12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29"/>
          <p:cNvSpPr/>
          <p:nvPr/>
        </p:nvSpPr>
        <p:spPr>
          <a:xfrm>
            <a:off x="6400800" y="309067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1230"/>
              <a:buFont typeface="Arial"/>
              <a:buNone/>
            </a:pPr>
            <a:r>
              <a:rPr lang="en-US" sz="123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Suffix minimum = 14</a:t>
            </a:r>
            <a:endParaRPr sz="12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7" name="Google Shape;917;p29"/>
          <p:cNvCxnSpPr/>
          <p:nvPr/>
        </p:nvCxnSpPr>
        <p:spPr>
          <a:xfrm rot="10800000">
            <a:off x="7543800" y="2788920"/>
            <a:ext cx="0" cy="228600"/>
          </a:xfrm>
          <a:prstGeom prst="straightConnector1">
            <a:avLst/>
          </a:prstGeom>
          <a:noFill/>
          <a:ln w="22850" cap="flat" cmpd="sng">
            <a:solidFill>
              <a:srgbClr val="B85C3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18" name="Google Shape;918;p29"/>
          <p:cNvSpPr/>
          <p:nvPr/>
        </p:nvSpPr>
        <p:spPr>
          <a:xfrm>
            <a:off x="1280160" y="4023360"/>
            <a:ext cx="9601200" cy="1005840"/>
          </a:xfrm>
          <a:prstGeom prst="roundRect">
            <a:avLst>
              <a:gd name="adj" fmla="val 4545"/>
            </a:avLst>
          </a:prstGeom>
          <a:solidFill>
            <a:srgbClr val="EDF7F3"/>
          </a:solidFill>
          <a:ln w="12700" cap="flat" cmpd="sng">
            <a:solidFill>
              <a:srgbClr val="2E7D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9" name="Google Shape;919;p29"/>
          <p:cNvSpPr/>
          <p:nvPr/>
        </p:nvSpPr>
        <p:spPr>
          <a:xfrm>
            <a:off x="1554480" y="4343400"/>
            <a:ext cx="90525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380"/>
              <a:buFont typeface="Arial"/>
              <a:buNone/>
            </a:pPr>
            <a:r>
              <a:rPr lang="en-US" sz="138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Since every suffix element is ≥ 14, moving 14 to the first suffix position preserves sorted order and fixes index 3 permanently.</a:t>
            </a:r>
            <a:endParaRPr sz="13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29"/>
          <p:cNvSpPr txBox="1">
            <a:spLocks noGrp="1"/>
          </p:cNvSpPr>
          <p:nvPr>
            <p:ph type="sldNum" idx="4294967295"/>
          </p:nvPr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820" b="0" i="0" u="none" strike="noStrike" cap="none">
              <a:solidFill>
                <a:srgbClr val="68798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30"/>
          <p:cNvSpPr/>
          <p:nvPr/>
        </p:nvSpPr>
        <p:spPr>
          <a:xfrm>
            <a:off x="566928" y="3657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2450"/>
              <a:buFont typeface="Arial"/>
              <a:buNone/>
            </a:pPr>
            <a:r>
              <a:rPr lang="en-US" sz="24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Stability: standard Selection Sort is not stable</a:t>
            </a:r>
            <a:endParaRPr sz="2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30"/>
          <p:cNvSpPr/>
          <p:nvPr/>
        </p:nvSpPr>
        <p:spPr>
          <a:xfrm>
            <a:off x="585216" y="859536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0"/>
              <a:buFont typeface="Arial"/>
              <a:buNone/>
            </a:pPr>
            <a:r>
              <a:rPr lang="en-US" sz="11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Equal keys can reverse their original relative order during a long-distance swap.</a:t>
            </a:r>
            <a:endParaRPr sz="11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30"/>
          <p:cNvSpPr/>
          <p:nvPr/>
        </p:nvSpPr>
        <p:spPr>
          <a:xfrm>
            <a:off x="9555480" y="384048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9" name="Google Shape;929;p30"/>
          <p:cNvSpPr/>
          <p:nvPr/>
        </p:nvSpPr>
        <p:spPr>
          <a:xfrm>
            <a:off x="9601200" y="448056"/>
            <a:ext cx="1874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594A"/>
              </a:buClr>
              <a:buSzPts val="810"/>
              <a:buFont typeface="Arial"/>
              <a:buNone/>
            </a:pPr>
            <a:r>
              <a:rPr lang="en-US" sz="810" b="1" i="0" u="none" strike="noStrike" cap="none">
                <a:solidFill>
                  <a:srgbClr val="22594A"/>
                </a:solidFill>
                <a:latin typeface="Arial"/>
                <a:ea typeface="Arial"/>
                <a:cs typeface="Arial"/>
                <a:sym typeface="Arial"/>
              </a:rPr>
              <a:t>PROPERTY</a:t>
            </a:r>
            <a:endParaRPr sz="81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30"/>
          <p:cNvSpPr/>
          <p:nvPr/>
        </p:nvSpPr>
        <p:spPr>
          <a:xfrm>
            <a:off x="914400" y="1325880"/>
            <a:ext cx="7498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Suppose records carry equal key 4 but different identities A and B.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30"/>
          <p:cNvSpPr/>
          <p:nvPr/>
        </p:nvSpPr>
        <p:spPr>
          <a:xfrm>
            <a:off x="1828800" y="1965960"/>
            <a:ext cx="1901952" cy="82296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2" name="Google Shape;932;p30"/>
          <p:cNvSpPr/>
          <p:nvPr/>
        </p:nvSpPr>
        <p:spPr>
          <a:xfrm>
            <a:off x="1828800" y="2155241"/>
            <a:ext cx="1901952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4A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30"/>
          <p:cNvSpPr/>
          <p:nvPr/>
        </p:nvSpPr>
        <p:spPr>
          <a:xfrm>
            <a:off x="3803904" y="1965960"/>
            <a:ext cx="1901952" cy="82296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4" name="Google Shape;934;p30"/>
          <p:cNvSpPr/>
          <p:nvPr/>
        </p:nvSpPr>
        <p:spPr>
          <a:xfrm>
            <a:off x="3803904" y="2155241"/>
            <a:ext cx="1901952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4B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30"/>
          <p:cNvSpPr/>
          <p:nvPr/>
        </p:nvSpPr>
        <p:spPr>
          <a:xfrm>
            <a:off x="5779008" y="1965960"/>
            <a:ext cx="1901952" cy="822960"/>
          </a:xfrm>
          <a:prstGeom prst="roundRect">
            <a:avLst>
              <a:gd name="adj" fmla="val 2778"/>
            </a:avLst>
          </a:prstGeom>
          <a:solidFill>
            <a:srgbClr val="F7EACB"/>
          </a:solidFill>
          <a:ln w="17775" cap="flat" cmpd="sng">
            <a:solidFill>
              <a:srgbClr val="D6A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6" name="Google Shape;936;p30"/>
          <p:cNvSpPr/>
          <p:nvPr/>
        </p:nvSpPr>
        <p:spPr>
          <a:xfrm>
            <a:off x="5779008" y="2155241"/>
            <a:ext cx="1901952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7" name="Google Shape;937;p30"/>
          <p:cNvCxnSpPr/>
          <p:nvPr/>
        </p:nvCxnSpPr>
        <p:spPr>
          <a:xfrm>
            <a:off x="4786778" y="2994979"/>
            <a:ext cx="0" cy="502920"/>
          </a:xfrm>
          <a:prstGeom prst="straightConnector1">
            <a:avLst/>
          </a:prstGeom>
          <a:noFill/>
          <a:ln w="22850" cap="flat" cmpd="sng">
            <a:solidFill>
              <a:srgbClr val="B85C3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38" name="Google Shape;938;p30"/>
          <p:cNvSpPr/>
          <p:nvPr/>
        </p:nvSpPr>
        <p:spPr>
          <a:xfrm>
            <a:off x="3474720" y="3090672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swap minimum 2 with first position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30"/>
          <p:cNvSpPr/>
          <p:nvPr/>
        </p:nvSpPr>
        <p:spPr>
          <a:xfrm>
            <a:off x="1828800" y="3977640"/>
            <a:ext cx="1901952" cy="822960"/>
          </a:xfrm>
          <a:prstGeom prst="roundRect">
            <a:avLst>
              <a:gd name="adj" fmla="val 2778"/>
            </a:avLst>
          </a:prstGeom>
          <a:solidFill>
            <a:srgbClr val="DCEFE8"/>
          </a:solidFill>
          <a:ln w="17775" cap="flat" cmpd="sng">
            <a:solidFill>
              <a:srgbClr val="2E7D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30"/>
          <p:cNvSpPr/>
          <p:nvPr/>
        </p:nvSpPr>
        <p:spPr>
          <a:xfrm>
            <a:off x="1828800" y="4166921"/>
            <a:ext cx="1901952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30"/>
          <p:cNvSpPr/>
          <p:nvPr/>
        </p:nvSpPr>
        <p:spPr>
          <a:xfrm>
            <a:off x="3803904" y="3977640"/>
            <a:ext cx="1901952" cy="82296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2" name="Google Shape;942;p30"/>
          <p:cNvSpPr/>
          <p:nvPr/>
        </p:nvSpPr>
        <p:spPr>
          <a:xfrm>
            <a:off x="3803904" y="4166921"/>
            <a:ext cx="1901952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4B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30"/>
          <p:cNvSpPr/>
          <p:nvPr/>
        </p:nvSpPr>
        <p:spPr>
          <a:xfrm>
            <a:off x="5779008" y="3977640"/>
            <a:ext cx="1901952" cy="82296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4" name="Google Shape;944;p30"/>
          <p:cNvSpPr/>
          <p:nvPr/>
        </p:nvSpPr>
        <p:spPr>
          <a:xfrm>
            <a:off x="5779008" y="4166921"/>
            <a:ext cx="1901952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4A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30"/>
          <p:cNvSpPr/>
          <p:nvPr/>
        </p:nvSpPr>
        <p:spPr>
          <a:xfrm>
            <a:off x="8412480" y="2011680"/>
            <a:ext cx="2743200" cy="2697480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6" name="Google Shape;946;p30"/>
          <p:cNvSpPr/>
          <p:nvPr/>
        </p:nvSpPr>
        <p:spPr>
          <a:xfrm>
            <a:off x="8577072" y="2167128"/>
            <a:ext cx="438912" cy="438912"/>
          </a:xfrm>
          <a:prstGeom prst="ellipse">
            <a:avLst/>
          </a:prstGeom>
          <a:solidFill>
            <a:srgbClr val="F8E5DE"/>
          </a:solidFill>
          <a:ln w="12700" cap="flat" cmpd="sng">
            <a:solidFill>
              <a:srgbClr val="F8E5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7" name="Google Shape;947;p30"/>
          <p:cNvSpPr/>
          <p:nvPr/>
        </p:nvSpPr>
        <p:spPr>
          <a:xfrm>
            <a:off x="8577072" y="226771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74444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74444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30"/>
          <p:cNvSpPr/>
          <p:nvPr/>
        </p:nvSpPr>
        <p:spPr>
          <a:xfrm>
            <a:off x="9125712" y="217627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Relative-order change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30"/>
          <p:cNvSpPr/>
          <p:nvPr/>
        </p:nvSpPr>
        <p:spPr>
          <a:xfrm>
            <a:off x="8613648" y="2569464"/>
            <a:ext cx="2340864" cy="1984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10"/>
              <a:buFont typeface="Arial"/>
              <a:buNone/>
            </a:pPr>
            <a:endParaRPr lang="en-US" sz="1210" b="0" i="0" u="none" strike="noStrike" cap="none" dirty="0">
              <a:solidFill>
                <a:srgbClr val="2031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10"/>
              <a:buFont typeface="Arial"/>
              <a:buNone/>
            </a:pPr>
            <a:r>
              <a:rPr lang="en-US" sz="121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Originally 4A appeared before 4B. After the swap, 4B appears before 4A. Therefore the method is unstable.</a:t>
            </a:r>
            <a:endParaRPr sz="121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30"/>
          <p:cNvSpPr txBox="1">
            <a:spLocks noGrp="1"/>
          </p:cNvSpPr>
          <p:nvPr>
            <p:ph type="sldNum" idx="4294967295"/>
          </p:nvPr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820" b="0" i="0" u="none" strike="noStrike" cap="none">
              <a:solidFill>
                <a:srgbClr val="68798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31"/>
          <p:cNvSpPr/>
          <p:nvPr/>
        </p:nvSpPr>
        <p:spPr>
          <a:xfrm>
            <a:off x="566928" y="3657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2450"/>
              <a:buFont typeface="Arial"/>
              <a:buNone/>
            </a:pPr>
            <a:r>
              <a:rPr lang="en-US" sz="24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How to make a stable selection variant</a:t>
            </a:r>
            <a:endParaRPr sz="2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31"/>
          <p:cNvSpPr/>
          <p:nvPr/>
        </p:nvSpPr>
        <p:spPr>
          <a:xfrm>
            <a:off x="585216" y="859536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0"/>
              <a:buFont typeface="Arial"/>
              <a:buNone/>
            </a:pPr>
            <a:r>
              <a:rPr lang="en-US" sz="11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Replace the long-distance swap with remove-and-shift insertion.</a:t>
            </a:r>
            <a:endParaRPr sz="11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31"/>
          <p:cNvSpPr/>
          <p:nvPr/>
        </p:nvSpPr>
        <p:spPr>
          <a:xfrm>
            <a:off x="9555480" y="384048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9" name="Google Shape;959;p31"/>
          <p:cNvSpPr/>
          <p:nvPr/>
        </p:nvSpPr>
        <p:spPr>
          <a:xfrm>
            <a:off x="9601200" y="448056"/>
            <a:ext cx="1874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594A"/>
              </a:buClr>
              <a:buSzPts val="810"/>
              <a:buFont typeface="Arial"/>
              <a:buNone/>
            </a:pPr>
            <a:r>
              <a:rPr lang="en-US" sz="810" b="1" i="0" u="none" strike="noStrike" cap="none">
                <a:solidFill>
                  <a:srgbClr val="22594A"/>
                </a:solidFill>
                <a:latin typeface="Arial"/>
                <a:ea typeface="Arial"/>
                <a:cs typeface="Arial"/>
                <a:sym typeface="Arial"/>
              </a:rPr>
              <a:t>EXTENSION</a:t>
            </a:r>
            <a:endParaRPr sz="81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31"/>
          <p:cNvSpPr/>
          <p:nvPr/>
        </p:nvSpPr>
        <p:spPr>
          <a:xfrm>
            <a:off x="914400" y="1463040"/>
            <a:ext cx="2206752" cy="7772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1" name="Google Shape;961;p31"/>
          <p:cNvSpPr/>
          <p:nvPr/>
        </p:nvSpPr>
        <p:spPr>
          <a:xfrm>
            <a:off x="914400" y="1641805"/>
            <a:ext cx="2206752" cy="272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4A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31"/>
          <p:cNvSpPr/>
          <p:nvPr/>
        </p:nvSpPr>
        <p:spPr>
          <a:xfrm>
            <a:off x="3194304" y="1463040"/>
            <a:ext cx="2206752" cy="7772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3" name="Google Shape;963;p31"/>
          <p:cNvSpPr/>
          <p:nvPr/>
        </p:nvSpPr>
        <p:spPr>
          <a:xfrm>
            <a:off x="3194304" y="1641805"/>
            <a:ext cx="2206752" cy="272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4B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31"/>
          <p:cNvSpPr/>
          <p:nvPr/>
        </p:nvSpPr>
        <p:spPr>
          <a:xfrm>
            <a:off x="5474208" y="1463040"/>
            <a:ext cx="2206752" cy="777240"/>
          </a:xfrm>
          <a:prstGeom prst="roundRect">
            <a:avLst>
              <a:gd name="adj" fmla="val 2941"/>
            </a:avLst>
          </a:prstGeom>
          <a:solidFill>
            <a:srgbClr val="F7EACB"/>
          </a:solidFill>
          <a:ln w="17775" cap="flat" cmpd="sng">
            <a:solidFill>
              <a:srgbClr val="D6A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5" name="Google Shape;965;p31"/>
          <p:cNvSpPr/>
          <p:nvPr/>
        </p:nvSpPr>
        <p:spPr>
          <a:xfrm>
            <a:off x="5474208" y="1641805"/>
            <a:ext cx="2206752" cy="272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31"/>
          <p:cNvSpPr/>
          <p:nvPr/>
        </p:nvSpPr>
        <p:spPr>
          <a:xfrm>
            <a:off x="914400" y="2487168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Instead of swapping 2 with 4A: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31"/>
          <p:cNvSpPr/>
          <p:nvPr/>
        </p:nvSpPr>
        <p:spPr>
          <a:xfrm>
            <a:off x="914400" y="2880360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50"/>
              <a:buFont typeface="Arial"/>
              <a:buNone/>
            </a:pPr>
            <a:r>
              <a:rPr lang="en-US" sz="125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1) save 2   2) shift 4A and 4B right   3) insert 2 at front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31"/>
          <p:cNvSpPr/>
          <p:nvPr/>
        </p:nvSpPr>
        <p:spPr>
          <a:xfrm>
            <a:off x="914400" y="3794760"/>
            <a:ext cx="2206752" cy="777240"/>
          </a:xfrm>
          <a:prstGeom prst="roundRect">
            <a:avLst>
              <a:gd name="adj" fmla="val 2941"/>
            </a:avLst>
          </a:prstGeom>
          <a:solidFill>
            <a:srgbClr val="DCEFE8"/>
          </a:solidFill>
          <a:ln w="17775" cap="flat" cmpd="sng">
            <a:solidFill>
              <a:srgbClr val="2E7D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9" name="Google Shape;969;p31"/>
          <p:cNvSpPr/>
          <p:nvPr/>
        </p:nvSpPr>
        <p:spPr>
          <a:xfrm>
            <a:off x="914400" y="3973525"/>
            <a:ext cx="2206752" cy="272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31"/>
          <p:cNvSpPr/>
          <p:nvPr/>
        </p:nvSpPr>
        <p:spPr>
          <a:xfrm>
            <a:off x="3194304" y="3794760"/>
            <a:ext cx="2206752" cy="7772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1" name="Google Shape;971;p31"/>
          <p:cNvSpPr/>
          <p:nvPr/>
        </p:nvSpPr>
        <p:spPr>
          <a:xfrm>
            <a:off x="3194304" y="3973525"/>
            <a:ext cx="2206752" cy="272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4A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31"/>
          <p:cNvSpPr/>
          <p:nvPr/>
        </p:nvSpPr>
        <p:spPr>
          <a:xfrm>
            <a:off x="5474208" y="3794760"/>
            <a:ext cx="2206752" cy="7772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7775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3" name="Google Shape;973;p31"/>
          <p:cNvSpPr/>
          <p:nvPr/>
        </p:nvSpPr>
        <p:spPr>
          <a:xfrm>
            <a:off x="5474208" y="3973525"/>
            <a:ext cx="2206752" cy="272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4B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31"/>
          <p:cNvSpPr/>
          <p:nvPr/>
        </p:nvSpPr>
        <p:spPr>
          <a:xfrm>
            <a:off x="8229600" y="1463040"/>
            <a:ext cx="3017520" cy="374904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5" name="Google Shape;975;p31"/>
          <p:cNvSpPr/>
          <p:nvPr/>
        </p:nvSpPr>
        <p:spPr>
          <a:xfrm>
            <a:off x="8394192" y="1618488"/>
            <a:ext cx="438912" cy="438912"/>
          </a:xfrm>
          <a:prstGeom prst="ellipse">
            <a:avLst/>
          </a:prstGeom>
          <a:solidFill>
            <a:srgbClr val="F7EACB"/>
          </a:solidFill>
          <a:ln w="12700" cap="flat" cmpd="sng">
            <a:solidFill>
              <a:srgbClr val="F7EA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6" name="Google Shape;976;p31"/>
          <p:cNvSpPr/>
          <p:nvPr/>
        </p:nvSpPr>
        <p:spPr>
          <a:xfrm>
            <a:off x="8394192" y="171907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↔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31"/>
          <p:cNvSpPr/>
          <p:nvPr/>
        </p:nvSpPr>
        <p:spPr>
          <a:xfrm>
            <a:off x="8942832" y="162763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Trade-off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31"/>
          <p:cNvSpPr/>
          <p:nvPr/>
        </p:nvSpPr>
        <p:spPr>
          <a:xfrm>
            <a:off x="8430768" y="2020824"/>
            <a:ext cx="2615184" cy="3035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300"/>
              <a:buFont typeface="Arial"/>
              <a:buNone/>
            </a:pPr>
            <a:endParaRPr lang="en-US" sz="1300" b="0" i="0" u="none" strike="noStrike" cap="none" dirty="0">
              <a:solidFill>
                <a:srgbClr val="2031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300"/>
              <a:buFont typeface="Arial"/>
              <a:buNone/>
            </a:pPr>
            <a:r>
              <a:rPr lang="en-US" sz="130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Stability is restored, but data movement can become Θ(n²) because each pass may shift many elements.</a:t>
            </a: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31"/>
          <p:cNvSpPr txBox="1">
            <a:spLocks noGrp="1"/>
          </p:cNvSpPr>
          <p:nvPr>
            <p:ph type="sldNum" idx="4294967295"/>
          </p:nvPr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820" b="0" i="0" u="none" strike="noStrike" cap="none">
              <a:solidFill>
                <a:srgbClr val="68798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32"/>
          <p:cNvSpPr/>
          <p:nvPr/>
        </p:nvSpPr>
        <p:spPr>
          <a:xfrm>
            <a:off x="566928" y="3657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2450"/>
              <a:buFont typeface="Arial"/>
              <a:buNone/>
            </a:pPr>
            <a:r>
              <a:rPr lang="en-US" sz="24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Algorithmic properties: in-place, adaptive, online</a:t>
            </a:r>
            <a:endParaRPr sz="2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32"/>
          <p:cNvSpPr/>
          <p:nvPr/>
        </p:nvSpPr>
        <p:spPr>
          <a:xfrm>
            <a:off x="585216" y="859536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0"/>
              <a:buFont typeface="Arial"/>
              <a:buNone/>
            </a:pPr>
            <a:r>
              <a:rPr lang="en-US" sz="11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These labels describe behavior beyond asymptotic running time.</a:t>
            </a:r>
            <a:endParaRPr sz="11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32"/>
          <p:cNvSpPr/>
          <p:nvPr/>
        </p:nvSpPr>
        <p:spPr>
          <a:xfrm>
            <a:off x="9555480" y="384048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32"/>
          <p:cNvSpPr/>
          <p:nvPr/>
        </p:nvSpPr>
        <p:spPr>
          <a:xfrm>
            <a:off x="9601200" y="448056"/>
            <a:ext cx="1874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594A"/>
              </a:buClr>
              <a:buSzPts val="810"/>
              <a:buFont typeface="Arial"/>
              <a:buNone/>
            </a:pPr>
            <a:r>
              <a:rPr lang="en-US" sz="810" b="1" i="0" u="none" strike="noStrike" cap="none">
                <a:solidFill>
                  <a:srgbClr val="22594A"/>
                </a:solidFill>
                <a:latin typeface="Arial"/>
                <a:ea typeface="Arial"/>
                <a:cs typeface="Arial"/>
                <a:sym typeface="Arial"/>
              </a:rPr>
              <a:t>PROPERTIES</a:t>
            </a:r>
            <a:endParaRPr sz="81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32"/>
          <p:cNvSpPr/>
          <p:nvPr/>
        </p:nvSpPr>
        <p:spPr>
          <a:xfrm>
            <a:off x="822960" y="1325880"/>
            <a:ext cx="1051560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0" name="Google Shape;990;p32"/>
          <p:cNvSpPr/>
          <p:nvPr/>
        </p:nvSpPr>
        <p:spPr>
          <a:xfrm>
            <a:off x="1051560" y="160020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In-place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32"/>
          <p:cNvSpPr/>
          <p:nvPr/>
        </p:nvSpPr>
        <p:spPr>
          <a:xfrm>
            <a:off x="2971800" y="1536192"/>
            <a:ext cx="822960" cy="283464"/>
          </a:xfrm>
          <a:prstGeom prst="roundRect">
            <a:avLst>
              <a:gd name="adj" fmla="val 12903"/>
            </a:avLst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2" name="Google Shape;992;p32"/>
          <p:cNvSpPr/>
          <p:nvPr/>
        </p:nvSpPr>
        <p:spPr>
          <a:xfrm>
            <a:off x="3017520" y="1600200"/>
            <a:ext cx="731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860"/>
              <a:buFont typeface="Arial"/>
              <a:buNone/>
            </a:pPr>
            <a:r>
              <a:rPr lang="en-US" sz="860" b="1" i="0" u="none" strike="noStrike" cap="none">
                <a:solidFill>
                  <a:srgbClr val="2E7D5B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32"/>
          <p:cNvSpPr/>
          <p:nvPr/>
        </p:nvSpPr>
        <p:spPr>
          <a:xfrm>
            <a:off x="4069080" y="1554480"/>
            <a:ext cx="68122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20"/>
              <a:buFont typeface="Arial"/>
              <a:buNone/>
            </a:pPr>
            <a:r>
              <a:rPr lang="en-US" sz="122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Uses O(1) extra storage.</a:t>
            </a:r>
            <a:endParaRPr sz="12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p32"/>
          <p:cNvSpPr/>
          <p:nvPr/>
        </p:nvSpPr>
        <p:spPr>
          <a:xfrm>
            <a:off x="822960" y="2468880"/>
            <a:ext cx="10515600" cy="868680"/>
          </a:xfrm>
          <a:prstGeom prst="roundRect">
            <a:avLst>
              <a:gd name="adj" fmla="val 4211"/>
            </a:avLst>
          </a:prstGeom>
          <a:solidFill>
            <a:srgbClr val="EDF7F3"/>
          </a:solidFill>
          <a:ln w="1270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5" name="Google Shape;995;p32"/>
          <p:cNvSpPr/>
          <p:nvPr/>
        </p:nvSpPr>
        <p:spPr>
          <a:xfrm>
            <a:off x="1051560" y="274320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Stable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32"/>
          <p:cNvSpPr/>
          <p:nvPr/>
        </p:nvSpPr>
        <p:spPr>
          <a:xfrm>
            <a:off x="2971800" y="2679192"/>
            <a:ext cx="822960" cy="283464"/>
          </a:xfrm>
          <a:prstGeom prst="roundRect">
            <a:avLst>
              <a:gd name="adj" fmla="val 12903"/>
            </a:avLst>
          </a:prstGeom>
          <a:solidFill>
            <a:srgbClr val="F8E5DE"/>
          </a:solidFill>
          <a:ln w="12700" cap="flat" cmpd="sng">
            <a:solidFill>
              <a:srgbClr val="F8E5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7" name="Google Shape;997;p32"/>
          <p:cNvSpPr/>
          <p:nvPr/>
        </p:nvSpPr>
        <p:spPr>
          <a:xfrm>
            <a:off x="3017520" y="2743200"/>
            <a:ext cx="731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74444"/>
              </a:buClr>
              <a:buSzPts val="860"/>
              <a:buFont typeface="Arial"/>
              <a:buNone/>
            </a:pPr>
            <a:r>
              <a:rPr lang="en-US" sz="860" b="1" i="0" u="none" strike="noStrike" cap="none">
                <a:solidFill>
                  <a:srgbClr val="B74444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32"/>
          <p:cNvSpPr/>
          <p:nvPr/>
        </p:nvSpPr>
        <p:spPr>
          <a:xfrm>
            <a:off x="4069080" y="2697480"/>
            <a:ext cx="68122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20"/>
              <a:buFont typeface="Arial"/>
              <a:buNone/>
            </a:pPr>
            <a:r>
              <a:rPr lang="en-US" sz="122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Equal records may reverse relative order.</a:t>
            </a:r>
            <a:endParaRPr sz="12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32"/>
          <p:cNvSpPr/>
          <p:nvPr/>
        </p:nvSpPr>
        <p:spPr>
          <a:xfrm>
            <a:off x="822960" y="3611880"/>
            <a:ext cx="1051560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0" name="Google Shape;1000;p32"/>
          <p:cNvSpPr/>
          <p:nvPr/>
        </p:nvSpPr>
        <p:spPr>
          <a:xfrm>
            <a:off x="1051560" y="388620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Adaptive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32"/>
          <p:cNvSpPr/>
          <p:nvPr/>
        </p:nvSpPr>
        <p:spPr>
          <a:xfrm>
            <a:off x="2971800" y="3822192"/>
            <a:ext cx="822960" cy="283464"/>
          </a:xfrm>
          <a:prstGeom prst="roundRect">
            <a:avLst>
              <a:gd name="adj" fmla="val 12903"/>
            </a:avLst>
          </a:prstGeom>
          <a:solidFill>
            <a:srgbClr val="F8E5DE"/>
          </a:solidFill>
          <a:ln w="12700" cap="flat" cmpd="sng">
            <a:solidFill>
              <a:srgbClr val="F8E5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2" name="Google Shape;1002;p32"/>
          <p:cNvSpPr/>
          <p:nvPr/>
        </p:nvSpPr>
        <p:spPr>
          <a:xfrm>
            <a:off x="3017520" y="3886200"/>
            <a:ext cx="731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74444"/>
              </a:buClr>
              <a:buSzPts val="860"/>
              <a:buFont typeface="Arial"/>
              <a:buNone/>
            </a:pPr>
            <a:r>
              <a:rPr lang="en-US" sz="860" b="1" i="0" u="none" strike="noStrike" cap="none">
                <a:solidFill>
                  <a:srgbClr val="B74444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32"/>
          <p:cNvSpPr/>
          <p:nvPr/>
        </p:nvSpPr>
        <p:spPr>
          <a:xfrm>
            <a:off x="4069080" y="3840480"/>
            <a:ext cx="68122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20"/>
              <a:buFont typeface="Arial"/>
              <a:buNone/>
            </a:pPr>
            <a:r>
              <a:rPr lang="en-US" sz="122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Sorted input still causes all comparisons.</a:t>
            </a:r>
            <a:endParaRPr sz="12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32"/>
          <p:cNvSpPr/>
          <p:nvPr/>
        </p:nvSpPr>
        <p:spPr>
          <a:xfrm>
            <a:off x="822960" y="4754880"/>
            <a:ext cx="10515600" cy="868680"/>
          </a:xfrm>
          <a:prstGeom prst="roundRect">
            <a:avLst>
              <a:gd name="adj" fmla="val 4211"/>
            </a:avLst>
          </a:prstGeom>
          <a:solidFill>
            <a:srgbClr val="EDF7F3"/>
          </a:solidFill>
          <a:ln w="1270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5" name="Google Shape;1005;p32"/>
          <p:cNvSpPr/>
          <p:nvPr/>
        </p:nvSpPr>
        <p:spPr>
          <a:xfrm>
            <a:off x="1051560" y="502920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Online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32"/>
          <p:cNvSpPr/>
          <p:nvPr/>
        </p:nvSpPr>
        <p:spPr>
          <a:xfrm>
            <a:off x="2971800" y="4965192"/>
            <a:ext cx="822960" cy="283464"/>
          </a:xfrm>
          <a:prstGeom prst="roundRect">
            <a:avLst>
              <a:gd name="adj" fmla="val 12903"/>
            </a:avLst>
          </a:prstGeom>
          <a:solidFill>
            <a:srgbClr val="F8E5DE"/>
          </a:solidFill>
          <a:ln w="12700" cap="flat" cmpd="sng">
            <a:solidFill>
              <a:srgbClr val="F8E5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7" name="Google Shape;1007;p32"/>
          <p:cNvSpPr/>
          <p:nvPr/>
        </p:nvSpPr>
        <p:spPr>
          <a:xfrm>
            <a:off x="3017520" y="5029200"/>
            <a:ext cx="731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74444"/>
              </a:buClr>
              <a:buSzPts val="860"/>
              <a:buFont typeface="Arial"/>
              <a:buNone/>
            </a:pPr>
            <a:r>
              <a:rPr lang="en-US" sz="860" b="1" i="0" u="none" strike="noStrike" cap="none">
                <a:solidFill>
                  <a:srgbClr val="B74444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32"/>
          <p:cNvSpPr/>
          <p:nvPr/>
        </p:nvSpPr>
        <p:spPr>
          <a:xfrm>
            <a:off x="4069080" y="4983480"/>
            <a:ext cx="68122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20"/>
              <a:buFont typeface="Arial"/>
              <a:buNone/>
            </a:pPr>
            <a:r>
              <a:rPr lang="en-US" sz="122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Requires access to the remaining suffix before fixing the next position.</a:t>
            </a:r>
            <a:endParaRPr sz="12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32"/>
          <p:cNvSpPr txBox="1">
            <a:spLocks noGrp="1"/>
          </p:cNvSpPr>
          <p:nvPr>
            <p:ph type="sldNum" idx="4294967295"/>
          </p:nvPr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 sz="820" b="0" i="0" u="none" strike="noStrike" cap="none">
              <a:solidFill>
                <a:srgbClr val="68798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33"/>
          <p:cNvSpPr/>
          <p:nvPr/>
        </p:nvSpPr>
        <p:spPr>
          <a:xfrm>
            <a:off x="566928" y="3657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2450"/>
              <a:buFont typeface="Arial"/>
              <a:buNone/>
            </a:pPr>
            <a:r>
              <a:rPr lang="en-US" sz="24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Selection vs Insertion vs Bubble Sort</a:t>
            </a:r>
            <a:endParaRPr sz="2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33"/>
          <p:cNvSpPr/>
          <p:nvPr/>
        </p:nvSpPr>
        <p:spPr>
          <a:xfrm>
            <a:off x="585216" y="859536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0"/>
              <a:buFont typeface="Arial"/>
              <a:buNone/>
            </a:pPr>
            <a:r>
              <a:rPr lang="en-US" sz="11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All are simple quadratic sorts, but they pay for work in different ways.</a:t>
            </a:r>
            <a:endParaRPr sz="11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33"/>
          <p:cNvSpPr/>
          <p:nvPr/>
        </p:nvSpPr>
        <p:spPr>
          <a:xfrm>
            <a:off x="9555480" y="384048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8" name="Google Shape;1018;p33"/>
          <p:cNvSpPr/>
          <p:nvPr/>
        </p:nvSpPr>
        <p:spPr>
          <a:xfrm>
            <a:off x="9601200" y="448056"/>
            <a:ext cx="1874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594A"/>
              </a:buClr>
              <a:buSzPts val="810"/>
              <a:buFont typeface="Arial"/>
              <a:buNone/>
            </a:pPr>
            <a:r>
              <a:rPr lang="en-US" sz="810" b="1" i="0" u="none" strike="noStrike" cap="none">
                <a:solidFill>
                  <a:srgbClr val="22594A"/>
                </a:solidFill>
                <a:latin typeface="Arial"/>
                <a:ea typeface="Arial"/>
                <a:cs typeface="Arial"/>
                <a:sym typeface="Arial"/>
              </a:rPr>
              <a:t>COMPARISON</a:t>
            </a:r>
            <a:endParaRPr sz="81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19" name="Google Shape;1019;p33"/>
          <p:cNvGraphicFramePr/>
          <p:nvPr/>
        </p:nvGraphicFramePr>
        <p:xfrm>
          <a:off x="566928" y="1261872"/>
          <a:ext cx="9966950" cy="3968475"/>
        </p:xfrm>
        <a:graphic>
          <a:graphicData uri="http://schemas.openxmlformats.org/drawingml/2006/table">
            <a:tbl>
              <a:tblPr>
                <a:noFill/>
                <a:tableStyleId>{FDDDD6F2-6D25-4F1F-8424-BA251BA45641}</a:tableStyleId>
              </a:tblPr>
              <a:tblGrid>
                <a:gridCol w="210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strike="noStrike" cap="none">
                          <a:solidFill>
                            <a:srgbClr val="20313B"/>
                          </a:solidFill>
                        </a:rPr>
                        <a:t>Property</a:t>
                      </a:r>
                      <a:endParaRPr sz="1150" u="none" strike="noStrike" cap="none"/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strike="noStrike" cap="none">
                          <a:solidFill>
                            <a:srgbClr val="20313B"/>
                          </a:solidFill>
                        </a:rPr>
                        <a:t>Selection</a:t>
                      </a:r>
                      <a:endParaRPr sz="1150" u="none" strike="noStrike" cap="none"/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strike="noStrike" cap="none">
                          <a:solidFill>
                            <a:srgbClr val="20313B"/>
                          </a:solidFill>
                        </a:rPr>
                        <a:t>Insertion</a:t>
                      </a:r>
                      <a:endParaRPr sz="1150" u="none" strike="noStrike" cap="none"/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strike="noStrike" cap="none">
                          <a:solidFill>
                            <a:srgbClr val="20313B"/>
                          </a:solidFill>
                        </a:rPr>
                        <a:t>Bubble</a:t>
                      </a:r>
                      <a:endParaRPr sz="1150" u="none" strike="noStrike" cap="none"/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strike="noStrike" cap="none">
                          <a:solidFill>
                            <a:srgbClr val="20313B"/>
                          </a:solidFill>
                        </a:rPr>
                        <a:t>Best time</a:t>
                      </a:r>
                      <a:endParaRPr sz="1150" u="none" strike="noStrike" cap="none"/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strike="noStrike" cap="none">
                          <a:solidFill>
                            <a:srgbClr val="20313B"/>
                          </a:solidFill>
                        </a:rPr>
                        <a:t>Θ(n²)</a:t>
                      </a:r>
                      <a:endParaRPr sz="1150" u="none" strike="noStrike" cap="none"/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strike="noStrike" cap="none">
                          <a:solidFill>
                            <a:srgbClr val="20313B"/>
                          </a:solidFill>
                        </a:rPr>
                        <a:t>Θ(n)</a:t>
                      </a:r>
                      <a:endParaRPr sz="1150" u="none" strike="noStrike" cap="none"/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strike="noStrike" cap="none">
                          <a:solidFill>
                            <a:srgbClr val="20313B"/>
                          </a:solidFill>
                        </a:rPr>
                        <a:t>Θ(n) with early stop</a:t>
                      </a:r>
                      <a:endParaRPr sz="1150" u="none" strike="noStrike" cap="none"/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strike="noStrike" cap="none">
                          <a:solidFill>
                            <a:srgbClr val="20313B"/>
                          </a:solidFill>
                        </a:rPr>
                        <a:t>Worst time</a:t>
                      </a:r>
                      <a:endParaRPr sz="1150" u="none" strike="noStrike" cap="none"/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strike="noStrike" cap="none">
                          <a:solidFill>
                            <a:srgbClr val="20313B"/>
                          </a:solidFill>
                        </a:rPr>
                        <a:t>Θ(n²)</a:t>
                      </a:r>
                      <a:endParaRPr sz="1150" u="none" strike="noStrike" cap="none"/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strike="noStrike" cap="none">
                          <a:solidFill>
                            <a:srgbClr val="20313B"/>
                          </a:solidFill>
                        </a:rPr>
                        <a:t>Θ(n²)</a:t>
                      </a:r>
                      <a:endParaRPr sz="1150" u="none" strike="noStrike" cap="none"/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strike="noStrike" cap="none">
                          <a:solidFill>
                            <a:srgbClr val="20313B"/>
                          </a:solidFill>
                        </a:rPr>
                        <a:t>Θ(n²)</a:t>
                      </a:r>
                      <a:endParaRPr sz="1150" u="none" strike="noStrike" cap="none"/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strike="noStrike" cap="none">
                          <a:solidFill>
                            <a:srgbClr val="20313B"/>
                          </a:solidFill>
                        </a:rPr>
                        <a:t>Max data movement</a:t>
                      </a:r>
                      <a:endParaRPr sz="1150" u="none" strike="noStrike" cap="none"/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strike="noStrike" cap="none">
                          <a:solidFill>
                            <a:srgbClr val="20313B"/>
                          </a:solidFill>
                        </a:rPr>
                        <a:t>O(n) swaps</a:t>
                      </a:r>
                      <a:endParaRPr sz="1150" u="none" strike="noStrike" cap="none"/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strike="noStrike" cap="none">
                          <a:solidFill>
                            <a:srgbClr val="20313B"/>
                          </a:solidFill>
                        </a:rPr>
                        <a:t>O(n²) shifts</a:t>
                      </a:r>
                      <a:endParaRPr sz="1150" u="none" strike="noStrike" cap="none"/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strike="noStrike" cap="none">
                          <a:solidFill>
                            <a:srgbClr val="20313B"/>
                          </a:solidFill>
                        </a:rPr>
                        <a:t>O(n²) swaps</a:t>
                      </a:r>
                      <a:endParaRPr sz="1150" u="none" strike="noStrike" cap="none"/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strike="noStrike" cap="none">
                          <a:solidFill>
                            <a:srgbClr val="20313B"/>
                          </a:solidFill>
                        </a:rPr>
                        <a:t>Stable?</a:t>
                      </a:r>
                      <a:endParaRPr sz="1150" u="none" strike="noStrike" cap="none"/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strike="noStrike" cap="none">
                          <a:solidFill>
                            <a:srgbClr val="20313B"/>
                          </a:solidFill>
                        </a:rPr>
                        <a:t>No</a:t>
                      </a:r>
                      <a:endParaRPr sz="1150" u="none" strike="noStrike" cap="none"/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strike="noStrike" cap="none">
                          <a:solidFill>
                            <a:srgbClr val="20313B"/>
                          </a:solidFill>
                        </a:rPr>
                        <a:t>Yes</a:t>
                      </a:r>
                      <a:endParaRPr sz="1150" u="none" strike="noStrike" cap="none"/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strike="noStrike" cap="none">
                          <a:solidFill>
                            <a:srgbClr val="20313B"/>
                          </a:solidFill>
                        </a:rPr>
                        <a:t>Yes</a:t>
                      </a:r>
                      <a:endParaRPr sz="1150" u="none" strike="noStrike" cap="none"/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strike="noStrike" cap="none">
                          <a:solidFill>
                            <a:srgbClr val="20313B"/>
                          </a:solidFill>
                        </a:rPr>
                        <a:t>Adaptive?</a:t>
                      </a:r>
                      <a:endParaRPr sz="1150" u="none" strike="noStrike" cap="none"/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strike="noStrike" cap="none">
                          <a:solidFill>
                            <a:srgbClr val="20313B"/>
                          </a:solidFill>
                        </a:rPr>
                        <a:t>No</a:t>
                      </a:r>
                      <a:endParaRPr sz="1150" u="none" strike="noStrike" cap="none"/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strike="noStrike" cap="none">
                          <a:solidFill>
                            <a:srgbClr val="20313B"/>
                          </a:solidFill>
                        </a:rPr>
                        <a:t>Yes</a:t>
                      </a:r>
                      <a:endParaRPr sz="1150" u="none" strike="noStrike" cap="none"/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strike="noStrike" cap="none">
                          <a:solidFill>
                            <a:srgbClr val="20313B"/>
                          </a:solidFill>
                        </a:rPr>
                        <a:t>Yes with flag</a:t>
                      </a:r>
                      <a:endParaRPr sz="1150" u="none" strike="noStrike" cap="none"/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strike="noStrike" cap="none">
                          <a:solidFill>
                            <a:srgbClr val="20313B"/>
                          </a:solidFill>
                        </a:rPr>
                        <a:t>Key strength</a:t>
                      </a:r>
                      <a:endParaRPr sz="1150" u="none" strike="noStrike" cap="none"/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strike="noStrike" cap="none">
                          <a:solidFill>
                            <a:srgbClr val="20313B"/>
                          </a:solidFill>
                        </a:rPr>
                        <a:t>few swaps</a:t>
                      </a:r>
                      <a:endParaRPr sz="1150" u="none" strike="noStrike" cap="none"/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strike="noStrike" cap="none">
                          <a:solidFill>
                            <a:srgbClr val="20313B"/>
                          </a:solidFill>
                        </a:rPr>
                        <a:t>excellent near-sorted</a:t>
                      </a:r>
                      <a:endParaRPr sz="1150" u="none" strike="noStrike" cap="none"/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13B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strike="noStrike" cap="none">
                          <a:solidFill>
                            <a:srgbClr val="20313B"/>
                          </a:solidFill>
                        </a:rPr>
                        <a:t>simple exchange intuition</a:t>
                      </a:r>
                      <a:endParaRPr sz="1150" u="none" strike="noStrike" cap="none"/>
                    </a:p>
                  </a:txBody>
                  <a:tcPr marL="73150" marR="73150" marT="73150" marB="73150">
                    <a:lnL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7E1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20" name="Google Shape;1020;p33"/>
          <p:cNvSpPr/>
          <p:nvPr/>
        </p:nvSpPr>
        <p:spPr>
          <a:xfrm>
            <a:off x="566928" y="1261872"/>
            <a:ext cx="11064240" cy="566928"/>
          </a:xfrm>
          <a:prstGeom prst="rect">
            <a:avLst/>
          </a:prstGeom>
          <a:solidFill>
            <a:srgbClr val="173F35"/>
          </a:solidFill>
          <a:ln w="12700" cap="flat" cmpd="sng">
            <a:solidFill>
              <a:srgbClr val="173F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1" name="Google Shape;1021;p33"/>
          <p:cNvSpPr/>
          <p:nvPr/>
        </p:nvSpPr>
        <p:spPr>
          <a:xfrm>
            <a:off x="566928" y="1444752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Arial"/>
              <a:buNone/>
            </a:pPr>
            <a:r>
              <a:rPr lang="en-US" sz="112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Property</a:t>
            </a:r>
            <a:endParaRPr sz="11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33"/>
          <p:cNvSpPr/>
          <p:nvPr/>
        </p:nvSpPr>
        <p:spPr>
          <a:xfrm>
            <a:off x="2670048" y="1444752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Arial"/>
              <a:buNone/>
            </a:pPr>
            <a:r>
              <a:rPr lang="en-US" sz="112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Selection</a:t>
            </a:r>
            <a:endParaRPr sz="11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33"/>
          <p:cNvSpPr/>
          <p:nvPr/>
        </p:nvSpPr>
        <p:spPr>
          <a:xfrm>
            <a:off x="5138928" y="1444752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Arial"/>
              <a:buNone/>
            </a:pPr>
            <a:r>
              <a:rPr lang="en-US" sz="112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Insertion</a:t>
            </a:r>
            <a:endParaRPr sz="11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33"/>
          <p:cNvSpPr/>
          <p:nvPr/>
        </p:nvSpPr>
        <p:spPr>
          <a:xfrm>
            <a:off x="7607808" y="1444752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Arial"/>
              <a:buNone/>
            </a:pPr>
            <a:r>
              <a:rPr lang="en-US" sz="112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Bubble</a:t>
            </a:r>
            <a:endParaRPr sz="11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33"/>
          <p:cNvSpPr/>
          <p:nvPr/>
        </p:nvSpPr>
        <p:spPr>
          <a:xfrm>
            <a:off x="1280160" y="594360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Selection Sort is not “better” overall; it is different because it deliberately minimizes exchanges.</a:t>
            </a:r>
            <a:endParaRPr sz="13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33"/>
          <p:cNvSpPr txBox="1">
            <a:spLocks noGrp="1"/>
          </p:cNvSpPr>
          <p:nvPr>
            <p:ph type="sldNum" idx="4294967295"/>
          </p:nvPr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sz="820" b="0" i="0" u="none" strike="noStrike" cap="none">
              <a:solidFill>
                <a:srgbClr val="68798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34"/>
          <p:cNvSpPr/>
          <p:nvPr/>
        </p:nvSpPr>
        <p:spPr>
          <a:xfrm>
            <a:off x="566928" y="3657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2450"/>
              <a:buFont typeface="Arial"/>
              <a:buNone/>
            </a:pPr>
            <a:r>
              <a:rPr lang="en-US" sz="24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Why Θ(n²) is not optimal for general comparison sorting</a:t>
            </a:r>
            <a:endParaRPr sz="2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34"/>
          <p:cNvSpPr/>
          <p:nvPr/>
        </p:nvSpPr>
        <p:spPr>
          <a:xfrm>
            <a:off x="585216" y="859536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0"/>
              <a:buFont typeface="Arial"/>
              <a:buNone/>
            </a:pPr>
            <a:r>
              <a:rPr lang="en-US" sz="11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Selection Sort is conceptually important, but faster comparison sorts exist.</a:t>
            </a:r>
            <a:endParaRPr sz="11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34"/>
          <p:cNvSpPr/>
          <p:nvPr/>
        </p:nvSpPr>
        <p:spPr>
          <a:xfrm>
            <a:off x="9555480" y="384048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5" name="Google Shape;1035;p34"/>
          <p:cNvSpPr/>
          <p:nvPr/>
        </p:nvSpPr>
        <p:spPr>
          <a:xfrm>
            <a:off x="9601200" y="448056"/>
            <a:ext cx="1874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594A"/>
              </a:buClr>
              <a:buSzPts val="810"/>
              <a:buFont typeface="Arial"/>
              <a:buNone/>
            </a:pPr>
            <a:r>
              <a:rPr lang="en-US" sz="810" b="1" i="0" u="none" strike="noStrike" cap="none">
                <a:solidFill>
                  <a:srgbClr val="22594A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81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6" name="Google Shape;1036;p3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7280" y="1554480"/>
            <a:ext cx="2926080" cy="635827"/>
          </a:xfrm>
          <a:prstGeom prst="rect">
            <a:avLst/>
          </a:prstGeom>
          <a:noFill/>
          <a:ln>
            <a:noFill/>
          </a:ln>
        </p:spPr>
      </p:pic>
      <p:sp>
        <p:nvSpPr>
          <p:cNvPr id="1037" name="Google Shape;1037;p34"/>
          <p:cNvSpPr/>
          <p:nvPr/>
        </p:nvSpPr>
        <p:spPr>
          <a:xfrm>
            <a:off x="868680" y="2697480"/>
            <a:ext cx="3566160" cy="2103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8" name="Google Shape;1038;p34"/>
          <p:cNvSpPr/>
          <p:nvPr/>
        </p:nvSpPr>
        <p:spPr>
          <a:xfrm>
            <a:off x="1033272" y="2852928"/>
            <a:ext cx="438912" cy="438912"/>
          </a:xfrm>
          <a:prstGeom prst="ellipse">
            <a:avLst/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9" name="Google Shape;1039;p34"/>
          <p:cNvSpPr/>
          <p:nvPr/>
        </p:nvSpPr>
        <p:spPr>
          <a:xfrm>
            <a:off x="1033272" y="295351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LB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34"/>
          <p:cNvSpPr/>
          <p:nvPr/>
        </p:nvSpPr>
        <p:spPr>
          <a:xfrm>
            <a:off x="1581912" y="2862072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Comparison lower bound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34"/>
          <p:cNvSpPr/>
          <p:nvPr/>
        </p:nvSpPr>
        <p:spPr>
          <a:xfrm>
            <a:off x="1069848" y="3255264"/>
            <a:ext cx="3163824" cy="138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50"/>
              <a:buFont typeface="Arial"/>
              <a:buNone/>
            </a:pPr>
            <a:endParaRPr lang="en-US" sz="1250" b="0" i="0" u="none" strike="noStrike" cap="none" dirty="0">
              <a:solidFill>
                <a:srgbClr val="2031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50"/>
              <a:buFont typeface="Arial"/>
              <a:buNone/>
            </a:pPr>
            <a:r>
              <a:rPr lang="en-US" sz="125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Any general deterministic comparison sort requires on the order of n log n comparisons in the worst case.</a:t>
            </a:r>
            <a:endParaRPr sz="125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34"/>
          <p:cNvSpPr/>
          <p:nvPr/>
        </p:nvSpPr>
        <p:spPr>
          <a:xfrm>
            <a:off x="4553712" y="2697480"/>
            <a:ext cx="3566160" cy="2103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3" name="Google Shape;1043;p34"/>
          <p:cNvSpPr/>
          <p:nvPr/>
        </p:nvSpPr>
        <p:spPr>
          <a:xfrm>
            <a:off x="4718304" y="2852928"/>
            <a:ext cx="438912" cy="438912"/>
          </a:xfrm>
          <a:prstGeom prst="ellipse">
            <a:avLst/>
          </a:prstGeom>
          <a:solidFill>
            <a:srgbClr val="F7EACB"/>
          </a:solidFill>
          <a:ln w="12700" cap="flat" cmpd="sng">
            <a:solidFill>
              <a:srgbClr val="F7EA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4" name="Google Shape;1044;p34"/>
          <p:cNvSpPr/>
          <p:nvPr/>
        </p:nvSpPr>
        <p:spPr>
          <a:xfrm>
            <a:off x="4718304" y="295351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n²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34"/>
          <p:cNvSpPr/>
          <p:nvPr/>
        </p:nvSpPr>
        <p:spPr>
          <a:xfrm>
            <a:off x="5266944" y="2862072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Selection Sort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34"/>
          <p:cNvSpPr/>
          <p:nvPr/>
        </p:nvSpPr>
        <p:spPr>
          <a:xfrm>
            <a:off x="4754880" y="3255264"/>
            <a:ext cx="3163824" cy="138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50"/>
              <a:buFont typeface="Arial"/>
              <a:buNone/>
            </a:pPr>
            <a:endParaRPr lang="en-US" sz="1250" b="0" i="0" u="none" strike="noStrike" cap="none" dirty="0">
              <a:solidFill>
                <a:srgbClr val="2031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50"/>
              <a:buFont typeface="Arial"/>
              <a:buNone/>
            </a:pPr>
            <a:r>
              <a:rPr lang="en-US" sz="125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Uses approximately n²/2 comparisons — asymptotically larger.</a:t>
            </a:r>
            <a:endParaRPr sz="125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34"/>
          <p:cNvSpPr/>
          <p:nvPr/>
        </p:nvSpPr>
        <p:spPr>
          <a:xfrm>
            <a:off x="8238744" y="2697480"/>
            <a:ext cx="3108960" cy="2103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" name="Google Shape;1048;p34"/>
          <p:cNvSpPr/>
          <p:nvPr/>
        </p:nvSpPr>
        <p:spPr>
          <a:xfrm>
            <a:off x="8403336" y="2852928"/>
            <a:ext cx="438912" cy="438912"/>
          </a:xfrm>
          <a:prstGeom prst="ellipse">
            <a:avLst/>
          </a:prstGeom>
          <a:solidFill>
            <a:srgbClr val="E7F0F7"/>
          </a:solidFill>
          <a:ln w="12700" cap="flat" cmpd="sng">
            <a:solidFill>
              <a:srgbClr val="E7F0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9" name="Google Shape;1049;p34"/>
          <p:cNvSpPr/>
          <p:nvPr/>
        </p:nvSpPr>
        <p:spPr>
          <a:xfrm>
            <a:off x="8403336" y="295351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6F9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2F6F9F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34"/>
          <p:cNvSpPr/>
          <p:nvPr/>
        </p:nvSpPr>
        <p:spPr>
          <a:xfrm>
            <a:off x="8951976" y="286207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Lesson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34"/>
          <p:cNvSpPr/>
          <p:nvPr/>
        </p:nvSpPr>
        <p:spPr>
          <a:xfrm>
            <a:off x="8439912" y="3255264"/>
            <a:ext cx="2706624" cy="138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50"/>
              <a:buFont typeface="Arial"/>
              <a:buNone/>
            </a:pPr>
            <a:endParaRPr lang="en-US" sz="1250" b="0" i="0" u="none" strike="noStrike" cap="none" dirty="0">
              <a:solidFill>
                <a:srgbClr val="2031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50"/>
              <a:buFont typeface="Arial"/>
              <a:buNone/>
            </a:pPr>
            <a:r>
              <a:rPr lang="en-US" sz="125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Choose it for simplicity or low swap count, not for large-scale speed.</a:t>
            </a:r>
            <a:endParaRPr sz="125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34"/>
          <p:cNvSpPr txBox="1">
            <a:spLocks noGrp="1"/>
          </p:cNvSpPr>
          <p:nvPr>
            <p:ph type="sldNum" idx="4294967295"/>
          </p:nvPr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sz="820" b="0" i="0" u="none" strike="noStrike" cap="none">
              <a:solidFill>
                <a:srgbClr val="68798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35"/>
          <p:cNvSpPr/>
          <p:nvPr/>
        </p:nvSpPr>
        <p:spPr>
          <a:xfrm>
            <a:off x="566928" y="3657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2450"/>
              <a:buFont typeface="Arial"/>
              <a:buNone/>
            </a:pPr>
            <a:r>
              <a:rPr lang="en-US" sz="24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Descending-order Selection Sort</a:t>
            </a:r>
            <a:endParaRPr sz="2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35"/>
          <p:cNvSpPr/>
          <p:nvPr/>
        </p:nvSpPr>
        <p:spPr>
          <a:xfrm>
            <a:off x="585216" y="859536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0"/>
              <a:buFont typeface="Arial"/>
              <a:buNone/>
            </a:pPr>
            <a:r>
              <a:rPr lang="en-US" sz="11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The structure is unchanged; only the selection criterion changes.</a:t>
            </a:r>
            <a:endParaRPr sz="11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35"/>
          <p:cNvSpPr/>
          <p:nvPr/>
        </p:nvSpPr>
        <p:spPr>
          <a:xfrm>
            <a:off x="9555480" y="384048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1" name="Google Shape;1061;p35"/>
          <p:cNvSpPr/>
          <p:nvPr/>
        </p:nvSpPr>
        <p:spPr>
          <a:xfrm>
            <a:off x="9601200" y="448056"/>
            <a:ext cx="1874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594A"/>
              </a:buClr>
              <a:buSzPts val="810"/>
              <a:buFont typeface="Arial"/>
              <a:buNone/>
            </a:pPr>
            <a:r>
              <a:rPr lang="en-US" sz="810" b="1" i="0" u="none" strike="noStrike" cap="none">
                <a:solidFill>
                  <a:srgbClr val="22594A"/>
                </a:solidFill>
                <a:latin typeface="Arial"/>
                <a:ea typeface="Arial"/>
                <a:cs typeface="Arial"/>
                <a:sym typeface="Arial"/>
              </a:rPr>
              <a:t>VARIANT</a:t>
            </a:r>
            <a:endParaRPr sz="81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35"/>
          <p:cNvSpPr/>
          <p:nvPr/>
        </p:nvSpPr>
        <p:spPr>
          <a:xfrm>
            <a:off x="822960" y="1417320"/>
            <a:ext cx="5760720" cy="4343400"/>
          </a:xfrm>
          <a:prstGeom prst="roundRect">
            <a:avLst>
              <a:gd name="adj" fmla="val 737"/>
            </a:avLst>
          </a:prstGeom>
          <a:solidFill>
            <a:schemeClr val="bg1"/>
          </a:solidFill>
          <a:ln w="12700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3" name="Google Shape;1063;p35"/>
          <p:cNvSpPr/>
          <p:nvPr/>
        </p:nvSpPr>
        <p:spPr>
          <a:xfrm>
            <a:off x="969264" y="1545336"/>
            <a:ext cx="5468112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4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for (int </a:t>
            </a:r>
            <a:r>
              <a:rPr lang="en-US" sz="18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= 0; </a:t>
            </a:r>
            <a:r>
              <a:rPr lang="en-US" sz="18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&lt; n - 1; ++</a:t>
            </a:r>
            <a:r>
              <a:rPr lang="en-US" sz="18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) {</a:t>
            </a:r>
            <a:endParaRPr sz="18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4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int </a:t>
            </a:r>
            <a:r>
              <a:rPr lang="en-US" sz="18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maxIndex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-US" sz="18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8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4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for (int j = </a:t>
            </a:r>
            <a:r>
              <a:rPr lang="en-US" sz="18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+ 1; j &lt; n; ++j)</a:t>
            </a:r>
            <a:endParaRPr sz="18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4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    if (a[j] &gt; a[</a:t>
            </a:r>
            <a:r>
              <a:rPr lang="en-US" sz="18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maxIndex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])</a:t>
            </a:r>
            <a:endParaRPr sz="18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4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r>
              <a:rPr lang="en-US" sz="18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maxIndex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= j;</a:t>
            </a:r>
            <a:endParaRPr sz="18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4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if (</a:t>
            </a:r>
            <a:r>
              <a:rPr lang="en-US" sz="18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maxIndex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!= </a:t>
            </a:r>
            <a:r>
              <a:rPr lang="en-US" sz="18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8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4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    swap(a[</a:t>
            </a:r>
            <a:r>
              <a:rPr lang="en-US" sz="18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], a[</a:t>
            </a:r>
            <a:r>
              <a:rPr lang="en-US" sz="18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maxIndex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]);</a:t>
            </a:r>
            <a:endParaRPr sz="18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4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8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35"/>
          <p:cNvSpPr/>
          <p:nvPr/>
        </p:nvSpPr>
        <p:spPr>
          <a:xfrm>
            <a:off x="6995160" y="1645920"/>
            <a:ext cx="429768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5" name="Google Shape;1065;p35"/>
          <p:cNvSpPr/>
          <p:nvPr/>
        </p:nvSpPr>
        <p:spPr>
          <a:xfrm>
            <a:off x="7159752" y="1801368"/>
            <a:ext cx="438912" cy="438912"/>
          </a:xfrm>
          <a:prstGeom prst="ellipse">
            <a:avLst/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6" name="Google Shape;1066;p35"/>
          <p:cNvSpPr/>
          <p:nvPr/>
        </p:nvSpPr>
        <p:spPr>
          <a:xfrm>
            <a:off x="7159752" y="190195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35"/>
          <p:cNvSpPr/>
          <p:nvPr/>
        </p:nvSpPr>
        <p:spPr>
          <a:xfrm>
            <a:off x="7708392" y="1810512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Ascending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35"/>
          <p:cNvSpPr/>
          <p:nvPr/>
        </p:nvSpPr>
        <p:spPr>
          <a:xfrm>
            <a:off x="7327392" y="2359152"/>
            <a:ext cx="3895344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80"/>
              <a:buFont typeface="Arial"/>
              <a:buNone/>
            </a:pPr>
            <a:r>
              <a:rPr lang="en-US" sz="128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Select the minimum remaining key.</a:t>
            </a:r>
            <a:endParaRPr sz="128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35"/>
          <p:cNvSpPr/>
          <p:nvPr/>
        </p:nvSpPr>
        <p:spPr>
          <a:xfrm>
            <a:off x="6995160" y="3429000"/>
            <a:ext cx="429768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0" name="Google Shape;1070;p35"/>
          <p:cNvSpPr/>
          <p:nvPr/>
        </p:nvSpPr>
        <p:spPr>
          <a:xfrm>
            <a:off x="7159752" y="3584448"/>
            <a:ext cx="438912" cy="438912"/>
          </a:xfrm>
          <a:prstGeom prst="ellipse">
            <a:avLst/>
          </a:prstGeom>
          <a:solidFill>
            <a:srgbClr val="F7EACB"/>
          </a:solidFill>
          <a:ln w="12700" cap="flat" cmpd="sng">
            <a:solidFill>
              <a:srgbClr val="F7EA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1" name="Google Shape;1071;p35"/>
          <p:cNvSpPr/>
          <p:nvPr/>
        </p:nvSpPr>
        <p:spPr>
          <a:xfrm>
            <a:off x="7159752" y="368503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35"/>
          <p:cNvSpPr/>
          <p:nvPr/>
        </p:nvSpPr>
        <p:spPr>
          <a:xfrm>
            <a:off x="7708392" y="3593592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Descending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35"/>
          <p:cNvSpPr/>
          <p:nvPr/>
        </p:nvSpPr>
        <p:spPr>
          <a:xfrm>
            <a:off x="7196328" y="4187952"/>
            <a:ext cx="3895344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80"/>
              <a:buFont typeface="Arial"/>
              <a:buNone/>
            </a:pPr>
            <a:r>
              <a:rPr lang="en-US" sz="1280" b="0" i="0" u="none" strike="noStrike" cap="none" dirty="0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Select the maximum remaining key.</a:t>
            </a:r>
            <a:endParaRPr sz="128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35"/>
          <p:cNvSpPr/>
          <p:nvPr/>
        </p:nvSpPr>
        <p:spPr>
          <a:xfrm>
            <a:off x="6949440" y="5257800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Everything else — bounds, comparison count, Θ(n²) time and O(1) space — remains the same.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35"/>
          <p:cNvSpPr txBox="1">
            <a:spLocks noGrp="1"/>
          </p:cNvSpPr>
          <p:nvPr>
            <p:ph type="sldNum" idx="4294967295"/>
          </p:nvPr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31</a:t>
            </a:fld>
            <a:endParaRPr sz="820" b="0" i="0" u="none" strike="noStrike" cap="none">
              <a:solidFill>
                <a:srgbClr val="68798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36"/>
          <p:cNvSpPr/>
          <p:nvPr/>
        </p:nvSpPr>
        <p:spPr>
          <a:xfrm>
            <a:off x="566928" y="3657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2450"/>
              <a:buFont typeface="Arial"/>
              <a:buNone/>
            </a:pPr>
            <a:r>
              <a:rPr lang="en-US" sz="24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Recursive formulation</a:t>
            </a:r>
            <a:endParaRPr sz="2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36"/>
          <p:cNvSpPr/>
          <p:nvPr/>
        </p:nvSpPr>
        <p:spPr>
          <a:xfrm>
            <a:off x="585216" y="859536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0"/>
              <a:buFont typeface="Arial"/>
              <a:buNone/>
            </a:pPr>
            <a:r>
              <a:rPr lang="en-US" sz="11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Selection Sort can also be expressed as “select one minimum, then sort the remainder.”</a:t>
            </a:r>
            <a:endParaRPr sz="11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36"/>
          <p:cNvSpPr/>
          <p:nvPr/>
        </p:nvSpPr>
        <p:spPr>
          <a:xfrm>
            <a:off x="9555480" y="384048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4" name="Google Shape;1084;p36"/>
          <p:cNvSpPr/>
          <p:nvPr/>
        </p:nvSpPr>
        <p:spPr>
          <a:xfrm>
            <a:off x="9601200" y="448056"/>
            <a:ext cx="1874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594A"/>
              </a:buClr>
              <a:buSzPts val="810"/>
              <a:buFont typeface="Arial"/>
              <a:buNone/>
            </a:pPr>
            <a:r>
              <a:rPr lang="en-US" sz="810" b="1" i="0" u="none" strike="noStrike" cap="none">
                <a:solidFill>
                  <a:srgbClr val="22594A"/>
                </a:solidFill>
                <a:latin typeface="Arial"/>
                <a:ea typeface="Arial"/>
                <a:cs typeface="Arial"/>
                <a:sym typeface="Arial"/>
              </a:rPr>
              <a:t>VARIANT</a:t>
            </a:r>
            <a:endParaRPr sz="81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36"/>
          <p:cNvSpPr/>
          <p:nvPr/>
        </p:nvSpPr>
        <p:spPr>
          <a:xfrm>
            <a:off x="777240" y="1417320"/>
            <a:ext cx="5760720" cy="3566160"/>
          </a:xfrm>
          <a:prstGeom prst="roundRect">
            <a:avLst>
              <a:gd name="adj" fmla="val 897"/>
            </a:avLst>
          </a:prstGeom>
          <a:solidFill>
            <a:schemeClr val="bg1"/>
          </a:solidFill>
          <a:ln w="12700" cap="flat" cmpd="sng">
            <a:solidFill>
              <a:srgbClr val="101A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6" name="Google Shape;1086;p36"/>
          <p:cNvSpPr/>
          <p:nvPr/>
        </p:nvSpPr>
        <p:spPr>
          <a:xfrm>
            <a:off x="923544" y="1545336"/>
            <a:ext cx="5468112" cy="333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500"/>
              <a:buFont typeface="Arial"/>
              <a:buNone/>
            </a:pPr>
            <a:r>
              <a:rPr lang="en-US" sz="18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selectionSortRec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(a, start, n)</a:t>
            </a:r>
            <a:endParaRPr sz="18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5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if start &gt;= n - 1</a:t>
            </a:r>
            <a:endParaRPr sz="18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5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    return</a:t>
            </a:r>
            <a:endParaRPr sz="18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5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18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minIndex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= index of minimum in a[start ... n-1]</a:t>
            </a:r>
            <a:endParaRPr sz="18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5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exchange a[start] and a[</a:t>
            </a:r>
            <a:r>
              <a:rPr lang="en-US" sz="18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minIndex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18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5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18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selectionSortRec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(a, start + 1, n)</a:t>
            </a:r>
            <a:endParaRPr sz="18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7" name="Google Shape;1087;p3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32320" y="1554480"/>
            <a:ext cx="347472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p3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52360" y="2788920"/>
            <a:ext cx="27432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p36"/>
          <p:cNvSpPr/>
          <p:nvPr/>
        </p:nvSpPr>
        <p:spPr>
          <a:xfrm>
            <a:off x="6812280" y="3886200"/>
            <a:ext cx="43434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0" name="Google Shape;1090;p36"/>
          <p:cNvSpPr/>
          <p:nvPr/>
        </p:nvSpPr>
        <p:spPr>
          <a:xfrm>
            <a:off x="6976872" y="4041648"/>
            <a:ext cx="438912" cy="438912"/>
          </a:xfrm>
          <a:prstGeom prst="ellipse">
            <a:avLst/>
          </a:prstGeom>
          <a:solidFill>
            <a:srgbClr val="E7F0F7"/>
          </a:solidFill>
          <a:ln w="12700" cap="flat" cmpd="sng">
            <a:solidFill>
              <a:srgbClr val="E7F0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1" name="Google Shape;1091;p36"/>
          <p:cNvSpPr/>
          <p:nvPr/>
        </p:nvSpPr>
        <p:spPr>
          <a:xfrm>
            <a:off x="6976872" y="414223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6F9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2F6F9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36"/>
          <p:cNvSpPr/>
          <p:nvPr/>
        </p:nvSpPr>
        <p:spPr>
          <a:xfrm>
            <a:off x="7525512" y="4050792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Teaching value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36"/>
          <p:cNvSpPr/>
          <p:nvPr/>
        </p:nvSpPr>
        <p:spPr>
          <a:xfrm>
            <a:off x="7013448" y="4443984"/>
            <a:ext cx="3941064" cy="70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50"/>
              <a:buFont typeface="Arial"/>
              <a:buNone/>
            </a:pPr>
            <a:r>
              <a:rPr lang="en-US" sz="125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The recursive form reveals the same mathematical structure as the triangular comparison sum.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36"/>
          <p:cNvSpPr txBox="1">
            <a:spLocks noGrp="1"/>
          </p:cNvSpPr>
          <p:nvPr>
            <p:ph type="sldNum" idx="4294967295"/>
          </p:nvPr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32</a:t>
            </a:fld>
            <a:endParaRPr sz="820" b="0" i="0" u="none" strike="noStrike" cap="none">
              <a:solidFill>
                <a:srgbClr val="68798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37"/>
          <p:cNvSpPr/>
          <p:nvPr/>
        </p:nvSpPr>
        <p:spPr>
          <a:xfrm>
            <a:off x="566928" y="3657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2450"/>
              <a:buFont typeface="Arial"/>
              <a:buNone/>
            </a:pPr>
            <a:r>
              <a:rPr lang="en-US" sz="24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Instrument the C program: make the cost visible</a:t>
            </a:r>
            <a:endParaRPr sz="2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37"/>
          <p:cNvSpPr/>
          <p:nvPr/>
        </p:nvSpPr>
        <p:spPr>
          <a:xfrm>
            <a:off x="585216" y="859536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0"/>
              <a:buFont typeface="Arial"/>
              <a:buNone/>
            </a:pPr>
            <a:r>
              <a:rPr lang="en-US" sz="11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Counting operations turns complexity analysis into an experimentally testable claim.</a:t>
            </a:r>
            <a:endParaRPr sz="11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37"/>
          <p:cNvSpPr/>
          <p:nvPr/>
        </p:nvSpPr>
        <p:spPr>
          <a:xfrm>
            <a:off x="9555480" y="384048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3" name="Google Shape;1103;p37"/>
          <p:cNvSpPr/>
          <p:nvPr/>
        </p:nvSpPr>
        <p:spPr>
          <a:xfrm>
            <a:off x="9601200" y="448056"/>
            <a:ext cx="1874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594A"/>
              </a:buClr>
              <a:buSzPts val="810"/>
              <a:buFont typeface="Arial"/>
              <a:buNone/>
            </a:pPr>
            <a:r>
              <a:rPr lang="en-US" sz="810" b="1" i="0" u="none" strike="noStrike" cap="none">
                <a:solidFill>
                  <a:srgbClr val="22594A"/>
                </a:solidFill>
                <a:latin typeface="Arial"/>
                <a:ea typeface="Arial"/>
                <a:cs typeface="Arial"/>
                <a:sym typeface="Arial"/>
              </a:rPr>
              <a:t>LAB</a:t>
            </a:r>
            <a:endParaRPr sz="81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37"/>
          <p:cNvSpPr/>
          <p:nvPr/>
        </p:nvSpPr>
        <p:spPr>
          <a:xfrm>
            <a:off x="731520" y="1353312"/>
            <a:ext cx="6446520" cy="4526280"/>
          </a:xfrm>
          <a:prstGeom prst="roundRect">
            <a:avLst>
              <a:gd name="adj" fmla="val 707"/>
            </a:avLst>
          </a:prstGeom>
          <a:solidFill>
            <a:schemeClr val="bg1"/>
          </a:solidFill>
          <a:ln w="12700" cap="flat" cmpd="sng">
            <a:solidFill>
              <a:srgbClr val="101A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05" name="Google Shape;1105;p37"/>
          <p:cNvSpPr/>
          <p:nvPr/>
        </p:nvSpPr>
        <p:spPr>
          <a:xfrm>
            <a:off x="877824" y="1481328"/>
            <a:ext cx="6153912" cy="429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31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long </a:t>
            </a:r>
            <a:r>
              <a:rPr lang="en-US" sz="20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long</a:t>
            </a:r>
            <a:r>
              <a:rPr lang="en-US" sz="2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cmp</a:t>
            </a:r>
            <a:r>
              <a:rPr lang="en-US" sz="2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= 0, </a:t>
            </a:r>
            <a:r>
              <a:rPr lang="en-US" sz="20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swp</a:t>
            </a:r>
            <a:r>
              <a:rPr lang="en-US" sz="2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= 0;</a:t>
            </a:r>
            <a:endParaRPr sz="20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0"/>
              <a:buFont typeface="Arial"/>
              <a:buNone/>
            </a:pPr>
            <a:endParaRPr sz="20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31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for (int </a:t>
            </a:r>
            <a:r>
              <a:rPr lang="en-US" sz="20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= 0; </a:t>
            </a:r>
            <a:r>
              <a:rPr lang="en-US" sz="20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&lt; n - 1; ++</a:t>
            </a:r>
            <a:r>
              <a:rPr lang="en-US" sz="20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) {</a:t>
            </a:r>
            <a:endParaRPr sz="20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31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int </a:t>
            </a:r>
            <a:r>
              <a:rPr lang="en-US" sz="20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minIndex</a:t>
            </a:r>
            <a:r>
              <a:rPr lang="en-US" sz="2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-US" sz="20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20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31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for (int j = </a:t>
            </a:r>
            <a:r>
              <a:rPr lang="en-US" sz="20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+ 1; j &lt; n; ++j) {</a:t>
            </a:r>
            <a:endParaRPr sz="20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31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    ++</a:t>
            </a:r>
            <a:r>
              <a:rPr lang="en-US" sz="20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cmp</a:t>
            </a:r>
            <a:r>
              <a:rPr lang="en-US" sz="2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20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31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    if (a[j] &lt; a[</a:t>
            </a:r>
            <a:r>
              <a:rPr lang="en-US" sz="20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minIndex</a:t>
            </a:r>
            <a:r>
              <a:rPr lang="en-US" sz="2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]) </a:t>
            </a:r>
            <a:r>
              <a:rPr lang="en-US" sz="20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minIndex</a:t>
            </a:r>
            <a:r>
              <a:rPr lang="en-US" sz="2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= j;</a:t>
            </a:r>
            <a:endParaRPr sz="20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31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20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31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if (</a:t>
            </a:r>
            <a:r>
              <a:rPr lang="en-US" sz="20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minIndex</a:t>
            </a:r>
            <a:r>
              <a:rPr lang="en-US" sz="2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!= </a:t>
            </a:r>
            <a:r>
              <a:rPr lang="en-US" sz="20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) {</a:t>
            </a:r>
            <a:endParaRPr sz="20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31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    int t = a[</a:t>
            </a:r>
            <a:r>
              <a:rPr lang="en-US" sz="20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]; a[</a:t>
            </a:r>
            <a:r>
              <a:rPr lang="en-US" sz="20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] = a[</a:t>
            </a:r>
            <a:r>
              <a:rPr lang="en-US" sz="20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minIndex</a:t>
            </a:r>
            <a:r>
              <a:rPr lang="en-US" sz="2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]; a[</a:t>
            </a:r>
            <a:r>
              <a:rPr lang="en-US" sz="20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minIndex</a:t>
            </a:r>
            <a:r>
              <a:rPr lang="en-US" sz="2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] = t;</a:t>
            </a:r>
            <a:endParaRPr sz="20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31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    ++</a:t>
            </a:r>
            <a:r>
              <a:rPr lang="en-US" sz="20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swp</a:t>
            </a:r>
            <a:r>
              <a:rPr lang="en-US" sz="2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20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31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20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1EE"/>
              </a:buClr>
              <a:buSzPts val="131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20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37"/>
          <p:cNvSpPr/>
          <p:nvPr/>
        </p:nvSpPr>
        <p:spPr>
          <a:xfrm>
            <a:off x="7543800" y="1508760"/>
            <a:ext cx="3840480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7" name="Google Shape;1107;p37"/>
          <p:cNvSpPr/>
          <p:nvPr/>
        </p:nvSpPr>
        <p:spPr>
          <a:xfrm>
            <a:off x="7708392" y="1664208"/>
            <a:ext cx="438912" cy="438912"/>
          </a:xfrm>
          <a:prstGeom prst="ellipse">
            <a:avLst/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8" name="Google Shape;1108;p37"/>
          <p:cNvSpPr/>
          <p:nvPr/>
        </p:nvSpPr>
        <p:spPr>
          <a:xfrm>
            <a:off x="7708392" y="176479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37"/>
          <p:cNvSpPr/>
          <p:nvPr/>
        </p:nvSpPr>
        <p:spPr>
          <a:xfrm>
            <a:off x="8257032" y="167335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Prediction for n = 6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37"/>
          <p:cNvSpPr/>
          <p:nvPr/>
        </p:nvSpPr>
        <p:spPr>
          <a:xfrm>
            <a:off x="7744968" y="2066544"/>
            <a:ext cx="3438144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50"/>
              <a:buFont typeface="Arial"/>
              <a:buNone/>
            </a:pPr>
            <a:r>
              <a:rPr lang="en-US" sz="125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cmp must always equal 15.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37"/>
          <p:cNvSpPr/>
          <p:nvPr/>
        </p:nvSpPr>
        <p:spPr>
          <a:xfrm>
            <a:off x="7543800" y="3035808"/>
            <a:ext cx="3840480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2" name="Google Shape;1112;p37"/>
          <p:cNvSpPr/>
          <p:nvPr/>
        </p:nvSpPr>
        <p:spPr>
          <a:xfrm>
            <a:off x="7708392" y="3191256"/>
            <a:ext cx="438912" cy="438912"/>
          </a:xfrm>
          <a:prstGeom prst="ellipse">
            <a:avLst/>
          </a:prstGeom>
          <a:solidFill>
            <a:srgbClr val="F7EACB"/>
          </a:solidFill>
          <a:ln w="12700" cap="flat" cmpd="sng">
            <a:solidFill>
              <a:srgbClr val="F7EA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3" name="Google Shape;1113;p37"/>
          <p:cNvSpPr/>
          <p:nvPr/>
        </p:nvSpPr>
        <p:spPr>
          <a:xfrm>
            <a:off x="7708392" y="3291840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37"/>
          <p:cNvSpPr/>
          <p:nvPr/>
        </p:nvSpPr>
        <p:spPr>
          <a:xfrm>
            <a:off x="8257032" y="32004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Swap count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37"/>
          <p:cNvSpPr/>
          <p:nvPr/>
        </p:nvSpPr>
        <p:spPr>
          <a:xfrm>
            <a:off x="7744968" y="3593592"/>
            <a:ext cx="3438144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50"/>
              <a:buFont typeface="Arial"/>
              <a:buNone/>
            </a:pPr>
            <a:r>
              <a:rPr lang="en-US" sz="125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Depends on the input; for our example it is 4.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37"/>
          <p:cNvSpPr/>
          <p:nvPr/>
        </p:nvSpPr>
        <p:spPr>
          <a:xfrm>
            <a:off x="7543800" y="4562856"/>
            <a:ext cx="3840480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7" name="Google Shape;1117;p37"/>
          <p:cNvSpPr/>
          <p:nvPr/>
        </p:nvSpPr>
        <p:spPr>
          <a:xfrm>
            <a:off x="7708392" y="4718304"/>
            <a:ext cx="438912" cy="438912"/>
          </a:xfrm>
          <a:prstGeom prst="ellipse">
            <a:avLst/>
          </a:prstGeom>
          <a:solidFill>
            <a:srgbClr val="E7F0F7"/>
          </a:solidFill>
          <a:ln w="12700" cap="flat" cmpd="sng">
            <a:solidFill>
              <a:srgbClr val="E7F0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8" name="Google Shape;1118;p37"/>
          <p:cNvSpPr/>
          <p:nvPr/>
        </p:nvSpPr>
        <p:spPr>
          <a:xfrm>
            <a:off x="7708392" y="4818888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6F9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2F6F9F"/>
                </a:solidFill>
                <a:latin typeface="Arial"/>
                <a:ea typeface="Arial"/>
                <a:cs typeface="Arial"/>
                <a:sym typeface="Arial"/>
              </a:rPr>
              <a:t>LAB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37"/>
          <p:cNvSpPr/>
          <p:nvPr/>
        </p:nvSpPr>
        <p:spPr>
          <a:xfrm>
            <a:off x="8257032" y="472744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Experiment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37"/>
          <p:cNvSpPr/>
          <p:nvPr/>
        </p:nvSpPr>
        <p:spPr>
          <a:xfrm>
            <a:off x="7744968" y="5120640"/>
            <a:ext cx="3438144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220"/>
              <a:buFont typeface="Arial"/>
              <a:buNone/>
            </a:pPr>
            <a:r>
              <a:rPr lang="en-US" sz="122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Try 100 random arrays with fixed n and verify cmp never changes.</a:t>
            </a:r>
            <a:endParaRPr sz="12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p37"/>
          <p:cNvSpPr txBox="1">
            <a:spLocks noGrp="1"/>
          </p:cNvSpPr>
          <p:nvPr>
            <p:ph type="sldNum" idx="4294967295"/>
          </p:nvPr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33</a:t>
            </a:fld>
            <a:endParaRPr sz="820" b="0" i="0" u="none" strike="noStrike" cap="none">
              <a:solidFill>
                <a:srgbClr val="68798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38"/>
          <p:cNvSpPr/>
          <p:nvPr/>
        </p:nvSpPr>
        <p:spPr>
          <a:xfrm>
            <a:off x="566928" y="3657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2450"/>
              <a:buFont typeface="Arial"/>
              <a:buNone/>
            </a:pPr>
            <a:r>
              <a:rPr lang="en-US" sz="24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Common mistakes in exams and programs</a:t>
            </a:r>
            <a:endParaRPr sz="2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38"/>
          <p:cNvSpPr/>
          <p:nvPr/>
        </p:nvSpPr>
        <p:spPr>
          <a:xfrm>
            <a:off x="585216" y="859536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0"/>
              <a:buFont typeface="Arial"/>
              <a:buNone/>
            </a:pPr>
            <a:r>
              <a:rPr lang="en-US" sz="11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These errors change the algorithm or lead to incorrect complexity claims.</a:t>
            </a:r>
            <a:endParaRPr sz="11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38"/>
          <p:cNvSpPr/>
          <p:nvPr/>
        </p:nvSpPr>
        <p:spPr>
          <a:xfrm>
            <a:off x="9555480" y="384048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0" name="Google Shape;1130;p38"/>
          <p:cNvSpPr/>
          <p:nvPr/>
        </p:nvSpPr>
        <p:spPr>
          <a:xfrm>
            <a:off x="9601200" y="448056"/>
            <a:ext cx="1874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594A"/>
              </a:buClr>
              <a:buSzPts val="810"/>
              <a:buFont typeface="Arial"/>
              <a:buNone/>
            </a:pPr>
            <a:r>
              <a:rPr lang="en-US" sz="810" b="1" i="0" u="none" strike="noStrike" cap="none">
                <a:solidFill>
                  <a:srgbClr val="22594A"/>
                </a:solidFill>
                <a:latin typeface="Arial"/>
                <a:ea typeface="Arial"/>
                <a:cs typeface="Arial"/>
                <a:sym typeface="Arial"/>
              </a:rPr>
              <a:t>PITFALLS</a:t>
            </a:r>
            <a:endParaRPr sz="81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38"/>
          <p:cNvSpPr/>
          <p:nvPr/>
        </p:nvSpPr>
        <p:spPr>
          <a:xfrm>
            <a:off x="685800" y="1280160"/>
            <a:ext cx="5212080" cy="1307592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2" name="Google Shape;1132;p38"/>
          <p:cNvSpPr/>
          <p:nvPr/>
        </p:nvSpPr>
        <p:spPr>
          <a:xfrm>
            <a:off x="850392" y="1435608"/>
            <a:ext cx="438912" cy="438912"/>
          </a:xfrm>
          <a:prstGeom prst="ellipse">
            <a:avLst/>
          </a:prstGeom>
          <a:solidFill>
            <a:srgbClr val="F8E5DE"/>
          </a:solidFill>
          <a:ln w="12700" cap="flat" cmpd="sng">
            <a:solidFill>
              <a:srgbClr val="F8E5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3" name="Google Shape;1133;p38"/>
          <p:cNvSpPr/>
          <p:nvPr/>
        </p:nvSpPr>
        <p:spPr>
          <a:xfrm>
            <a:off x="850392" y="153619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74444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74444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38"/>
          <p:cNvSpPr/>
          <p:nvPr/>
        </p:nvSpPr>
        <p:spPr>
          <a:xfrm>
            <a:off x="1399032" y="1444752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Swap inside the inner loop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38"/>
          <p:cNvSpPr/>
          <p:nvPr/>
        </p:nvSpPr>
        <p:spPr>
          <a:xfrm>
            <a:off x="886968" y="1837944"/>
            <a:ext cx="480974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170"/>
              <a:buFont typeface="Arial"/>
              <a:buNone/>
            </a:pPr>
            <a:r>
              <a:rPr lang="en-US" sz="117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Wrong: repeated exchanges. Correct: remember minIndex, then swap once.</a:t>
            </a:r>
            <a:endParaRPr sz="117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38"/>
          <p:cNvSpPr/>
          <p:nvPr/>
        </p:nvSpPr>
        <p:spPr>
          <a:xfrm>
            <a:off x="6309360" y="1280160"/>
            <a:ext cx="5212080" cy="1307592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7" name="Google Shape;1137;p38"/>
          <p:cNvSpPr/>
          <p:nvPr/>
        </p:nvSpPr>
        <p:spPr>
          <a:xfrm>
            <a:off x="6473952" y="1435608"/>
            <a:ext cx="438912" cy="438912"/>
          </a:xfrm>
          <a:prstGeom prst="ellipse">
            <a:avLst/>
          </a:prstGeom>
          <a:solidFill>
            <a:srgbClr val="F8E5DE"/>
          </a:solidFill>
          <a:ln w="12700" cap="flat" cmpd="sng">
            <a:solidFill>
              <a:srgbClr val="F8E5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8" name="Google Shape;1138;p38"/>
          <p:cNvSpPr/>
          <p:nvPr/>
        </p:nvSpPr>
        <p:spPr>
          <a:xfrm>
            <a:off x="6473952" y="153619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74444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74444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38"/>
          <p:cNvSpPr/>
          <p:nvPr/>
        </p:nvSpPr>
        <p:spPr>
          <a:xfrm>
            <a:off x="7022592" y="1444752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Set minIndex only once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38"/>
          <p:cNvSpPr/>
          <p:nvPr/>
        </p:nvSpPr>
        <p:spPr>
          <a:xfrm>
            <a:off x="6510528" y="1837944"/>
            <a:ext cx="480974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170"/>
              <a:buFont typeface="Arial"/>
              <a:buNone/>
            </a:pPr>
            <a:r>
              <a:rPr lang="en-US" sz="117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Wrong: it must reset to i at the start of every pass.</a:t>
            </a:r>
            <a:endParaRPr sz="117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1" name="Google Shape;1141;p38"/>
          <p:cNvSpPr/>
          <p:nvPr/>
        </p:nvSpPr>
        <p:spPr>
          <a:xfrm>
            <a:off x="685800" y="2880360"/>
            <a:ext cx="5212080" cy="1307592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2" name="Google Shape;1142;p38"/>
          <p:cNvSpPr/>
          <p:nvPr/>
        </p:nvSpPr>
        <p:spPr>
          <a:xfrm>
            <a:off x="850392" y="3035808"/>
            <a:ext cx="438912" cy="438912"/>
          </a:xfrm>
          <a:prstGeom prst="ellipse">
            <a:avLst/>
          </a:prstGeom>
          <a:solidFill>
            <a:srgbClr val="F8E5DE"/>
          </a:solidFill>
          <a:ln w="12700" cap="flat" cmpd="sng">
            <a:solidFill>
              <a:srgbClr val="F8E5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3" name="Google Shape;1143;p38"/>
          <p:cNvSpPr/>
          <p:nvPr/>
        </p:nvSpPr>
        <p:spPr>
          <a:xfrm>
            <a:off x="850392" y="313639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74444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74444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Google Shape;1144;p38"/>
          <p:cNvSpPr/>
          <p:nvPr/>
        </p:nvSpPr>
        <p:spPr>
          <a:xfrm>
            <a:off x="1399032" y="3044952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Scan from j = 0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5" name="Google Shape;1145;p38"/>
          <p:cNvSpPr/>
          <p:nvPr/>
        </p:nvSpPr>
        <p:spPr>
          <a:xfrm>
            <a:off x="886968" y="3438144"/>
            <a:ext cx="480974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170"/>
              <a:buFont typeface="Arial"/>
              <a:buNone/>
            </a:pPr>
            <a:r>
              <a:rPr lang="en-US" sz="117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Wasteful and conceptually wrong; the prefix is already finalized.</a:t>
            </a:r>
            <a:endParaRPr sz="117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38"/>
          <p:cNvSpPr/>
          <p:nvPr/>
        </p:nvSpPr>
        <p:spPr>
          <a:xfrm>
            <a:off x="6309360" y="2880360"/>
            <a:ext cx="5212080" cy="1307592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7" name="Google Shape;1147;p38"/>
          <p:cNvSpPr/>
          <p:nvPr/>
        </p:nvSpPr>
        <p:spPr>
          <a:xfrm>
            <a:off x="6473952" y="3035808"/>
            <a:ext cx="438912" cy="438912"/>
          </a:xfrm>
          <a:prstGeom prst="ellipse">
            <a:avLst/>
          </a:prstGeom>
          <a:solidFill>
            <a:srgbClr val="F8E5DE"/>
          </a:solidFill>
          <a:ln w="12700" cap="flat" cmpd="sng">
            <a:solidFill>
              <a:srgbClr val="F8E5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8" name="Google Shape;1148;p38"/>
          <p:cNvSpPr/>
          <p:nvPr/>
        </p:nvSpPr>
        <p:spPr>
          <a:xfrm>
            <a:off x="6473952" y="313639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74444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74444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p38"/>
          <p:cNvSpPr/>
          <p:nvPr/>
        </p:nvSpPr>
        <p:spPr>
          <a:xfrm>
            <a:off x="7022592" y="3044952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Use i &lt; n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38"/>
          <p:cNvSpPr/>
          <p:nvPr/>
        </p:nvSpPr>
        <p:spPr>
          <a:xfrm>
            <a:off x="6510528" y="3438144"/>
            <a:ext cx="480974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170"/>
              <a:buFont typeface="Arial"/>
              <a:buNone/>
            </a:pPr>
            <a:r>
              <a:rPr lang="en-US" sz="117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The last position needs no pass; use i &lt; n−1.</a:t>
            </a:r>
            <a:endParaRPr sz="117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38"/>
          <p:cNvSpPr/>
          <p:nvPr/>
        </p:nvSpPr>
        <p:spPr>
          <a:xfrm>
            <a:off x="685800" y="4480560"/>
            <a:ext cx="5212080" cy="1307592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2" name="Google Shape;1152;p38"/>
          <p:cNvSpPr/>
          <p:nvPr/>
        </p:nvSpPr>
        <p:spPr>
          <a:xfrm>
            <a:off x="850392" y="4636008"/>
            <a:ext cx="438912" cy="438912"/>
          </a:xfrm>
          <a:prstGeom prst="ellipse">
            <a:avLst/>
          </a:prstGeom>
          <a:solidFill>
            <a:srgbClr val="F8E5DE"/>
          </a:solidFill>
          <a:ln w="12700" cap="flat" cmpd="sng">
            <a:solidFill>
              <a:srgbClr val="F8E5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3" name="Google Shape;1153;p38"/>
          <p:cNvSpPr/>
          <p:nvPr/>
        </p:nvSpPr>
        <p:spPr>
          <a:xfrm>
            <a:off x="850392" y="473659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74444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74444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38"/>
          <p:cNvSpPr/>
          <p:nvPr/>
        </p:nvSpPr>
        <p:spPr>
          <a:xfrm>
            <a:off x="1399032" y="4645152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Claim best case O(n)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38"/>
          <p:cNvSpPr/>
          <p:nvPr/>
        </p:nvSpPr>
        <p:spPr>
          <a:xfrm>
            <a:off x="886968" y="5038344"/>
            <a:ext cx="480974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170"/>
              <a:buFont typeface="Arial"/>
              <a:buNone/>
            </a:pPr>
            <a:r>
              <a:rPr lang="en-US" sz="117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Incorrect for standard Selection Sort; all key comparisons still occur.</a:t>
            </a:r>
            <a:endParaRPr sz="117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38"/>
          <p:cNvSpPr/>
          <p:nvPr/>
        </p:nvSpPr>
        <p:spPr>
          <a:xfrm>
            <a:off x="6309360" y="4480560"/>
            <a:ext cx="5212080" cy="1307592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8B5AF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7" name="Google Shape;1157;p38"/>
          <p:cNvSpPr/>
          <p:nvPr/>
        </p:nvSpPr>
        <p:spPr>
          <a:xfrm>
            <a:off x="6473952" y="4636008"/>
            <a:ext cx="438912" cy="438912"/>
          </a:xfrm>
          <a:prstGeom prst="ellipse">
            <a:avLst/>
          </a:prstGeom>
          <a:solidFill>
            <a:srgbClr val="F8E5DE"/>
          </a:solidFill>
          <a:ln w="12700" cap="flat" cmpd="sng">
            <a:solidFill>
              <a:srgbClr val="F8E5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8" name="Google Shape;1158;p38"/>
          <p:cNvSpPr/>
          <p:nvPr/>
        </p:nvSpPr>
        <p:spPr>
          <a:xfrm>
            <a:off x="6473952" y="473659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74444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74444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38"/>
          <p:cNvSpPr/>
          <p:nvPr/>
        </p:nvSpPr>
        <p:spPr>
          <a:xfrm>
            <a:off x="7022592" y="4645152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Call it stable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38"/>
          <p:cNvSpPr/>
          <p:nvPr/>
        </p:nvSpPr>
        <p:spPr>
          <a:xfrm>
            <a:off x="6510528" y="5038344"/>
            <a:ext cx="480974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170"/>
              <a:buFont typeface="Arial"/>
              <a:buNone/>
            </a:pPr>
            <a:r>
              <a:rPr lang="en-US" sz="117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Standard long-distance swapping can reverse equal records.</a:t>
            </a:r>
            <a:endParaRPr sz="117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p38"/>
          <p:cNvSpPr txBox="1">
            <a:spLocks noGrp="1"/>
          </p:cNvSpPr>
          <p:nvPr>
            <p:ph type="sldNum" idx="4294967295"/>
          </p:nvPr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34</a:t>
            </a:fld>
            <a:endParaRPr sz="820" b="0" i="0" u="none" strike="noStrike" cap="none">
              <a:solidFill>
                <a:srgbClr val="68798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39"/>
          <p:cNvSpPr/>
          <p:nvPr/>
        </p:nvSpPr>
        <p:spPr>
          <a:xfrm>
            <a:off x="566928" y="3657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2450"/>
              <a:buFont typeface="Arial"/>
              <a:buNone/>
            </a:pPr>
            <a:r>
              <a:rPr lang="en-US" sz="2450" b="1" i="0" u="none" strike="noStrike" cap="none" dirty="0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University exam / viva questions</a:t>
            </a:r>
            <a:endParaRPr sz="245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39"/>
          <p:cNvSpPr/>
          <p:nvPr/>
        </p:nvSpPr>
        <p:spPr>
          <a:xfrm>
            <a:off x="585216" y="859536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0"/>
              <a:buFont typeface="Arial"/>
              <a:buNone/>
            </a:pPr>
            <a:r>
              <a:rPr lang="en-US" sz="11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Questions that test conceptual, mathematical and implementation mastery.</a:t>
            </a:r>
            <a:endParaRPr sz="11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39"/>
          <p:cNvSpPr/>
          <p:nvPr/>
        </p:nvSpPr>
        <p:spPr>
          <a:xfrm>
            <a:off x="9555480" y="384048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0" name="Google Shape;1170;p39"/>
          <p:cNvSpPr/>
          <p:nvPr/>
        </p:nvSpPr>
        <p:spPr>
          <a:xfrm>
            <a:off x="9601200" y="448056"/>
            <a:ext cx="1874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594A"/>
              </a:buClr>
              <a:buSzPts val="810"/>
              <a:buFont typeface="Arial"/>
              <a:buNone/>
            </a:pPr>
            <a:r>
              <a:rPr lang="en-US" sz="810" b="1" i="0" u="none" strike="noStrike" cap="none">
                <a:solidFill>
                  <a:srgbClr val="22594A"/>
                </a:solidFill>
                <a:latin typeface="Arial"/>
                <a:ea typeface="Arial"/>
                <a:cs typeface="Arial"/>
                <a:sym typeface="Arial"/>
              </a:rPr>
              <a:t>ASSESSMENT</a:t>
            </a:r>
            <a:endParaRPr sz="81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39"/>
          <p:cNvSpPr/>
          <p:nvPr/>
        </p:nvSpPr>
        <p:spPr>
          <a:xfrm>
            <a:off x="685800" y="1234440"/>
            <a:ext cx="5212080" cy="731520"/>
          </a:xfrm>
          <a:prstGeom prst="roundRect">
            <a:avLst>
              <a:gd name="adj" fmla="val 4375"/>
            </a:avLst>
          </a:prstGeom>
          <a:solidFill>
            <a:srgbClr val="EDF7F3"/>
          </a:solidFill>
          <a:ln w="1270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2" name="Google Shape;1172;p39"/>
          <p:cNvSpPr/>
          <p:nvPr/>
        </p:nvSpPr>
        <p:spPr>
          <a:xfrm>
            <a:off x="868680" y="1472184"/>
            <a:ext cx="34747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endParaRPr sz="10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39"/>
          <p:cNvSpPr/>
          <p:nvPr/>
        </p:nvSpPr>
        <p:spPr>
          <a:xfrm>
            <a:off x="1234440" y="1371600"/>
            <a:ext cx="4434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Define Selection Sort using the selection principle.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39"/>
          <p:cNvSpPr/>
          <p:nvPr/>
        </p:nvSpPr>
        <p:spPr>
          <a:xfrm>
            <a:off x="6309360" y="1234440"/>
            <a:ext cx="5212080" cy="73152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5" name="Google Shape;1175;p39"/>
          <p:cNvSpPr/>
          <p:nvPr/>
        </p:nvSpPr>
        <p:spPr>
          <a:xfrm>
            <a:off x="6492240" y="1472184"/>
            <a:ext cx="34747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endParaRPr sz="10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39"/>
          <p:cNvSpPr/>
          <p:nvPr/>
        </p:nvSpPr>
        <p:spPr>
          <a:xfrm>
            <a:off x="6858000" y="1371600"/>
            <a:ext cx="4434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Trace the array after each pass for a given input.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39"/>
          <p:cNvSpPr/>
          <p:nvPr/>
        </p:nvSpPr>
        <p:spPr>
          <a:xfrm>
            <a:off x="685800" y="2167128"/>
            <a:ext cx="5212080" cy="73152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8" name="Google Shape;1178;p39"/>
          <p:cNvSpPr/>
          <p:nvPr/>
        </p:nvSpPr>
        <p:spPr>
          <a:xfrm>
            <a:off x="868680" y="2404872"/>
            <a:ext cx="34747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endParaRPr sz="10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39"/>
          <p:cNvSpPr/>
          <p:nvPr/>
        </p:nvSpPr>
        <p:spPr>
          <a:xfrm>
            <a:off x="1234440" y="2304288"/>
            <a:ext cx="4434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Derive the exact comparison count.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39"/>
          <p:cNvSpPr/>
          <p:nvPr/>
        </p:nvSpPr>
        <p:spPr>
          <a:xfrm>
            <a:off x="6309360" y="2167128"/>
            <a:ext cx="5212080" cy="731520"/>
          </a:xfrm>
          <a:prstGeom prst="roundRect">
            <a:avLst>
              <a:gd name="adj" fmla="val 4375"/>
            </a:avLst>
          </a:prstGeom>
          <a:solidFill>
            <a:srgbClr val="EDF7F3"/>
          </a:solidFill>
          <a:ln w="1270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1" name="Google Shape;1181;p39"/>
          <p:cNvSpPr/>
          <p:nvPr/>
        </p:nvSpPr>
        <p:spPr>
          <a:xfrm>
            <a:off x="6492240" y="2404872"/>
            <a:ext cx="34747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endParaRPr sz="10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Google Shape;1182;p39"/>
          <p:cNvSpPr/>
          <p:nvPr/>
        </p:nvSpPr>
        <p:spPr>
          <a:xfrm>
            <a:off x="6858000" y="2304288"/>
            <a:ext cx="4434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Why are best and worst times both Θ(n²)?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39"/>
          <p:cNvSpPr/>
          <p:nvPr/>
        </p:nvSpPr>
        <p:spPr>
          <a:xfrm>
            <a:off x="685800" y="3099816"/>
            <a:ext cx="5212080" cy="73152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4" name="Google Shape;1184;p39"/>
          <p:cNvSpPr/>
          <p:nvPr/>
        </p:nvSpPr>
        <p:spPr>
          <a:xfrm>
            <a:off x="868680" y="3337560"/>
            <a:ext cx="34747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5.</a:t>
            </a:r>
            <a:endParaRPr sz="10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39"/>
          <p:cNvSpPr/>
          <p:nvPr/>
        </p:nvSpPr>
        <p:spPr>
          <a:xfrm>
            <a:off x="1234440" y="3236976"/>
            <a:ext cx="4434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Prove correctness using a loop invariant.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39"/>
          <p:cNvSpPr/>
          <p:nvPr/>
        </p:nvSpPr>
        <p:spPr>
          <a:xfrm>
            <a:off x="6309360" y="3099816"/>
            <a:ext cx="5212080" cy="73152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7" name="Google Shape;1187;p39"/>
          <p:cNvSpPr/>
          <p:nvPr/>
        </p:nvSpPr>
        <p:spPr>
          <a:xfrm>
            <a:off x="6492240" y="3337560"/>
            <a:ext cx="34747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6.</a:t>
            </a:r>
            <a:endParaRPr sz="10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39"/>
          <p:cNvSpPr/>
          <p:nvPr/>
        </p:nvSpPr>
        <p:spPr>
          <a:xfrm>
            <a:off x="6858000" y="3236976"/>
            <a:ext cx="4434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Is it stable? Demonstrate with tagged duplicates.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9" name="Google Shape;1189;p39"/>
          <p:cNvSpPr/>
          <p:nvPr/>
        </p:nvSpPr>
        <p:spPr>
          <a:xfrm>
            <a:off x="685800" y="4032504"/>
            <a:ext cx="5212080" cy="731520"/>
          </a:xfrm>
          <a:prstGeom prst="roundRect">
            <a:avLst>
              <a:gd name="adj" fmla="val 4375"/>
            </a:avLst>
          </a:prstGeom>
          <a:solidFill>
            <a:srgbClr val="EDF7F3"/>
          </a:solidFill>
          <a:ln w="1270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0" name="Google Shape;1190;p39"/>
          <p:cNvSpPr/>
          <p:nvPr/>
        </p:nvSpPr>
        <p:spPr>
          <a:xfrm>
            <a:off x="868680" y="4270248"/>
            <a:ext cx="34747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7.</a:t>
            </a:r>
            <a:endParaRPr sz="10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39"/>
          <p:cNvSpPr/>
          <p:nvPr/>
        </p:nvSpPr>
        <p:spPr>
          <a:xfrm>
            <a:off x="1234440" y="4169664"/>
            <a:ext cx="4434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What is the maximum number of swaps?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39"/>
          <p:cNvSpPr/>
          <p:nvPr/>
        </p:nvSpPr>
        <p:spPr>
          <a:xfrm>
            <a:off x="6309360" y="4032504"/>
            <a:ext cx="5212080" cy="73152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3" name="Google Shape;1193;p39"/>
          <p:cNvSpPr/>
          <p:nvPr/>
        </p:nvSpPr>
        <p:spPr>
          <a:xfrm>
            <a:off x="6492240" y="4270248"/>
            <a:ext cx="34747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8.</a:t>
            </a:r>
            <a:endParaRPr sz="10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39"/>
          <p:cNvSpPr/>
          <p:nvPr/>
        </p:nvSpPr>
        <p:spPr>
          <a:xfrm>
            <a:off x="6858000" y="4169664"/>
            <a:ext cx="4434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Why is it called an in-place algorithm?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39"/>
          <p:cNvSpPr/>
          <p:nvPr/>
        </p:nvSpPr>
        <p:spPr>
          <a:xfrm>
            <a:off x="685800" y="4965192"/>
            <a:ext cx="5212080" cy="73152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6" name="Google Shape;1196;p39"/>
          <p:cNvSpPr/>
          <p:nvPr/>
        </p:nvSpPr>
        <p:spPr>
          <a:xfrm>
            <a:off x="868680" y="5202936"/>
            <a:ext cx="34747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9.</a:t>
            </a:r>
            <a:endParaRPr sz="10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p39"/>
          <p:cNvSpPr/>
          <p:nvPr/>
        </p:nvSpPr>
        <p:spPr>
          <a:xfrm>
            <a:off x="1234440" y="5102352"/>
            <a:ext cx="4434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Compare Selection and Insertion Sort.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39"/>
          <p:cNvSpPr/>
          <p:nvPr/>
        </p:nvSpPr>
        <p:spPr>
          <a:xfrm>
            <a:off x="6309360" y="4965192"/>
            <a:ext cx="5212080" cy="731520"/>
          </a:xfrm>
          <a:prstGeom prst="roundRect">
            <a:avLst>
              <a:gd name="adj" fmla="val 4375"/>
            </a:avLst>
          </a:prstGeom>
          <a:solidFill>
            <a:srgbClr val="EDF7F3"/>
          </a:solidFill>
          <a:ln w="1270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9" name="Google Shape;1199;p39"/>
          <p:cNvSpPr/>
          <p:nvPr/>
        </p:nvSpPr>
        <p:spPr>
          <a:xfrm>
            <a:off x="6492240" y="5202936"/>
            <a:ext cx="34747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10.</a:t>
            </a:r>
            <a:endParaRPr sz="10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39"/>
          <p:cNvSpPr/>
          <p:nvPr/>
        </p:nvSpPr>
        <p:spPr>
          <a:xfrm>
            <a:off x="6858000" y="5102352"/>
            <a:ext cx="4434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Modify it for descending order or stable behavior.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39"/>
          <p:cNvSpPr txBox="1">
            <a:spLocks noGrp="1"/>
          </p:cNvSpPr>
          <p:nvPr>
            <p:ph type="sldNum" idx="4294967295"/>
          </p:nvPr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35</a:t>
            </a:fld>
            <a:endParaRPr sz="820" b="0" i="0" u="none" strike="noStrike" cap="none">
              <a:solidFill>
                <a:srgbClr val="68798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40"/>
          <p:cNvSpPr/>
          <p:nvPr/>
        </p:nvSpPr>
        <p:spPr>
          <a:xfrm>
            <a:off x="566928" y="3657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2450"/>
              <a:buFont typeface="Arial"/>
              <a:buNone/>
            </a:pPr>
            <a:r>
              <a:rPr lang="en-US" sz="24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Selection Sort — 60-second revision sheet</a:t>
            </a:r>
            <a:endParaRPr sz="2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40"/>
          <p:cNvSpPr/>
          <p:nvPr/>
        </p:nvSpPr>
        <p:spPr>
          <a:xfrm>
            <a:off x="585216" y="859536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0"/>
              <a:buFont typeface="Arial"/>
              <a:buNone/>
            </a:pPr>
            <a:r>
              <a:rPr lang="en-US" sz="11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The minimum set of facts every student should be able to reproduce.</a:t>
            </a:r>
            <a:endParaRPr sz="11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40"/>
          <p:cNvSpPr/>
          <p:nvPr/>
        </p:nvSpPr>
        <p:spPr>
          <a:xfrm>
            <a:off x="9555480" y="384048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0" name="Google Shape;1210;p40"/>
          <p:cNvSpPr/>
          <p:nvPr/>
        </p:nvSpPr>
        <p:spPr>
          <a:xfrm>
            <a:off x="9601200" y="448056"/>
            <a:ext cx="1874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594A"/>
              </a:buClr>
              <a:buSzPts val="810"/>
              <a:buFont typeface="Arial"/>
              <a:buNone/>
            </a:pPr>
            <a:r>
              <a:rPr lang="en-US" sz="810" b="1" i="0" u="none" strike="noStrike" cap="none">
                <a:solidFill>
                  <a:srgbClr val="22594A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 sz="81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1" name="Google Shape;1211;p40"/>
          <p:cNvSpPr/>
          <p:nvPr/>
        </p:nvSpPr>
        <p:spPr>
          <a:xfrm>
            <a:off x="658368" y="1216152"/>
            <a:ext cx="5230368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2" name="Google Shape;1212;p40"/>
          <p:cNvSpPr/>
          <p:nvPr/>
        </p:nvSpPr>
        <p:spPr>
          <a:xfrm>
            <a:off x="822960" y="1371600"/>
            <a:ext cx="438912" cy="438912"/>
          </a:xfrm>
          <a:prstGeom prst="ellipse">
            <a:avLst/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3" name="Google Shape;1213;p40"/>
          <p:cNvSpPr/>
          <p:nvPr/>
        </p:nvSpPr>
        <p:spPr>
          <a:xfrm>
            <a:off x="822960" y="1472184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p40"/>
          <p:cNvSpPr/>
          <p:nvPr/>
        </p:nvSpPr>
        <p:spPr>
          <a:xfrm>
            <a:off x="1371600" y="1380744"/>
            <a:ext cx="43159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Principle</a:t>
            </a:r>
            <a:endParaRPr sz="13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5" name="Google Shape;1215;p40"/>
          <p:cNvSpPr/>
          <p:nvPr/>
        </p:nvSpPr>
        <p:spPr>
          <a:xfrm>
            <a:off x="859536" y="1837734"/>
            <a:ext cx="4828032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130"/>
              <a:buFont typeface="Arial"/>
              <a:buNone/>
            </a:pPr>
            <a:r>
              <a:rPr lang="en-US" sz="113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Repeatedly select the minimum of the unsorted suffix and place it at the boundary.</a:t>
            </a:r>
            <a:endParaRPr sz="11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6" name="Google Shape;1216;p40"/>
          <p:cNvSpPr/>
          <p:nvPr/>
        </p:nvSpPr>
        <p:spPr>
          <a:xfrm>
            <a:off x="6281928" y="1216152"/>
            <a:ext cx="5230368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7" name="Google Shape;1217;p40"/>
          <p:cNvSpPr/>
          <p:nvPr/>
        </p:nvSpPr>
        <p:spPr>
          <a:xfrm>
            <a:off x="6446520" y="1371600"/>
            <a:ext cx="438912" cy="438912"/>
          </a:xfrm>
          <a:prstGeom prst="ellipse">
            <a:avLst/>
          </a:prstGeom>
          <a:solidFill>
            <a:srgbClr val="F7EACB"/>
          </a:solidFill>
          <a:ln w="12700" cap="flat" cmpd="sng">
            <a:solidFill>
              <a:srgbClr val="F7EA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8" name="Google Shape;1218;p40"/>
          <p:cNvSpPr/>
          <p:nvPr/>
        </p:nvSpPr>
        <p:spPr>
          <a:xfrm>
            <a:off x="6446520" y="1472184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p40"/>
          <p:cNvSpPr/>
          <p:nvPr/>
        </p:nvSpPr>
        <p:spPr>
          <a:xfrm>
            <a:off x="6995160" y="1380744"/>
            <a:ext cx="43159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Comparisons</a:t>
            </a:r>
            <a:endParaRPr sz="13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p40"/>
          <p:cNvSpPr/>
          <p:nvPr/>
        </p:nvSpPr>
        <p:spPr>
          <a:xfrm>
            <a:off x="6483096" y="1837734"/>
            <a:ext cx="4828032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130"/>
              <a:buFont typeface="Arial"/>
              <a:buNone/>
            </a:pPr>
            <a:r>
              <a:rPr lang="en-US" sz="113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n(n−1)/2 exactly.</a:t>
            </a:r>
            <a:endParaRPr sz="11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40"/>
          <p:cNvSpPr/>
          <p:nvPr/>
        </p:nvSpPr>
        <p:spPr>
          <a:xfrm>
            <a:off x="658368" y="2450592"/>
            <a:ext cx="5230368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2" name="Google Shape;1222;p40"/>
          <p:cNvSpPr/>
          <p:nvPr/>
        </p:nvSpPr>
        <p:spPr>
          <a:xfrm>
            <a:off x="822960" y="2606040"/>
            <a:ext cx="438912" cy="438912"/>
          </a:xfrm>
          <a:prstGeom prst="ellipse">
            <a:avLst/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3" name="Google Shape;1223;p40"/>
          <p:cNvSpPr/>
          <p:nvPr/>
        </p:nvSpPr>
        <p:spPr>
          <a:xfrm>
            <a:off x="822960" y="2706624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4" name="Google Shape;1224;p40"/>
          <p:cNvSpPr/>
          <p:nvPr/>
        </p:nvSpPr>
        <p:spPr>
          <a:xfrm>
            <a:off x="1371600" y="2615184"/>
            <a:ext cx="43159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 sz="13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5" name="Google Shape;1225;p40"/>
          <p:cNvSpPr/>
          <p:nvPr/>
        </p:nvSpPr>
        <p:spPr>
          <a:xfrm>
            <a:off x="859536" y="3072174"/>
            <a:ext cx="4828032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130"/>
              <a:buFont typeface="Arial"/>
              <a:buNone/>
            </a:pPr>
            <a:r>
              <a:rPr lang="en-US" sz="113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Best = Average = Worst = Θ(n²).</a:t>
            </a:r>
            <a:endParaRPr sz="11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6" name="Google Shape;1226;p40"/>
          <p:cNvSpPr/>
          <p:nvPr/>
        </p:nvSpPr>
        <p:spPr>
          <a:xfrm>
            <a:off x="6281928" y="2450592"/>
            <a:ext cx="5230368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7" name="Google Shape;1227;p40"/>
          <p:cNvSpPr/>
          <p:nvPr/>
        </p:nvSpPr>
        <p:spPr>
          <a:xfrm>
            <a:off x="6446520" y="2606040"/>
            <a:ext cx="438912" cy="438912"/>
          </a:xfrm>
          <a:prstGeom prst="ellipse">
            <a:avLst/>
          </a:prstGeom>
          <a:solidFill>
            <a:srgbClr val="F7EACB"/>
          </a:solidFill>
          <a:ln w="12700" cap="flat" cmpd="sng">
            <a:solidFill>
              <a:srgbClr val="F7EA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8" name="Google Shape;1228;p40"/>
          <p:cNvSpPr/>
          <p:nvPr/>
        </p:nvSpPr>
        <p:spPr>
          <a:xfrm>
            <a:off x="6446520" y="2706624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40"/>
          <p:cNvSpPr/>
          <p:nvPr/>
        </p:nvSpPr>
        <p:spPr>
          <a:xfrm>
            <a:off x="6995160" y="2615184"/>
            <a:ext cx="43159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Swaps</a:t>
            </a:r>
            <a:endParaRPr sz="13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40"/>
          <p:cNvSpPr/>
          <p:nvPr/>
        </p:nvSpPr>
        <p:spPr>
          <a:xfrm>
            <a:off x="6483096" y="3072174"/>
            <a:ext cx="4828032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130"/>
              <a:buFont typeface="Arial"/>
              <a:buNone/>
            </a:pPr>
            <a:r>
              <a:rPr lang="en-US" sz="113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At most n−1; often fewer if self-swaps are skipped.</a:t>
            </a:r>
            <a:endParaRPr sz="11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p40"/>
          <p:cNvSpPr/>
          <p:nvPr/>
        </p:nvSpPr>
        <p:spPr>
          <a:xfrm>
            <a:off x="658368" y="3685032"/>
            <a:ext cx="5230368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2" name="Google Shape;1232;p40"/>
          <p:cNvSpPr/>
          <p:nvPr/>
        </p:nvSpPr>
        <p:spPr>
          <a:xfrm>
            <a:off x="822960" y="3840480"/>
            <a:ext cx="438912" cy="438912"/>
          </a:xfrm>
          <a:prstGeom prst="ellipse">
            <a:avLst/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3" name="Google Shape;1233;p40"/>
          <p:cNvSpPr/>
          <p:nvPr/>
        </p:nvSpPr>
        <p:spPr>
          <a:xfrm>
            <a:off x="822960" y="3941064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40"/>
          <p:cNvSpPr/>
          <p:nvPr/>
        </p:nvSpPr>
        <p:spPr>
          <a:xfrm>
            <a:off x="1371600" y="3849624"/>
            <a:ext cx="43159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Space</a:t>
            </a:r>
            <a:endParaRPr sz="13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p40"/>
          <p:cNvSpPr/>
          <p:nvPr/>
        </p:nvSpPr>
        <p:spPr>
          <a:xfrm>
            <a:off x="859536" y="4306614"/>
            <a:ext cx="4828032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130"/>
              <a:buFont typeface="Arial"/>
              <a:buNone/>
            </a:pPr>
            <a:r>
              <a:rPr lang="en-US" sz="113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O(1) auxiliary storage → in-place.</a:t>
            </a:r>
            <a:endParaRPr sz="11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p40"/>
          <p:cNvSpPr/>
          <p:nvPr/>
        </p:nvSpPr>
        <p:spPr>
          <a:xfrm>
            <a:off x="6281928" y="3685032"/>
            <a:ext cx="5230368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7" name="Google Shape;1237;p40"/>
          <p:cNvSpPr/>
          <p:nvPr/>
        </p:nvSpPr>
        <p:spPr>
          <a:xfrm>
            <a:off x="6446520" y="3840480"/>
            <a:ext cx="438912" cy="438912"/>
          </a:xfrm>
          <a:prstGeom prst="ellipse">
            <a:avLst/>
          </a:prstGeom>
          <a:solidFill>
            <a:srgbClr val="F7EACB"/>
          </a:solidFill>
          <a:ln w="12700" cap="flat" cmpd="sng">
            <a:solidFill>
              <a:srgbClr val="F7EA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8" name="Google Shape;1238;p40"/>
          <p:cNvSpPr/>
          <p:nvPr/>
        </p:nvSpPr>
        <p:spPr>
          <a:xfrm>
            <a:off x="6446520" y="3941064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9" name="Google Shape;1239;p40"/>
          <p:cNvSpPr/>
          <p:nvPr/>
        </p:nvSpPr>
        <p:spPr>
          <a:xfrm>
            <a:off x="6995160" y="3849624"/>
            <a:ext cx="43159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Properties</a:t>
            </a:r>
            <a:endParaRPr sz="13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0" name="Google Shape;1240;p40"/>
          <p:cNvSpPr/>
          <p:nvPr/>
        </p:nvSpPr>
        <p:spPr>
          <a:xfrm>
            <a:off x="6483096" y="4306614"/>
            <a:ext cx="4828032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130"/>
              <a:buFont typeface="Arial"/>
              <a:buNone/>
            </a:pPr>
            <a:r>
              <a:rPr lang="en-US" sz="113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Unstable, non-adaptive, offline.</a:t>
            </a:r>
            <a:endParaRPr sz="11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1" name="Google Shape;1241;p40"/>
          <p:cNvSpPr/>
          <p:nvPr/>
        </p:nvSpPr>
        <p:spPr>
          <a:xfrm>
            <a:off x="658368" y="4919472"/>
            <a:ext cx="5230368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2" name="Google Shape;1242;p40"/>
          <p:cNvSpPr/>
          <p:nvPr/>
        </p:nvSpPr>
        <p:spPr>
          <a:xfrm>
            <a:off x="822960" y="5074920"/>
            <a:ext cx="438912" cy="438912"/>
          </a:xfrm>
          <a:prstGeom prst="ellipse">
            <a:avLst/>
          </a:prstGeom>
          <a:solidFill>
            <a:srgbClr val="DCEFE8"/>
          </a:solidFill>
          <a:ln w="12700" cap="flat" cmpd="sng">
            <a:solidFill>
              <a:srgbClr val="DCE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3" name="Google Shape;1243;p40"/>
          <p:cNvSpPr/>
          <p:nvPr/>
        </p:nvSpPr>
        <p:spPr>
          <a:xfrm>
            <a:off x="822960" y="5175504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40"/>
          <p:cNvSpPr/>
          <p:nvPr/>
        </p:nvSpPr>
        <p:spPr>
          <a:xfrm>
            <a:off x="1371600" y="5084064"/>
            <a:ext cx="43159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Proof</a:t>
            </a:r>
            <a:endParaRPr sz="13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40"/>
          <p:cNvSpPr/>
          <p:nvPr/>
        </p:nvSpPr>
        <p:spPr>
          <a:xfrm>
            <a:off x="859536" y="5541054"/>
            <a:ext cx="4828032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130"/>
              <a:buFont typeface="Arial"/>
              <a:buNone/>
            </a:pPr>
            <a:r>
              <a:rPr lang="en-US" sz="113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Finalized prefix contains the smallest elements in sorted order.</a:t>
            </a:r>
            <a:endParaRPr sz="11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40"/>
          <p:cNvSpPr/>
          <p:nvPr/>
        </p:nvSpPr>
        <p:spPr>
          <a:xfrm>
            <a:off x="6281928" y="4919472"/>
            <a:ext cx="5230368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3950" cap="flat" cmpd="sng">
            <a:solidFill>
              <a:srgbClr val="D7E1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7" name="Google Shape;1247;p40"/>
          <p:cNvSpPr/>
          <p:nvPr/>
        </p:nvSpPr>
        <p:spPr>
          <a:xfrm>
            <a:off x="6446520" y="5074920"/>
            <a:ext cx="438912" cy="438912"/>
          </a:xfrm>
          <a:prstGeom prst="ellipse">
            <a:avLst/>
          </a:prstGeom>
          <a:solidFill>
            <a:srgbClr val="F7EACB"/>
          </a:solidFill>
          <a:ln w="12700" cap="flat" cmpd="sng">
            <a:solidFill>
              <a:srgbClr val="F7EA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8" name="Google Shape;1248;p40"/>
          <p:cNvSpPr/>
          <p:nvPr/>
        </p:nvSpPr>
        <p:spPr>
          <a:xfrm>
            <a:off x="6446520" y="5175504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5C3A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85C3A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9" name="Google Shape;1249;p40"/>
          <p:cNvSpPr/>
          <p:nvPr/>
        </p:nvSpPr>
        <p:spPr>
          <a:xfrm>
            <a:off x="6995160" y="5084064"/>
            <a:ext cx="43159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F35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173F35"/>
                </a:solidFill>
                <a:latin typeface="Arial"/>
                <a:ea typeface="Arial"/>
                <a:cs typeface="Arial"/>
                <a:sym typeface="Arial"/>
              </a:rPr>
              <a:t>Signature</a:t>
            </a:r>
            <a:endParaRPr sz="13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0" name="Google Shape;1250;p40"/>
          <p:cNvSpPr/>
          <p:nvPr/>
        </p:nvSpPr>
        <p:spPr>
          <a:xfrm>
            <a:off x="6483096" y="5541054"/>
            <a:ext cx="4828032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313B"/>
              </a:buClr>
              <a:buSzPts val="1130"/>
              <a:buFont typeface="Arial"/>
              <a:buNone/>
            </a:pPr>
            <a:r>
              <a:rPr lang="en-US" sz="1130" b="0" i="0" u="none" strike="noStrike" cap="none">
                <a:solidFill>
                  <a:srgbClr val="20313B"/>
                </a:solidFill>
                <a:latin typeface="Arial"/>
                <a:ea typeface="Arial"/>
                <a:cs typeface="Arial"/>
                <a:sym typeface="Arial"/>
              </a:rPr>
              <a:t>Few data exchanges, many comparisons.</a:t>
            </a:r>
            <a:endParaRPr sz="11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1" name="Google Shape;1251;p40"/>
          <p:cNvSpPr txBox="1">
            <a:spLocks noGrp="1"/>
          </p:cNvSpPr>
          <p:nvPr>
            <p:ph type="sldNum" idx="4294967295"/>
          </p:nvPr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20" b="0" i="0" u="none" strike="noStrike" cap="none">
                <a:solidFill>
                  <a:srgbClr val="687984"/>
                </a:solidFill>
                <a:latin typeface="Arial"/>
                <a:ea typeface="Arial"/>
                <a:cs typeface="Arial"/>
                <a:sym typeface="Arial"/>
              </a:rPr>
              <a:t>36</a:t>
            </a:fld>
            <a:endParaRPr sz="820" b="0" i="0" u="none" strike="noStrike" cap="none">
              <a:solidFill>
                <a:srgbClr val="68798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3387</Words>
  <Application>Microsoft Office PowerPoint</Application>
  <PresentationFormat>Widescreen</PresentationFormat>
  <Paragraphs>820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Rajeev Kumar</dc:creator>
  <cp:lastModifiedBy>Rajeev Kumar</cp:lastModifiedBy>
  <cp:revision>6</cp:revision>
  <dcterms:modified xsi:type="dcterms:W3CDTF">2026-09-07T07:24:00Z</dcterms:modified>
</cp:coreProperties>
</file>